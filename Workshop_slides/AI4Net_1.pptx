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glb" ContentType="model/gltf.binary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5" r:id="rId3"/>
    <p:sldId id="264" r:id="rId4"/>
    <p:sldId id="267" r:id="rId5"/>
    <p:sldId id="690" r:id="rId6"/>
    <p:sldId id="302" r:id="rId7"/>
    <p:sldId id="304" r:id="rId8"/>
    <p:sldId id="711" r:id="rId9"/>
    <p:sldId id="674" r:id="rId10"/>
    <p:sldId id="683" r:id="rId11"/>
    <p:sldId id="714" r:id="rId12"/>
    <p:sldId id="712" r:id="rId13"/>
    <p:sldId id="693" r:id="rId14"/>
    <p:sldId id="309" r:id="rId15"/>
    <p:sldId id="316" r:id="rId16"/>
    <p:sldId id="689" r:id="rId17"/>
    <p:sldId id="3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ECF3FA"/>
    <a:srgbClr val="7CA7FC"/>
    <a:srgbClr val="EA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0231" autoAdjust="0"/>
  </p:normalViewPr>
  <p:slideViewPr>
    <p:cSldViewPr snapToGrid="0">
      <p:cViewPr varScale="1">
        <p:scale>
          <a:sx n="53" d="100"/>
          <a:sy n="53" d="100"/>
        </p:scale>
        <p:origin x="112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6A063-8858-4C6E-9300-C86CDDCDCDB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321D2-C4F4-483C-8268-9A337F5A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8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3FD-7B88-4C4E-B250-7045A142EFFF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5126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321D2-C4F4-483C-8268-9A337F5A9D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16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321D2-C4F4-483C-8268-9A337F5A9D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40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709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197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8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868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632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13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901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140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596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3B1C-06C1-4D31-A5BB-2732216EB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01CD1-131F-45D1-8136-AE227D908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93392-56F6-4F0C-B30C-AADDA6FE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78219-6BF9-48A7-A884-1AE31E00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88FF-9E43-45FF-BEFA-A1C0E2F6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9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DF4A-1321-4F80-9906-3DCA37CFB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4E02F-AF53-4920-BD68-C4248E7A5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DCE47-8C2E-429B-93B5-1CC4E7D7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286A3-9C97-4093-A253-73FBADD6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0CEFC-BC50-46D2-8886-78245629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7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E36C-3DBA-450A-9FBC-C0F72279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E8431-8A06-4B43-9FD6-D10F4A3FE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868B2-7D1D-41C1-8D27-8535FB18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EAB8-F283-4A71-B08C-0B958535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7EDDF-FD5A-4443-9A55-F7099093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6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7770-5E22-4233-8102-8419CEA9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27F8-5A7A-4BA5-8FA2-94419746D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66033-B984-42C5-84C8-1C52DB2EF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BD444-36FC-40B6-BC6E-E18DB278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2B426-6C5A-49C1-A7A3-8C9DFDBF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4B4B2-1041-4606-A85D-8D23C5C5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3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EF4E-C2D4-4EA8-A665-EBAEB629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B85D3-5DD6-4ACC-8C12-D136E29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B17E2-5F47-487D-9C4B-F9054521D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1FD337-5D4A-4479-A57B-042E9CD6A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36077-A560-43AE-AD8B-ACC72AB1D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7DD61-C1A5-49B3-BC1F-2969A93F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D71F6-6089-4DB6-8832-2AC326E9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8BD53-4CEE-4BF8-9985-A173B27B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0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B55B-02BA-40D9-835F-BC8E5802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F4DC9-FFDA-4F57-99B2-619B412D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640FE-7CBD-41BC-B357-1C066DB5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7BFC6-3A4D-4F7A-B037-C23E33A75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4537C-6454-4E29-B23A-50046891F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6E249-4520-48F1-A256-B7D29FCD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34A39-0D79-4058-9750-E811856C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7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1BA7-8077-4093-9722-FB5DEBD5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73ED9-1F54-41D7-9068-6384039AD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73776-25C1-4BE4-A659-8975F09B7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5E3A2-46DC-46E1-A908-39F36AFD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08E6B-29E1-4E70-9361-D14E89DC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17399-A226-498D-A902-3096665C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6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FBF9-3E3B-44B5-970B-97C5A249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7D56A-C7EE-4271-806D-508CCEC64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BEBF2-6766-4686-B61C-0ABC936F5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A207C-214A-4BD9-AC0B-06D349A2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770F0-020C-42BD-8E9F-ACB286C0D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1455D-41D0-48EB-8C81-1C6946E7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0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D997-1214-4F7F-BDD0-9CE25C73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0A521-697A-4B54-AF83-6835327BB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A4DE9-1F7B-46CD-9B6D-86E3E1641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7ED69-E875-46D8-9979-9A7B14C7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005BC-1AD4-4855-AE8A-C44BB1B7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81318-352A-4EA3-B3E6-DE2C434E4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34F98-ACB9-4566-A70F-9577C49B7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3D9A9-8837-49CC-881A-58CD2A58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B2DE9-78D0-4D39-9D73-0CA8F1E9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D6F75-99EF-400E-8798-C9655844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1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1" y="456134"/>
            <a:ext cx="10736445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2571"/>
              </a:lnSpc>
              <a:spcBef>
                <a:spcPts val="0"/>
              </a:spcBef>
              <a:buNone/>
              <a:defRPr sz="23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45247" indent="0" algn="ctr">
              <a:buNone/>
              <a:defRPr sz="1948"/>
            </a:lvl2pPr>
            <a:lvl3pPr marL="890492" indent="0" algn="ctr">
              <a:buNone/>
              <a:defRPr sz="1753"/>
            </a:lvl3pPr>
            <a:lvl4pPr marL="1335740" indent="0" algn="ctr">
              <a:buNone/>
              <a:defRPr sz="1559"/>
            </a:lvl4pPr>
            <a:lvl5pPr marL="1780986" indent="0" algn="ctr">
              <a:buNone/>
              <a:defRPr sz="1559"/>
            </a:lvl5pPr>
            <a:lvl6pPr marL="2226232" indent="0" algn="ctr">
              <a:buNone/>
              <a:defRPr sz="1559"/>
            </a:lvl6pPr>
            <a:lvl7pPr marL="2671478" indent="0" algn="ctr">
              <a:buNone/>
              <a:defRPr sz="1559"/>
            </a:lvl7pPr>
            <a:lvl8pPr marL="3116726" indent="0" algn="ctr">
              <a:buNone/>
              <a:defRPr sz="1559"/>
            </a:lvl8pPr>
            <a:lvl9pPr marL="3561971" indent="0" algn="ctr">
              <a:buNone/>
              <a:defRPr sz="155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9276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905952" algn="ctr"/>
              </a:tabLst>
              <a:defRPr sz="134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94230" indent="-128318">
              <a:buFont typeface="Arial" panose="020B0604020202020204" pitchFamily="34" charset="0"/>
              <a:buChar char="•"/>
              <a:tabLst>
                <a:tab pos="905952" algn="ctr"/>
              </a:tabLst>
              <a:defRPr sz="974" baseline="0"/>
            </a:lvl2pPr>
            <a:lvl3pPr marL="394230" indent="-128318">
              <a:buFont typeface="Arial" panose="020B0604020202020204" pitchFamily="34" charset="0"/>
              <a:buChar char="•"/>
              <a:tabLst>
                <a:tab pos="905952" algn="ctr"/>
              </a:tabLst>
              <a:defRPr sz="974" baseline="0"/>
            </a:lvl3pPr>
            <a:lvl4pPr marL="394230" indent="-128318">
              <a:buFont typeface="Arial" panose="020B0604020202020204" pitchFamily="34" charset="0"/>
              <a:buChar char="•"/>
              <a:tabLst>
                <a:tab pos="905952" algn="ctr"/>
              </a:tabLst>
              <a:defRPr sz="974" baseline="0"/>
            </a:lvl4pPr>
            <a:lvl5pPr marL="394230" indent="-128318">
              <a:buFont typeface="Arial" panose="020B0604020202020204" pitchFamily="34" charset="0"/>
              <a:buChar char="•"/>
              <a:tabLst>
                <a:tab pos="905952" algn="ctr"/>
              </a:tabLst>
              <a:defRPr sz="974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73392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0DCFE-92AB-4B75-8D39-662F945F8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1807D-D24A-4B2A-A5C1-67FFF72E4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4F48-EA5F-4B1F-992A-3B55417A8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8C08F-C51B-443D-9EF7-465D90E08EA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2632F-B8FF-4B70-AA17-DBF4F76E2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7F545-C750-4BE2-8A6C-7125FDC53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F7143-0730-49D0-BD69-0054210EA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6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17/06/relationships/model3d" Target="../media/model3d2.glb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7.jpeg"/><Relationship Id="rId12" Type="http://schemas.openxmlformats.org/officeDocument/2006/relationships/image" Target="../media/image20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6" Type="http://schemas.microsoft.com/office/2017/06/relationships/model3d" Target="../media/model3d4.glb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microsoft.com/office/2017/06/relationships/model3d" Target="../media/model3d3.glb"/><Relationship Id="rId5" Type="http://schemas.openxmlformats.org/officeDocument/2006/relationships/image" Target="../media/image16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microsoft.com/office/2017/06/relationships/model3d" Target="../media/model3d1.glb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17/06/relationships/model3d" Target="../media/model3d3.glb"/><Relationship Id="rId3" Type="http://schemas.openxmlformats.org/officeDocument/2006/relationships/image" Target="../media/image31.png"/><Relationship Id="rId7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17/06/relationships/model3d" Target="../media/model3d2.glb"/><Relationship Id="rId10" Type="http://schemas.openxmlformats.org/officeDocument/2006/relationships/image" Target="../media/image20.png"/><Relationship Id="rId4" Type="http://schemas.openxmlformats.org/officeDocument/2006/relationships/image" Target="../media/image32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11" Type="http://schemas.openxmlformats.org/officeDocument/2006/relationships/image" Target="../media/image43.png"/><Relationship Id="rId5" Type="http://schemas.microsoft.com/office/2017/06/relationships/model3d" Target="../media/model3d1.glb"/><Relationship Id="rId10" Type="http://schemas.openxmlformats.org/officeDocument/2006/relationships/image" Target="../media/image43.png"/><Relationship Id="rId4" Type="http://schemas.openxmlformats.org/officeDocument/2006/relationships/image" Target="../media/image40.svg"/><Relationship Id="rId9" Type="http://schemas.microsoft.com/office/2017/06/relationships/model3d" Target="../media/model3d4.glb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00650385\AppData\Roaming\WeLink_Desktop\appdata\IM\s00650385\ReceiveFiles\ScreenShot\B9C155B1-606F-4A7E-BB9C-CEDCEDA41E04.png">
            <a:extLst>
              <a:ext uri="{FF2B5EF4-FFF2-40B4-BE49-F238E27FC236}">
                <a16:creationId xmlns:a16="http://schemas.microsoft.com/office/drawing/2014/main" id="{3E1E2DDF-8C35-492F-8F4F-07D53C980E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2" r="349"/>
          <a:stretch/>
        </p:blipFill>
        <p:spPr bwMode="auto">
          <a:xfrm>
            <a:off x="6184232" y="199696"/>
            <a:ext cx="5934196" cy="64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C:\1Pavel\1TOGA\Presentations\machlearn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4000" contrast="-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8" y="3020225"/>
            <a:ext cx="4932040" cy="3096344"/>
          </a:xfrm>
          <a:prstGeom prst="rect">
            <a:avLst/>
          </a:prstGeom>
          <a:blipFill dpi="0" rotWithShape="1">
            <a:blip r:embed="rId6">
              <a:alphaModFix amt="49000"/>
            </a:blip>
            <a:srcRect/>
            <a:stretch>
              <a:fillRect/>
            </a:stretch>
          </a:blipFill>
        </p:spPr>
      </p:pic>
      <p:sp>
        <p:nvSpPr>
          <p:cNvPr id="51" name="Rectangle 3"/>
          <p:cNvSpPr txBox="1">
            <a:spLocks noChangeArrowheads="1"/>
          </p:cNvSpPr>
          <p:nvPr/>
        </p:nvSpPr>
        <p:spPr>
          <a:xfrm>
            <a:off x="566398" y="3156286"/>
            <a:ext cx="5002137" cy="208823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Next LT Black" pitchFamily="34" charset="0"/>
                <a:ea typeface="宋体" charset="-122"/>
              </a:rPr>
              <a:t>Minsky Lab 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Next LT Black" pitchFamily="34" charset="0"/>
                <a:ea typeface="宋体" charset="-122"/>
              </a:rPr>
              <a:t>Digital-Twin Junior</a:t>
            </a:r>
            <a:b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Next LT Black" pitchFamily="34" charset="0"/>
                <a:ea typeface="宋体" charset="-122"/>
              </a:rPr>
            </a:br>
            <a:endParaRPr lang="en-US" sz="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utigerNext LT Black" pitchFamily="34" charset="0"/>
              <a:ea typeface="宋体" charset="-122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9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utigerNext LT Black" pitchFamily="34" charset="0"/>
              <a:ea typeface="宋体" charset="-122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100" dirty="0">
              <a:solidFill>
                <a:schemeClr val="bg1"/>
              </a:solidFill>
              <a:latin typeface="FrutigerNext LT Bold" pitchFamily="20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1707" y="5774259"/>
            <a:ext cx="31050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宋体" charset="-122"/>
              </a:rPr>
              <a:t>TOGA NETWORKS LTD., A HUAWEI COMPANY</a:t>
            </a:r>
          </a:p>
        </p:txBody>
      </p:sp>
    </p:spTree>
    <p:extLst>
      <p:ext uri="{BB962C8B-B14F-4D97-AF65-F5344CB8AC3E}">
        <p14:creationId xmlns:p14="http://schemas.microsoft.com/office/powerpoint/2010/main" val="98397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FBC97E-5BA1-4800-8309-D4FB4C1CE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6" y="376805"/>
            <a:ext cx="5594939" cy="2247881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 Comprehensive Portfolio </a:t>
            </a:r>
            <a:b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of AI-driven Network Intelligence Tools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AB4105-105D-4717-8DCF-5C2B6D97A441}"/>
              </a:ext>
            </a:extLst>
          </p:cNvPr>
          <p:cNvSpPr txBox="1"/>
          <p:nvPr/>
        </p:nvSpPr>
        <p:spPr>
          <a:xfrm>
            <a:off x="320690" y="4514838"/>
            <a:ext cx="6451994" cy="1993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Included capabilities:</a:t>
            </a:r>
          </a:p>
          <a:p>
            <a:pPr marL="682625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Network simulation and scenario modeling</a:t>
            </a:r>
          </a:p>
          <a:p>
            <a:pPr marL="682625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Traffic Modeling: analysis and forecasting</a:t>
            </a:r>
          </a:p>
          <a:p>
            <a:pPr marL="682625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Network Topology mapping and diagnostics</a:t>
            </a:r>
          </a:p>
          <a:p>
            <a:pPr marL="682625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Automated log interpretation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D51516-B57E-4328-B6CB-3049FBCFE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50" y="2581636"/>
            <a:ext cx="2940160" cy="157561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23C56D7-C8AA-44E0-A2C4-546B2724D694}"/>
              </a:ext>
            </a:extLst>
          </p:cNvPr>
          <p:cNvSpPr/>
          <p:nvPr/>
        </p:nvSpPr>
        <p:spPr>
          <a:xfrm>
            <a:off x="5238231" y="163706"/>
            <a:ext cx="6837948" cy="599658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D7CC9BBD-D877-420B-936D-EC2C6B726EA2}"/>
              </a:ext>
            </a:extLst>
          </p:cNvPr>
          <p:cNvSpPr/>
          <p:nvPr/>
        </p:nvSpPr>
        <p:spPr>
          <a:xfrm>
            <a:off x="6848510" y="1407998"/>
            <a:ext cx="3617391" cy="3496924"/>
          </a:xfrm>
          <a:prstGeom prst="donut">
            <a:avLst>
              <a:gd name="adj" fmla="val 42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1A65E10-2374-4C9D-AE5A-03C989D7B4C7}"/>
              </a:ext>
            </a:extLst>
          </p:cNvPr>
          <p:cNvSpPr/>
          <p:nvPr/>
        </p:nvSpPr>
        <p:spPr>
          <a:xfrm>
            <a:off x="6772684" y="3488078"/>
            <a:ext cx="1530250" cy="138507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F293F57-6E0D-4CC9-9F8D-0A20AAE95C47}"/>
              </a:ext>
            </a:extLst>
          </p:cNvPr>
          <p:cNvSpPr/>
          <p:nvPr/>
        </p:nvSpPr>
        <p:spPr>
          <a:xfrm>
            <a:off x="9123161" y="1039259"/>
            <a:ext cx="1474627" cy="14287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A25DED1-53EF-47C1-AFA5-798200E8FE56}"/>
              </a:ext>
            </a:extLst>
          </p:cNvPr>
          <p:cNvSpPr/>
          <p:nvPr/>
        </p:nvSpPr>
        <p:spPr>
          <a:xfrm>
            <a:off x="7402139" y="889381"/>
            <a:ext cx="1499873" cy="133709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941C5A7-8AFE-40A7-A744-33BF39F8A201}"/>
              </a:ext>
            </a:extLst>
          </p:cNvPr>
          <p:cNvSpPr/>
          <p:nvPr/>
        </p:nvSpPr>
        <p:spPr>
          <a:xfrm>
            <a:off x="6362380" y="2023116"/>
            <a:ext cx="1499873" cy="134680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E62A4-A5BA-47A6-A8C9-97DF9EBBE116}"/>
              </a:ext>
            </a:extLst>
          </p:cNvPr>
          <p:cNvSpPr txBox="1"/>
          <p:nvPr/>
        </p:nvSpPr>
        <p:spPr>
          <a:xfrm>
            <a:off x="7540415" y="1225966"/>
            <a:ext cx="123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Traffic Modeling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F02642-945B-45A4-A626-FB43BB01A1A0}"/>
              </a:ext>
            </a:extLst>
          </p:cNvPr>
          <p:cNvSpPr txBox="1"/>
          <p:nvPr/>
        </p:nvSpPr>
        <p:spPr>
          <a:xfrm>
            <a:off x="6477336" y="2384588"/>
            <a:ext cx="123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Network Topology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4FAFE9-3CD7-497F-A380-F413675BE057}"/>
              </a:ext>
            </a:extLst>
          </p:cNvPr>
          <p:cNvSpPr txBox="1"/>
          <p:nvPr/>
        </p:nvSpPr>
        <p:spPr>
          <a:xfrm>
            <a:off x="6761904" y="3868507"/>
            <a:ext cx="161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Simulations &amp; Scenarios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E03F46E-16CF-4DC5-BBE5-93C70678F18F}"/>
              </a:ext>
            </a:extLst>
          </p:cNvPr>
          <p:cNvSpPr/>
          <p:nvPr/>
        </p:nvSpPr>
        <p:spPr>
          <a:xfrm>
            <a:off x="9649232" y="2567118"/>
            <a:ext cx="1474626" cy="1385072"/>
          </a:xfrm>
          <a:prstGeom prst="ellipse">
            <a:avLst/>
          </a:prstGeom>
          <a:solidFill>
            <a:srgbClr val="7CA7FC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58D478B-A93D-475E-97B6-D167658DFAE0}"/>
              </a:ext>
            </a:extLst>
          </p:cNvPr>
          <p:cNvSpPr/>
          <p:nvPr/>
        </p:nvSpPr>
        <p:spPr>
          <a:xfrm>
            <a:off x="8606493" y="3771707"/>
            <a:ext cx="1530250" cy="141741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952162-B0F2-49E7-86AC-BC464B69DF65}"/>
              </a:ext>
            </a:extLst>
          </p:cNvPr>
          <p:cNvSpPr/>
          <p:nvPr/>
        </p:nvSpPr>
        <p:spPr>
          <a:xfrm>
            <a:off x="7749557" y="2072533"/>
            <a:ext cx="1998505" cy="196102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97C09D-0A22-4320-B734-6F0FABF5951D}"/>
              </a:ext>
            </a:extLst>
          </p:cNvPr>
          <p:cNvSpPr/>
          <p:nvPr/>
        </p:nvSpPr>
        <p:spPr>
          <a:xfrm>
            <a:off x="7818139" y="2707754"/>
            <a:ext cx="187233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AI-Powered Engine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60C50A-B3E7-4627-BA5A-D7AB4A70F09E}"/>
              </a:ext>
            </a:extLst>
          </p:cNvPr>
          <p:cNvSpPr txBox="1"/>
          <p:nvPr/>
        </p:nvSpPr>
        <p:spPr>
          <a:xfrm>
            <a:off x="8564950" y="4157248"/>
            <a:ext cx="1591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Network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Visualization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2CC9D6-039A-449E-8A88-50C59DDCB484}"/>
              </a:ext>
            </a:extLst>
          </p:cNvPr>
          <p:cNvSpPr txBox="1"/>
          <p:nvPr/>
        </p:nvSpPr>
        <p:spPr>
          <a:xfrm>
            <a:off x="9013527" y="1500746"/>
            <a:ext cx="1742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Troubleshooting guide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878ED0-4132-470F-9916-2FF774041135}"/>
              </a:ext>
            </a:extLst>
          </p:cNvPr>
          <p:cNvSpPr txBox="1"/>
          <p:nvPr/>
        </p:nvSpPr>
        <p:spPr>
          <a:xfrm>
            <a:off x="9763432" y="2877561"/>
            <a:ext cx="123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Log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FF215-7378-46C2-8A93-1B699BB3F034}"/>
              </a:ext>
            </a:extLst>
          </p:cNvPr>
          <p:cNvSpPr/>
          <p:nvPr/>
        </p:nvSpPr>
        <p:spPr>
          <a:xfrm>
            <a:off x="5662287" y="5887665"/>
            <a:ext cx="6224033" cy="423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/>
              <a:t>Interactive tools:  </a:t>
            </a:r>
            <a:r>
              <a:rPr lang="en-US" sz="1600" dirty="0"/>
              <a:t>Network visualization, Troubleshooting guide</a:t>
            </a:r>
            <a:endParaRPr lang="en-US" sz="14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4B0C6F0-9221-4083-9C53-148147803772}"/>
              </a:ext>
            </a:extLst>
          </p:cNvPr>
          <p:cNvSpPr/>
          <p:nvPr/>
        </p:nvSpPr>
        <p:spPr>
          <a:xfrm rot="2419854">
            <a:off x="8541559" y="779624"/>
            <a:ext cx="2787654" cy="18788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2727306"/>
              </a:avLst>
            </a:prstTxWarp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accent2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 rich ecosystem of features</a:t>
            </a:r>
            <a:endParaRPr lang="en-US" sz="6000" b="0" cap="none" spc="0" dirty="0">
              <a:ln w="0"/>
              <a:solidFill>
                <a:schemeClr val="accent2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09C962-A520-4A12-98C3-836DD07AA788}"/>
              </a:ext>
            </a:extLst>
          </p:cNvPr>
          <p:cNvSpPr/>
          <p:nvPr/>
        </p:nvSpPr>
        <p:spPr>
          <a:xfrm>
            <a:off x="932877" y="509724"/>
            <a:ext cx="38535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Digital Twin Junior:</a:t>
            </a:r>
          </a:p>
        </p:txBody>
      </p:sp>
      <p:pic>
        <p:nvPicPr>
          <p:cNvPr id="10" name="Graphic 9" descr="Add">
            <a:extLst>
              <a:ext uri="{FF2B5EF4-FFF2-40B4-BE49-F238E27FC236}">
                <a16:creationId xmlns:a16="http://schemas.microsoft.com/office/drawing/2014/main" id="{2B3C57F8-C47F-497B-83F0-A879C9607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7326" y="5953440"/>
            <a:ext cx="378479" cy="378479"/>
          </a:xfrm>
          <a:prstGeom prst="rect">
            <a:avLst/>
          </a:prstGeom>
        </p:spPr>
      </p:pic>
      <p:pic>
        <p:nvPicPr>
          <p:cNvPr id="12" name="Graphic 11" descr="Checkmark">
            <a:extLst>
              <a:ext uri="{FF2B5EF4-FFF2-40B4-BE49-F238E27FC236}">
                <a16:creationId xmlns:a16="http://schemas.microsoft.com/office/drawing/2014/main" id="{76D5396C-EDE0-4940-BFCE-5AC2E47D8F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641" y="4991094"/>
            <a:ext cx="252142" cy="252142"/>
          </a:xfrm>
          <a:prstGeom prst="rect">
            <a:avLst/>
          </a:prstGeom>
        </p:spPr>
      </p:pic>
      <p:pic>
        <p:nvPicPr>
          <p:cNvPr id="28" name="Graphic 27" descr="Checkmark">
            <a:extLst>
              <a:ext uri="{FF2B5EF4-FFF2-40B4-BE49-F238E27FC236}">
                <a16:creationId xmlns:a16="http://schemas.microsoft.com/office/drawing/2014/main" id="{492BFB10-9211-464D-AE92-01B3D9AFB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764" y="5339500"/>
            <a:ext cx="252142" cy="252142"/>
          </a:xfrm>
          <a:prstGeom prst="rect">
            <a:avLst/>
          </a:prstGeom>
        </p:spPr>
      </p:pic>
      <p:pic>
        <p:nvPicPr>
          <p:cNvPr id="29" name="Graphic 28" descr="Checkmark">
            <a:extLst>
              <a:ext uri="{FF2B5EF4-FFF2-40B4-BE49-F238E27FC236}">
                <a16:creationId xmlns:a16="http://schemas.microsoft.com/office/drawing/2014/main" id="{D4E9A73D-41EE-45A0-9438-09D817D359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643" y="5697031"/>
            <a:ext cx="252142" cy="252142"/>
          </a:xfrm>
          <a:prstGeom prst="rect">
            <a:avLst/>
          </a:prstGeom>
        </p:spPr>
      </p:pic>
      <p:pic>
        <p:nvPicPr>
          <p:cNvPr id="30" name="Graphic 29" descr="Checkmark">
            <a:extLst>
              <a:ext uri="{FF2B5EF4-FFF2-40B4-BE49-F238E27FC236}">
                <a16:creationId xmlns:a16="http://schemas.microsoft.com/office/drawing/2014/main" id="{B70B3E87-3B67-4D7F-8F7A-37D02B797C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891" y="6079777"/>
            <a:ext cx="252142" cy="25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1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弧形 77">
            <a:extLst>
              <a:ext uri="{FF2B5EF4-FFF2-40B4-BE49-F238E27FC236}">
                <a16:creationId xmlns:a16="http://schemas.microsoft.com/office/drawing/2014/main" id="{F29A1059-D0A1-4030-8481-0B944262C717}"/>
              </a:ext>
            </a:extLst>
          </p:cNvPr>
          <p:cNvSpPr/>
          <p:nvPr/>
        </p:nvSpPr>
        <p:spPr>
          <a:xfrm>
            <a:off x="1032021" y="1918666"/>
            <a:ext cx="10149222" cy="2943582"/>
          </a:xfrm>
          <a:prstGeom prst="arc">
            <a:avLst>
              <a:gd name="adj1" fmla="val 10809770"/>
              <a:gd name="adj2" fmla="val 281827"/>
            </a:avLst>
          </a:prstGeom>
          <a:gradFill flip="none" rotWithShape="1">
            <a:gsLst>
              <a:gs pos="0">
                <a:srgbClr val="FFFFFF">
                  <a:alpha val="24000"/>
                </a:srgbClr>
              </a:gs>
              <a:gs pos="100000">
                <a:srgbClr val="00B0F0">
                  <a:alpha val="9000"/>
                </a:srgbClr>
              </a:gs>
            </a:gsLst>
            <a:lin ang="16200000" scaled="1"/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CCAC96-23C4-415D-983F-E033127B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509" y="313835"/>
            <a:ext cx="6476599" cy="80152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Digital Twin Junior:</a:t>
            </a:r>
            <a:b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Log Analysis and Interactive Troubleshooting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411C9A-CEE9-4E21-BA1E-F3E618464010}"/>
              </a:ext>
            </a:extLst>
          </p:cNvPr>
          <p:cNvSpPr/>
          <p:nvPr/>
        </p:nvSpPr>
        <p:spPr>
          <a:xfrm>
            <a:off x="1256181" y="2389523"/>
            <a:ext cx="2144063" cy="201412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E18501-C3F7-4C8D-B31E-99A69B56BB5A}"/>
              </a:ext>
            </a:extLst>
          </p:cNvPr>
          <p:cNvSpPr/>
          <p:nvPr/>
        </p:nvSpPr>
        <p:spPr>
          <a:xfrm>
            <a:off x="4342790" y="1901795"/>
            <a:ext cx="2877302" cy="17425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7E3729-A02C-4B1E-B068-1F7128283500}"/>
              </a:ext>
            </a:extLst>
          </p:cNvPr>
          <p:cNvSpPr txBox="1"/>
          <p:nvPr/>
        </p:nvSpPr>
        <p:spPr>
          <a:xfrm>
            <a:off x="4815747" y="1545968"/>
            <a:ext cx="1983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z="1400" dirty="0"/>
              <a:t>Log entry explanation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78473B-0E03-411A-B1A0-371E5BBC1DDE}"/>
              </a:ext>
            </a:extLst>
          </p:cNvPr>
          <p:cNvSpPr/>
          <p:nvPr/>
        </p:nvSpPr>
        <p:spPr>
          <a:xfrm>
            <a:off x="4095648" y="5064186"/>
            <a:ext cx="2577706" cy="13123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03551-96E2-46C7-9174-05138B919C45}"/>
              </a:ext>
            </a:extLst>
          </p:cNvPr>
          <p:cNvSpPr txBox="1"/>
          <p:nvPr/>
        </p:nvSpPr>
        <p:spPr>
          <a:xfrm>
            <a:off x="4378363" y="4743309"/>
            <a:ext cx="2157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z="1400" dirty="0"/>
              <a:t>Summary of the incident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C6D22A-63D6-4D64-A2CE-3E0282FDDB35}"/>
              </a:ext>
            </a:extLst>
          </p:cNvPr>
          <p:cNvSpPr/>
          <p:nvPr/>
        </p:nvSpPr>
        <p:spPr>
          <a:xfrm>
            <a:off x="7045462" y="5277519"/>
            <a:ext cx="3174946" cy="1414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28F7A3-E4DF-408D-9574-9F1FB003A3FB}"/>
              </a:ext>
            </a:extLst>
          </p:cNvPr>
          <p:cNvSpPr txBox="1"/>
          <p:nvPr/>
        </p:nvSpPr>
        <p:spPr>
          <a:xfrm>
            <a:off x="6890280" y="4932147"/>
            <a:ext cx="3507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z="1400" dirty="0"/>
              <a:t>Interactive step-by-step procedure following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957B7F-9F38-4D1D-9F6B-D4B996C135B4}"/>
              </a:ext>
            </a:extLst>
          </p:cNvPr>
          <p:cNvSpPr/>
          <p:nvPr/>
        </p:nvSpPr>
        <p:spPr>
          <a:xfrm>
            <a:off x="7711738" y="3066114"/>
            <a:ext cx="3612092" cy="1541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D10935-BF72-469C-AE5E-0AAFD249E6A1}"/>
              </a:ext>
            </a:extLst>
          </p:cNvPr>
          <p:cNvSpPr txBox="1"/>
          <p:nvPr/>
        </p:nvSpPr>
        <p:spPr>
          <a:xfrm>
            <a:off x="8275132" y="2719909"/>
            <a:ext cx="2622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Recommendation for a solution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452E16-E95D-45C9-A6AE-38A580D31C03}"/>
              </a:ext>
            </a:extLst>
          </p:cNvPr>
          <p:cNvSpPr/>
          <p:nvPr/>
        </p:nvSpPr>
        <p:spPr>
          <a:xfrm>
            <a:off x="1270505" y="2427090"/>
            <a:ext cx="21297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2019-06-12T10:20:30.000Z WARNING PKI/4/HTTP_GET_CRL_ERR: </a:t>
            </a:r>
            <a:r>
              <a:rPr lang="en-US" sz="600" dirty="0" err="1">
                <a:solidFill>
                  <a:schemeClr val="bg1"/>
                </a:solidFill>
              </a:rPr>
              <a:t>file_name</a:t>
            </a:r>
            <a:r>
              <a:rPr lang="en-US" sz="600" dirty="0">
                <a:solidFill>
                  <a:schemeClr val="bg1"/>
                </a:solidFill>
              </a:rPr>
              <a:t>:[</a:t>
            </a:r>
            <a:r>
              <a:rPr lang="en-US" sz="600" dirty="0" err="1">
                <a:solidFill>
                  <a:schemeClr val="bg1"/>
                </a:solidFill>
              </a:rPr>
              <a:t>test.crl</a:t>
            </a:r>
            <a:r>
              <a:rPr lang="en-US" sz="600" dirty="0">
                <a:solidFill>
                  <a:schemeClr val="bg1"/>
                </a:solidFill>
              </a:rPr>
              <a:t>] Manually obtaining CRL [</a:t>
            </a:r>
            <a:r>
              <a:rPr lang="en-US" sz="600" dirty="0" err="1">
                <a:solidFill>
                  <a:schemeClr val="bg1"/>
                </a:solidFill>
              </a:rPr>
              <a:t>test.crl</a:t>
            </a:r>
            <a:r>
              <a:rPr lang="en-US" sz="600" dirty="0">
                <a:solidFill>
                  <a:schemeClr val="bg1"/>
                </a:solidFill>
              </a:rPr>
              <a:t>] through HTTP failed (Reason=[URL resolution failed]). category=PKI </a:t>
            </a:r>
            <a:r>
              <a:rPr lang="en-US" sz="600" dirty="0" err="1">
                <a:solidFill>
                  <a:schemeClr val="bg1"/>
                </a:solidFill>
              </a:rPr>
              <a:t>subCategory</a:t>
            </a:r>
            <a:r>
              <a:rPr lang="en-US" sz="600" dirty="0">
                <a:solidFill>
                  <a:schemeClr val="bg1"/>
                </a:solidFill>
              </a:rPr>
              <a:t>=CRL component=HTTP, </a:t>
            </a:r>
            <a:r>
              <a:rPr lang="en-US" sz="600" dirty="0" err="1">
                <a:solidFill>
                  <a:schemeClr val="bg1"/>
                </a:solidFill>
              </a:rPr>
              <a:t>eventID</a:t>
            </a:r>
            <a:r>
              <a:rPr lang="en-US" sz="600" dirty="0">
                <a:solidFill>
                  <a:schemeClr val="bg1"/>
                </a:solidFill>
              </a:rPr>
              <a:t>=</a:t>
            </a:r>
            <a:r>
              <a:rPr lang="en-US" sz="600" dirty="0" err="1">
                <a:solidFill>
                  <a:schemeClr val="bg1"/>
                </a:solidFill>
              </a:rPr>
              <a:t>HTTP_GET_CRL_ERR,vendor</a:t>
            </a:r>
            <a:r>
              <a:rPr lang="en-US" sz="600" dirty="0">
                <a:solidFill>
                  <a:schemeClr val="bg1"/>
                </a:solidFill>
              </a:rPr>
              <a:t>=</a:t>
            </a:r>
            <a:r>
              <a:rPr lang="en-US" sz="600" dirty="0" err="1">
                <a:solidFill>
                  <a:schemeClr val="bg1"/>
                </a:solidFill>
              </a:rPr>
              <a:t>Huawei,product</a:t>
            </a:r>
            <a:r>
              <a:rPr lang="en-US" sz="600" dirty="0">
                <a:solidFill>
                  <a:schemeClr val="bg1"/>
                </a:solidFill>
              </a:rPr>
              <a:t>=Fat </a:t>
            </a:r>
            <a:r>
              <a:rPr lang="en-US" sz="600" dirty="0" err="1">
                <a:solidFill>
                  <a:schemeClr val="bg1"/>
                </a:solidFill>
              </a:rPr>
              <a:t>AP,version</a:t>
            </a:r>
            <a:r>
              <a:rPr lang="en-US" sz="600" dirty="0">
                <a:solidFill>
                  <a:schemeClr val="bg1"/>
                </a:solidFill>
              </a:rPr>
              <a:t>=V200R022C00, timestamp: [2019-06-12 10:20:30] [ rid:T6zHJ38AAAEAAAo2BCwAAAMk </a:t>
            </a:r>
            <a:r>
              <a:rPr lang="en-US" sz="600" dirty="0" err="1">
                <a:solidFill>
                  <a:schemeClr val="bg1"/>
                </a:solidFill>
              </a:rPr>
              <a:t>ip</a:t>
            </a:r>
            <a:r>
              <a:rPr lang="en-US" sz="600" dirty="0">
                <a:solidFill>
                  <a:schemeClr val="bg1"/>
                </a:solidFill>
              </a:rPr>
              <a:t>:[192.158.1.38]:1813/UDP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C642D4-0719-4B11-85DD-5A918B0D3E61}"/>
              </a:ext>
            </a:extLst>
          </p:cNvPr>
          <p:cNvSpPr/>
          <p:nvPr/>
        </p:nvSpPr>
        <p:spPr>
          <a:xfrm>
            <a:off x="1251148" y="3480320"/>
            <a:ext cx="21297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2019-06-13T11:21:31.000Z WARNING PKI/4/HTTP_GET_CRL_ERR: </a:t>
            </a:r>
            <a:r>
              <a:rPr lang="en-US" sz="600" dirty="0" err="1">
                <a:solidFill>
                  <a:schemeClr val="bg1"/>
                </a:solidFill>
              </a:rPr>
              <a:t>file_name</a:t>
            </a:r>
            <a:r>
              <a:rPr lang="en-US" sz="600" dirty="0">
                <a:solidFill>
                  <a:schemeClr val="bg1"/>
                </a:solidFill>
              </a:rPr>
              <a:t>:[test1.crl] Manually obtaining CRL [test1.crl] through HTTP failed (Reason: Failed to save the response message). category=PKI </a:t>
            </a:r>
            <a:r>
              <a:rPr lang="en-US" sz="600" dirty="0" err="1">
                <a:solidFill>
                  <a:schemeClr val="bg1"/>
                </a:solidFill>
              </a:rPr>
              <a:t>subCategory</a:t>
            </a:r>
            <a:r>
              <a:rPr lang="en-US" sz="600" dirty="0">
                <a:solidFill>
                  <a:schemeClr val="bg1"/>
                </a:solidFill>
              </a:rPr>
              <a:t>=CRL </a:t>
            </a:r>
            <a:r>
              <a:rPr lang="en-US" sz="600" dirty="0" err="1">
                <a:solidFill>
                  <a:schemeClr val="bg1"/>
                </a:solidFill>
              </a:rPr>
              <a:t>eventID</a:t>
            </a:r>
            <a:r>
              <a:rPr lang="en-US" sz="600" dirty="0">
                <a:solidFill>
                  <a:schemeClr val="bg1"/>
                </a:solidFill>
              </a:rPr>
              <a:t>=HTTP_GET_CRL_ERR,vendor=</a:t>
            </a:r>
            <a:r>
              <a:rPr lang="en-US" sz="600" dirty="0" err="1">
                <a:solidFill>
                  <a:schemeClr val="bg1"/>
                </a:solidFill>
              </a:rPr>
              <a:t>Huawei,product</a:t>
            </a:r>
            <a:r>
              <a:rPr lang="en-US" sz="600" dirty="0">
                <a:solidFill>
                  <a:schemeClr val="bg1"/>
                </a:solidFill>
              </a:rPr>
              <a:t>=Fat </a:t>
            </a:r>
            <a:r>
              <a:rPr lang="en-US" sz="600" dirty="0" err="1">
                <a:solidFill>
                  <a:schemeClr val="bg1"/>
                </a:solidFill>
              </a:rPr>
              <a:t>AP,version</a:t>
            </a:r>
            <a:r>
              <a:rPr lang="en-US" sz="600" dirty="0">
                <a:solidFill>
                  <a:schemeClr val="bg1"/>
                </a:solidFill>
              </a:rPr>
              <a:t>=V200R022C00, timestamp: [2019-06-13 11:21:31] [ rid:T6zHJ38AAAEAAAo2BCwAAAMk </a:t>
            </a:r>
            <a:r>
              <a:rPr lang="en-US" sz="600" dirty="0" err="1">
                <a:solidFill>
                  <a:schemeClr val="bg1"/>
                </a:solidFill>
              </a:rPr>
              <a:t>ip</a:t>
            </a:r>
            <a:r>
              <a:rPr lang="en-US" sz="600" dirty="0">
                <a:solidFill>
                  <a:schemeClr val="bg1"/>
                </a:solidFill>
              </a:rPr>
              <a:t>:[192.158.1.39]:1813/UDP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8C5A6E-0EC2-4DC2-8BE7-A9E335FB362D}"/>
              </a:ext>
            </a:extLst>
          </p:cNvPr>
          <p:cNvSpPr txBox="1"/>
          <p:nvPr/>
        </p:nvSpPr>
        <p:spPr>
          <a:xfrm>
            <a:off x="4363876" y="1906163"/>
            <a:ext cx="287619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</a:rPr>
              <a:t>Alarm Description:</a:t>
            </a:r>
          </a:p>
          <a:p>
            <a:r>
              <a:rPr lang="en-US" sz="700" dirty="0">
                <a:solidFill>
                  <a:schemeClr val="bg1"/>
                </a:solidFill>
              </a:rPr>
              <a:t>After receiving a Hello packet from a neighbor, the device records information about the neighbor and starts a timer for the neighbor. If the device does not receive any Hello packet from the PIM neighbor before the timer expires, the device reports a trap.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397CC54-3D45-4245-A0DA-A9246152D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143191"/>
              </p:ext>
            </p:extLst>
          </p:nvPr>
        </p:nvGraphicFramePr>
        <p:xfrm>
          <a:off x="4406616" y="2533083"/>
          <a:ext cx="2743213" cy="1021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05654">
                  <a:extLst>
                    <a:ext uri="{9D8B030D-6E8A-4147-A177-3AD203B41FA5}">
                      <a16:colId xmlns:a16="http://schemas.microsoft.com/office/drawing/2014/main" val="2300310330"/>
                    </a:ext>
                  </a:extLst>
                </a:gridCol>
                <a:gridCol w="1145965">
                  <a:extLst>
                    <a:ext uri="{9D8B030D-6E8A-4147-A177-3AD203B41FA5}">
                      <a16:colId xmlns:a16="http://schemas.microsoft.com/office/drawing/2014/main" val="3664545404"/>
                    </a:ext>
                  </a:extLst>
                </a:gridCol>
                <a:gridCol w="891594">
                  <a:extLst>
                    <a:ext uri="{9D8B030D-6E8A-4147-A177-3AD203B41FA5}">
                      <a16:colId xmlns:a16="http://schemas.microsoft.com/office/drawing/2014/main" val="824288521"/>
                    </a:ext>
                  </a:extLst>
                </a:gridCol>
              </a:tblGrid>
              <a:tr h="220492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Log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Describes the log name)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 err="1">
                          <a:solidFill>
                            <a:schemeClr val="bg1"/>
                          </a:solidFill>
                        </a:rPr>
                        <a:t>hwPimNeighborLos</a:t>
                      </a: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826"/>
                  </a:ext>
                </a:extLst>
              </a:tr>
              <a:tr h="293990">
                <a:tc>
                  <a:txBody>
                    <a:bodyPr/>
                    <a:lstStyle/>
                    <a:p>
                      <a:r>
                        <a:rPr lang="en-US" sz="700" dirty="0" err="1">
                          <a:solidFill>
                            <a:schemeClr val="bg1"/>
                          </a:solidFill>
                        </a:rPr>
                        <a:t>NbrIntIndex</a:t>
                      </a: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Index of the interface where the neighbor resides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306276"/>
                  </a:ext>
                </a:extLst>
              </a:tr>
              <a:tr h="293990">
                <a:tc>
                  <a:txBody>
                    <a:bodyPr/>
                    <a:lstStyle/>
                    <a:p>
                      <a:r>
                        <a:rPr lang="en-US" sz="700" dirty="0" err="1">
                          <a:solidFill>
                            <a:schemeClr val="bg1"/>
                          </a:solidFill>
                        </a:rPr>
                        <a:t>NbrUpTime</a:t>
                      </a: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Time when a neighbor relationship is established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2020-12-12 10:20:30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10468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F5B79DF-3ED2-4408-BEB7-5FD0CD9DAE13}"/>
              </a:ext>
            </a:extLst>
          </p:cNvPr>
          <p:cNvSpPr txBox="1"/>
          <p:nvPr/>
        </p:nvSpPr>
        <p:spPr>
          <a:xfrm>
            <a:off x="664583" y="2032549"/>
            <a:ext cx="31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z="1400" dirty="0"/>
              <a:t>Network status extraction: logs, alarms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D35F2D-916A-474A-8386-425DEE6A6759}"/>
              </a:ext>
            </a:extLst>
          </p:cNvPr>
          <p:cNvSpPr/>
          <p:nvPr/>
        </p:nvSpPr>
        <p:spPr>
          <a:xfrm>
            <a:off x="1147499" y="2454208"/>
            <a:ext cx="2357425" cy="98854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18CBAF-8F98-4F09-91DF-46EAB9FFAB3D}"/>
              </a:ext>
            </a:extLst>
          </p:cNvPr>
          <p:cNvSpPr/>
          <p:nvPr/>
        </p:nvSpPr>
        <p:spPr>
          <a:xfrm>
            <a:off x="7774597" y="3136013"/>
            <a:ext cx="345689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1. Check whether the reset </a:t>
            </a:r>
            <a:r>
              <a:rPr lang="en-US" sz="600" dirty="0" err="1">
                <a:solidFill>
                  <a:schemeClr val="bg1"/>
                </a:solidFill>
              </a:rPr>
              <a:t>msdp</a:t>
            </a:r>
            <a:r>
              <a:rPr lang="en-US" sz="600" dirty="0">
                <a:solidFill>
                  <a:schemeClr val="bg1"/>
                </a:solidFill>
              </a:rPr>
              <a:t> peer command is run in the user view on the peer device.</a:t>
            </a:r>
          </a:p>
          <a:p>
            <a:r>
              <a:rPr lang="en-US" sz="600" dirty="0">
                <a:solidFill>
                  <a:schemeClr val="bg1"/>
                </a:solidFill>
              </a:rPr>
              <a:t>             • If is performed, wait until the peer is re-established.</a:t>
            </a:r>
          </a:p>
          <a:p>
            <a:r>
              <a:rPr lang="en-US" sz="600" dirty="0">
                <a:solidFill>
                  <a:schemeClr val="bg1"/>
                </a:solidFill>
              </a:rPr>
              <a:t>             • If not, go to Step 2.</a:t>
            </a:r>
          </a:p>
          <a:p>
            <a:r>
              <a:rPr lang="en-US" sz="600" dirty="0">
                <a:solidFill>
                  <a:schemeClr val="bg1"/>
                </a:solidFill>
              </a:rPr>
              <a:t>2. Run the display this command in the MSDP view of the peer device to check whether an MSDP peer is configured.</a:t>
            </a:r>
          </a:p>
          <a:p>
            <a:r>
              <a:rPr lang="en-US" sz="600" dirty="0">
                <a:solidFill>
                  <a:schemeClr val="bg1"/>
                </a:solidFill>
              </a:rPr>
              <a:t>             • If yes, go to step 3.</a:t>
            </a:r>
          </a:p>
          <a:p>
            <a:r>
              <a:rPr lang="en-US" sz="600" dirty="0">
                <a:solidFill>
                  <a:schemeClr val="bg1"/>
                </a:solidFill>
              </a:rPr>
              <a:t>             • If no, run the peer connect-interface &lt;interface-type&gt; &lt;interface-number&gt; command in the MSDP view to configure an MSDP peer.</a:t>
            </a:r>
          </a:p>
          <a:p>
            <a:r>
              <a:rPr lang="en-US" sz="600" dirty="0">
                <a:solidFill>
                  <a:schemeClr val="bg1"/>
                </a:solidFill>
              </a:rPr>
              <a:t>3. Run the display interface brief command to check whether the shutdown command is configured on the peer interface.</a:t>
            </a:r>
          </a:p>
          <a:p>
            <a:r>
              <a:rPr lang="en-US" sz="600" dirty="0">
                <a:solidFill>
                  <a:schemeClr val="bg1"/>
                </a:solidFill>
              </a:rPr>
              <a:t>             • If so, run the undo shutdown command in the interface view to clear the alarm.</a:t>
            </a:r>
          </a:p>
          <a:p>
            <a:r>
              <a:rPr lang="en-US" sz="600" dirty="0">
                <a:solidFill>
                  <a:schemeClr val="bg1"/>
                </a:solidFill>
              </a:rPr>
              <a:t>             • If no, go to step 4.</a:t>
            </a:r>
          </a:p>
          <a:p>
            <a:r>
              <a:rPr lang="en-US" sz="600" dirty="0">
                <a:solidFill>
                  <a:schemeClr val="bg1"/>
                </a:solidFill>
              </a:rPr>
              <a:t>4. Collect alarm and configuration information, and contact technical support personnel.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F8E7872-2D51-402D-9882-D90723212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848" y="5360292"/>
            <a:ext cx="3041675" cy="123880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8AB47D0-58F7-4688-A7BD-E169ECBED480}"/>
              </a:ext>
            </a:extLst>
          </p:cNvPr>
          <p:cNvSpPr/>
          <p:nvPr/>
        </p:nvSpPr>
        <p:spPr>
          <a:xfrm>
            <a:off x="4170243" y="5215352"/>
            <a:ext cx="242851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latin typeface="Montserrat"/>
              </a:rPr>
              <a:t>The root cause of </a:t>
            </a:r>
            <a:r>
              <a:rPr lang="en-US" sz="700" dirty="0" err="1">
                <a:solidFill>
                  <a:schemeClr val="bg1"/>
                </a:solidFill>
                <a:latin typeface="Montserrat"/>
              </a:rPr>
              <a:t>hwPimNeighborLoss</a:t>
            </a:r>
            <a:r>
              <a:rPr lang="en-US" sz="700" dirty="0">
                <a:solidFill>
                  <a:schemeClr val="bg1"/>
                </a:solidFill>
                <a:latin typeface="Montserrat"/>
              </a:rPr>
              <a:t> was investigated. Here are the main findings:</a:t>
            </a:r>
          </a:p>
          <a:p>
            <a:r>
              <a:rPr lang="en-US" sz="700" dirty="0">
                <a:solidFill>
                  <a:schemeClr val="bg1"/>
                </a:solidFill>
                <a:latin typeface="Montserrat"/>
              </a:rPr>
              <a:t>Step 1: Ping/Ping IPv6 command outcome: broken (link between neighbors is not normal)</a:t>
            </a:r>
            <a:br>
              <a:rPr lang="en-US" sz="700" dirty="0">
                <a:solidFill>
                  <a:schemeClr val="bg1"/>
                </a:solidFill>
                <a:latin typeface="Montserrat"/>
              </a:rPr>
            </a:br>
            <a:r>
              <a:rPr lang="en-US" sz="700" dirty="0">
                <a:solidFill>
                  <a:schemeClr val="bg1"/>
                </a:solidFill>
                <a:latin typeface="Montserrat"/>
              </a:rPr>
              <a:t>Step 2: Display interface brief/Display IPv6 interface brief command outcome: no, mistake (link is normal)</a:t>
            </a:r>
            <a:br>
              <a:rPr lang="en-US" sz="700" dirty="0">
                <a:solidFill>
                  <a:schemeClr val="bg1"/>
                </a:solidFill>
                <a:latin typeface="Montserrat"/>
              </a:rPr>
            </a:br>
            <a:r>
              <a:rPr lang="en-US" sz="700" dirty="0">
                <a:solidFill>
                  <a:schemeClr val="bg1"/>
                </a:solidFill>
                <a:latin typeface="Montserrat"/>
              </a:rPr>
              <a:t>Step 3: Display IP routing-table/Display IPv6 routing-table command outcome: seems ok</a:t>
            </a:r>
          </a:p>
          <a:p>
            <a:r>
              <a:rPr lang="en-US" sz="700" dirty="0">
                <a:solidFill>
                  <a:schemeClr val="bg1"/>
                </a:solidFill>
                <a:latin typeface="Montserrat"/>
              </a:rPr>
              <a:t>Conclusion: The problem was not solved.</a:t>
            </a:r>
            <a:endParaRPr lang="en-US" sz="700" b="0" i="0" dirty="0">
              <a:solidFill>
                <a:schemeClr val="bg1"/>
              </a:solidFill>
              <a:effectLst/>
              <a:latin typeface="Montserrat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B639C73-A8D7-49D3-90CF-65BF9FD7D8EB}"/>
              </a:ext>
            </a:extLst>
          </p:cNvPr>
          <p:cNvSpPr/>
          <p:nvPr/>
        </p:nvSpPr>
        <p:spPr>
          <a:xfrm rot="5400000">
            <a:off x="9039617" y="4542422"/>
            <a:ext cx="227109" cy="522578"/>
          </a:xfrm>
          <a:prstGeom prst="rightArrow">
            <a:avLst>
              <a:gd name="adj1" fmla="val 56125"/>
              <a:gd name="adj2" fmla="val 50000"/>
            </a:avLst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DA8459BC-FB03-47DD-AD1B-08EB74861D1A}"/>
              </a:ext>
            </a:extLst>
          </p:cNvPr>
          <p:cNvSpPr/>
          <p:nvPr/>
        </p:nvSpPr>
        <p:spPr>
          <a:xfrm flipV="1">
            <a:off x="7439505" y="2974970"/>
            <a:ext cx="207803" cy="579193"/>
          </a:xfrm>
          <a:prstGeom prst="rightArrow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EA8B92B8-9DE9-49A8-B0C2-E4FEA49BA0BC}"/>
              </a:ext>
            </a:extLst>
          </p:cNvPr>
          <p:cNvSpPr/>
          <p:nvPr/>
        </p:nvSpPr>
        <p:spPr>
          <a:xfrm rot="10800000">
            <a:off x="6764279" y="5567533"/>
            <a:ext cx="214485" cy="524112"/>
          </a:xfrm>
          <a:prstGeom prst="rightArrow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6112D8A-3067-4B4C-8E65-28F8787127C3}"/>
              </a:ext>
            </a:extLst>
          </p:cNvPr>
          <p:cNvSpPr/>
          <p:nvPr/>
        </p:nvSpPr>
        <p:spPr>
          <a:xfrm>
            <a:off x="10465791" y="5164692"/>
            <a:ext cx="1586685" cy="941960"/>
          </a:xfrm>
          <a:prstGeom prst="roundRect">
            <a:avLst/>
          </a:prstGeom>
          <a:solidFill>
            <a:srgbClr val="E9EFF3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0CB8C72-F13F-4F56-A8FE-F50F7ADAD8DC}"/>
              </a:ext>
            </a:extLst>
          </p:cNvPr>
          <p:cNvCxnSpPr>
            <a:cxnSpLocks/>
          </p:cNvCxnSpPr>
          <p:nvPr/>
        </p:nvCxnSpPr>
        <p:spPr>
          <a:xfrm>
            <a:off x="10240694" y="5585863"/>
            <a:ext cx="2080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768B0946-C45C-46F6-99A2-BC3DC38779F7}"/>
              </a:ext>
            </a:extLst>
          </p:cNvPr>
          <p:cNvSpPr/>
          <p:nvPr/>
        </p:nvSpPr>
        <p:spPr>
          <a:xfrm>
            <a:off x="10525649" y="5260648"/>
            <a:ext cx="15268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/>
              <a:t> Identify API call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/>
              <a:t> Extract arguments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/>
              <a:t> Execute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/>
              <a:t> Get output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9533AA-F961-461B-BE37-871187FFEE82}"/>
              </a:ext>
            </a:extLst>
          </p:cNvPr>
          <p:cNvCxnSpPr>
            <a:cxnSpLocks/>
          </p:cNvCxnSpPr>
          <p:nvPr/>
        </p:nvCxnSpPr>
        <p:spPr>
          <a:xfrm>
            <a:off x="3504924" y="2838370"/>
            <a:ext cx="837866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29132A-2209-4D54-98C5-5F42753693D8}"/>
              </a:ext>
            </a:extLst>
          </p:cNvPr>
          <p:cNvSpPr txBox="1"/>
          <p:nvPr/>
        </p:nvSpPr>
        <p:spPr>
          <a:xfrm>
            <a:off x="373236" y="4912415"/>
            <a:ext cx="3159614" cy="16747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4487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Analyze and explain network events</a:t>
            </a:r>
          </a:p>
          <a:p>
            <a:pPr marL="344487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Identify causes</a:t>
            </a:r>
          </a:p>
          <a:p>
            <a:pPr marL="344487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Suggest solutions</a:t>
            </a:r>
          </a:p>
          <a:p>
            <a:pPr marL="344487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Resolve alarms</a:t>
            </a:r>
          </a:p>
          <a:p>
            <a:pPr marL="344487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Summarize incidents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302047-80B4-4DE1-86A6-8FAAEFD20B48}"/>
              </a:ext>
            </a:extLst>
          </p:cNvPr>
          <p:cNvSpPr/>
          <p:nvPr/>
        </p:nvSpPr>
        <p:spPr>
          <a:xfrm>
            <a:off x="25921" y="4597853"/>
            <a:ext cx="322684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abilities of the network assistant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F97FF55-790F-470C-AA89-DFAFB1CD0635}"/>
              </a:ext>
            </a:extLst>
          </p:cNvPr>
          <p:cNvGrpSpPr/>
          <p:nvPr/>
        </p:nvGrpSpPr>
        <p:grpSpPr>
          <a:xfrm>
            <a:off x="8632935" y="-538652"/>
            <a:ext cx="3982985" cy="4013759"/>
            <a:chOff x="6629482" y="799977"/>
            <a:chExt cx="3982985" cy="4013759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679AC95-0EFC-4741-B7E7-AA030BB90BD0}"/>
                </a:ext>
              </a:extLst>
            </p:cNvPr>
            <p:cNvSpPr/>
            <p:nvPr/>
          </p:nvSpPr>
          <p:spPr>
            <a:xfrm>
              <a:off x="6629482" y="799977"/>
              <a:ext cx="3982985" cy="4013759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ircle: Hollow 41">
              <a:extLst>
                <a:ext uri="{FF2B5EF4-FFF2-40B4-BE49-F238E27FC236}">
                  <a16:creationId xmlns:a16="http://schemas.microsoft.com/office/drawing/2014/main" id="{926C74CE-FA3A-448E-9748-04CAEDA661A9}"/>
                </a:ext>
              </a:extLst>
            </p:cNvPr>
            <p:cNvSpPr/>
            <p:nvPr/>
          </p:nvSpPr>
          <p:spPr>
            <a:xfrm>
              <a:off x="7541409" y="1816763"/>
              <a:ext cx="2108888" cy="1839524"/>
            </a:xfrm>
            <a:prstGeom prst="donut">
              <a:avLst>
                <a:gd name="adj" fmla="val 42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FFD1E4B-616F-4DFD-9DF9-11F08CEA6C65}"/>
                </a:ext>
              </a:extLst>
            </p:cNvPr>
            <p:cNvSpPr/>
            <p:nvPr/>
          </p:nvSpPr>
          <p:spPr>
            <a:xfrm>
              <a:off x="7754839" y="3044496"/>
              <a:ext cx="840107" cy="805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0F390B9-DB66-4757-8020-6C2DF43FE243}"/>
                </a:ext>
              </a:extLst>
            </p:cNvPr>
            <p:cNvSpPr/>
            <p:nvPr/>
          </p:nvSpPr>
          <p:spPr>
            <a:xfrm>
              <a:off x="8605705" y="1593212"/>
              <a:ext cx="850722" cy="7768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D1DE6E6-0621-4837-9F6B-B012D039D695}"/>
                </a:ext>
              </a:extLst>
            </p:cNvPr>
            <p:cNvSpPr/>
            <p:nvPr/>
          </p:nvSpPr>
          <p:spPr>
            <a:xfrm>
              <a:off x="7746343" y="1615165"/>
              <a:ext cx="804315" cy="7768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7C67509-C281-4D84-827A-3AC26FE24463}"/>
                </a:ext>
              </a:extLst>
            </p:cNvPr>
            <p:cNvSpPr/>
            <p:nvPr/>
          </p:nvSpPr>
          <p:spPr>
            <a:xfrm>
              <a:off x="7307538" y="2312111"/>
              <a:ext cx="804314" cy="77587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0E81D45-F9A7-480B-BB6E-96AE88C24ACF}"/>
                </a:ext>
              </a:extLst>
            </p:cNvPr>
            <p:cNvSpPr txBox="1"/>
            <p:nvPr/>
          </p:nvSpPr>
          <p:spPr>
            <a:xfrm>
              <a:off x="7673888" y="1773661"/>
              <a:ext cx="9685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Traffic Modeling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47F29D0-B63B-4159-9B77-774BAD50257D}"/>
                </a:ext>
              </a:extLst>
            </p:cNvPr>
            <p:cNvSpPr txBox="1"/>
            <p:nvPr/>
          </p:nvSpPr>
          <p:spPr>
            <a:xfrm>
              <a:off x="7283245" y="2488196"/>
              <a:ext cx="83187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Network Topology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F588DCA-2107-4CF3-8C30-CBC8508E556E}"/>
                </a:ext>
              </a:extLst>
            </p:cNvPr>
            <p:cNvSpPr txBox="1"/>
            <p:nvPr/>
          </p:nvSpPr>
          <p:spPr>
            <a:xfrm>
              <a:off x="7731875" y="3240809"/>
              <a:ext cx="8735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Simulations &amp; Scenarios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AD16C95-938F-408F-BA98-CA6EC35EEE4C}"/>
                </a:ext>
              </a:extLst>
            </p:cNvPr>
            <p:cNvSpPr/>
            <p:nvPr/>
          </p:nvSpPr>
          <p:spPr>
            <a:xfrm>
              <a:off x="9065424" y="2312112"/>
              <a:ext cx="840106" cy="775879"/>
            </a:xfrm>
            <a:prstGeom prst="ellipse">
              <a:avLst/>
            </a:prstGeom>
            <a:solidFill>
              <a:srgbClr val="7CA7FC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EB501DA-D629-434F-B468-20B58D9FF93C}"/>
                </a:ext>
              </a:extLst>
            </p:cNvPr>
            <p:cNvSpPr/>
            <p:nvPr/>
          </p:nvSpPr>
          <p:spPr>
            <a:xfrm>
              <a:off x="8682441" y="3068861"/>
              <a:ext cx="782627" cy="78085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12035BB-321B-4BAA-BDC1-89C901AF3399}"/>
                </a:ext>
              </a:extLst>
            </p:cNvPr>
            <p:cNvSpPr/>
            <p:nvPr/>
          </p:nvSpPr>
          <p:spPr>
            <a:xfrm>
              <a:off x="8093612" y="2268617"/>
              <a:ext cx="1024187" cy="9876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FAAED5E-2A54-4B97-9415-0E21036A1F81}"/>
                </a:ext>
              </a:extLst>
            </p:cNvPr>
            <p:cNvSpPr/>
            <p:nvPr/>
          </p:nvSpPr>
          <p:spPr>
            <a:xfrm>
              <a:off x="7977510" y="2563479"/>
              <a:ext cx="1241718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AI-Powered Engine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87A4ABE-530F-4083-A0EE-C23A9E68877E}"/>
                </a:ext>
              </a:extLst>
            </p:cNvPr>
            <p:cNvSpPr txBox="1"/>
            <p:nvPr/>
          </p:nvSpPr>
          <p:spPr>
            <a:xfrm>
              <a:off x="8587649" y="3265060"/>
              <a:ext cx="955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Network</a:t>
              </a:r>
            </a:p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Visualization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3F303F-3803-466D-A08D-3C1ADF91EE25}"/>
                </a:ext>
              </a:extLst>
            </p:cNvPr>
            <p:cNvSpPr txBox="1"/>
            <p:nvPr/>
          </p:nvSpPr>
          <p:spPr>
            <a:xfrm>
              <a:off x="8532253" y="1816763"/>
              <a:ext cx="10241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00"/>
                  </a:solidFill>
                </a:rPr>
                <a:t>Troubleshooting guide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4E64C21-C2E7-4F53-A806-8E08BC06EB73}"/>
                </a:ext>
              </a:extLst>
            </p:cNvPr>
            <p:cNvSpPr txBox="1"/>
            <p:nvPr/>
          </p:nvSpPr>
          <p:spPr>
            <a:xfrm>
              <a:off x="9147105" y="2484606"/>
              <a:ext cx="7265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00"/>
                  </a:solidFill>
                </a:rPr>
                <a:t>Log Analysis</a:t>
              </a:r>
            </a:p>
          </p:txBody>
        </p:sp>
      </p:grpSp>
      <p:pic>
        <p:nvPicPr>
          <p:cNvPr id="58" name="Graphic 57" descr="Checkmark">
            <a:extLst>
              <a:ext uri="{FF2B5EF4-FFF2-40B4-BE49-F238E27FC236}">
                <a16:creationId xmlns:a16="http://schemas.microsoft.com/office/drawing/2014/main" id="{E1F9A0B2-52F6-44A9-BDFC-D21448183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198" y="4959835"/>
            <a:ext cx="252142" cy="252142"/>
          </a:xfrm>
          <a:prstGeom prst="rect">
            <a:avLst/>
          </a:prstGeom>
        </p:spPr>
      </p:pic>
      <p:pic>
        <p:nvPicPr>
          <p:cNvPr id="59" name="Graphic 58" descr="Checkmark">
            <a:extLst>
              <a:ext uri="{FF2B5EF4-FFF2-40B4-BE49-F238E27FC236}">
                <a16:creationId xmlns:a16="http://schemas.microsoft.com/office/drawing/2014/main" id="{898D9DB7-F72E-456F-8C34-E022D5C15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819" y="5279555"/>
            <a:ext cx="252142" cy="252142"/>
          </a:xfrm>
          <a:prstGeom prst="rect">
            <a:avLst/>
          </a:prstGeom>
        </p:spPr>
      </p:pic>
      <p:pic>
        <p:nvPicPr>
          <p:cNvPr id="61" name="Graphic 60" descr="Checkmark">
            <a:extLst>
              <a:ext uri="{FF2B5EF4-FFF2-40B4-BE49-F238E27FC236}">
                <a16:creationId xmlns:a16="http://schemas.microsoft.com/office/drawing/2014/main" id="{4FE0B5EA-74BD-4E40-96AF-F25B0871E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819" y="5592229"/>
            <a:ext cx="252142" cy="252142"/>
          </a:xfrm>
          <a:prstGeom prst="rect">
            <a:avLst/>
          </a:prstGeom>
        </p:spPr>
      </p:pic>
      <p:pic>
        <p:nvPicPr>
          <p:cNvPr id="62" name="Graphic 61" descr="Checkmark">
            <a:extLst>
              <a:ext uri="{FF2B5EF4-FFF2-40B4-BE49-F238E27FC236}">
                <a16:creationId xmlns:a16="http://schemas.microsoft.com/office/drawing/2014/main" id="{F835D3C4-08F3-4CA5-92BB-BBA5468F6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309" y="5928182"/>
            <a:ext cx="252142" cy="252142"/>
          </a:xfrm>
          <a:prstGeom prst="rect">
            <a:avLst/>
          </a:prstGeom>
        </p:spPr>
      </p:pic>
      <p:pic>
        <p:nvPicPr>
          <p:cNvPr id="63" name="Graphic 62" descr="Checkmark">
            <a:extLst>
              <a:ext uri="{FF2B5EF4-FFF2-40B4-BE49-F238E27FC236}">
                <a16:creationId xmlns:a16="http://schemas.microsoft.com/office/drawing/2014/main" id="{AC3759C4-572E-46AB-9231-2F5E27480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130" y="6253254"/>
            <a:ext cx="252142" cy="25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7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81665C5-F237-4B01-BC51-3AD2CD4474CE}"/>
              </a:ext>
            </a:extLst>
          </p:cNvPr>
          <p:cNvSpPr/>
          <p:nvPr/>
        </p:nvSpPr>
        <p:spPr>
          <a:xfrm>
            <a:off x="8577232" y="1580153"/>
            <a:ext cx="3432696" cy="3100704"/>
          </a:xfrm>
          <a:prstGeom prst="roundRect">
            <a:avLst>
              <a:gd name="adj" fmla="val 11122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00902D7-FC89-4B03-A48F-00A5F2A1EE8E}"/>
              </a:ext>
            </a:extLst>
          </p:cNvPr>
          <p:cNvSpPr/>
          <p:nvPr/>
        </p:nvSpPr>
        <p:spPr>
          <a:xfrm>
            <a:off x="4769989" y="4214527"/>
            <a:ext cx="3676690" cy="2423979"/>
          </a:xfrm>
          <a:prstGeom prst="roundRect">
            <a:avLst>
              <a:gd name="adj" fmla="val 9927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A2878C9-DD28-4A5B-94C8-BC166F569935}"/>
              </a:ext>
            </a:extLst>
          </p:cNvPr>
          <p:cNvSpPr/>
          <p:nvPr/>
        </p:nvSpPr>
        <p:spPr>
          <a:xfrm>
            <a:off x="135776" y="1761910"/>
            <a:ext cx="4491716" cy="4707447"/>
          </a:xfrm>
          <a:prstGeom prst="roundRect">
            <a:avLst>
              <a:gd name="adj" fmla="val 5973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A4681-9853-48E4-A75F-E7C8EC5F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279" y="286495"/>
            <a:ext cx="5954736" cy="61541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Digital Twin Junior: Traffic Modeling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4A4A1E-8D41-4F30-B311-FC95DC0E3154}"/>
              </a:ext>
            </a:extLst>
          </p:cNvPr>
          <p:cNvSpPr txBox="1"/>
          <p:nvPr/>
        </p:nvSpPr>
        <p:spPr>
          <a:xfrm>
            <a:off x="8679167" y="5764099"/>
            <a:ext cx="3105640" cy="7052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Can be applied to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:  Backbone networks,  Campus network,  Datacenter networks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D3FBA4-FF96-42E8-8EE4-0972244DCAD7}"/>
              </a:ext>
            </a:extLst>
          </p:cNvPr>
          <p:cNvSpPr/>
          <p:nvPr/>
        </p:nvSpPr>
        <p:spPr>
          <a:xfrm>
            <a:off x="287928" y="1981017"/>
            <a:ext cx="4599516" cy="3013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Horizon – from very short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2060"/>
                </a:solidFill>
              </a:rPr>
              <a:t>      (1 min) to very long (1 day)</a:t>
            </a:r>
          </a:p>
          <a:p>
            <a:pPr>
              <a:lnSpc>
                <a:spcPct val="150000"/>
              </a:lnSpc>
            </a:pPr>
            <a:endParaRPr lang="en-US" sz="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Predict peaks &amp; ‘quite periods’ –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2060"/>
                </a:solidFill>
              </a:rPr>
              <a:t>       be prepared for overloading and energy saving time</a:t>
            </a:r>
          </a:p>
          <a:p>
            <a:pPr>
              <a:lnSpc>
                <a:spcPct val="150000"/>
              </a:lnSpc>
            </a:pPr>
            <a:endParaRPr lang="en-US" sz="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Unstable signal (e.g. hardly responding cell towers) –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2060"/>
                </a:solidFill>
              </a:rPr>
              <a:t>       no problem, prediction is based on neighborhood data</a:t>
            </a:r>
          </a:p>
          <a:p>
            <a:pPr>
              <a:lnSpc>
                <a:spcPct val="150000"/>
              </a:lnSpc>
            </a:pPr>
            <a:endParaRPr lang="en-US" sz="5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Holidays and other key events – we learn and predict even unusual traffic patterns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Different topologies –  known or unknown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4C164B2-0E85-462B-882E-0C31B02AA6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00" y="5188147"/>
            <a:ext cx="1948775" cy="68372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E51BDAD-CFDB-438D-88F2-25E8C7E386CF}"/>
              </a:ext>
            </a:extLst>
          </p:cNvPr>
          <p:cNvSpPr txBox="1"/>
          <p:nvPr/>
        </p:nvSpPr>
        <p:spPr>
          <a:xfrm>
            <a:off x="288031" y="5895218"/>
            <a:ext cx="21829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prediction restores peaks when they are signal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E0351C3-8DC6-46C5-8A02-FDC438190207}"/>
              </a:ext>
            </a:extLst>
          </p:cNvPr>
          <p:cNvGrpSpPr/>
          <p:nvPr/>
        </p:nvGrpSpPr>
        <p:grpSpPr>
          <a:xfrm>
            <a:off x="1198960" y="6123302"/>
            <a:ext cx="2573338" cy="249089"/>
            <a:chOff x="5209072" y="4425539"/>
            <a:chExt cx="2573338" cy="249089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E9DAC93-15A0-4796-8428-F4F9DD6EBEA6}"/>
                </a:ext>
              </a:extLst>
            </p:cNvPr>
            <p:cNvCxnSpPr/>
            <p:nvPr/>
          </p:nvCxnSpPr>
          <p:spPr bwMode="auto">
            <a:xfrm flipV="1">
              <a:off x="5209072" y="4536391"/>
              <a:ext cx="361090" cy="475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C7FD95-A6EC-436A-8BD0-6F2B7517EE7E}"/>
                </a:ext>
              </a:extLst>
            </p:cNvPr>
            <p:cNvSpPr txBox="1"/>
            <p:nvPr/>
          </p:nvSpPr>
          <p:spPr>
            <a:xfrm>
              <a:off x="5579505" y="4425539"/>
              <a:ext cx="829920" cy="24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ground truth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1988EC3-229B-463A-9E52-4366930214EA}"/>
                </a:ext>
              </a:extLst>
            </p:cNvPr>
            <p:cNvCxnSpPr/>
            <p:nvPr/>
          </p:nvCxnSpPr>
          <p:spPr bwMode="auto">
            <a:xfrm flipV="1">
              <a:off x="6531346" y="4547310"/>
              <a:ext cx="361090" cy="475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20577B5-6235-419D-8157-E906AE097810}"/>
                </a:ext>
              </a:extLst>
            </p:cNvPr>
            <p:cNvSpPr txBox="1"/>
            <p:nvPr/>
          </p:nvSpPr>
          <p:spPr>
            <a:xfrm>
              <a:off x="6904788" y="4431085"/>
              <a:ext cx="877622" cy="24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prediction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9079ED4D-65BF-44FA-8702-72431141E9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775" y="5170870"/>
            <a:ext cx="1825175" cy="68372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B34D028-84E5-4DCF-8909-8564C0E19ECC}"/>
              </a:ext>
            </a:extLst>
          </p:cNvPr>
          <p:cNvSpPr txBox="1"/>
          <p:nvPr/>
        </p:nvSpPr>
        <p:spPr>
          <a:xfrm>
            <a:off x="2377305" y="5907858"/>
            <a:ext cx="21829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prediction ignores peaks when they are noise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2AD943A-FFB5-4799-8589-829869A486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123" y="1910448"/>
            <a:ext cx="1363856" cy="104061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703300B-83CC-485C-9895-3BF7804B528A}"/>
              </a:ext>
            </a:extLst>
          </p:cNvPr>
          <p:cNvSpPr txBox="1"/>
          <p:nvPr/>
        </p:nvSpPr>
        <p:spPr>
          <a:xfrm>
            <a:off x="9514038" y="1609795"/>
            <a:ext cx="166548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Completion in Time</a:t>
            </a:r>
            <a:endParaRPr lang="he-IL" sz="1400" b="1" dirty="0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DBB9BB-CCBC-4982-8AEE-738803C9D965}"/>
              </a:ext>
            </a:extLst>
          </p:cNvPr>
          <p:cNvSpPr txBox="1"/>
          <p:nvPr/>
        </p:nvSpPr>
        <p:spPr>
          <a:xfrm>
            <a:off x="9182278" y="3525288"/>
            <a:ext cx="207935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Completion in Space</a:t>
            </a:r>
            <a:endParaRPr lang="he-IL" sz="1400" b="1" dirty="0">
              <a:solidFill>
                <a:schemeClr val="tx2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59501C-ADB3-45AA-B041-44BCAF9BDD28}"/>
              </a:ext>
            </a:extLst>
          </p:cNvPr>
          <p:cNvSpPr txBox="1"/>
          <p:nvPr/>
        </p:nvSpPr>
        <p:spPr>
          <a:xfrm>
            <a:off x="8679167" y="1931939"/>
            <a:ext cx="3339229" cy="14487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‘Estimate the present’ – fill in the missing values (traffic imputation)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‘Predict the future’ almost without knowing the past (with up to 80% of the historical data missing)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B83A78-7CBD-4B0E-8F15-AF631688926E}"/>
              </a:ext>
            </a:extLst>
          </p:cNvPr>
          <p:cNvSpPr/>
          <p:nvPr/>
        </p:nvSpPr>
        <p:spPr>
          <a:xfrm>
            <a:off x="8679167" y="4990963"/>
            <a:ext cx="3330761" cy="7052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Key techniques: 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Attention-based Graph Convolutional Neural Networks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827E9-AB03-4CE7-BAC3-1C9F55BE2F1F}"/>
              </a:ext>
            </a:extLst>
          </p:cNvPr>
          <p:cNvSpPr/>
          <p:nvPr/>
        </p:nvSpPr>
        <p:spPr>
          <a:xfrm>
            <a:off x="8691109" y="3833065"/>
            <a:ext cx="3061692" cy="617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Traffic Inversion for sampled traffic in network monitoring tools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82859D-6D0E-4690-A431-B498EED4BAAA}"/>
              </a:ext>
            </a:extLst>
          </p:cNvPr>
          <p:cNvSpPr txBox="1"/>
          <p:nvPr/>
        </p:nvSpPr>
        <p:spPr>
          <a:xfrm>
            <a:off x="4805159" y="4365446"/>
            <a:ext cx="3697550" cy="3395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Traffic Matrix from link loads:  Route-Aware GNN </a:t>
            </a:r>
            <a:endParaRPr lang="he-IL" sz="1200" dirty="0">
              <a:solidFill>
                <a:srgbClr val="00206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426149-AB88-4C8D-B6B9-A4E97D547F8F}"/>
              </a:ext>
            </a:extLst>
          </p:cNvPr>
          <p:cNvSpPr txBox="1"/>
          <p:nvPr/>
        </p:nvSpPr>
        <p:spPr>
          <a:xfrm>
            <a:off x="4801985" y="4810677"/>
            <a:ext cx="3452901" cy="61773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Traffic Matrix from Ingress/Egress Traffic: Attention-based GNN (Deep Gravity) 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E352981-E495-4A4F-B37D-03907A3810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781" y="5629004"/>
            <a:ext cx="3293105" cy="928824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3F4CCAE-006D-4A1A-BDF4-93E64583A595}"/>
              </a:ext>
            </a:extLst>
          </p:cNvPr>
          <p:cNvSpPr/>
          <p:nvPr/>
        </p:nvSpPr>
        <p:spPr>
          <a:xfrm>
            <a:off x="1849648" y="1241599"/>
            <a:ext cx="11369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Forecasting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A3A8D44-7B99-4345-86BE-705A3C3F36B8}"/>
              </a:ext>
            </a:extLst>
          </p:cNvPr>
          <p:cNvSpPr/>
          <p:nvPr/>
        </p:nvSpPr>
        <p:spPr>
          <a:xfrm>
            <a:off x="9710703" y="1180199"/>
            <a:ext cx="11533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Completion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3368FC0-95C0-40FF-99FF-96DC8F4ABFC5}"/>
              </a:ext>
            </a:extLst>
          </p:cNvPr>
          <p:cNvGrpSpPr/>
          <p:nvPr/>
        </p:nvGrpSpPr>
        <p:grpSpPr>
          <a:xfrm>
            <a:off x="4610857" y="375792"/>
            <a:ext cx="3982985" cy="4013759"/>
            <a:chOff x="6629482" y="799977"/>
            <a:chExt cx="3982985" cy="4013759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1814C15-A59D-4B73-8820-AAD1BF21ED69}"/>
                </a:ext>
              </a:extLst>
            </p:cNvPr>
            <p:cNvSpPr/>
            <p:nvPr/>
          </p:nvSpPr>
          <p:spPr>
            <a:xfrm>
              <a:off x="6629482" y="799977"/>
              <a:ext cx="3982985" cy="4013759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ircle: Hollow 49">
              <a:extLst>
                <a:ext uri="{FF2B5EF4-FFF2-40B4-BE49-F238E27FC236}">
                  <a16:creationId xmlns:a16="http://schemas.microsoft.com/office/drawing/2014/main" id="{2F9BB5E7-2581-4409-A711-85213CF76581}"/>
                </a:ext>
              </a:extLst>
            </p:cNvPr>
            <p:cNvSpPr/>
            <p:nvPr/>
          </p:nvSpPr>
          <p:spPr>
            <a:xfrm>
              <a:off x="7541409" y="1816763"/>
              <a:ext cx="2108888" cy="1839524"/>
            </a:xfrm>
            <a:prstGeom prst="donut">
              <a:avLst>
                <a:gd name="adj" fmla="val 42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E2C3C89-D488-4F76-9AC5-1514E3B0C77C}"/>
                </a:ext>
              </a:extLst>
            </p:cNvPr>
            <p:cNvSpPr/>
            <p:nvPr/>
          </p:nvSpPr>
          <p:spPr>
            <a:xfrm>
              <a:off x="7754839" y="3044496"/>
              <a:ext cx="840107" cy="805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61F3C69-2A58-4A34-9EE4-5C17776FD520}"/>
                </a:ext>
              </a:extLst>
            </p:cNvPr>
            <p:cNvSpPr/>
            <p:nvPr/>
          </p:nvSpPr>
          <p:spPr>
            <a:xfrm>
              <a:off x="8605705" y="1593212"/>
              <a:ext cx="850722" cy="7768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09BB539-3B82-4BE3-AA13-1384814C9A84}"/>
                </a:ext>
              </a:extLst>
            </p:cNvPr>
            <p:cNvSpPr/>
            <p:nvPr/>
          </p:nvSpPr>
          <p:spPr>
            <a:xfrm>
              <a:off x="7746343" y="1615165"/>
              <a:ext cx="804315" cy="7768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C537E88-B5DA-48A9-BDB4-02D50122ECAA}"/>
                </a:ext>
              </a:extLst>
            </p:cNvPr>
            <p:cNvSpPr/>
            <p:nvPr/>
          </p:nvSpPr>
          <p:spPr>
            <a:xfrm>
              <a:off x="7307538" y="2312111"/>
              <a:ext cx="804314" cy="77587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985534-A100-4250-907D-F74250F88812}"/>
                </a:ext>
              </a:extLst>
            </p:cNvPr>
            <p:cNvSpPr txBox="1"/>
            <p:nvPr/>
          </p:nvSpPr>
          <p:spPr>
            <a:xfrm>
              <a:off x="7673888" y="1773661"/>
              <a:ext cx="9685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00"/>
                  </a:solidFill>
                </a:rPr>
                <a:t>Traffic Modeling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049CE6A-F7AF-4B08-BDD2-4910E7901D17}"/>
                </a:ext>
              </a:extLst>
            </p:cNvPr>
            <p:cNvSpPr txBox="1"/>
            <p:nvPr/>
          </p:nvSpPr>
          <p:spPr>
            <a:xfrm>
              <a:off x="7283245" y="2488196"/>
              <a:ext cx="83187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Network Topology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47DBDA-9BCD-4A08-8479-445DB33D16AD}"/>
                </a:ext>
              </a:extLst>
            </p:cNvPr>
            <p:cNvSpPr txBox="1"/>
            <p:nvPr/>
          </p:nvSpPr>
          <p:spPr>
            <a:xfrm>
              <a:off x="7731875" y="3240809"/>
              <a:ext cx="8735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Simulations &amp; Scenarios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3047CAB-3DC2-4779-A667-A1BA00A237ED}"/>
                </a:ext>
              </a:extLst>
            </p:cNvPr>
            <p:cNvSpPr/>
            <p:nvPr/>
          </p:nvSpPr>
          <p:spPr>
            <a:xfrm>
              <a:off x="9065424" y="2312112"/>
              <a:ext cx="840106" cy="775879"/>
            </a:xfrm>
            <a:prstGeom prst="ellipse">
              <a:avLst/>
            </a:prstGeom>
            <a:solidFill>
              <a:srgbClr val="7CA7FC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E73D094-09D5-4626-A2BE-77F9BA07ED4A}"/>
                </a:ext>
              </a:extLst>
            </p:cNvPr>
            <p:cNvSpPr/>
            <p:nvPr/>
          </p:nvSpPr>
          <p:spPr>
            <a:xfrm>
              <a:off x="8682441" y="3068861"/>
              <a:ext cx="782627" cy="78085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F3E7E50-05E7-4F1A-A593-24A39E16F097}"/>
                </a:ext>
              </a:extLst>
            </p:cNvPr>
            <p:cNvSpPr/>
            <p:nvPr/>
          </p:nvSpPr>
          <p:spPr>
            <a:xfrm>
              <a:off x="8093612" y="2268617"/>
              <a:ext cx="1024187" cy="9876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9A2CAA8-DD39-48E6-974C-3AE6201AC085}"/>
                </a:ext>
              </a:extLst>
            </p:cNvPr>
            <p:cNvSpPr/>
            <p:nvPr/>
          </p:nvSpPr>
          <p:spPr>
            <a:xfrm>
              <a:off x="7977510" y="2563479"/>
              <a:ext cx="1241718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AI-Powered Engine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5433D4C-4C2C-49C5-92AA-419103B3D9DF}"/>
                </a:ext>
              </a:extLst>
            </p:cNvPr>
            <p:cNvSpPr txBox="1"/>
            <p:nvPr/>
          </p:nvSpPr>
          <p:spPr>
            <a:xfrm>
              <a:off x="8587649" y="3265060"/>
              <a:ext cx="955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Network</a:t>
              </a:r>
            </a:p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Visualization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75F2A9C-3303-4693-AC54-9D82DF66A426}"/>
                </a:ext>
              </a:extLst>
            </p:cNvPr>
            <p:cNvSpPr txBox="1"/>
            <p:nvPr/>
          </p:nvSpPr>
          <p:spPr>
            <a:xfrm>
              <a:off x="8532253" y="1816763"/>
              <a:ext cx="10241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Troubleshooting guide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0B00293-F81F-4C88-8B06-91C5B994E7BD}"/>
                </a:ext>
              </a:extLst>
            </p:cNvPr>
            <p:cNvSpPr txBox="1"/>
            <p:nvPr/>
          </p:nvSpPr>
          <p:spPr>
            <a:xfrm>
              <a:off x="9147105" y="2484606"/>
              <a:ext cx="7265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Log Analysis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71AC65AA-DA4A-4BDD-B159-F4210DAB3DE0}"/>
              </a:ext>
            </a:extLst>
          </p:cNvPr>
          <p:cNvSpPr/>
          <p:nvPr/>
        </p:nvSpPr>
        <p:spPr>
          <a:xfrm>
            <a:off x="6118884" y="3808444"/>
            <a:ext cx="107010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Estimation</a:t>
            </a:r>
          </a:p>
        </p:txBody>
      </p:sp>
    </p:spTree>
    <p:extLst>
      <p:ext uri="{BB962C8B-B14F-4D97-AF65-F5344CB8AC3E}">
        <p14:creationId xmlns:p14="http://schemas.microsoft.com/office/powerpoint/2010/main" val="317974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742DAE3C-9451-481A-9926-2C029A500DA1}"/>
              </a:ext>
            </a:extLst>
          </p:cNvPr>
          <p:cNvGrpSpPr/>
          <p:nvPr/>
        </p:nvGrpSpPr>
        <p:grpSpPr>
          <a:xfrm>
            <a:off x="8537484" y="-492485"/>
            <a:ext cx="3982985" cy="4013759"/>
            <a:chOff x="6629482" y="799977"/>
            <a:chExt cx="3982985" cy="4013759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6FF55B1-DB30-4943-B06B-C0374AB88892}"/>
                </a:ext>
              </a:extLst>
            </p:cNvPr>
            <p:cNvSpPr/>
            <p:nvPr/>
          </p:nvSpPr>
          <p:spPr>
            <a:xfrm>
              <a:off x="6629482" y="799977"/>
              <a:ext cx="3982985" cy="4013759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ircle: Hollow 49">
              <a:extLst>
                <a:ext uri="{FF2B5EF4-FFF2-40B4-BE49-F238E27FC236}">
                  <a16:creationId xmlns:a16="http://schemas.microsoft.com/office/drawing/2014/main" id="{263411BA-5F0E-4395-B7A6-5591ACF2E838}"/>
                </a:ext>
              </a:extLst>
            </p:cNvPr>
            <p:cNvSpPr/>
            <p:nvPr/>
          </p:nvSpPr>
          <p:spPr>
            <a:xfrm>
              <a:off x="7541409" y="1816763"/>
              <a:ext cx="2108888" cy="1839524"/>
            </a:xfrm>
            <a:prstGeom prst="donut">
              <a:avLst>
                <a:gd name="adj" fmla="val 42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A82127E-DCEE-4B8F-8E1C-A378E107C56E}"/>
                </a:ext>
              </a:extLst>
            </p:cNvPr>
            <p:cNvSpPr/>
            <p:nvPr/>
          </p:nvSpPr>
          <p:spPr>
            <a:xfrm>
              <a:off x="7754839" y="3044496"/>
              <a:ext cx="840107" cy="805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EE733E-A053-4393-819D-298CD48E2165}"/>
                </a:ext>
              </a:extLst>
            </p:cNvPr>
            <p:cNvSpPr/>
            <p:nvPr/>
          </p:nvSpPr>
          <p:spPr>
            <a:xfrm>
              <a:off x="8605705" y="1593212"/>
              <a:ext cx="850722" cy="7768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0E24F36-8650-4EBD-8FB0-D29451A5B97E}"/>
                </a:ext>
              </a:extLst>
            </p:cNvPr>
            <p:cNvSpPr/>
            <p:nvPr/>
          </p:nvSpPr>
          <p:spPr>
            <a:xfrm>
              <a:off x="7746343" y="1615165"/>
              <a:ext cx="804315" cy="7768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0CF9F3D-8A27-4857-A390-1DB3A308EBD9}"/>
                </a:ext>
              </a:extLst>
            </p:cNvPr>
            <p:cNvSpPr/>
            <p:nvPr/>
          </p:nvSpPr>
          <p:spPr>
            <a:xfrm>
              <a:off x="7307538" y="2312111"/>
              <a:ext cx="804314" cy="77587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A0F273A-D9E5-4427-9235-701539AF0781}"/>
                </a:ext>
              </a:extLst>
            </p:cNvPr>
            <p:cNvSpPr txBox="1"/>
            <p:nvPr/>
          </p:nvSpPr>
          <p:spPr>
            <a:xfrm>
              <a:off x="7673888" y="1773661"/>
              <a:ext cx="9685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00"/>
                  </a:solidFill>
                </a:rPr>
                <a:t>Traffic Modeling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CC84B74-3DD2-4A9E-9562-F3BBFAABF7DB}"/>
                </a:ext>
              </a:extLst>
            </p:cNvPr>
            <p:cNvSpPr txBox="1"/>
            <p:nvPr/>
          </p:nvSpPr>
          <p:spPr>
            <a:xfrm>
              <a:off x="7283245" y="2488196"/>
              <a:ext cx="83187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Network Topology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7BDDCD-E4C8-4B44-8088-8C6D05045C6B}"/>
                </a:ext>
              </a:extLst>
            </p:cNvPr>
            <p:cNvSpPr txBox="1"/>
            <p:nvPr/>
          </p:nvSpPr>
          <p:spPr>
            <a:xfrm>
              <a:off x="7731875" y="3240809"/>
              <a:ext cx="8735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Simulations &amp; Scenarios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AAE17CC-A03F-4938-A26E-D782B822FD67}"/>
                </a:ext>
              </a:extLst>
            </p:cNvPr>
            <p:cNvSpPr/>
            <p:nvPr/>
          </p:nvSpPr>
          <p:spPr>
            <a:xfrm>
              <a:off x="9065424" y="2312112"/>
              <a:ext cx="840106" cy="775879"/>
            </a:xfrm>
            <a:prstGeom prst="ellipse">
              <a:avLst/>
            </a:prstGeom>
            <a:solidFill>
              <a:srgbClr val="7CA7FC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5ABA677-A046-491C-954B-DDCFD4BC370F}"/>
                </a:ext>
              </a:extLst>
            </p:cNvPr>
            <p:cNvSpPr/>
            <p:nvPr/>
          </p:nvSpPr>
          <p:spPr>
            <a:xfrm>
              <a:off x="8682441" y="3068861"/>
              <a:ext cx="782627" cy="78085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013326C-E121-458F-984A-69F79F0CB343}"/>
                </a:ext>
              </a:extLst>
            </p:cNvPr>
            <p:cNvSpPr/>
            <p:nvPr/>
          </p:nvSpPr>
          <p:spPr>
            <a:xfrm>
              <a:off x="8093612" y="2268617"/>
              <a:ext cx="1024187" cy="9876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45F09C7-6BBB-4745-B546-C6370069B5F4}"/>
                </a:ext>
              </a:extLst>
            </p:cNvPr>
            <p:cNvSpPr/>
            <p:nvPr/>
          </p:nvSpPr>
          <p:spPr>
            <a:xfrm>
              <a:off x="7977510" y="2563479"/>
              <a:ext cx="1241718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AI-Powered Engine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715B771-1280-4722-AFA3-B619045A6EC3}"/>
                </a:ext>
              </a:extLst>
            </p:cNvPr>
            <p:cNvSpPr txBox="1"/>
            <p:nvPr/>
          </p:nvSpPr>
          <p:spPr>
            <a:xfrm>
              <a:off x="8587649" y="3265060"/>
              <a:ext cx="955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Network</a:t>
              </a:r>
            </a:p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Visualization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7F5B04-1B61-4176-B38D-5F93518A074D}"/>
                </a:ext>
              </a:extLst>
            </p:cNvPr>
            <p:cNvSpPr txBox="1"/>
            <p:nvPr/>
          </p:nvSpPr>
          <p:spPr>
            <a:xfrm>
              <a:off x="8532253" y="1816763"/>
              <a:ext cx="10241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Troubleshooting guide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FF2ED43-1D8F-4A68-A415-034D5993B68E}"/>
                </a:ext>
              </a:extLst>
            </p:cNvPr>
            <p:cNvSpPr txBox="1"/>
            <p:nvPr/>
          </p:nvSpPr>
          <p:spPr>
            <a:xfrm>
              <a:off x="9147105" y="2484606"/>
              <a:ext cx="7265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Log Analysis</a:t>
              </a:r>
            </a:p>
          </p:txBody>
        </p:sp>
      </p:grp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40A1D539-FEC1-4967-A7A6-529A0DDF6645}"/>
              </a:ext>
            </a:extLst>
          </p:cNvPr>
          <p:cNvSpPr/>
          <p:nvPr/>
        </p:nvSpPr>
        <p:spPr bwMode="auto">
          <a:xfrm>
            <a:off x="7180225" y="5475876"/>
            <a:ext cx="3279619" cy="1212455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32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C55A3D-E2F3-43DD-947D-CF7D3E1BAFB4}"/>
              </a:ext>
            </a:extLst>
          </p:cNvPr>
          <p:cNvSpPr/>
          <p:nvPr/>
        </p:nvSpPr>
        <p:spPr bwMode="auto">
          <a:xfrm>
            <a:off x="289132" y="5739074"/>
            <a:ext cx="5697869" cy="965542"/>
          </a:xfrm>
          <a:prstGeom prst="roundRect">
            <a:avLst/>
          </a:prstGeom>
          <a:solidFill>
            <a:srgbClr val="FCFC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CBB3690-DEAF-4789-8B9F-102938A619B5}"/>
              </a:ext>
            </a:extLst>
          </p:cNvPr>
          <p:cNvSpPr/>
          <p:nvPr/>
        </p:nvSpPr>
        <p:spPr bwMode="auto">
          <a:xfrm>
            <a:off x="278516" y="4092001"/>
            <a:ext cx="5697871" cy="1377291"/>
          </a:xfrm>
          <a:prstGeom prst="roundRect">
            <a:avLst/>
          </a:prstGeom>
          <a:solidFill>
            <a:srgbClr val="FCFC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2CB6374-8C85-4F15-BD41-4BDA8362F197}"/>
              </a:ext>
            </a:extLst>
          </p:cNvPr>
          <p:cNvSpPr/>
          <p:nvPr/>
        </p:nvSpPr>
        <p:spPr bwMode="auto">
          <a:xfrm>
            <a:off x="278516" y="2855653"/>
            <a:ext cx="5667036" cy="894732"/>
          </a:xfrm>
          <a:prstGeom prst="roundRect">
            <a:avLst/>
          </a:prstGeom>
          <a:solidFill>
            <a:srgbClr val="FCFC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359FBD-F079-4ABD-9576-E3F2766F7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820" y="2706418"/>
            <a:ext cx="5032109" cy="269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571BBA-F894-4DB1-B469-4622875D5791}"/>
              </a:ext>
            </a:extLst>
          </p:cNvPr>
          <p:cNvSpPr txBox="1"/>
          <p:nvPr/>
        </p:nvSpPr>
        <p:spPr>
          <a:xfrm>
            <a:off x="7870279" y="3247861"/>
            <a:ext cx="1779427" cy="26161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050" b="1" dirty="0"/>
              <a:t>Network Monitoring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E7B56-21B0-4AA4-AA5B-DDA4DCF62A22}"/>
              </a:ext>
            </a:extLst>
          </p:cNvPr>
          <p:cNvSpPr txBox="1"/>
          <p:nvPr/>
        </p:nvSpPr>
        <p:spPr>
          <a:xfrm>
            <a:off x="258705" y="4139836"/>
            <a:ext cx="2016224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b="1" dirty="0"/>
              <a:t>Network Traffic Sampling</a:t>
            </a:r>
            <a:endParaRPr lang="he-IL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4FE30-0A5F-4216-A4EC-4D9AFFC6204C}"/>
              </a:ext>
            </a:extLst>
          </p:cNvPr>
          <p:cNvSpPr txBox="1"/>
          <p:nvPr/>
        </p:nvSpPr>
        <p:spPr>
          <a:xfrm>
            <a:off x="195432" y="5832023"/>
            <a:ext cx="2016224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b="1" dirty="0"/>
              <a:t>Network Traffic Inversion</a:t>
            </a:r>
            <a:endParaRPr lang="he-IL" sz="12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B24E52-52F9-489B-B88E-B4D164F28289}"/>
              </a:ext>
            </a:extLst>
          </p:cNvPr>
          <p:cNvSpPr/>
          <p:nvPr/>
        </p:nvSpPr>
        <p:spPr bwMode="auto">
          <a:xfrm>
            <a:off x="7926669" y="3575321"/>
            <a:ext cx="1645315" cy="9399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BED0247-04C5-4504-8AF2-67E93B489C30}"/>
              </a:ext>
            </a:extLst>
          </p:cNvPr>
          <p:cNvSpPr/>
          <p:nvPr/>
        </p:nvSpPr>
        <p:spPr bwMode="auto">
          <a:xfrm>
            <a:off x="6629529" y="3461754"/>
            <a:ext cx="1161258" cy="1012133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26C7E2-61D7-4199-BAC0-CF272E9224B3}"/>
              </a:ext>
            </a:extLst>
          </p:cNvPr>
          <p:cNvSpPr txBox="1"/>
          <p:nvPr/>
        </p:nvSpPr>
        <p:spPr>
          <a:xfrm>
            <a:off x="8279488" y="3575320"/>
            <a:ext cx="939675" cy="26161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Analysis</a:t>
            </a:r>
            <a:endParaRPr lang="he-IL" sz="1100" dirty="0">
              <a:solidFill>
                <a:srgbClr val="C00000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018ACD-B062-4CC9-997C-47A646BCF704}"/>
              </a:ext>
            </a:extLst>
          </p:cNvPr>
          <p:cNvGrpSpPr/>
          <p:nvPr/>
        </p:nvGrpSpPr>
        <p:grpSpPr>
          <a:xfrm>
            <a:off x="9590558" y="3516747"/>
            <a:ext cx="1330710" cy="1012133"/>
            <a:chOff x="5626509" y="4087862"/>
            <a:chExt cx="1330710" cy="1012133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4B4A27BF-D36A-4161-9656-E06A572053BE}"/>
                </a:ext>
              </a:extLst>
            </p:cNvPr>
            <p:cNvSpPr/>
            <p:nvPr/>
          </p:nvSpPr>
          <p:spPr bwMode="auto">
            <a:xfrm>
              <a:off x="5746192" y="4087862"/>
              <a:ext cx="1161259" cy="1012133"/>
            </a:xfrm>
            <a:prstGeom prst="rightArrow">
              <a:avLst/>
            </a:prstGeom>
            <a:solidFill>
              <a:srgbClr val="AFD0A8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2400">
                <a:latin typeface="FrutigerNext LT BlackCn"/>
                <a:ea typeface="ＭＳ Ｐゴシック" pitchFamily="34" charset="-128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5A1CFA-53A1-4E5D-8B01-276025223FD8}"/>
                </a:ext>
              </a:extLst>
            </p:cNvPr>
            <p:cNvSpPr txBox="1"/>
            <p:nvPr/>
          </p:nvSpPr>
          <p:spPr>
            <a:xfrm>
              <a:off x="5626509" y="4398208"/>
              <a:ext cx="133071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900" dirty="0"/>
                <a:t>Network Recommendations</a:t>
              </a:r>
              <a:endParaRPr lang="he-IL" sz="900" dirty="0"/>
            </a:p>
          </p:txBody>
        </p:sp>
      </p:grp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DB4032D-A6EE-4D9B-BAC2-A8CE20C45E79}"/>
              </a:ext>
            </a:extLst>
          </p:cNvPr>
          <p:cNvSpPr/>
          <p:nvPr/>
        </p:nvSpPr>
        <p:spPr bwMode="auto">
          <a:xfrm rot="19840771">
            <a:off x="7275283" y="4513135"/>
            <a:ext cx="525471" cy="347868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F586286-A1A9-45F6-A4DA-7B0FF7E25DC7}"/>
              </a:ext>
            </a:extLst>
          </p:cNvPr>
          <p:cNvSpPr/>
          <p:nvPr/>
        </p:nvSpPr>
        <p:spPr bwMode="auto">
          <a:xfrm rot="1869696">
            <a:off x="7196162" y="3031020"/>
            <a:ext cx="525471" cy="347868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F8FA6-4A66-448D-975B-F2EA1052F760}"/>
              </a:ext>
            </a:extLst>
          </p:cNvPr>
          <p:cNvSpPr txBox="1"/>
          <p:nvPr/>
        </p:nvSpPr>
        <p:spPr>
          <a:xfrm>
            <a:off x="6529310" y="3775307"/>
            <a:ext cx="125568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dirty="0"/>
              <a:t>Network Traffic Collection</a:t>
            </a:r>
            <a:endParaRPr lang="he-IL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9BDD48-D981-4B1A-9C2C-10709E9B7F78}"/>
              </a:ext>
            </a:extLst>
          </p:cNvPr>
          <p:cNvSpPr/>
          <p:nvPr/>
        </p:nvSpPr>
        <p:spPr>
          <a:xfrm>
            <a:off x="133857" y="1583555"/>
            <a:ext cx="10551864" cy="89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2060"/>
                </a:solidFill>
              </a:rPr>
              <a:t>As networks evolve and become more complex, the need for network monitoring tools has remained constant.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2060"/>
                </a:solidFill>
              </a:rPr>
              <a:t>It is highly important to ensure the network sustainability and guarantee all the processes to run smoothly and error-free for users.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2060"/>
                </a:solidFill>
              </a:rPr>
              <a:t>Network traffic monitoring contains tools for data collection, analysis, diagnosis and solutions to resolve problematic issues.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4D0496-2933-41E7-B6F5-101F512BD473}"/>
              </a:ext>
            </a:extLst>
          </p:cNvPr>
          <p:cNvSpPr txBox="1"/>
          <p:nvPr/>
        </p:nvSpPr>
        <p:spPr>
          <a:xfrm>
            <a:off x="7252542" y="5739074"/>
            <a:ext cx="1702367" cy="914738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External products:</a:t>
            </a:r>
          </a:p>
          <a:p>
            <a:pPr indent="-214227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NetFlow</a:t>
            </a:r>
          </a:p>
          <a:p>
            <a:pPr indent="-214227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sFlow</a:t>
            </a:r>
            <a:endParaRPr lang="en-US" sz="11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-214227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IPFIX</a:t>
            </a:r>
          </a:p>
          <a:p>
            <a:pPr indent="-214227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AF130E-F9C4-4D4C-AFDA-84D03BB3C015}"/>
              </a:ext>
            </a:extLst>
          </p:cNvPr>
          <p:cNvSpPr/>
          <p:nvPr/>
        </p:nvSpPr>
        <p:spPr>
          <a:xfrm>
            <a:off x="8845317" y="5828159"/>
            <a:ext cx="191420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Huawei product: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NetStream</a:t>
            </a:r>
          </a:p>
          <a:p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(our main use case):</a:t>
            </a:r>
            <a:endParaRPr lang="he-IL" sz="11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BC8649-D73D-4A92-AA9B-34A4138EA225}"/>
              </a:ext>
            </a:extLst>
          </p:cNvPr>
          <p:cNvSpPr/>
          <p:nvPr/>
        </p:nvSpPr>
        <p:spPr>
          <a:xfrm>
            <a:off x="8404690" y="6043543"/>
            <a:ext cx="24558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  </a:t>
            </a:r>
            <a:endParaRPr lang="he-IL" sz="10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E8ADE2-F661-4B8A-A82E-DCF10D935D24}"/>
              </a:ext>
            </a:extLst>
          </p:cNvPr>
          <p:cNvSpPr/>
          <p:nvPr/>
        </p:nvSpPr>
        <p:spPr>
          <a:xfrm>
            <a:off x="7971954" y="3811564"/>
            <a:ext cx="15802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OD flow traffic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 of service,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Problem localization,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Cause of congestion,...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92C673-45F6-483C-8699-9B1D167BCF75}"/>
              </a:ext>
            </a:extLst>
          </p:cNvPr>
          <p:cNvSpPr/>
          <p:nvPr/>
        </p:nvSpPr>
        <p:spPr>
          <a:xfrm>
            <a:off x="322459" y="4341144"/>
            <a:ext cx="5697869" cy="1076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load on the measurement infrastructure is reduced.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Problems: Only a portion of the traffic is exported. Some flows can be missed or represented by a very small portion. Sampled flows may not provide a sufficient amount of information about full network traffic</a:t>
            </a:r>
            <a:endParaRPr lang="he-IL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A12F93-3E60-444E-BA7B-312A37F1A0AC}"/>
              </a:ext>
            </a:extLst>
          </p:cNvPr>
          <p:cNvSpPr txBox="1"/>
          <p:nvPr/>
        </p:nvSpPr>
        <p:spPr>
          <a:xfrm>
            <a:off x="133857" y="2920206"/>
            <a:ext cx="242511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b="1" dirty="0"/>
              <a:t>Network Traffic Collection</a:t>
            </a:r>
            <a:endParaRPr lang="he-IL" sz="12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7F5741-E640-4DE1-B78A-4B74280ED95E}"/>
              </a:ext>
            </a:extLst>
          </p:cNvPr>
          <p:cNvSpPr/>
          <p:nvPr/>
        </p:nvSpPr>
        <p:spPr>
          <a:xfrm>
            <a:off x="397304" y="3102284"/>
            <a:ext cx="5513889" cy="568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collection of </a:t>
            </a:r>
            <a:r>
              <a:rPr lang="en-US" sz="11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full detailed traffic </a:t>
            </a: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 does not scale well with increasing network attributes, like size,  link bandwidth, speed etc.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B1BB9A-2FE7-4FC1-9D44-AA680449B8B0}"/>
              </a:ext>
            </a:extLst>
          </p:cNvPr>
          <p:cNvSpPr/>
          <p:nvPr/>
        </p:nvSpPr>
        <p:spPr>
          <a:xfrm>
            <a:off x="329576" y="6054725"/>
            <a:ext cx="5649347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Flow inversion is a restoration of the full traffic data or its statistics.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Existing approaches cannot restore the actual fine-grained traffic with good accuracy.</a:t>
            </a:r>
            <a:endParaRPr lang="he-IL" sz="105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E9B4310C-0D08-4C7C-941F-88511C40D19C}"/>
              </a:ext>
            </a:extLst>
          </p:cNvPr>
          <p:cNvSpPr/>
          <p:nvPr/>
        </p:nvSpPr>
        <p:spPr bwMode="auto">
          <a:xfrm>
            <a:off x="2809568" y="3858816"/>
            <a:ext cx="526220" cy="138200"/>
          </a:xfrm>
          <a:prstGeom prst="downArrow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5D67FF1C-3FC1-40D6-9FA3-A785BF835D23}"/>
              </a:ext>
            </a:extLst>
          </p:cNvPr>
          <p:cNvSpPr/>
          <p:nvPr/>
        </p:nvSpPr>
        <p:spPr bwMode="auto">
          <a:xfrm>
            <a:off x="2848924" y="5541630"/>
            <a:ext cx="526220" cy="138200"/>
          </a:xfrm>
          <a:prstGeom prst="downArrow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ECD38D80-6C25-4645-AE5B-026A5E37D23F}"/>
              </a:ext>
            </a:extLst>
          </p:cNvPr>
          <p:cNvSpPr txBox="1">
            <a:spLocks/>
          </p:cNvSpPr>
          <p:nvPr/>
        </p:nvSpPr>
        <p:spPr>
          <a:xfrm>
            <a:off x="2865298" y="169937"/>
            <a:ext cx="5954736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Digital Twin Junior: Traffic Inversion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DFFFDD-851A-45EC-BC25-AB605A18E083}"/>
              </a:ext>
            </a:extLst>
          </p:cNvPr>
          <p:cNvSpPr/>
          <p:nvPr/>
        </p:nvSpPr>
        <p:spPr>
          <a:xfrm>
            <a:off x="8206933" y="5497467"/>
            <a:ext cx="1345240" cy="3351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Some standards: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F33972-3003-407B-A8C9-B1FD5A2C7E83}"/>
              </a:ext>
            </a:extLst>
          </p:cNvPr>
          <p:cNvSpPr/>
          <p:nvPr/>
        </p:nvSpPr>
        <p:spPr>
          <a:xfrm>
            <a:off x="152695" y="1336407"/>
            <a:ext cx="166629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Network monitoring</a:t>
            </a:r>
          </a:p>
        </p:txBody>
      </p:sp>
    </p:spTree>
    <p:extLst>
      <p:ext uri="{BB962C8B-B14F-4D97-AF65-F5344CB8AC3E}">
        <p14:creationId xmlns:p14="http://schemas.microsoft.com/office/powerpoint/2010/main" val="358675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0642F7-822E-4DF7-BF91-CF86292F8441}"/>
              </a:ext>
            </a:extLst>
          </p:cNvPr>
          <p:cNvSpPr/>
          <p:nvPr/>
        </p:nvSpPr>
        <p:spPr>
          <a:xfrm>
            <a:off x="6061081" y="1331501"/>
            <a:ext cx="4921272" cy="2546436"/>
          </a:xfrm>
          <a:prstGeom prst="rect">
            <a:avLst/>
          </a:prstGeom>
          <a:noFill/>
          <a:ln w="19050"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DBB1BE-FD19-4A42-BE4B-773EFEAFBF20}"/>
              </a:ext>
            </a:extLst>
          </p:cNvPr>
          <p:cNvSpPr txBox="1"/>
          <p:nvPr/>
        </p:nvSpPr>
        <p:spPr>
          <a:xfrm>
            <a:off x="6473752" y="3851492"/>
            <a:ext cx="4921273" cy="314894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Full  flows are not directly available from NetStream sampled data.</a:t>
            </a:r>
            <a:endParaRPr lang="he-IL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42AA4B-2DF7-4055-A6C5-596F47459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962" y="1827448"/>
            <a:ext cx="3867104" cy="19461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9E44EA-748C-4256-8BB8-3539C836503C}"/>
              </a:ext>
            </a:extLst>
          </p:cNvPr>
          <p:cNvSpPr/>
          <p:nvPr/>
        </p:nvSpPr>
        <p:spPr>
          <a:xfrm>
            <a:off x="6073878" y="1331501"/>
            <a:ext cx="4921271" cy="612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 internal Huawei network monitoring tool that collects and analyzes a network traffic per flow.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F115B6-6D36-4F99-8EEF-29BA9372B438}"/>
              </a:ext>
            </a:extLst>
          </p:cNvPr>
          <p:cNvSpPr/>
          <p:nvPr/>
        </p:nvSpPr>
        <p:spPr>
          <a:xfrm>
            <a:off x="310555" y="1761740"/>
            <a:ext cx="5750526" cy="106699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FrutigerNext LT BlackCn"/>
                <a:ea typeface="ＭＳ Ｐゴシック" pitchFamily="34" charset="-128"/>
              </a:rPr>
              <a:t> In most cases sampling is inevitable…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FrutigerNext LT BlackCn"/>
                <a:ea typeface="ＭＳ Ｐゴシック" pitchFamily="34" charset="-128"/>
              </a:rPr>
              <a:t>How to obtain a full information from sampled data?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4F87B8-E4E0-452A-8B1B-3866C6972863}"/>
              </a:ext>
            </a:extLst>
          </p:cNvPr>
          <p:cNvSpPr/>
          <p:nvPr/>
        </p:nvSpPr>
        <p:spPr>
          <a:xfrm>
            <a:off x="924817" y="5383257"/>
            <a:ext cx="5012599" cy="120599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BC5E00"/>
                </a:solidFill>
              </a:rPr>
              <a:t>DNN/AI tools:         </a:t>
            </a:r>
            <a:r>
              <a:rPr lang="en-US" sz="1400" dirty="0"/>
              <a:t>May be very accurate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                                        Require a lot of labeled data for the training</a:t>
            </a:r>
            <a:endParaRPr lang="he-IL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3651DA-D773-430C-84AE-EFC31BBEEADF}"/>
              </a:ext>
            </a:extLst>
          </p:cNvPr>
          <p:cNvSpPr/>
          <p:nvPr/>
        </p:nvSpPr>
        <p:spPr>
          <a:xfrm>
            <a:off x="1043382" y="4397074"/>
            <a:ext cx="4871293" cy="98781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BC5E00"/>
                </a:solidFill>
              </a:rPr>
              <a:t>Statistics</a:t>
            </a:r>
            <a:r>
              <a:rPr lang="en-US" sz="1400" dirty="0"/>
              <a:t>:                 Easy to calculate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                                     Loose a temporal structure of the flow data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F5AE59-9866-4CFE-9F7A-1BEF970B5419}"/>
              </a:ext>
            </a:extLst>
          </p:cNvPr>
          <p:cNvSpPr/>
          <p:nvPr/>
        </p:nvSpPr>
        <p:spPr>
          <a:xfrm>
            <a:off x="310555" y="3909296"/>
            <a:ext cx="2593531" cy="5141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FrutigerNext LT BlackCn"/>
                <a:ea typeface="ＭＳ Ｐゴシック" pitchFamily="34" charset="-128"/>
              </a:rPr>
              <a:t>Let’s consider 2 possibilities</a:t>
            </a:r>
            <a:r>
              <a:rPr lang="en-US" sz="1600" dirty="0">
                <a:latin typeface="FrutigerNext LT BlackCn"/>
                <a:ea typeface="ＭＳ Ｐゴシック" pitchFamily="34" charset="-128"/>
              </a:rPr>
              <a:t>:</a:t>
            </a:r>
            <a:endParaRPr lang="he-IL" sz="1600" dirty="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58981F7-410C-4851-A582-919E95BB9F26}"/>
              </a:ext>
            </a:extLst>
          </p:cNvPr>
          <p:cNvSpPr/>
          <p:nvPr/>
        </p:nvSpPr>
        <p:spPr>
          <a:xfrm>
            <a:off x="8190638" y="985779"/>
            <a:ext cx="9858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NetStream </a:t>
            </a: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54" name="3D Model 53" descr="Compounding Growth Histogram">
                <a:extLst>
                  <a:ext uri="{FF2B5EF4-FFF2-40B4-BE49-F238E27FC236}">
                    <a16:creationId xmlns:a16="http://schemas.microsoft.com/office/drawing/2014/main" id="{0AE9EAC6-BB5B-4E15-83DD-E7892A58F6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4576167"/>
                  </p:ext>
                </p:extLst>
              </p:nvPr>
            </p:nvGraphicFramePr>
            <p:xfrm>
              <a:off x="526922" y="4592996"/>
              <a:ext cx="525220" cy="38240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25220" cy="382400"/>
                    </a:xfrm>
                    <a:prstGeom prst="rect">
                      <a:avLst/>
                    </a:prstGeom>
                  </am3d:spPr>
                  <am3d:camera>
                    <am3d:pos x="0" y="0" z="624349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26" d="1000000"/>
                    <am3d:preTrans dx="0" dy="-2979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36197" ay="-1663019" az="-29857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1570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54" name="3D Model 53" descr="Compounding Growth Histogram">
                <a:extLst>
                  <a:ext uri="{FF2B5EF4-FFF2-40B4-BE49-F238E27FC236}">
                    <a16:creationId xmlns:a16="http://schemas.microsoft.com/office/drawing/2014/main" id="{0AE9EAC6-BB5B-4E15-83DD-E7892A58F6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6922" y="4592996"/>
                <a:ext cx="525220" cy="3824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46FCC49-6BDF-4354-8E7F-1F56AF5B80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576" y="4457317"/>
            <a:ext cx="1619494" cy="20128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261710-68D0-454A-8767-8D8138D31DCD}"/>
              </a:ext>
            </a:extLst>
          </p:cNvPr>
          <p:cNvSpPr/>
          <p:nvPr/>
        </p:nvSpPr>
        <p:spPr>
          <a:xfrm>
            <a:off x="7235863" y="5111000"/>
            <a:ext cx="11063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BC5E00"/>
                </a:solidFill>
              </a:rPr>
              <a:t>Cheap </a:t>
            </a:r>
          </a:p>
          <a:p>
            <a:pPr algn="ctr"/>
            <a:r>
              <a:rPr lang="en-US" sz="1600" b="1" dirty="0">
                <a:solidFill>
                  <a:srgbClr val="BC5E00"/>
                </a:solidFill>
              </a:rPr>
              <a:t>&amp; Accurate</a:t>
            </a:r>
            <a:endParaRPr lang="he-IL" sz="1600" b="1" dirty="0">
              <a:solidFill>
                <a:srgbClr val="BC5E00"/>
              </a:solidFill>
            </a:endParaRP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0" name="3D Model 19" descr="Green checkmark">
                <a:extLst>
                  <a:ext uri="{FF2B5EF4-FFF2-40B4-BE49-F238E27FC236}">
                    <a16:creationId xmlns:a16="http://schemas.microsoft.com/office/drawing/2014/main" id="{29B34E71-D464-456D-A894-F8A50A242E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7706258"/>
                  </p:ext>
                </p:extLst>
              </p:nvPr>
            </p:nvGraphicFramePr>
            <p:xfrm>
              <a:off x="2336287" y="4669852"/>
              <a:ext cx="236539" cy="194964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36539" cy="194964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3062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0" name="3D Model 19" descr="Green checkmark">
                <a:extLst>
                  <a:ext uri="{FF2B5EF4-FFF2-40B4-BE49-F238E27FC236}">
                    <a16:creationId xmlns:a16="http://schemas.microsoft.com/office/drawing/2014/main" id="{29B34E71-D464-456D-A894-F8A50A242E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36287" y="4669852"/>
                <a:ext cx="236539" cy="194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1" name="3D Model 20" descr="Red X">
                <a:extLst>
                  <a:ext uri="{FF2B5EF4-FFF2-40B4-BE49-F238E27FC236}">
                    <a16:creationId xmlns:a16="http://schemas.microsoft.com/office/drawing/2014/main" id="{7EC37D23-9ED1-45C0-AB27-8A19F06FBF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0645467"/>
                  </p:ext>
                </p:extLst>
              </p:nvPr>
            </p:nvGraphicFramePr>
            <p:xfrm>
              <a:off x="2372641" y="5122860"/>
              <a:ext cx="163832" cy="167534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163832" cy="167534"/>
                    </a:xfrm>
                    <a:prstGeom prst="rect">
                      <a:avLst/>
                    </a:prstGeom>
                  </am3d:spPr>
                  <am3d:camera>
                    <am3d:pos x="0" y="0" z="660672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51450" d="1000000"/>
                    <am3d:preTrans dx="15192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2457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1" name="3D Model 20" descr="Red X">
                <a:extLst>
                  <a:ext uri="{FF2B5EF4-FFF2-40B4-BE49-F238E27FC236}">
                    <a16:creationId xmlns:a16="http://schemas.microsoft.com/office/drawing/2014/main" id="{7EC37D23-9ED1-45C0-AB27-8A19F06FBF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72641" y="5122860"/>
                <a:ext cx="163832" cy="167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2" name="3D Model 21" descr="Green checkmark">
                <a:extLst>
                  <a:ext uri="{FF2B5EF4-FFF2-40B4-BE49-F238E27FC236}">
                    <a16:creationId xmlns:a16="http://schemas.microsoft.com/office/drawing/2014/main" id="{F9214DBD-D377-4FB3-8C83-DB54DFA674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1339942"/>
                  </p:ext>
                </p:extLst>
              </p:nvPr>
            </p:nvGraphicFramePr>
            <p:xfrm>
              <a:off x="2372641" y="5648364"/>
              <a:ext cx="236538" cy="194488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36538" cy="194488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4"/>
                  </am3d:raster>
                  <am3d:objViewport viewportSz="3062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2" name="3D Model 21" descr="Green checkmark">
                <a:extLst>
                  <a:ext uri="{FF2B5EF4-FFF2-40B4-BE49-F238E27FC236}">
                    <a16:creationId xmlns:a16="http://schemas.microsoft.com/office/drawing/2014/main" id="{F9214DBD-D377-4FB3-8C83-DB54DFA674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72641" y="5648364"/>
                <a:ext cx="236538" cy="194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3" name="3D Model 22" descr="Red X">
                <a:extLst>
                  <a:ext uri="{FF2B5EF4-FFF2-40B4-BE49-F238E27FC236}">
                    <a16:creationId xmlns:a16="http://schemas.microsoft.com/office/drawing/2014/main" id="{3A6A7938-C97C-4D4F-85AF-A57384F0C48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88570880"/>
                  </p:ext>
                </p:extLst>
              </p:nvPr>
            </p:nvGraphicFramePr>
            <p:xfrm>
              <a:off x="2372641" y="6106328"/>
              <a:ext cx="163832" cy="167534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163832" cy="167534"/>
                    </a:xfrm>
                    <a:prstGeom prst="rect">
                      <a:avLst/>
                    </a:prstGeom>
                  </am3d:spPr>
                  <am3d:camera>
                    <am3d:pos x="0" y="0" z="660672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51450" d="1000000"/>
                    <am3d:preTrans dx="15192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2457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3" name="3D Model 22" descr="Red X">
                <a:extLst>
                  <a:ext uri="{FF2B5EF4-FFF2-40B4-BE49-F238E27FC236}">
                    <a16:creationId xmlns:a16="http://schemas.microsoft.com/office/drawing/2014/main" id="{3A6A7938-C97C-4D4F-85AF-A57384F0C4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72641" y="6106328"/>
                <a:ext cx="163832" cy="167534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817AF18C-5590-40A7-96FC-FCC9AD3EBFD9}"/>
              </a:ext>
            </a:extLst>
          </p:cNvPr>
          <p:cNvSpPr txBox="1">
            <a:spLocks/>
          </p:cNvSpPr>
          <p:nvPr/>
        </p:nvSpPr>
        <p:spPr>
          <a:xfrm>
            <a:off x="2864427" y="142642"/>
            <a:ext cx="5954736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Full fine-grained traffic inversion</a:t>
            </a: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5" name="3D Model 24" descr="Head With Gears">
                <a:extLst>
                  <a:ext uri="{FF2B5EF4-FFF2-40B4-BE49-F238E27FC236}">
                    <a16:creationId xmlns:a16="http://schemas.microsoft.com/office/drawing/2014/main" id="{A9DF6796-C1D3-4F6F-B216-745AA19D3F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122704"/>
                  </p:ext>
                </p:extLst>
              </p:nvPr>
            </p:nvGraphicFramePr>
            <p:xfrm>
              <a:off x="480069" y="5463717"/>
              <a:ext cx="444748" cy="515649"/>
            </p:xfrm>
            <a:graphic>
              <a:graphicData uri="http://schemas.microsoft.com/office/drawing/2017/model3d">
                <am3d:model3d r:embed="rId16">
                  <am3d:spPr>
                    <a:xfrm>
                      <a:off x="0" y="0"/>
                      <a:ext cx="444748" cy="515649"/>
                    </a:xfrm>
                    <a:prstGeom prst="rect">
                      <a:avLst/>
                    </a:prstGeom>
                    <a:ln>
                      <a:noFill/>
                    </a:ln>
                  </am3d:spPr>
                  <am3d:camera>
                    <am3d:pos x="0" y="0" z="626893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171" d="1000000"/>
                    <am3d:preTrans dx="-164765" dy="-18081215" dz="-21786"/>
                    <am3d:scale>
                      <am3d:sx n="1000000" d="1000000"/>
                      <am3d:sy n="1000000" d="1000000"/>
                      <am3d:sz n="1000000" d="1000000"/>
                    </am3d:scale>
                    <am3d:rot ax="589458" ay="-1563984" az="-261090"/>
                    <am3d:postTrans dx="0" dy="0" dz="0"/>
                  </am3d:trans>
                  <am3d:raster rName="Office3DRenderer" rVer="16.0.8326">
                    <am3d:blip r:embed="rId17"/>
                  </am3d:raster>
                  <am3d:objViewport viewportSz="6530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5" name="3D Model 24" descr="Head With Gears">
                <a:extLst>
                  <a:ext uri="{FF2B5EF4-FFF2-40B4-BE49-F238E27FC236}">
                    <a16:creationId xmlns:a16="http://schemas.microsoft.com/office/drawing/2014/main" id="{A9DF6796-C1D3-4F6F-B216-745AA19D3F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0069" y="5463717"/>
                <a:ext cx="444748" cy="515649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75669595-D694-46C4-BE85-EDFC5D842E86}"/>
              </a:ext>
            </a:extLst>
          </p:cNvPr>
          <p:cNvCxnSpPr>
            <a:stCxn id="34" idx="3"/>
            <a:endCxn id="3" idx="1"/>
          </p:cNvCxnSpPr>
          <p:nvPr/>
        </p:nvCxnSpPr>
        <p:spPr>
          <a:xfrm>
            <a:off x="5914675" y="4890981"/>
            <a:ext cx="1030901" cy="572736"/>
          </a:xfrm>
          <a:prstGeom prst="bentConnector3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233FACC-087E-411B-9723-F0FF8F1D87ED}"/>
              </a:ext>
            </a:extLst>
          </p:cNvPr>
          <p:cNvCxnSpPr>
            <a:stCxn id="7" idx="3"/>
            <a:endCxn id="3" idx="1"/>
          </p:cNvCxnSpPr>
          <p:nvPr/>
        </p:nvCxnSpPr>
        <p:spPr>
          <a:xfrm flipV="1">
            <a:off x="5937416" y="5463717"/>
            <a:ext cx="1008160" cy="522540"/>
          </a:xfrm>
          <a:prstGeom prst="bentConnector3">
            <a:avLst>
              <a:gd name="adj1" fmla="val 48958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72CF0F-D593-4A84-8DA2-233F8DD35F5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8565070" y="5463717"/>
            <a:ext cx="688627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42B03BB-2DC3-49AE-80F9-0D8E8DBFD4A8}"/>
              </a:ext>
            </a:extLst>
          </p:cNvPr>
          <p:cNvSpPr txBox="1"/>
          <p:nvPr/>
        </p:nvSpPr>
        <p:spPr>
          <a:xfrm>
            <a:off x="9315618" y="5290394"/>
            <a:ext cx="974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COMBINE</a:t>
            </a:r>
          </a:p>
        </p:txBody>
      </p:sp>
    </p:spTree>
    <p:extLst>
      <p:ext uri="{BB962C8B-B14F-4D97-AF65-F5344CB8AC3E}">
        <p14:creationId xmlns:p14="http://schemas.microsoft.com/office/powerpoint/2010/main" val="43425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EAEE5A5-2A41-460F-96D1-CABE3BBD595F}"/>
              </a:ext>
            </a:extLst>
          </p:cNvPr>
          <p:cNvSpPr/>
          <p:nvPr/>
        </p:nvSpPr>
        <p:spPr>
          <a:xfrm>
            <a:off x="3196336" y="1311525"/>
            <a:ext cx="8497180" cy="2438068"/>
          </a:xfrm>
          <a:prstGeom prst="rect">
            <a:avLst/>
          </a:prstGeom>
          <a:solidFill>
            <a:srgbClr val="8FE2FF"/>
          </a:solidFill>
          <a:ln w="9525"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85060C-57FF-46D0-81D1-A2D78B05D174}"/>
              </a:ext>
            </a:extLst>
          </p:cNvPr>
          <p:cNvSpPr txBox="1"/>
          <p:nvPr/>
        </p:nvSpPr>
        <p:spPr>
          <a:xfrm flipH="1">
            <a:off x="5315442" y="1519574"/>
            <a:ext cx="6125872" cy="613373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Standard sampled data tuple</a:t>
            </a: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timestamp,  {source IP, destination IP, input port, output port, PPS, BPS</a:t>
            </a:r>
            <a:r>
              <a:rPr 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} </a:t>
            </a:r>
            <a:endParaRPr lang="he-IL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B1EF856-E573-4794-8D98-46E2F3AE7A60}"/>
              </a:ext>
            </a:extLst>
          </p:cNvPr>
          <p:cNvSpPr txBox="1"/>
          <p:nvPr/>
        </p:nvSpPr>
        <p:spPr>
          <a:xfrm>
            <a:off x="597115" y="1611934"/>
            <a:ext cx="1573384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Device (router)</a:t>
            </a:r>
            <a:endParaRPr lang="he-IL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B34B40-2637-4210-908F-131EE0924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84" y="1955981"/>
            <a:ext cx="701246" cy="529242"/>
          </a:xfrm>
          <a:prstGeom prst="rect">
            <a:avLst/>
          </a:prstGeom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31582733-EE36-437E-8D83-17DA65E4D1E0}"/>
              </a:ext>
            </a:extLst>
          </p:cNvPr>
          <p:cNvSpPr/>
          <p:nvPr/>
        </p:nvSpPr>
        <p:spPr bwMode="auto">
          <a:xfrm>
            <a:off x="2291604" y="2009758"/>
            <a:ext cx="455975" cy="452315"/>
          </a:xfrm>
          <a:prstGeom prst="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0978225-B67C-4232-8B27-BA0F758CED39}"/>
              </a:ext>
            </a:extLst>
          </p:cNvPr>
          <p:cNvSpPr/>
          <p:nvPr/>
        </p:nvSpPr>
        <p:spPr bwMode="auto">
          <a:xfrm>
            <a:off x="2910130" y="1709625"/>
            <a:ext cx="1552314" cy="1086953"/>
          </a:xfrm>
          <a:prstGeom prst="roundRect">
            <a:avLst/>
          </a:prstGeom>
          <a:solidFill>
            <a:srgbClr val="758AB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050" dirty="0">
              <a:solidFill>
                <a:schemeClr val="bg1"/>
              </a:solidFill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A9C743-D6F0-40A5-827E-7ED2BA3CC818}"/>
              </a:ext>
            </a:extLst>
          </p:cNvPr>
          <p:cNvSpPr/>
          <p:nvPr/>
        </p:nvSpPr>
        <p:spPr>
          <a:xfrm>
            <a:off x="3038082" y="1709468"/>
            <a:ext cx="1296410" cy="1027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FrutigerNext LT BlackCn"/>
                <a:ea typeface="ＭＳ Ｐゴシック" pitchFamily="34" charset="-128"/>
              </a:rPr>
              <a:t>Network Monitoring Functionality</a:t>
            </a:r>
            <a:endParaRPr lang="he-IL" sz="1400" b="1" dirty="0">
              <a:solidFill>
                <a:schemeClr val="bg1"/>
              </a:solidFill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E5CE055-8C4E-44E0-95D6-3FD794A70A71}"/>
              </a:ext>
            </a:extLst>
          </p:cNvPr>
          <p:cNvSpPr/>
          <p:nvPr/>
        </p:nvSpPr>
        <p:spPr bwMode="auto">
          <a:xfrm>
            <a:off x="5155205" y="1519574"/>
            <a:ext cx="6222670" cy="1691775"/>
          </a:xfrm>
          <a:prstGeom prst="roundRect">
            <a:avLst>
              <a:gd name="adj" fmla="val 1327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8D10D-55D4-4C62-9C0A-0E15C7814FAC}"/>
              </a:ext>
            </a:extLst>
          </p:cNvPr>
          <p:cNvSpPr txBox="1"/>
          <p:nvPr/>
        </p:nvSpPr>
        <p:spPr>
          <a:xfrm>
            <a:off x="7457714" y="2204050"/>
            <a:ext cx="1667444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NetStream data example</a:t>
            </a:r>
            <a:endParaRPr lang="he-IL" sz="1000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DA683-76E4-4936-B182-728CF59AFB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383" y="6161173"/>
            <a:ext cx="1220478" cy="312790"/>
          </a:xfrm>
          <a:prstGeom prst="rect">
            <a:avLst/>
          </a:prstGeom>
          <a:ln>
            <a:noFill/>
          </a:ln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DAD5D8FB-1031-4173-BFB1-0B7B4881AF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718" y="6064823"/>
            <a:ext cx="1313052" cy="364478"/>
          </a:xfrm>
          <a:prstGeom prst="rect">
            <a:avLst/>
          </a:prstGeom>
          <a:ln>
            <a:noFill/>
          </a:ln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E39D10B1-1B4C-49CC-9944-07D07E8F41FF}"/>
              </a:ext>
            </a:extLst>
          </p:cNvPr>
          <p:cNvSpPr txBox="1"/>
          <p:nvPr/>
        </p:nvSpPr>
        <p:spPr>
          <a:xfrm flipH="1">
            <a:off x="1751876" y="3954698"/>
            <a:ext cx="2176596" cy="1443152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Timestamp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Source IP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Destination IP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Input port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Output port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44514-C5CB-44D3-87D0-4731ED154213}"/>
              </a:ext>
            </a:extLst>
          </p:cNvPr>
          <p:cNvSpPr txBox="1"/>
          <p:nvPr/>
        </p:nvSpPr>
        <p:spPr>
          <a:xfrm>
            <a:off x="3532081" y="5819402"/>
            <a:ext cx="1313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sz="1400" dirty="0">
                <a:solidFill>
                  <a:srgbClr val="002060"/>
                </a:solidFill>
              </a:rPr>
              <a:t>Sampled traffic</a:t>
            </a:r>
            <a:endParaRPr lang="he-IL" sz="1400" dirty="0">
              <a:solidFill>
                <a:srgbClr val="00206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985C7D-71C1-40DC-844B-E49CEBE09777}"/>
              </a:ext>
            </a:extLst>
          </p:cNvPr>
          <p:cNvSpPr txBox="1"/>
          <p:nvPr/>
        </p:nvSpPr>
        <p:spPr>
          <a:xfrm>
            <a:off x="6203359" y="5819402"/>
            <a:ext cx="107373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Full traffic</a:t>
            </a:r>
            <a:endParaRPr lang="he-IL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F3F79D4D-4C36-4425-AD1E-A3EF76CB0269}"/>
              </a:ext>
            </a:extLst>
          </p:cNvPr>
          <p:cNvSpPr/>
          <p:nvPr/>
        </p:nvSpPr>
        <p:spPr bwMode="auto">
          <a:xfrm>
            <a:off x="3121875" y="3986034"/>
            <a:ext cx="327062" cy="1443152"/>
          </a:xfrm>
          <a:prstGeom prst="rightBrace">
            <a:avLst>
              <a:gd name="adj1" fmla="val 25498"/>
              <a:gd name="adj2" fmla="val 4639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121" name="Right Brace 120">
            <a:extLst>
              <a:ext uri="{FF2B5EF4-FFF2-40B4-BE49-F238E27FC236}">
                <a16:creationId xmlns:a16="http://schemas.microsoft.com/office/drawing/2014/main" id="{A570377E-B185-4E0E-A4A2-4CF658E49EB2}"/>
              </a:ext>
            </a:extLst>
          </p:cNvPr>
          <p:cNvSpPr/>
          <p:nvPr/>
        </p:nvSpPr>
        <p:spPr bwMode="auto">
          <a:xfrm>
            <a:off x="3139226" y="5709715"/>
            <a:ext cx="163440" cy="596890"/>
          </a:xfrm>
          <a:prstGeom prst="rightBrace">
            <a:avLst>
              <a:gd name="adj1" fmla="val 25498"/>
              <a:gd name="adj2" fmla="val 4639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3200">
              <a:latin typeface="FrutigerNext LT BlackCn"/>
              <a:ea typeface="ＭＳ Ｐゴシック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C25710-585E-4DFF-A7CA-21854EA93D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848" y="2466951"/>
            <a:ext cx="5979281" cy="6041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B8A734-413B-4C19-B7BB-76DB0487CEEA}"/>
              </a:ext>
            </a:extLst>
          </p:cNvPr>
          <p:cNvSpPr/>
          <p:nvPr/>
        </p:nvSpPr>
        <p:spPr>
          <a:xfrm>
            <a:off x="73418" y="2474870"/>
            <a:ext cx="26207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equipped with a network monitoring tool</a:t>
            </a:r>
            <a:endParaRPr lang="en-US" sz="140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3555CF62-889B-4666-B52B-C49EB24D14BC}"/>
              </a:ext>
            </a:extLst>
          </p:cNvPr>
          <p:cNvSpPr/>
          <p:nvPr/>
        </p:nvSpPr>
        <p:spPr bwMode="auto">
          <a:xfrm>
            <a:off x="4568651" y="2063024"/>
            <a:ext cx="462808" cy="422199"/>
          </a:xfrm>
          <a:prstGeom prst="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5B143-09C2-474A-8365-E915788E970A}"/>
              </a:ext>
            </a:extLst>
          </p:cNvPr>
          <p:cNvSpPr/>
          <p:nvPr/>
        </p:nvSpPr>
        <p:spPr>
          <a:xfrm>
            <a:off x="5201724" y="5803038"/>
            <a:ext cx="974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restore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674E24-B424-4C8D-9B43-DAE5C180AF1F}"/>
              </a:ext>
            </a:extLst>
          </p:cNvPr>
          <p:cNvSpPr/>
          <p:nvPr/>
        </p:nvSpPr>
        <p:spPr>
          <a:xfrm>
            <a:off x="1766002" y="5690090"/>
            <a:ext cx="873623" cy="61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PPS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BPS</a:t>
            </a:r>
            <a:r>
              <a:rPr 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 </a:t>
            </a:r>
            <a:endParaRPr lang="en-US" sz="1200" dirty="0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76A42324-C6B1-4B5B-A9C1-14E5CB5B20C4}"/>
              </a:ext>
            </a:extLst>
          </p:cNvPr>
          <p:cNvSpPr/>
          <p:nvPr/>
        </p:nvSpPr>
        <p:spPr bwMode="auto">
          <a:xfrm>
            <a:off x="5155205" y="5704451"/>
            <a:ext cx="917994" cy="527033"/>
          </a:xfrm>
          <a:prstGeom prst="rightArrow">
            <a:avLst>
              <a:gd name="adj1" fmla="val 65203"/>
              <a:gd name="adj2" fmla="val 50000"/>
            </a:avLst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800" dirty="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94A898-40A7-4056-BE2B-8D1C0843AE9C}"/>
              </a:ext>
            </a:extLst>
          </p:cNvPr>
          <p:cNvSpPr txBox="1"/>
          <p:nvPr/>
        </p:nvSpPr>
        <p:spPr>
          <a:xfrm>
            <a:off x="8032249" y="6054375"/>
            <a:ext cx="2971240" cy="34073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For application/group of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CC4A0-3D3A-4D34-AC66-9579C508BAEC}"/>
              </a:ext>
            </a:extLst>
          </p:cNvPr>
          <p:cNvSpPr/>
          <p:nvPr/>
        </p:nvSpPr>
        <p:spPr bwMode="auto">
          <a:xfrm>
            <a:off x="8079167" y="6099016"/>
            <a:ext cx="2480135" cy="296093"/>
          </a:xfrm>
          <a:prstGeom prst="rect">
            <a:avLst/>
          </a:prstGeom>
          <a:noFill/>
          <a:ln w="9525" cap="flat" cmpd="sng" algn="ctr">
            <a:solidFill>
              <a:srgbClr val="BC5E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EC1546-1BB3-4D9B-B038-2EBDFE5B9988}"/>
              </a:ext>
            </a:extLst>
          </p:cNvPr>
          <p:cNvSpPr/>
          <p:nvPr/>
        </p:nvSpPr>
        <p:spPr>
          <a:xfrm>
            <a:off x="7951009" y="5017838"/>
            <a:ext cx="2421432" cy="3407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Traffic clustering/detection per user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5AA637-AA17-4503-8941-F1394C68A9D5}"/>
              </a:ext>
            </a:extLst>
          </p:cNvPr>
          <p:cNvSpPr/>
          <p:nvPr/>
        </p:nvSpPr>
        <p:spPr>
          <a:xfrm>
            <a:off x="7945661" y="4265582"/>
            <a:ext cx="623056" cy="3407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Subnet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F4479-848A-4E86-BE97-1F1C769E915A}"/>
              </a:ext>
            </a:extLst>
          </p:cNvPr>
          <p:cNvSpPr/>
          <p:nvPr/>
        </p:nvSpPr>
        <p:spPr>
          <a:xfrm>
            <a:off x="7945661" y="4754446"/>
            <a:ext cx="1221425" cy="3407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Group of servers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C6D90E-D0C1-4E3D-AE20-137A6783D021}"/>
              </a:ext>
            </a:extLst>
          </p:cNvPr>
          <p:cNvSpPr/>
          <p:nvPr/>
        </p:nvSpPr>
        <p:spPr>
          <a:xfrm>
            <a:off x="7934606" y="4497803"/>
            <a:ext cx="890500" cy="3407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6D118-3822-4019-9407-68253362C9BE}"/>
              </a:ext>
            </a:extLst>
          </p:cNvPr>
          <p:cNvSpPr txBox="1"/>
          <p:nvPr/>
        </p:nvSpPr>
        <p:spPr>
          <a:xfrm>
            <a:off x="3529563" y="4494134"/>
            <a:ext cx="3772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Information for traffic data pre-processing</a:t>
            </a:r>
            <a:endParaRPr lang="he-IL" sz="1600" dirty="0">
              <a:solidFill>
                <a:srgbClr val="00206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0CCBD1-D1D1-408D-A1E6-825A8AFE90CE}"/>
              </a:ext>
            </a:extLst>
          </p:cNvPr>
          <p:cNvSpPr/>
          <p:nvPr/>
        </p:nvSpPr>
        <p:spPr>
          <a:xfrm>
            <a:off x="8014998" y="5797600"/>
            <a:ext cx="2421112" cy="3407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Total Ingress/Egress traffic inversion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BD1A28F-5044-4D31-B5D7-FD02019CFF5A}"/>
              </a:ext>
            </a:extLst>
          </p:cNvPr>
          <p:cNvSpPr/>
          <p:nvPr/>
        </p:nvSpPr>
        <p:spPr>
          <a:xfrm>
            <a:off x="8027248" y="5550505"/>
            <a:ext cx="1968680" cy="3407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For specific end-user, subnet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6966E80-B907-4B7E-96D7-BE60CDB24B59}"/>
              </a:ext>
            </a:extLst>
          </p:cNvPr>
          <p:cNvSpPr txBox="1">
            <a:spLocks/>
          </p:cNvSpPr>
          <p:nvPr/>
        </p:nvSpPr>
        <p:spPr>
          <a:xfrm>
            <a:off x="2840174" y="179520"/>
            <a:ext cx="5954736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Input data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6F2D7CA8-3E08-4C23-836D-7D2805EB3C09}"/>
              </a:ext>
            </a:extLst>
          </p:cNvPr>
          <p:cNvCxnSpPr>
            <a:stCxn id="24" idx="3"/>
            <a:endCxn id="13" idx="1"/>
          </p:cNvCxnSpPr>
          <p:nvPr/>
        </p:nvCxnSpPr>
        <p:spPr>
          <a:xfrm flipV="1">
            <a:off x="7302327" y="4435949"/>
            <a:ext cx="643334" cy="227462"/>
          </a:xfrm>
          <a:prstGeom prst="bentConnector3">
            <a:avLst>
              <a:gd name="adj1" fmla="val 32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87B9551-7AE3-4CEB-A9D4-914E0DD0FA6A}"/>
              </a:ext>
            </a:extLst>
          </p:cNvPr>
          <p:cNvCxnSpPr>
            <a:stCxn id="24" idx="3"/>
            <a:endCxn id="10" idx="1"/>
          </p:cNvCxnSpPr>
          <p:nvPr/>
        </p:nvCxnSpPr>
        <p:spPr>
          <a:xfrm>
            <a:off x="7302327" y="4663411"/>
            <a:ext cx="648682" cy="524794"/>
          </a:xfrm>
          <a:prstGeom prst="bentConnector3">
            <a:avLst>
              <a:gd name="adj1" fmla="val 328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78E26235-C93E-41BA-82F3-D50A85641FED}"/>
              </a:ext>
            </a:extLst>
          </p:cNvPr>
          <p:cNvCxnSpPr>
            <a:stCxn id="24" idx="3"/>
            <a:endCxn id="15" idx="1"/>
          </p:cNvCxnSpPr>
          <p:nvPr/>
        </p:nvCxnSpPr>
        <p:spPr>
          <a:xfrm>
            <a:off x="7302327" y="4663411"/>
            <a:ext cx="632279" cy="4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9D67FF3-8C2B-4118-A186-408BB620F0F3}"/>
              </a:ext>
            </a:extLst>
          </p:cNvPr>
          <p:cNvCxnSpPr>
            <a:stCxn id="24" idx="3"/>
            <a:endCxn id="14" idx="1"/>
          </p:cNvCxnSpPr>
          <p:nvPr/>
        </p:nvCxnSpPr>
        <p:spPr>
          <a:xfrm>
            <a:off x="7302327" y="4663411"/>
            <a:ext cx="643334" cy="261402"/>
          </a:xfrm>
          <a:prstGeom prst="bentConnector3">
            <a:avLst>
              <a:gd name="adj1" fmla="val 326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65193989-F01F-4722-AA92-8D9D25DA93E9}"/>
              </a:ext>
            </a:extLst>
          </p:cNvPr>
          <p:cNvCxnSpPr>
            <a:stCxn id="81" idx="3"/>
            <a:endCxn id="55" idx="1"/>
          </p:cNvCxnSpPr>
          <p:nvPr/>
        </p:nvCxnSpPr>
        <p:spPr>
          <a:xfrm flipV="1">
            <a:off x="7277089" y="5720872"/>
            <a:ext cx="750159" cy="2524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D286DE91-D864-4A37-9345-54BBB6A098FC}"/>
              </a:ext>
            </a:extLst>
          </p:cNvPr>
          <p:cNvCxnSpPr>
            <a:stCxn id="81" idx="3"/>
            <a:endCxn id="33" idx="1"/>
          </p:cNvCxnSpPr>
          <p:nvPr/>
        </p:nvCxnSpPr>
        <p:spPr>
          <a:xfrm>
            <a:off x="7277089" y="5973291"/>
            <a:ext cx="755160" cy="2514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4377162-EB8B-4F42-9D0F-BD63C96F75DB}"/>
              </a:ext>
            </a:extLst>
          </p:cNvPr>
          <p:cNvCxnSpPr>
            <a:stCxn id="81" idx="3"/>
            <a:endCxn id="53" idx="1"/>
          </p:cNvCxnSpPr>
          <p:nvPr/>
        </p:nvCxnSpPr>
        <p:spPr>
          <a:xfrm flipV="1">
            <a:off x="7277089" y="5967967"/>
            <a:ext cx="737909" cy="5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45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9A9DA9-8895-42AB-96B7-B098CBE07B24}"/>
              </a:ext>
            </a:extLst>
          </p:cNvPr>
          <p:cNvSpPr/>
          <p:nvPr/>
        </p:nvSpPr>
        <p:spPr>
          <a:xfrm>
            <a:off x="2854724" y="4178869"/>
            <a:ext cx="7036421" cy="2578323"/>
          </a:xfrm>
          <a:prstGeom prst="roundRect">
            <a:avLst>
              <a:gd name="adj" fmla="val 5973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B694E5-B4AD-4C00-A9E8-1FEED3164560}"/>
              </a:ext>
            </a:extLst>
          </p:cNvPr>
          <p:cNvSpPr/>
          <p:nvPr/>
        </p:nvSpPr>
        <p:spPr>
          <a:xfrm>
            <a:off x="3645986" y="4178870"/>
            <a:ext cx="6144538" cy="2426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Estimates an </a:t>
            </a:r>
            <a:r>
              <a:rPr lang="en-US" sz="1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actual time-dependent fine-grained traffic 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with low error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Combines statistical approach with recent AI techniques:</a:t>
            </a:r>
          </a:p>
          <a:p>
            <a:pPr marL="171450" indent="98425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Is data-driven and AI-based: it reflects the actual data features</a:t>
            </a:r>
          </a:p>
          <a:p>
            <a:pPr marL="171450" indent="98425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Doesn’t require labeled data</a:t>
            </a:r>
          </a:p>
          <a:p>
            <a:pPr marL="171450" indent="98425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Can be automatically adapted to a new data 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 implemented as a lightweight and efficient deep neural network</a:t>
            </a: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30" name="3D Model 29" descr="Green checkmark">
                <a:extLst>
                  <a:ext uri="{FF2B5EF4-FFF2-40B4-BE49-F238E27FC236}">
                    <a16:creationId xmlns:a16="http://schemas.microsoft.com/office/drawing/2014/main" id="{9FF3F97F-E216-482C-B82A-5F843C2518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244494"/>
                  </p:ext>
                </p:extLst>
              </p:nvPr>
            </p:nvGraphicFramePr>
            <p:xfrm>
              <a:off x="3353282" y="6324995"/>
              <a:ext cx="292703" cy="24066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92703" cy="240669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789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30" name="3D Model 29" descr="Green checkmark">
                <a:extLst>
                  <a:ext uri="{FF2B5EF4-FFF2-40B4-BE49-F238E27FC236}">
                    <a16:creationId xmlns:a16="http://schemas.microsoft.com/office/drawing/2014/main" id="{9FF3F97F-E216-482C-B82A-5F843C2518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3282" y="6324995"/>
                <a:ext cx="292703" cy="240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31" name="3D Model 30" descr="Green checkmark">
                <a:extLst>
                  <a:ext uri="{FF2B5EF4-FFF2-40B4-BE49-F238E27FC236}">
                    <a16:creationId xmlns:a16="http://schemas.microsoft.com/office/drawing/2014/main" id="{59D766DD-0808-483E-83C3-DEDB7D9EF92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34557259"/>
                  </p:ext>
                </p:extLst>
              </p:nvPr>
            </p:nvGraphicFramePr>
            <p:xfrm>
              <a:off x="3356538" y="4801844"/>
              <a:ext cx="292703" cy="24066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92703" cy="240669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789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31" name="3D Model 30" descr="Green checkmark">
                <a:extLst>
                  <a:ext uri="{FF2B5EF4-FFF2-40B4-BE49-F238E27FC236}">
                    <a16:creationId xmlns:a16="http://schemas.microsoft.com/office/drawing/2014/main" id="{59D766DD-0808-483E-83C3-DEDB7D9EF9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6538" y="4801844"/>
                <a:ext cx="292703" cy="240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32" name="3D Model 31" descr="Green checkmark">
                <a:extLst>
                  <a:ext uri="{FF2B5EF4-FFF2-40B4-BE49-F238E27FC236}">
                    <a16:creationId xmlns:a16="http://schemas.microsoft.com/office/drawing/2014/main" id="{FB0B4A10-B4CB-4767-BB8D-0BE876DFCD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6387095"/>
                  </p:ext>
                </p:extLst>
              </p:nvPr>
            </p:nvGraphicFramePr>
            <p:xfrm>
              <a:off x="3353282" y="4331190"/>
              <a:ext cx="292703" cy="24066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92703" cy="240669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789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32" name="3D Model 31" descr="Green checkmark">
                <a:extLst>
                  <a:ext uri="{FF2B5EF4-FFF2-40B4-BE49-F238E27FC236}">
                    <a16:creationId xmlns:a16="http://schemas.microsoft.com/office/drawing/2014/main" id="{FB0B4A10-B4CB-4767-BB8D-0BE876DFCD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3282" y="4331190"/>
                <a:ext cx="292703" cy="240669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992F31F-1E20-44E9-9CCD-419F8C1F7B42}"/>
              </a:ext>
            </a:extLst>
          </p:cNvPr>
          <p:cNvSpPr txBox="1"/>
          <p:nvPr/>
        </p:nvSpPr>
        <p:spPr>
          <a:xfrm>
            <a:off x="221659" y="1443319"/>
            <a:ext cx="11460634" cy="22554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7338" indent="-2873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Lots of observations are available from monitoring devices                                            train DNN</a:t>
            </a:r>
          </a:p>
          <a:p>
            <a:pPr marL="287338" indent="-2873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Big problem</a:t>
            </a:r>
            <a:r>
              <a:rPr lang="en-US" sz="1200" dirty="0">
                <a:solidFill>
                  <a:srgbClr val="002060"/>
                </a:solidFill>
              </a:rPr>
              <a:t>: our sampled data is not labeled (corresponding full traffic is not usually available)</a:t>
            </a:r>
          </a:p>
          <a:p>
            <a:pPr marL="287338" indent="-2873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Literature suggests</a:t>
            </a:r>
            <a:r>
              <a:rPr lang="en-US" sz="1200" dirty="0">
                <a:solidFill>
                  <a:srgbClr val="002060"/>
                </a:solidFill>
              </a:rPr>
              <a:t>: incorporating knowledge of different noise and sampling patterns can significantly improve signal reconstruction</a:t>
            </a:r>
          </a:p>
          <a:p>
            <a:pPr marL="287338" indent="-2873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 So, to achieve accurate recovery, </a:t>
            </a:r>
            <a:r>
              <a:rPr lang="en-US" sz="1200" b="1" dirty="0">
                <a:solidFill>
                  <a:srgbClr val="002060"/>
                </a:solidFill>
              </a:rPr>
              <a:t>it is crucial to replicate the sampling procedure</a:t>
            </a:r>
            <a:r>
              <a:rPr lang="en-US" sz="1200" dirty="0">
                <a:solidFill>
                  <a:srgbClr val="002060"/>
                </a:solidFill>
              </a:rPr>
              <a:t> used by the monitoring device </a:t>
            </a:r>
          </a:p>
          <a:p>
            <a:pPr marL="287338" indent="-2873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Why not to just multiply by sampling ratio? </a:t>
            </a:r>
            <a:r>
              <a:rPr lang="en-US" sz="1200" dirty="0">
                <a:solidFill>
                  <a:srgbClr val="002060"/>
                </a:solidFill>
              </a:rPr>
              <a:t>Even if total traffic is sampled deterministically (our use case) by inspecting every 𝑅𝑡ℎ packet, it would be generally inaccurate to assume that also every 𝑅𝑡ℎ application packet is considered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651C1D-54AF-4BBC-A73E-FBA915C75B58}"/>
              </a:ext>
            </a:extLst>
          </p:cNvPr>
          <p:cNvGrpSpPr/>
          <p:nvPr/>
        </p:nvGrpSpPr>
        <p:grpSpPr>
          <a:xfrm>
            <a:off x="4282344" y="1491201"/>
            <a:ext cx="1392338" cy="415357"/>
            <a:chOff x="9706653" y="4520578"/>
            <a:chExt cx="1392338" cy="41535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38FD935-DEC3-498E-BF60-B50456004987}"/>
                </a:ext>
              </a:extLst>
            </p:cNvPr>
            <p:cNvSpPr/>
            <p:nvPr/>
          </p:nvSpPr>
          <p:spPr>
            <a:xfrm>
              <a:off x="9762233" y="4601873"/>
              <a:ext cx="133675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/>
                <a:t>natural solution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9D47D046-E6F8-4276-AABF-00A0ADACB0DF}"/>
                </a:ext>
              </a:extLst>
            </p:cNvPr>
            <p:cNvSpPr/>
            <p:nvPr/>
          </p:nvSpPr>
          <p:spPr bwMode="auto">
            <a:xfrm>
              <a:off x="9706653" y="4520578"/>
              <a:ext cx="1336758" cy="415357"/>
            </a:xfrm>
            <a:prstGeom prst="rightArrow">
              <a:avLst>
                <a:gd name="adj1" fmla="val 65203"/>
                <a:gd name="adj2" fmla="val 50000"/>
              </a:avLst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3200" dirty="0">
                <a:latin typeface="FrutigerNext LT BlackCn"/>
                <a:ea typeface="ＭＳ Ｐゴシック" pitchFamily="34" charset="-128"/>
              </a:endParaRPr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7C6E30F1-321A-4CA0-A7D5-0B2DDACE7D54}"/>
              </a:ext>
            </a:extLst>
          </p:cNvPr>
          <p:cNvSpPr txBox="1">
            <a:spLocks/>
          </p:cNvSpPr>
          <p:nvPr/>
        </p:nvSpPr>
        <p:spPr>
          <a:xfrm>
            <a:off x="2801065" y="223246"/>
            <a:ext cx="5954736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Full fine-grained traffic inversion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DCE09C-3645-42FF-8B89-CD8D0E777FA5}"/>
              </a:ext>
            </a:extLst>
          </p:cNvPr>
          <p:cNvSpPr/>
          <p:nvPr/>
        </p:nvSpPr>
        <p:spPr>
          <a:xfrm>
            <a:off x="5272376" y="3769530"/>
            <a:ext cx="220111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Our algorithm highlights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ADAE82-AFB3-464A-A173-9448F330D39D}"/>
              </a:ext>
            </a:extLst>
          </p:cNvPr>
          <p:cNvSpPr/>
          <p:nvPr/>
        </p:nvSpPr>
        <p:spPr>
          <a:xfrm>
            <a:off x="208654" y="1218645"/>
            <a:ext cx="136223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discussion:</a:t>
            </a:r>
          </a:p>
        </p:txBody>
      </p:sp>
    </p:spTree>
    <p:extLst>
      <p:ext uri="{BB962C8B-B14F-4D97-AF65-F5344CB8AC3E}">
        <p14:creationId xmlns:p14="http://schemas.microsoft.com/office/powerpoint/2010/main" val="164430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720634A-7B76-4F57-AB70-4E42E58A6955}"/>
              </a:ext>
            </a:extLst>
          </p:cNvPr>
          <p:cNvSpPr/>
          <p:nvPr/>
        </p:nvSpPr>
        <p:spPr>
          <a:xfrm>
            <a:off x="6503560" y="4214964"/>
            <a:ext cx="4710208" cy="2451592"/>
          </a:xfrm>
          <a:prstGeom prst="roundRect">
            <a:avLst>
              <a:gd name="adj" fmla="val 5973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A0CF844-978E-43E3-81CE-A9F7D28B9A71}"/>
              </a:ext>
            </a:extLst>
          </p:cNvPr>
          <p:cNvSpPr/>
          <p:nvPr/>
        </p:nvSpPr>
        <p:spPr>
          <a:xfrm>
            <a:off x="6503559" y="1597815"/>
            <a:ext cx="4710208" cy="2451592"/>
          </a:xfrm>
          <a:prstGeom prst="roundRect">
            <a:avLst>
              <a:gd name="adj" fmla="val 5973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9FE8B3D-57E0-4574-9B84-FFD26A6F1CBD}"/>
              </a:ext>
            </a:extLst>
          </p:cNvPr>
          <p:cNvSpPr/>
          <p:nvPr/>
        </p:nvSpPr>
        <p:spPr>
          <a:xfrm>
            <a:off x="1418233" y="1542210"/>
            <a:ext cx="4270210" cy="2507197"/>
          </a:xfrm>
          <a:prstGeom prst="roundRect">
            <a:avLst>
              <a:gd name="adj" fmla="val 5973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72EAA2-D130-47F8-B817-9F2D7F540C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65" y="2076041"/>
            <a:ext cx="3485258" cy="9977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4F41A4-7729-4166-AAB6-7A29A1B2DB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623" y="2074032"/>
            <a:ext cx="3603092" cy="10061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61256F-FA8B-4AAF-92B4-55E9789ED1E9}"/>
              </a:ext>
            </a:extLst>
          </p:cNvPr>
          <p:cNvSpPr txBox="1"/>
          <p:nvPr/>
        </p:nvSpPr>
        <p:spPr>
          <a:xfrm>
            <a:off x="8663383" y="3039706"/>
            <a:ext cx="875561" cy="25391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50" dirty="0"/>
              <a:t>MAPE = 18%</a:t>
            </a:r>
            <a:endParaRPr lang="he-IL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853E6C-9F5A-48ED-8D40-C298582869EF}"/>
              </a:ext>
            </a:extLst>
          </p:cNvPr>
          <p:cNvSpPr txBox="1"/>
          <p:nvPr/>
        </p:nvSpPr>
        <p:spPr>
          <a:xfrm>
            <a:off x="3090137" y="3043553"/>
            <a:ext cx="873957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/>
              <a:t>MAPE = 31%</a:t>
            </a:r>
            <a:endParaRPr lang="he-IL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085192-C6B2-482B-A034-71BE484DA51A}"/>
              </a:ext>
            </a:extLst>
          </p:cNvPr>
          <p:cNvSpPr txBox="1"/>
          <p:nvPr/>
        </p:nvSpPr>
        <p:spPr>
          <a:xfrm>
            <a:off x="483453" y="5440760"/>
            <a:ext cx="6309007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69862"/>
            <a:r>
              <a:rPr lang="en-US" sz="1400" b="1" dirty="0"/>
              <a:t>Good</a:t>
            </a:r>
            <a:r>
              <a:rPr lang="en-US" sz="1400" dirty="0"/>
              <a:t> </a:t>
            </a:r>
            <a:r>
              <a:rPr lang="en-US" sz="1400" b="1" dirty="0"/>
              <a:t>average</a:t>
            </a:r>
            <a:r>
              <a:rPr lang="en-US" sz="1400" dirty="0"/>
              <a:t> fit for a large time period</a:t>
            </a:r>
          </a:p>
          <a:p>
            <a:pPr marL="339725" indent="-169863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69862"/>
            <a:r>
              <a:rPr lang="en-US" sz="1400" b="1" dirty="0"/>
              <a:t>Poor local</a:t>
            </a:r>
            <a:r>
              <a:rPr lang="en-US" sz="1400" dirty="0"/>
              <a:t> fit per timestamp (either too noisy or oversmoothed)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6CEC49-C9FE-46EC-B123-4E6586DAC309}"/>
              </a:ext>
            </a:extLst>
          </p:cNvPr>
          <p:cNvSpPr txBox="1"/>
          <p:nvPr/>
        </p:nvSpPr>
        <p:spPr>
          <a:xfrm>
            <a:off x="2055972" y="1734993"/>
            <a:ext cx="2994731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Compare true signal to scaled sampled signal</a:t>
            </a:r>
            <a:endParaRPr lang="he-IL" sz="1200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CFB6BB74-B8E4-44F5-AC2A-EF82646867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625" y="4677509"/>
            <a:ext cx="3574137" cy="10425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8C5FF74-B3A1-486F-9855-2C232CB62459}"/>
              </a:ext>
            </a:extLst>
          </p:cNvPr>
          <p:cNvSpPr txBox="1"/>
          <p:nvPr/>
        </p:nvSpPr>
        <p:spPr>
          <a:xfrm>
            <a:off x="8582518" y="5706934"/>
            <a:ext cx="907621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100" dirty="0"/>
              <a:t>MAPE = 12%</a:t>
            </a:r>
            <a:endParaRPr lang="he-IL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41553A-697B-42D1-ACB9-533A82B1FF97}"/>
              </a:ext>
            </a:extLst>
          </p:cNvPr>
          <p:cNvSpPr txBox="1"/>
          <p:nvPr/>
        </p:nvSpPr>
        <p:spPr>
          <a:xfrm>
            <a:off x="2871634" y="1030453"/>
            <a:ext cx="671074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if sampling ratio is know, we can scale back the sampled signal and obtain a good solution</a:t>
            </a:r>
            <a:endParaRPr lang="he-IL" sz="1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D37578-E330-429C-91D9-F505A2DE19B5}"/>
              </a:ext>
            </a:extLst>
          </p:cNvPr>
          <p:cNvGrpSpPr/>
          <p:nvPr/>
        </p:nvGrpSpPr>
        <p:grpSpPr>
          <a:xfrm>
            <a:off x="1809234" y="3305576"/>
            <a:ext cx="3468450" cy="526665"/>
            <a:chOff x="1809234" y="3227519"/>
            <a:chExt cx="3468450" cy="526665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00E105-D29C-405F-9EC7-2423A21412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67181" y="3381407"/>
              <a:ext cx="29222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D0DE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D64A5C0-9537-4166-8F81-40BF75DE62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67181" y="3607827"/>
              <a:ext cx="27964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23BDCD6-B5B7-4054-A5AC-447B1B6E7254}"/>
                </a:ext>
              </a:extLst>
            </p:cNvPr>
            <p:cNvSpPr/>
            <p:nvPr/>
          </p:nvSpPr>
          <p:spPr bwMode="auto">
            <a:xfrm>
              <a:off x="1809234" y="3227519"/>
              <a:ext cx="3468450" cy="51051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4800">
                <a:latin typeface="FrutigerNext LT BlackCn"/>
                <a:ea typeface="ＭＳ Ｐゴシック" pitchFamily="34" charset="-128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CFB2FC-C736-4718-8E42-40099439EF81}"/>
                </a:ext>
              </a:extLst>
            </p:cNvPr>
            <p:cNvSpPr/>
            <p:nvPr/>
          </p:nvSpPr>
          <p:spPr>
            <a:xfrm>
              <a:off x="2317758" y="3227520"/>
              <a:ext cx="29599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</a:rPr>
                <a:t>Sampling Ratio * sampled application traffic </a:t>
              </a:r>
              <a:endParaRPr lang="he-IL" sz="1200" dirty="0">
                <a:solidFill>
                  <a:srgbClr val="0000FF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D1238D-F1EB-41D9-A47B-BBD698FA6F68}"/>
                </a:ext>
              </a:extLst>
            </p:cNvPr>
            <p:cNvSpPr/>
            <p:nvPr/>
          </p:nvSpPr>
          <p:spPr>
            <a:xfrm>
              <a:off x="2349975" y="3477185"/>
              <a:ext cx="17981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</a:rPr>
                <a:t>full application traffic </a:t>
              </a:r>
              <a:endParaRPr lang="he-IL" sz="1200" dirty="0">
                <a:solidFill>
                  <a:srgbClr val="00B050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9A45BDC-2FB7-482D-A35D-290B6B358070}"/>
              </a:ext>
            </a:extLst>
          </p:cNvPr>
          <p:cNvSpPr txBox="1"/>
          <p:nvPr/>
        </p:nvSpPr>
        <p:spPr>
          <a:xfrm>
            <a:off x="7069378" y="1744933"/>
            <a:ext cx="3679212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Compare true signal to </a:t>
            </a:r>
            <a:r>
              <a:rPr lang="en-US" sz="1200" b="1" dirty="0"/>
              <a:t>smoothed</a:t>
            </a:r>
            <a:r>
              <a:rPr lang="en-US" sz="1200" dirty="0"/>
              <a:t> scaled sampled signal</a:t>
            </a:r>
            <a:endParaRPr lang="he-IL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BC43BD-4FE2-485A-AB18-66406964C6D1}"/>
              </a:ext>
            </a:extLst>
          </p:cNvPr>
          <p:cNvSpPr/>
          <p:nvPr/>
        </p:nvSpPr>
        <p:spPr>
          <a:xfrm>
            <a:off x="7575439" y="4348274"/>
            <a:ext cx="30514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Our model</a:t>
            </a:r>
            <a:r>
              <a:rPr lang="en-US" sz="1200" dirty="0"/>
              <a:t>: Statistics + Attention-based DNN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FBA4254-BA81-4EFA-BF8E-0023CD6BCC69}"/>
              </a:ext>
            </a:extLst>
          </p:cNvPr>
          <p:cNvCxnSpPr>
            <a:cxnSpLocks/>
          </p:cNvCxnSpPr>
          <p:nvPr/>
        </p:nvCxnSpPr>
        <p:spPr bwMode="auto">
          <a:xfrm>
            <a:off x="6923266" y="3461453"/>
            <a:ext cx="292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1D0DE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9C38178-F303-403F-8C1D-A9E4F59DB35F}"/>
              </a:ext>
            </a:extLst>
          </p:cNvPr>
          <p:cNvCxnSpPr>
            <a:cxnSpLocks/>
          </p:cNvCxnSpPr>
          <p:nvPr/>
        </p:nvCxnSpPr>
        <p:spPr bwMode="auto">
          <a:xfrm>
            <a:off x="6929554" y="3673012"/>
            <a:ext cx="2796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1226AED-70B1-40B7-831F-AD4F70FC029A}"/>
              </a:ext>
            </a:extLst>
          </p:cNvPr>
          <p:cNvSpPr/>
          <p:nvPr/>
        </p:nvSpPr>
        <p:spPr bwMode="auto">
          <a:xfrm>
            <a:off x="6847783" y="3305576"/>
            <a:ext cx="4057218" cy="51051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44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CA60C33-DD7F-47A1-A0AB-E935F9213993}"/>
              </a:ext>
            </a:extLst>
          </p:cNvPr>
          <p:cNvSpPr/>
          <p:nvPr/>
        </p:nvSpPr>
        <p:spPr>
          <a:xfrm>
            <a:off x="7347560" y="3301474"/>
            <a:ext cx="36329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Sampling Ratio * smoothed sampled application traffic </a:t>
            </a:r>
            <a:endParaRPr lang="he-IL" sz="1200" dirty="0">
              <a:solidFill>
                <a:srgbClr val="0000FF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2D7762-DB61-472D-BECF-A955EB234DA2}"/>
              </a:ext>
            </a:extLst>
          </p:cNvPr>
          <p:cNvSpPr/>
          <p:nvPr/>
        </p:nvSpPr>
        <p:spPr>
          <a:xfrm>
            <a:off x="7312348" y="3561330"/>
            <a:ext cx="15438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full application traffic </a:t>
            </a:r>
            <a:endParaRPr lang="he-IL" sz="1200" dirty="0">
              <a:solidFill>
                <a:srgbClr val="00B05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FA1B2D-C5F3-4E5B-984F-8574B5BB5B5B}"/>
              </a:ext>
            </a:extLst>
          </p:cNvPr>
          <p:cNvGrpSpPr/>
          <p:nvPr/>
        </p:nvGrpSpPr>
        <p:grpSpPr>
          <a:xfrm>
            <a:off x="8143390" y="6030141"/>
            <a:ext cx="1886352" cy="510514"/>
            <a:chOff x="7487348" y="5977295"/>
            <a:chExt cx="1886352" cy="510514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1B659EE-3E33-4A36-80F6-80895381E0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62831" y="6133172"/>
              <a:ext cx="29222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0804E1C-329C-4B6C-A63C-4735D8A9D2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69119" y="6348949"/>
              <a:ext cx="27964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8162A80-B5C7-4F6A-BED0-3208C79EF5CB}"/>
                </a:ext>
              </a:extLst>
            </p:cNvPr>
            <p:cNvSpPr/>
            <p:nvPr/>
          </p:nvSpPr>
          <p:spPr bwMode="auto">
            <a:xfrm>
              <a:off x="7487348" y="5977295"/>
              <a:ext cx="1785133" cy="51051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4400">
                <a:latin typeface="FrutigerNext LT BlackCn"/>
                <a:ea typeface="ＭＳ Ｐゴシック" pitchFamily="34" charset="-128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28F89EC-AF9F-46A8-A717-A70F218D42E4}"/>
                </a:ext>
              </a:extLst>
            </p:cNvPr>
            <p:cNvSpPr/>
            <p:nvPr/>
          </p:nvSpPr>
          <p:spPr>
            <a:xfrm>
              <a:off x="7848767" y="6014915"/>
              <a:ext cx="10305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C00000"/>
                  </a:solidFill>
                </a:rPr>
                <a:t>Our result</a:t>
              </a:r>
              <a:endParaRPr lang="he-IL" sz="1200" dirty="0">
                <a:solidFill>
                  <a:srgbClr val="C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E6F710A-05F1-4B8B-ACF8-32D7C91B9885}"/>
                </a:ext>
              </a:extLst>
            </p:cNvPr>
            <p:cNvSpPr/>
            <p:nvPr/>
          </p:nvSpPr>
          <p:spPr>
            <a:xfrm>
              <a:off x="7829879" y="6210810"/>
              <a:ext cx="154382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</a:rPr>
                <a:t>full application traffic </a:t>
              </a:r>
              <a:endParaRPr lang="he-IL" sz="12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0B1F985A-3F2C-4DFC-A537-5A8152F2F9BE}"/>
              </a:ext>
            </a:extLst>
          </p:cNvPr>
          <p:cNvSpPr txBox="1">
            <a:spLocks/>
          </p:cNvSpPr>
          <p:nvPr/>
        </p:nvSpPr>
        <p:spPr>
          <a:xfrm>
            <a:off x="3182930" y="191444"/>
            <a:ext cx="5954736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Simple statistical manipulations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33D61A-2DB0-467E-A0E8-771F8FEA5E8F}"/>
              </a:ext>
            </a:extLst>
          </p:cNvPr>
          <p:cNvSpPr/>
          <p:nvPr/>
        </p:nvSpPr>
        <p:spPr>
          <a:xfrm>
            <a:off x="1807679" y="1025453"/>
            <a:ext cx="110081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Assumption: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5986F48-56DB-490D-947D-870EFF543527}"/>
              </a:ext>
            </a:extLst>
          </p:cNvPr>
          <p:cNvSpPr/>
          <p:nvPr/>
        </p:nvSpPr>
        <p:spPr>
          <a:xfrm>
            <a:off x="315100" y="5081070"/>
            <a:ext cx="255653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Simple statistics are not enough:</a:t>
            </a: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39" name="3D Model 38" descr="Green checkmark">
                <a:extLst>
                  <a:ext uri="{FF2B5EF4-FFF2-40B4-BE49-F238E27FC236}">
                    <a16:creationId xmlns:a16="http://schemas.microsoft.com/office/drawing/2014/main" id="{D64F1098-C93A-4C5B-ACC9-B85F170AC6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3702777"/>
                  </p:ext>
                </p:extLst>
              </p:nvPr>
            </p:nvGraphicFramePr>
            <p:xfrm>
              <a:off x="462433" y="5490950"/>
              <a:ext cx="236539" cy="19496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36539" cy="194964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62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39" name="3D Model 38" descr="Green checkmark">
                <a:extLst>
                  <a:ext uri="{FF2B5EF4-FFF2-40B4-BE49-F238E27FC236}">
                    <a16:creationId xmlns:a16="http://schemas.microsoft.com/office/drawing/2014/main" id="{D64F1098-C93A-4C5B-ACC9-B85F170AC6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2433" y="5490950"/>
                <a:ext cx="236539" cy="194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40" name="3D Model 39" descr="Red X">
                <a:extLst>
                  <a:ext uri="{FF2B5EF4-FFF2-40B4-BE49-F238E27FC236}">
                    <a16:creationId xmlns:a16="http://schemas.microsoft.com/office/drawing/2014/main" id="{F2D4C375-140A-451A-9CA0-73C9D889B0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25074"/>
                  </p:ext>
                </p:extLst>
              </p:nvPr>
            </p:nvGraphicFramePr>
            <p:xfrm>
              <a:off x="498787" y="5943958"/>
              <a:ext cx="163832" cy="167534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63832" cy="167534"/>
                    </a:xfrm>
                    <a:prstGeom prst="rect">
                      <a:avLst/>
                    </a:prstGeom>
                  </am3d:spPr>
                  <am3d:camera>
                    <am3d:pos x="0" y="0" z="660672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51450" d="1000000"/>
                    <am3d:preTrans dx="15192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2457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40" name="3D Model 39" descr="Red X">
                <a:extLst>
                  <a:ext uri="{FF2B5EF4-FFF2-40B4-BE49-F238E27FC236}">
                    <a16:creationId xmlns:a16="http://schemas.microsoft.com/office/drawing/2014/main" id="{F2D4C375-140A-451A-9CA0-73C9D889B0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8787" y="5943958"/>
                <a:ext cx="163832" cy="1675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193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EBD4D496-CEC4-41B2-8764-92753B3A8242}"/>
              </a:ext>
            </a:extLst>
          </p:cNvPr>
          <p:cNvSpPr/>
          <p:nvPr/>
        </p:nvSpPr>
        <p:spPr bwMode="auto">
          <a:xfrm>
            <a:off x="1269155" y="5943632"/>
            <a:ext cx="6256978" cy="50659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400">
              <a:solidFill>
                <a:schemeClr val="accent5">
                  <a:lumMod val="50000"/>
                </a:schemeClr>
              </a:solidFill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5A04F-2D7E-4D1A-9BAE-394BC901E07D}"/>
              </a:ext>
            </a:extLst>
          </p:cNvPr>
          <p:cNvSpPr/>
          <p:nvPr/>
        </p:nvSpPr>
        <p:spPr bwMode="auto">
          <a:xfrm>
            <a:off x="784426" y="1413147"/>
            <a:ext cx="4533808" cy="23103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600">
              <a:latin typeface="FrutigerNext LT BlackCn"/>
              <a:ea typeface="ＭＳ Ｐゴシック" pitchFamily="34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C16BBC-9AC4-4100-B0FA-EF02A5100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042" y="5517802"/>
            <a:ext cx="1923946" cy="9770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CFA35E-4D04-445A-92E5-77ACC6CD2D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754" y="5111880"/>
            <a:ext cx="1833026" cy="93087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6230B9C-CD61-4A65-A02E-77F446DF02C4}"/>
              </a:ext>
            </a:extLst>
          </p:cNvPr>
          <p:cNvGrpSpPr/>
          <p:nvPr/>
        </p:nvGrpSpPr>
        <p:grpSpPr>
          <a:xfrm>
            <a:off x="9205754" y="6298022"/>
            <a:ext cx="2725717" cy="246589"/>
            <a:chOff x="5630207" y="4929972"/>
            <a:chExt cx="2725717" cy="24658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C69518-FDCA-4B18-A950-3F9CD60509DC}"/>
                </a:ext>
              </a:extLst>
            </p:cNvPr>
            <p:cNvSpPr/>
            <p:nvPr/>
          </p:nvSpPr>
          <p:spPr bwMode="auto">
            <a:xfrm>
              <a:off x="5630207" y="4929972"/>
              <a:ext cx="2725717" cy="23791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2500" dirty="0">
                <a:latin typeface="FrutigerNext LT BlackCn"/>
                <a:ea typeface="ＭＳ Ｐゴシック" pitchFamily="34" charset="-128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F1071EE-2D4C-452C-B727-CC6834464B83}"/>
                </a:ext>
              </a:extLst>
            </p:cNvPr>
            <p:cNvSpPr/>
            <p:nvPr/>
          </p:nvSpPr>
          <p:spPr>
            <a:xfrm>
              <a:off x="6269925" y="4930340"/>
              <a:ext cx="73609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 </a:t>
              </a:r>
              <a:r>
                <a:rPr lang="en-US" sz="1000" dirty="0"/>
                <a:t>(</a:t>
              </a:r>
              <a:r>
                <a:rPr lang="en-US" sz="1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0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000" dirty="0"/>
                <a:t> / </a:t>
              </a:r>
              <a:r>
                <a:rPr lang="en-US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000" dirty="0"/>
                <a:t>)</a:t>
              </a:r>
              <a:endParaRPr lang="he-IL" sz="10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469E8A-BC8B-4EAD-8DB9-1C040FADD65A}"/>
                </a:ext>
              </a:extLst>
            </p:cNvPr>
            <p:cNvSpPr/>
            <p:nvPr/>
          </p:nvSpPr>
          <p:spPr>
            <a:xfrm>
              <a:off x="7653919" y="4943000"/>
              <a:ext cx="584047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Poisson</a:t>
              </a:r>
              <a:endParaRPr lang="he-IL" sz="900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8D9A0B-874B-4BFF-B968-0358CA0383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56844" y="5058416"/>
              <a:ext cx="44496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D0DE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73F408-ABCF-4EA0-B793-0ED4D532ABF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20033" y="5075626"/>
              <a:ext cx="51757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E119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F4914FB-0D25-4590-81D0-E9DC2F7FA17B}"/>
              </a:ext>
            </a:extLst>
          </p:cNvPr>
          <p:cNvSpPr txBox="1"/>
          <p:nvPr/>
        </p:nvSpPr>
        <p:spPr>
          <a:xfrm>
            <a:off x="1537710" y="5996875"/>
            <a:ext cx="522482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Generated train data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:  inputs  =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baseline="30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sampled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,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labels =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300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r>
              <a:rPr lang="en-US" i="1" baseline="-25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he-IL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19C11B-AEE8-4F50-8C69-B2221E0BE504}"/>
              </a:ext>
            </a:extLst>
          </p:cNvPr>
          <p:cNvSpPr/>
          <p:nvPr/>
        </p:nvSpPr>
        <p:spPr>
          <a:xfrm>
            <a:off x="237059" y="5029202"/>
            <a:ext cx="8255475" cy="703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Extract and</a:t>
            </a:r>
            <a:r>
              <a:rPr lang="en-US" sz="1400" b="1" dirty="0"/>
              <a:t> </a:t>
            </a:r>
            <a:r>
              <a:rPr lang="en-US" sz="1400" dirty="0"/>
              <a:t>apply a noise scheme/sampling to NetStream data to create a ‘noisier’ signal.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Train a network to restore a noise signal from ‘noisier’ signal</a:t>
            </a:r>
            <a:endParaRPr lang="he-IL" sz="1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4625B74-E03A-4A44-94BA-BCBFB426944A}"/>
              </a:ext>
            </a:extLst>
          </p:cNvPr>
          <p:cNvGrpSpPr/>
          <p:nvPr/>
        </p:nvGrpSpPr>
        <p:grpSpPr>
          <a:xfrm>
            <a:off x="6311129" y="1959031"/>
            <a:ext cx="3976246" cy="2354356"/>
            <a:chOff x="7409064" y="1002678"/>
            <a:chExt cx="3976246" cy="2354356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108B189A-5EFF-461C-B187-1082117C8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9064" y="1002678"/>
              <a:ext cx="3976246" cy="2354356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9F9C07C-A374-471B-BC99-B54019C44E9C}"/>
                </a:ext>
              </a:extLst>
            </p:cNvPr>
            <p:cNvSpPr/>
            <p:nvPr/>
          </p:nvSpPr>
          <p:spPr>
            <a:xfrm>
              <a:off x="9858345" y="1234821"/>
              <a:ext cx="101662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 </a:t>
              </a:r>
              <a:r>
                <a:rPr lang="en-US" sz="1400" dirty="0"/>
                <a:t>(</a:t>
              </a:r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400" dirty="0"/>
                <a:t> / </a:t>
              </a: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dirty="0"/>
                <a:t>)</a:t>
              </a:r>
              <a:endParaRPr lang="he-IL" sz="14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671C930-D6C8-49F1-BF89-A2E6218C4AE0}"/>
                </a:ext>
              </a:extLst>
            </p:cNvPr>
            <p:cNvSpPr/>
            <p:nvPr/>
          </p:nvSpPr>
          <p:spPr>
            <a:xfrm>
              <a:off x="9894109" y="1653814"/>
              <a:ext cx="9557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 </a:t>
              </a:r>
              <a:r>
                <a:rPr lang="en-US" sz="1400" dirty="0"/>
                <a:t>(</a:t>
              </a:r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400" dirty="0"/>
                <a:t> / </a:t>
              </a: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dirty="0"/>
                <a:t>)</a:t>
              </a:r>
              <a:endParaRPr lang="he-IL" sz="14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D85994B-8BB5-438B-9612-06D1FD154CC0}"/>
                </a:ext>
              </a:extLst>
            </p:cNvPr>
            <p:cNvSpPr/>
            <p:nvPr/>
          </p:nvSpPr>
          <p:spPr>
            <a:xfrm>
              <a:off x="9890511" y="2045449"/>
              <a:ext cx="6719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Poisson</a:t>
              </a:r>
              <a:endParaRPr lang="he-IL" sz="1200" dirty="0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8B545B8-2243-493C-85E2-D817C6A73D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05758" y="1823091"/>
              <a:ext cx="35258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D0DE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E011471-40A5-4C24-8C19-2D022AB508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94183" y="1430516"/>
              <a:ext cx="35258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CEFD4D0-ED64-4DB3-B4A3-B2CC4D3C4E2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09874" y="2160864"/>
              <a:ext cx="35258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E119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72AD2CDC-E00D-4347-B219-4451A2766D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988" y="4768590"/>
            <a:ext cx="1727012" cy="8770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06D931-EB02-40AD-BA10-AE192AF0EAC0}"/>
              </a:ext>
            </a:extLst>
          </p:cNvPr>
          <p:cNvSpPr/>
          <p:nvPr/>
        </p:nvSpPr>
        <p:spPr>
          <a:xfrm>
            <a:off x="862899" y="3038266"/>
            <a:ext cx="23855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/>
              <a:t>total number of flow packets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3874E8D-B03B-4105-840D-252D59B9D313}"/>
              </a:ext>
            </a:extLst>
          </p:cNvPr>
          <p:cNvSpPr/>
          <p:nvPr/>
        </p:nvSpPr>
        <p:spPr>
          <a:xfrm>
            <a:off x="866138" y="2404311"/>
            <a:ext cx="19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/>
              <a:t>total number of packets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7E8119-36C2-49D2-A0B9-3AC5B160C62E}"/>
              </a:ext>
            </a:extLst>
          </p:cNvPr>
          <p:cNvSpPr/>
          <p:nvPr/>
        </p:nvSpPr>
        <p:spPr>
          <a:xfrm>
            <a:off x="879918" y="2698089"/>
            <a:ext cx="41350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/>
              <a:t>sampled number of flow packets (per application per user)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AEA0D0-ECA3-4117-922B-609FE544D125}"/>
              </a:ext>
            </a:extLst>
          </p:cNvPr>
          <p:cNvSpPr/>
          <p:nvPr/>
        </p:nvSpPr>
        <p:spPr>
          <a:xfrm>
            <a:off x="879917" y="1835060"/>
            <a:ext cx="13198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/>
              <a:t>sampling ratio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22C721E-7952-4F17-9419-DB6AB121BC48}"/>
              </a:ext>
            </a:extLst>
          </p:cNvPr>
          <p:cNvSpPr/>
          <p:nvPr/>
        </p:nvSpPr>
        <p:spPr>
          <a:xfrm>
            <a:off x="884253" y="2104493"/>
            <a:ext cx="21826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/>
              <a:t>sampled number of packets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472E71-8383-4EE2-9E1B-F51E6FF2DE15}"/>
              </a:ext>
            </a:extLst>
          </p:cNvPr>
          <p:cNvSpPr/>
          <p:nvPr/>
        </p:nvSpPr>
        <p:spPr>
          <a:xfrm>
            <a:off x="881110" y="3386705"/>
            <a:ext cx="12955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(traffic is aggregated)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A68ED5E1-7308-4010-8505-C28569D25251}"/>
              </a:ext>
            </a:extLst>
          </p:cNvPr>
          <p:cNvSpPr txBox="1">
            <a:spLocks/>
          </p:cNvSpPr>
          <p:nvPr/>
        </p:nvSpPr>
        <p:spPr>
          <a:xfrm>
            <a:off x="3839755" y="242604"/>
            <a:ext cx="4291294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Train data modeling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9E2E27-920C-46EA-80D1-B16EAD5C88FF}"/>
              </a:ext>
            </a:extLst>
          </p:cNvPr>
          <p:cNvSpPr/>
          <p:nvPr/>
        </p:nvSpPr>
        <p:spPr>
          <a:xfrm>
            <a:off x="3119987" y="4728283"/>
            <a:ext cx="93679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Approach: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63BE67-FCB2-4EB6-9EFA-616BF3C3B88E}"/>
              </a:ext>
            </a:extLst>
          </p:cNvPr>
          <p:cNvSpPr/>
          <p:nvPr/>
        </p:nvSpPr>
        <p:spPr>
          <a:xfrm>
            <a:off x="937529" y="1487825"/>
            <a:ext cx="102624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Definitions: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D69C0C-EBF3-445B-97A6-338B16AD8470}"/>
              </a:ext>
            </a:extLst>
          </p:cNvPr>
          <p:cNvGrpSpPr/>
          <p:nvPr/>
        </p:nvGrpSpPr>
        <p:grpSpPr>
          <a:xfrm>
            <a:off x="5468831" y="1048882"/>
            <a:ext cx="6344682" cy="954172"/>
            <a:chOff x="5654030" y="1489831"/>
            <a:chExt cx="6344682" cy="95417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B2D3C16-1B4D-41B6-B694-1B8BB652AF32}"/>
                </a:ext>
              </a:extLst>
            </p:cNvPr>
            <p:cNvSpPr txBox="1"/>
            <p:nvPr/>
          </p:nvSpPr>
          <p:spPr>
            <a:xfrm>
              <a:off x="5707276" y="1489831"/>
              <a:ext cx="6291436" cy="95417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400" dirty="0"/>
                <a:t>                              as a base for the sampling principle:  </a:t>
              </a: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 </a:t>
              </a:r>
              <a:r>
                <a:rPr lang="en-US" sz="1600" dirty="0"/>
                <a:t>(</a:t>
              </a:r>
              <a:r>
                <a:rPr lang="en-US" sz="16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6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600" dirty="0"/>
                <a:t> / </a:t>
              </a: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600" dirty="0"/>
                <a:t>) = </a:t>
              </a: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 </a:t>
              </a:r>
              <a:r>
                <a:rPr lang="en-US" sz="1600" dirty="0"/>
                <a:t>(</a:t>
              </a:r>
              <a:r>
                <a:rPr lang="en-US" sz="16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6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600" dirty="0"/>
                <a:t> / </a:t>
              </a: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600" dirty="0"/>
                <a:t>)</a:t>
              </a:r>
              <a:endParaRPr lang="en-US" dirty="0"/>
            </a:p>
            <a:p>
              <a:pPr>
                <a:lnSpc>
                  <a:spcPct val="200000"/>
                </a:lnSpc>
              </a:pPr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400" dirty="0"/>
                <a:t>  &lt;&lt;  </a:t>
              </a: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dirty="0"/>
                <a:t> , hence the ‘the law of small numbers’ (Poisson) is straightforward to apply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F585A4C-0723-4EA9-BABC-B7BA3DD25C3B}"/>
                </a:ext>
              </a:extLst>
            </p:cNvPr>
            <p:cNvSpPr/>
            <p:nvPr/>
          </p:nvSpPr>
          <p:spPr>
            <a:xfrm>
              <a:off x="5654030" y="1698917"/>
              <a:ext cx="1357423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Empirical result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4839F5D6-6A7C-4C39-84E7-B681BDBA5872}"/>
              </a:ext>
            </a:extLst>
          </p:cNvPr>
          <p:cNvSpPr/>
          <p:nvPr/>
        </p:nvSpPr>
        <p:spPr>
          <a:xfrm>
            <a:off x="6633695" y="4279240"/>
            <a:ext cx="3579826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</a:t>
            </a:r>
            <a:r>
              <a:rPr lang="en-US" sz="1400" dirty="0"/>
              <a:t>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dirty="0"/>
              <a:t> /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/>
              <a:t>) ~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</a:t>
            </a:r>
            <a:r>
              <a:rPr lang="en-US" sz="1400" dirty="0"/>
              <a:t>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dirty="0"/>
              <a:t> /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/>
              <a:t>) ~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distribution</a:t>
            </a:r>
            <a:endParaRPr lang="he-IL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01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3C30D98-480A-4CA5-9996-9A9916D72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653" y="2124798"/>
            <a:ext cx="3975270" cy="14525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92EFCA-E070-49FA-93E4-2C62C0C78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317" y="2091989"/>
            <a:ext cx="3975270" cy="149175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6EFFE54-2F55-4F27-8A1E-15318BB83B9F}"/>
              </a:ext>
            </a:extLst>
          </p:cNvPr>
          <p:cNvSpPr/>
          <p:nvPr/>
        </p:nvSpPr>
        <p:spPr>
          <a:xfrm>
            <a:off x="7868145" y="3771991"/>
            <a:ext cx="20495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(b) with Poisson sampling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F57EF8-2820-4810-AB5D-028CAD29CB6E}"/>
              </a:ext>
            </a:extLst>
          </p:cNvPr>
          <p:cNvSpPr/>
          <p:nvPr/>
        </p:nvSpPr>
        <p:spPr>
          <a:xfrm>
            <a:off x="926821" y="4404981"/>
            <a:ext cx="10338358" cy="887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Although the network trained on double-sampled data, that underwent random sampling (instead of Poisson one) succeeded to restore the overall pattern, its result is much noisier and some important peaks are missed or underestimated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D82EE-091F-4B01-8FED-20D6F1E387C5}"/>
              </a:ext>
            </a:extLst>
          </p:cNvPr>
          <p:cNvSpPr/>
          <p:nvPr/>
        </p:nvSpPr>
        <p:spPr>
          <a:xfrm>
            <a:off x="3084150" y="1441137"/>
            <a:ext cx="6023698" cy="380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Restored traffic (</a:t>
            </a:r>
            <a:r>
              <a:rPr lang="en-US" sz="1400" dirty="0">
                <a:solidFill>
                  <a:srgbClr val="BC5E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orange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vs ground truth traffic (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blue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33B92-9C73-4D86-827B-55D6E74F28C9}"/>
              </a:ext>
            </a:extLst>
          </p:cNvPr>
          <p:cNvSpPr/>
          <p:nvPr/>
        </p:nvSpPr>
        <p:spPr>
          <a:xfrm>
            <a:off x="2674049" y="3764103"/>
            <a:ext cx="19062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(a) with random sampling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00293-B3B6-4AF2-9977-580FC85B5C2E}"/>
              </a:ext>
            </a:extLst>
          </p:cNvPr>
          <p:cNvSpPr/>
          <p:nvPr/>
        </p:nvSpPr>
        <p:spPr bwMode="auto">
          <a:xfrm>
            <a:off x="1487444" y="1990517"/>
            <a:ext cx="4351689" cy="1658470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2A55841-FF24-4C52-A232-44EFF6950BB5}"/>
              </a:ext>
            </a:extLst>
          </p:cNvPr>
          <p:cNvSpPr/>
          <p:nvPr/>
        </p:nvSpPr>
        <p:spPr bwMode="auto">
          <a:xfrm>
            <a:off x="6454466" y="1981851"/>
            <a:ext cx="4351690" cy="1658470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67C4A57-D209-41DB-9DE5-3F4541C4CC22}"/>
              </a:ext>
            </a:extLst>
          </p:cNvPr>
          <p:cNvSpPr txBox="1">
            <a:spLocks/>
          </p:cNvSpPr>
          <p:nvPr/>
        </p:nvSpPr>
        <p:spPr>
          <a:xfrm>
            <a:off x="3435053" y="117389"/>
            <a:ext cx="5321893" cy="96582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Spoiler: Why Poisson data modeling is better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ED4E5A-A70A-43A9-B3B9-6CA05B89DC97}"/>
              </a:ext>
            </a:extLst>
          </p:cNvPr>
          <p:cNvSpPr/>
          <p:nvPr/>
        </p:nvSpPr>
        <p:spPr>
          <a:xfrm>
            <a:off x="720632" y="4534106"/>
            <a:ext cx="11480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Conclusion: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1BB33A7-15B5-43CB-B8B3-0F860EFBC58B}"/>
              </a:ext>
            </a:extLst>
          </p:cNvPr>
          <p:cNvSpPr/>
          <p:nvPr/>
        </p:nvSpPr>
        <p:spPr>
          <a:xfrm>
            <a:off x="2264975" y="2292049"/>
            <a:ext cx="409074" cy="360947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5DAEBD9-944F-40FF-9334-B2CB07668A63}"/>
              </a:ext>
            </a:extLst>
          </p:cNvPr>
          <p:cNvSpPr/>
          <p:nvPr/>
        </p:nvSpPr>
        <p:spPr>
          <a:xfrm>
            <a:off x="7205943" y="2307530"/>
            <a:ext cx="409074" cy="360947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6C9E61A-D5B1-461B-940F-39185CF5C290}"/>
              </a:ext>
            </a:extLst>
          </p:cNvPr>
          <p:cNvSpPr/>
          <p:nvPr/>
        </p:nvSpPr>
        <p:spPr>
          <a:xfrm>
            <a:off x="1511507" y="2682298"/>
            <a:ext cx="753468" cy="566228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160681-5ABC-4954-82F0-38D97596EC8A}"/>
              </a:ext>
            </a:extLst>
          </p:cNvPr>
          <p:cNvSpPr/>
          <p:nvPr/>
        </p:nvSpPr>
        <p:spPr>
          <a:xfrm>
            <a:off x="6484690" y="2749242"/>
            <a:ext cx="753468" cy="566228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16729AE-3FBA-4185-ADF9-88DC6F6F4408}"/>
              </a:ext>
            </a:extLst>
          </p:cNvPr>
          <p:cNvSpPr/>
          <p:nvPr/>
        </p:nvSpPr>
        <p:spPr>
          <a:xfrm>
            <a:off x="3103219" y="2817043"/>
            <a:ext cx="623344" cy="431483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82F0771-94B2-4C18-984C-8D353D534709}"/>
              </a:ext>
            </a:extLst>
          </p:cNvPr>
          <p:cNvSpPr/>
          <p:nvPr/>
        </p:nvSpPr>
        <p:spPr>
          <a:xfrm>
            <a:off x="8049146" y="2811086"/>
            <a:ext cx="623344" cy="431483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EC44206-7BA3-43DA-AC19-D11402640460}"/>
              </a:ext>
            </a:extLst>
          </p:cNvPr>
          <p:cNvSpPr/>
          <p:nvPr/>
        </p:nvSpPr>
        <p:spPr>
          <a:xfrm>
            <a:off x="4422682" y="2317759"/>
            <a:ext cx="753468" cy="666073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4051702-FD2D-4684-B4C1-03ACE3D49A5F}"/>
              </a:ext>
            </a:extLst>
          </p:cNvPr>
          <p:cNvSpPr/>
          <p:nvPr/>
        </p:nvSpPr>
        <p:spPr>
          <a:xfrm>
            <a:off x="9342934" y="2286066"/>
            <a:ext cx="753468" cy="666073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892EE4F-C8E0-47A2-BCAC-D8249517ED0A}"/>
              </a:ext>
            </a:extLst>
          </p:cNvPr>
          <p:cNvSpPr/>
          <p:nvPr/>
        </p:nvSpPr>
        <p:spPr>
          <a:xfrm>
            <a:off x="3531308" y="2384192"/>
            <a:ext cx="623344" cy="431483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36A7DB3-054D-4D05-A7FE-94A548204D85}"/>
              </a:ext>
            </a:extLst>
          </p:cNvPr>
          <p:cNvSpPr/>
          <p:nvPr/>
        </p:nvSpPr>
        <p:spPr>
          <a:xfrm>
            <a:off x="8484504" y="2299587"/>
            <a:ext cx="623344" cy="431483"/>
          </a:xfrm>
          <a:prstGeom prst="ellipse">
            <a:avLst/>
          </a:prstGeom>
          <a:noFill/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23F326BF-A0BF-4469-AEF1-A2B825D45D6B}"/>
              </a:ext>
            </a:extLst>
          </p:cNvPr>
          <p:cNvSpPr/>
          <p:nvPr/>
        </p:nvSpPr>
        <p:spPr>
          <a:xfrm>
            <a:off x="806420" y="886209"/>
            <a:ext cx="10169092" cy="3832943"/>
          </a:xfrm>
          <a:prstGeom prst="rect">
            <a:avLst/>
          </a:prstGeom>
          <a:solidFill>
            <a:srgbClr val="BDEEFF"/>
          </a:solidFill>
          <a:ln w="9525"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BDEBDE-5293-4E2F-95E9-A4C58357EB0E}"/>
              </a:ext>
            </a:extLst>
          </p:cNvPr>
          <p:cNvSpPr/>
          <p:nvPr/>
        </p:nvSpPr>
        <p:spPr bwMode="auto">
          <a:xfrm>
            <a:off x="6299587" y="2541737"/>
            <a:ext cx="4675925" cy="252646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F43B1C-8708-4FF4-9E2E-0B3457C25C4A}"/>
              </a:ext>
            </a:extLst>
          </p:cNvPr>
          <p:cNvSpPr/>
          <p:nvPr/>
        </p:nvSpPr>
        <p:spPr bwMode="auto">
          <a:xfrm>
            <a:off x="1264965" y="2541737"/>
            <a:ext cx="4862702" cy="253213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32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893C68-E47F-4506-99D4-553B4D3A57B4}"/>
              </a:ext>
            </a:extLst>
          </p:cNvPr>
          <p:cNvSpPr txBox="1"/>
          <p:nvPr/>
        </p:nvSpPr>
        <p:spPr>
          <a:xfrm>
            <a:off x="1394917" y="3045990"/>
            <a:ext cx="4406888" cy="443135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endParaRPr lang="en-US" sz="800" b="1" dirty="0"/>
          </a:p>
          <a:p>
            <a:pPr>
              <a:lnSpc>
                <a:spcPct val="150000"/>
              </a:lnSpc>
            </a:pPr>
            <a:r>
              <a:rPr lang="en-US" sz="1100" b="1" dirty="0"/>
              <a:t>Details: </a:t>
            </a:r>
            <a:r>
              <a:rPr lang="en-US" sz="1100" dirty="0"/>
              <a:t>Extract traffic segments (</a:t>
            </a:r>
            <a:r>
              <a:rPr lang="en-US" sz="1100" dirty="0" err="1"/>
              <a:t>pps</a:t>
            </a:r>
            <a:r>
              <a:rPr lang="en-US" sz="1100" dirty="0"/>
              <a:t>, bps) and apply sampling principle</a:t>
            </a:r>
            <a:endParaRPr lang="en-US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F52E9F-3ECD-42B7-9DDE-142BF54932DF}"/>
              </a:ext>
            </a:extLst>
          </p:cNvPr>
          <p:cNvSpPr txBox="1"/>
          <p:nvPr/>
        </p:nvSpPr>
        <p:spPr>
          <a:xfrm>
            <a:off x="751375" y="1593496"/>
            <a:ext cx="2199541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dirty="0"/>
              <a:t>Original monitored traffic</a:t>
            </a:r>
            <a:endParaRPr lang="he-IL" sz="1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97A7FA-1B79-4A92-99B8-AE7C118E3CCC}"/>
              </a:ext>
            </a:extLst>
          </p:cNvPr>
          <p:cNvCxnSpPr>
            <a:cxnSpLocks/>
          </p:cNvCxnSpPr>
          <p:nvPr/>
        </p:nvCxnSpPr>
        <p:spPr bwMode="auto">
          <a:xfrm>
            <a:off x="2649028" y="2006675"/>
            <a:ext cx="266889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E2D927-4083-4CC0-9AE5-18CFE474BE0E}"/>
              </a:ext>
            </a:extLst>
          </p:cNvPr>
          <p:cNvSpPr txBox="1"/>
          <p:nvPr/>
        </p:nvSpPr>
        <p:spPr>
          <a:xfrm>
            <a:off x="8997982" y="1568682"/>
            <a:ext cx="249173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dirty="0"/>
              <a:t>Restored monitored traffic</a:t>
            </a:r>
            <a:endParaRPr lang="he-IL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B3C783-1FB7-452D-A4D4-C61FB7DE2E23}"/>
              </a:ext>
            </a:extLst>
          </p:cNvPr>
          <p:cNvSpPr txBox="1"/>
          <p:nvPr/>
        </p:nvSpPr>
        <p:spPr>
          <a:xfrm>
            <a:off x="6455939" y="3194537"/>
            <a:ext cx="4190720" cy="1589602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/>
              <a:t>Details:</a:t>
            </a:r>
          </a:p>
          <a:p>
            <a:pPr marL="136867" indent="-13686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Sequence-to-sequence Encoder-Decoder scheme</a:t>
            </a:r>
          </a:p>
          <a:p>
            <a:pPr marL="136867" indent="-13686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Convolution + Attention mechanism</a:t>
            </a:r>
          </a:p>
          <a:p>
            <a:pPr marL="136867" indent="-13686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Double-loss scheme: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   -  estimation loss makes the output close to the provided label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   -  self-loss with high drop out serves as a regularization term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F918ED3-E650-450A-9600-1EC8CDA7272E}"/>
              </a:ext>
            </a:extLst>
          </p:cNvPr>
          <p:cNvSpPr txBox="1"/>
          <p:nvPr/>
        </p:nvSpPr>
        <p:spPr>
          <a:xfrm>
            <a:off x="806420" y="648843"/>
            <a:ext cx="2184467" cy="526554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Network MONITORING TOOL (e.g. NETSTREAM)</a:t>
            </a:r>
            <a:endParaRPr lang="he-IL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2111EE-1863-42D2-A6D8-652A263746B1}"/>
              </a:ext>
            </a:extLst>
          </p:cNvPr>
          <p:cNvSpPr/>
          <p:nvPr/>
        </p:nvSpPr>
        <p:spPr>
          <a:xfrm>
            <a:off x="1321001" y="3834777"/>
            <a:ext cx="2484811" cy="10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6867" indent="-13686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Calculate statistics of the extracted application traffic</a:t>
            </a:r>
          </a:p>
          <a:p>
            <a:pPr marL="136867" indent="-13686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Generate train data based on calculated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75B36-25C2-4379-A467-807FCE9AF073}"/>
              </a:ext>
            </a:extLst>
          </p:cNvPr>
          <p:cNvSpPr/>
          <p:nvPr/>
        </p:nvSpPr>
        <p:spPr>
          <a:xfrm>
            <a:off x="3836744" y="3841168"/>
            <a:ext cx="2313973" cy="827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8536" indent="-1285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Apply general sampling procedure (based on random noise) to generate train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36EE9-299C-46EE-9846-AF65A6F3C57E}"/>
              </a:ext>
            </a:extLst>
          </p:cNvPr>
          <p:cNvSpPr/>
          <p:nvPr/>
        </p:nvSpPr>
        <p:spPr>
          <a:xfrm>
            <a:off x="3811351" y="3560344"/>
            <a:ext cx="2058577" cy="3200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u="sng" dirty="0"/>
              <a:t>If sampling principle is unknown: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D7218E-136D-4A3B-BBE6-65E209A19089}"/>
              </a:ext>
            </a:extLst>
          </p:cNvPr>
          <p:cNvSpPr/>
          <p:nvPr/>
        </p:nvSpPr>
        <p:spPr>
          <a:xfrm>
            <a:off x="2593798" y="2627085"/>
            <a:ext cx="21886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Statistics based module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876E9D-E7E2-47E7-8925-3E414B0D48F8}"/>
              </a:ext>
            </a:extLst>
          </p:cNvPr>
          <p:cNvSpPr/>
          <p:nvPr/>
        </p:nvSpPr>
        <p:spPr>
          <a:xfrm>
            <a:off x="1377375" y="2880907"/>
            <a:ext cx="4759319" cy="32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/>
              <a:t>Functionality:  </a:t>
            </a:r>
            <a:r>
              <a:rPr lang="en-US" sz="1100" dirty="0"/>
              <a:t>Apply sampling principle to create double-sampled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6CBA2F-8819-4A0B-BC63-199F7F1439B3}"/>
              </a:ext>
            </a:extLst>
          </p:cNvPr>
          <p:cNvSpPr/>
          <p:nvPr/>
        </p:nvSpPr>
        <p:spPr>
          <a:xfrm>
            <a:off x="1355514" y="3614110"/>
            <a:ext cx="187262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u="sng" dirty="0"/>
              <a:t>If sampling principle is known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B19280-295D-48F3-A482-B168BC264519}"/>
              </a:ext>
            </a:extLst>
          </p:cNvPr>
          <p:cNvSpPr/>
          <p:nvPr/>
        </p:nvSpPr>
        <p:spPr>
          <a:xfrm>
            <a:off x="7876772" y="2585406"/>
            <a:ext cx="18341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DNN based module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6352B-2B9F-4EEC-B801-A907DE0DCDD5}"/>
              </a:ext>
            </a:extLst>
          </p:cNvPr>
          <p:cNvSpPr/>
          <p:nvPr/>
        </p:nvSpPr>
        <p:spPr>
          <a:xfrm>
            <a:off x="6455939" y="2997884"/>
            <a:ext cx="414374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Functionality: </a:t>
            </a:r>
            <a:r>
              <a:rPr lang="en-US" sz="1100" dirty="0"/>
              <a:t>Train a NN to restore full data from sampled data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1830E25-BCEE-4DDE-B0EA-3ABD182DEEA0}"/>
              </a:ext>
            </a:extLst>
          </p:cNvPr>
          <p:cNvSpPr/>
          <p:nvPr/>
        </p:nvSpPr>
        <p:spPr bwMode="auto">
          <a:xfrm>
            <a:off x="3080535" y="1798259"/>
            <a:ext cx="1924286" cy="417235"/>
          </a:xfrm>
          <a:prstGeom prst="roundRect">
            <a:avLst/>
          </a:prstGeom>
          <a:solidFill>
            <a:srgbClr val="E0EDF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500" dirty="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1D4A11-6209-456F-8B37-6FC085F51AA2}"/>
              </a:ext>
            </a:extLst>
          </p:cNvPr>
          <p:cNvSpPr txBox="1"/>
          <p:nvPr/>
        </p:nvSpPr>
        <p:spPr>
          <a:xfrm>
            <a:off x="3075218" y="1872345"/>
            <a:ext cx="1957918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Train data modeling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" b="1" dirty="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2C4A7AF-5F02-4397-8478-89DDECD5863B}"/>
              </a:ext>
            </a:extLst>
          </p:cNvPr>
          <p:cNvSpPr/>
          <p:nvPr/>
        </p:nvSpPr>
        <p:spPr bwMode="auto">
          <a:xfrm>
            <a:off x="7024497" y="1557326"/>
            <a:ext cx="2086663" cy="731412"/>
          </a:xfrm>
          <a:prstGeom prst="roundRect">
            <a:avLst/>
          </a:prstGeom>
          <a:solidFill>
            <a:srgbClr val="E0EDF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500" dirty="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095C8E-86E8-4341-8294-144E50A26CB9}"/>
              </a:ext>
            </a:extLst>
          </p:cNvPr>
          <p:cNvSpPr txBox="1"/>
          <p:nvPr/>
        </p:nvSpPr>
        <p:spPr>
          <a:xfrm>
            <a:off x="7051478" y="1684777"/>
            <a:ext cx="2086663" cy="500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Attention based DNN</a:t>
            </a:r>
          </a:p>
          <a:p>
            <a:pPr algn="ctr">
              <a:lnSpc>
                <a:spcPct val="150000"/>
              </a:lnSpc>
            </a:pPr>
            <a:r>
              <a:rPr lang="en-US" sz="1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en-US" sz="11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Training mode</a:t>
            </a:r>
            <a:r>
              <a:rPr lang="en-US" sz="1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12A106-23D9-4CF2-B9FA-25E89D86003A}"/>
              </a:ext>
            </a:extLst>
          </p:cNvPr>
          <p:cNvSpPr txBox="1"/>
          <p:nvPr/>
        </p:nvSpPr>
        <p:spPr>
          <a:xfrm>
            <a:off x="4843973" y="1617986"/>
            <a:ext cx="2117913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dirty="0"/>
              <a:t>Modified monitored traffic</a:t>
            </a:r>
            <a:endParaRPr lang="he-IL" sz="1200" dirty="0"/>
          </a:p>
        </p:txBody>
      </p:sp>
      <p:pic>
        <p:nvPicPr>
          <p:cNvPr id="75" name="Graphic 74" descr="Voice">
            <a:extLst>
              <a:ext uri="{FF2B5EF4-FFF2-40B4-BE49-F238E27FC236}">
                <a16:creationId xmlns:a16="http://schemas.microsoft.com/office/drawing/2014/main" id="{16FDF589-E16C-4AA9-9A8A-216CC3BC2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6188" y="1700814"/>
            <a:ext cx="1085560" cy="607252"/>
          </a:xfrm>
          <a:prstGeom prst="rect">
            <a:avLst/>
          </a:prstGeom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994273C-6C3A-4295-A323-E117A7B70809}"/>
              </a:ext>
            </a:extLst>
          </p:cNvPr>
          <p:cNvCxnSpPr>
            <a:cxnSpLocks/>
          </p:cNvCxnSpPr>
          <p:nvPr/>
        </p:nvCxnSpPr>
        <p:spPr bwMode="auto">
          <a:xfrm>
            <a:off x="6627506" y="2007339"/>
            <a:ext cx="266889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528D996-C659-4CA5-A4F7-554D63E29332}"/>
              </a:ext>
            </a:extLst>
          </p:cNvPr>
          <p:cNvCxnSpPr>
            <a:cxnSpLocks/>
          </p:cNvCxnSpPr>
          <p:nvPr/>
        </p:nvCxnSpPr>
        <p:spPr bwMode="auto">
          <a:xfrm>
            <a:off x="5100085" y="2006675"/>
            <a:ext cx="266889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7D4126E-5D8B-4FB4-BCC4-6C56A01E57AE}"/>
              </a:ext>
            </a:extLst>
          </p:cNvPr>
          <p:cNvCxnSpPr>
            <a:cxnSpLocks/>
          </p:cNvCxnSpPr>
          <p:nvPr/>
        </p:nvCxnSpPr>
        <p:spPr bwMode="auto">
          <a:xfrm>
            <a:off x="9280006" y="2015380"/>
            <a:ext cx="266889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87" name="3D Model 86" descr="Compounding Growth Histogram">
                <a:extLst>
                  <a:ext uri="{FF2B5EF4-FFF2-40B4-BE49-F238E27FC236}">
                    <a16:creationId xmlns:a16="http://schemas.microsoft.com/office/drawing/2014/main" id="{DEF12C2D-2078-493C-BF7A-B563C443A2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7783482"/>
                  </p:ext>
                </p:extLst>
              </p:nvPr>
            </p:nvGraphicFramePr>
            <p:xfrm>
              <a:off x="5511581" y="4461426"/>
              <a:ext cx="534100" cy="523359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534100" cy="523359"/>
                    </a:xfrm>
                    <a:prstGeom prst="rect">
                      <a:avLst/>
                    </a:prstGeom>
                  </am3d:spPr>
                  <am3d:camera>
                    <am3d:pos x="0" y="0" z="624349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26" d="1000000"/>
                    <am3d:preTrans dx="0" dy="-2979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36197" ay="-1663019" az="-298572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0580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87" name="3D Model 86" descr="Compounding Growth Histogram">
                <a:extLst>
                  <a:ext uri="{FF2B5EF4-FFF2-40B4-BE49-F238E27FC236}">
                    <a16:creationId xmlns:a16="http://schemas.microsoft.com/office/drawing/2014/main" id="{DEF12C2D-2078-493C-BF7A-B563C443A2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11581" y="4461426"/>
                <a:ext cx="534100" cy="523359"/>
              </a:xfrm>
              <a:prstGeom prst="rect">
                <a:avLst/>
              </a:prstGeom>
            </p:spPr>
          </p:pic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370DA6E1-7860-41F6-BB47-9118DB2AE9C9}"/>
              </a:ext>
            </a:extLst>
          </p:cNvPr>
          <p:cNvSpPr txBox="1"/>
          <p:nvPr/>
        </p:nvSpPr>
        <p:spPr>
          <a:xfrm>
            <a:off x="7619484" y="5728426"/>
            <a:ext cx="1828258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algn="ctr">
              <a:defRPr sz="1400"/>
            </a:lvl1pPr>
          </a:lstStyle>
          <a:p>
            <a:r>
              <a:rPr lang="en-US" sz="1200" dirty="0"/>
              <a:t>Restored full traffic</a:t>
            </a:r>
            <a:endParaRPr lang="he-IL" sz="1200" dirty="0"/>
          </a:p>
        </p:txBody>
      </p:sp>
      <p:pic>
        <p:nvPicPr>
          <p:cNvPr id="105" name="Graphic 104" descr="Voice">
            <a:extLst>
              <a:ext uri="{FF2B5EF4-FFF2-40B4-BE49-F238E27FC236}">
                <a16:creationId xmlns:a16="http://schemas.microsoft.com/office/drawing/2014/main" id="{FA471392-9BBD-4B29-BB0E-779AD357D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5358" y="5836706"/>
            <a:ext cx="1214723" cy="629817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62FBB5EB-AE98-4C45-9356-A790853EEE42}"/>
              </a:ext>
            </a:extLst>
          </p:cNvPr>
          <p:cNvSpPr txBox="1"/>
          <p:nvPr/>
        </p:nvSpPr>
        <p:spPr>
          <a:xfrm>
            <a:off x="2503622" y="5710738"/>
            <a:ext cx="243877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dirty="0"/>
              <a:t>Original monitored traffic</a:t>
            </a:r>
            <a:endParaRPr lang="he-IL" sz="1200" dirty="0"/>
          </a:p>
        </p:txBody>
      </p:sp>
      <p:pic>
        <p:nvPicPr>
          <p:cNvPr id="107" name="Graphic 106" descr="Voice">
            <a:extLst>
              <a:ext uri="{FF2B5EF4-FFF2-40B4-BE49-F238E27FC236}">
                <a16:creationId xmlns:a16="http://schemas.microsoft.com/office/drawing/2014/main" id="{113E6905-1DFA-49BD-925C-D4366EA7F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669" y="5849238"/>
            <a:ext cx="1214723" cy="629817"/>
          </a:xfrm>
          <a:prstGeom prst="rect">
            <a:avLst/>
          </a:prstGeom>
        </p:spPr>
      </p:pic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EDDF72F-C23E-44FD-A82C-0691AF95B5DB}"/>
              </a:ext>
            </a:extLst>
          </p:cNvPr>
          <p:cNvSpPr/>
          <p:nvPr/>
        </p:nvSpPr>
        <p:spPr bwMode="auto">
          <a:xfrm>
            <a:off x="5077389" y="5808189"/>
            <a:ext cx="2354433" cy="820967"/>
          </a:xfrm>
          <a:prstGeom prst="roundRect">
            <a:avLst/>
          </a:prstGeom>
          <a:solidFill>
            <a:srgbClr val="E0EDF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500" dirty="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53098D0-33DB-43BB-9977-6202E64F9927}"/>
              </a:ext>
            </a:extLst>
          </p:cNvPr>
          <p:cNvSpPr txBox="1"/>
          <p:nvPr/>
        </p:nvSpPr>
        <p:spPr>
          <a:xfrm>
            <a:off x="5121250" y="5966688"/>
            <a:ext cx="2237059" cy="500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Attention based DNN</a:t>
            </a:r>
          </a:p>
          <a:p>
            <a:pPr algn="ctr">
              <a:lnSpc>
                <a:spcPct val="150000"/>
              </a:lnSpc>
            </a:pPr>
            <a:r>
              <a:rPr lang="en-US" sz="1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en-US" sz="11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Inference mode</a:t>
            </a:r>
            <a:r>
              <a:rPr lang="en-US" sz="1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151D196-C3D9-49E2-8F7C-883217AC8E2D}"/>
              </a:ext>
            </a:extLst>
          </p:cNvPr>
          <p:cNvCxnSpPr>
            <a:cxnSpLocks/>
          </p:cNvCxnSpPr>
          <p:nvPr/>
        </p:nvCxnSpPr>
        <p:spPr bwMode="auto">
          <a:xfrm>
            <a:off x="4691972" y="6182793"/>
            <a:ext cx="266889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6CA5122-E3B9-4AF3-876E-001EC992455E}"/>
              </a:ext>
            </a:extLst>
          </p:cNvPr>
          <p:cNvCxnSpPr>
            <a:cxnSpLocks/>
          </p:cNvCxnSpPr>
          <p:nvPr/>
        </p:nvCxnSpPr>
        <p:spPr bwMode="auto">
          <a:xfrm>
            <a:off x="7619484" y="6141679"/>
            <a:ext cx="266889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BA6D0AD-B782-4779-829F-ED538D17C547}"/>
              </a:ext>
            </a:extLst>
          </p:cNvPr>
          <p:cNvCxnSpPr>
            <a:cxnSpLocks/>
          </p:cNvCxnSpPr>
          <p:nvPr/>
        </p:nvCxnSpPr>
        <p:spPr bwMode="auto">
          <a:xfrm>
            <a:off x="4049696" y="2316481"/>
            <a:ext cx="0" cy="12826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888C06C-6D48-497B-BA8D-ED4EA4B39361}"/>
              </a:ext>
            </a:extLst>
          </p:cNvPr>
          <p:cNvCxnSpPr>
            <a:cxnSpLocks/>
          </p:cNvCxnSpPr>
          <p:nvPr/>
        </p:nvCxnSpPr>
        <p:spPr bwMode="auto">
          <a:xfrm>
            <a:off x="8067828" y="2319047"/>
            <a:ext cx="0" cy="12826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0" name="Picture 119">
            <a:extLst>
              <a:ext uri="{FF2B5EF4-FFF2-40B4-BE49-F238E27FC236}">
                <a16:creationId xmlns:a16="http://schemas.microsoft.com/office/drawing/2014/main" id="{B3025CEF-715D-4CED-BC34-E4CC0D2E68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45" y="928025"/>
            <a:ext cx="716421" cy="494744"/>
          </a:xfrm>
          <a:prstGeom prst="rect">
            <a:avLst/>
          </a:prstGeom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1C135828-7FFF-4981-B200-BF1F89B34A97}"/>
              </a:ext>
            </a:extLst>
          </p:cNvPr>
          <p:cNvSpPr/>
          <p:nvPr/>
        </p:nvSpPr>
        <p:spPr bwMode="auto">
          <a:xfrm rot="5400000">
            <a:off x="1687075" y="1245757"/>
            <a:ext cx="276997" cy="306789"/>
          </a:xfrm>
          <a:prstGeom prst="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250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3478DD-01BF-488C-BFC7-619CF4665946}"/>
              </a:ext>
            </a:extLst>
          </p:cNvPr>
          <p:cNvSpPr txBox="1"/>
          <p:nvPr/>
        </p:nvSpPr>
        <p:spPr>
          <a:xfrm>
            <a:off x="8067827" y="5045779"/>
            <a:ext cx="3919733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Lightweight: small number of parameters, can be trained on CPU</a:t>
            </a:r>
            <a:endParaRPr lang="he-IL" sz="11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4" name="Graphic 53" descr="Voice">
            <a:extLst>
              <a:ext uri="{FF2B5EF4-FFF2-40B4-BE49-F238E27FC236}">
                <a16:creationId xmlns:a16="http://schemas.microsoft.com/office/drawing/2014/main" id="{9317C505-9B6B-4450-BC2F-BA0A25C9C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6487" y="1686664"/>
            <a:ext cx="1214723" cy="629817"/>
          </a:xfrm>
          <a:prstGeom prst="rect">
            <a:avLst/>
          </a:prstGeom>
        </p:spPr>
      </p:pic>
      <p:pic>
        <p:nvPicPr>
          <p:cNvPr id="55" name="Graphic 54" descr="Voice">
            <a:extLst>
              <a:ext uri="{FF2B5EF4-FFF2-40B4-BE49-F238E27FC236}">
                <a16:creationId xmlns:a16="http://schemas.microsoft.com/office/drawing/2014/main" id="{FCD2D95D-9C3C-4C05-AE5A-92D882DA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322" y="1711574"/>
            <a:ext cx="1214723" cy="629817"/>
          </a:xfrm>
          <a:prstGeom prst="rect">
            <a:avLst/>
          </a:prstGeom>
        </p:spPr>
      </p:pic>
      <p:sp>
        <p:nvSpPr>
          <p:cNvPr id="56" name="Title 1">
            <a:extLst>
              <a:ext uri="{FF2B5EF4-FFF2-40B4-BE49-F238E27FC236}">
                <a16:creationId xmlns:a16="http://schemas.microsoft.com/office/drawing/2014/main" id="{C53C57E1-15C5-4BD8-9FCB-4EC2A7F3DFF6}"/>
              </a:ext>
            </a:extLst>
          </p:cNvPr>
          <p:cNvSpPr txBox="1">
            <a:spLocks/>
          </p:cNvSpPr>
          <p:nvPr/>
        </p:nvSpPr>
        <p:spPr>
          <a:xfrm>
            <a:off x="4042678" y="140724"/>
            <a:ext cx="4291294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Model structure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5BD1801-AC2D-4101-9F9D-7BFF544866CE}"/>
              </a:ext>
            </a:extLst>
          </p:cNvPr>
          <p:cNvSpPr/>
          <p:nvPr/>
        </p:nvSpPr>
        <p:spPr>
          <a:xfrm>
            <a:off x="5511581" y="1015600"/>
            <a:ext cx="138281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Training phase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E539736-BE88-40B5-B15D-D565A420D8CF}"/>
              </a:ext>
            </a:extLst>
          </p:cNvPr>
          <p:cNvSpPr/>
          <p:nvPr/>
        </p:nvSpPr>
        <p:spPr>
          <a:xfrm>
            <a:off x="5519414" y="5359178"/>
            <a:ext cx="15125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Inference phase</a:t>
            </a: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59" name="3D Model 58" descr="Head With Gears">
                <a:extLst>
                  <a:ext uri="{FF2B5EF4-FFF2-40B4-BE49-F238E27FC236}">
                    <a16:creationId xmlns:a16="http://schemas.microsoft.com/office/drawing/2014/main" id="{B6C85369-B80C-411E-8C87-90C5C59914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424603"/>
                  </p:ext>
                </p:extLst>
              </p:nvPr>
            </p:nvGraphicFramePr>
            <p:xfrm rot="538053">
              <a:off x="10416765" y="4390223"/>
              <a:ext cx="492118" cy="583666"/>
            </p:xfrm>
            <a:graphic>
              <a:graphicData uri="http://schemas.microsoft.com/office/drawing/2017/model3d">
                <am3d:model3d r:embed="rId9">
                  <am3d:spPr>
                    <a:xfrm rot="538053">
                      <a:off x="0" y="0"/>
                      <a:ext cx="492118" cy="583666"/>
                    </a:xfrm>
                    <a:prstGeom prst="rect">
                      <a:avLst/>
                    </a:prstGeom>
                    <a:ln>
                      <a:noFill/>
                    </a:ln>
                  </am3d:spPr>
                  <am3d:camera>
                    <am3d:pos x="0" y="0" z="626893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171" d="1000000"/>
                    <am3d:preTrans dx="-164765" dy="-18081215" dz="-21786"/>
                    <am3d:scale>
                      <am3d:sx n="1000000" d="1000000"/>
                      <am3d:sy n="1000000" d="1000000"/>
                      <am3d:sz n="1000000" d="1000000"/>
                    </am3d:scale>
                    <am3d:rot ax="10218704" ay="-1527174" az="-10548211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7528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59" name="3D Model 58" descr="Head With Gears">
                <a:extLst>
                  <a:ext uri="{FF2B5EF4-FFF2-40B4-BE49-F238E27FC236}">
                    <a16:creationId xmlns:a16="http://schemas.microsoft.com/office/drawing/2014/main" id="{B6C85369-B80C-411E-8C87-90C5C59914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538053">
                <a:off x="10416765" y="4390223"/>
                <a:ext cx="492118" cy="583666"/>
              </a:xfrm>
              <a:prstGeom prst="rect">
                <a:avLst/>
              </a:prstGeom>
              <a:ln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978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A2F781AF-25C0-432A-940D-38BA7077C51F}"/>
              </a:ext>
            </a:extLst>
          </p:cNvPr>
          <p:cNvSpPr/>
          <p:nvPr/>
        </p:nvSpPr>
        <p:spPr>
          <a:xfrm>
            <a:off x="1277782" y="1062428"/>
            <a:ext cx="4835377" cy="3798407"/>
          </a:xfrm>
          <a:prstGeom prst="rect">
            <a:avLst/>
          </a:prstGeom>
          <a:solidFill>
            <a:srgbClr val="BDEEFF"/>
          </a:solidFill>
          <a:ln w="9525"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1A65A2-B251-48A5-9B44-F96EA9DF3D92}"/>
              </a:ext>
            </a:extLst>
          </p:cNvPr>
          <p:cNvSpPr txBox="1"/>
          <p:nvPr/>
        </p:nvSpPr>
        <p:spPr>
          <a:xfrm>
            <a:off x="734117" y="828121"/>
            <a:ext cx="10479790" cy="377026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Real campus network with 2 routers equipped with NetStream feature are mounted on top of the campus network</a:t>
            </a:r>
            <a:endParaRPr lang="he-IL" sz="14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701BADDB-A305-463E-BB83-78EE744592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59" y="1912135"/>
            <a:ext cx="2285746" cy="2048141"/>
          </a:xfrm>
          <a:prstGeom prst="rect">
            <a:avLst/>
          </a:prstGeom>
        </p:spPr>
      </p:pic>
      <p:sp>
        <p:nvSpPr>
          <p:cNvPr id="84" name="Oval Callout 105">
            <a:extLst>
              <a:ext uri="{FF2B5EF4-FFF2-40B4-BE49-F238E27FC236}">
                <a16:creationId xmlns:a16="http://schemas.microsoft.com/office/drawing/2014/main" id="{7C76D4CA-DF37-46DF-AB9B-F477ED6C51FF}"/>
              </a:ext>
            </a:extLst>
          </p:cNvPr>
          <p:cNvSpPr/>
          <p:nvPr/>
        </p:nvSpPr>
        <p:spPr bwMode="auto">
          <a:xfrm rot="10558814">
            <a:off x="4154845" y="3946455"/>
            <a:ext cx="1703593" cy="950674"/>
          </a:xfrm>
          <a:prstGeom prst="wedgeEllipseCallout">
            <a:avLst>
              <a:gd name="adj1" fmla="val -10646"/>
              <a:gd name="adj2" fmla="val 63972"/>
            </a:avLst>
          </a:prstGeom>
          <a:solidFill>
            <a:srgbClr val="FCFCEA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0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74" dirty="0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7607E12-9E5F-45F0-BD73-428259F1F1D4}"/>
              </a:ext>
            </a:extLst>
          </p:cNvPr>
          <p:cNvSpPr/>
          <p:nvPr/>
        </p:nvSpPr>
        <p:spPr bwMode="auto">
          <a:xfrm>
            <a:off x="3498655" y="3035729"/>
            <a:ext cx="2145779" cy="62114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3D41F1D-CE40-41B1-A7A0-CF0FBDB80BF3}"/>
              </a:ext>
            </a:extLst>
          </p:cNvPr>
          <p:cNvSpPr/>
          <p:nvPr/>
        </p:nvSpPr>
        <p:spPr bwMode="auto">
          <a:xfrm>
            <a:off x="3638735" y="3200347"/>
            <a:ext cx="323909" cy="24205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46F3819-A83F-40E2-A91F-CB463D990694}"/>
              </a:ext>
            </a:extLst>
          </p:cNvPr>
          <p:cNvSpPr/>
          <p:nvPr/>
        </p:nvSpPr>
        <p:spPr bwMode="auto">
          <a:xfrm>
            <a:off x="4334586" y="3215005"/>
            <a:ext cx="323909" cy="24205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50126ED-CB3E-49E8-BAD4-51818080998E}"/>
              </a:ext>
            </a:extLst>
          </p:cNvPr>
          <p:cNvSpPr/>
          <p:nvPr/>
        </p:nvSpPr>
        <p:spPr bwMode="auto">
          <a:xfrm>
            <a:off x="5126100" y="3212324"/>
            <a:ext cx="323909" cy="24205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3C3B52-9CC3-44CB-AB20-B1F2B7CAFE28}"/>
              </a:ext>
            </a:extLst>
          </p:cNvPr>
          <p:cNvSpPr txBox="1"/>
          <p:nvPr/>
        </p:nvSpPr>
        <p:spPr>
          <a:xfrm>
            <a:off x="4817157" y="3027648"/>
            <a:ext cx="890597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" b="1" dirty="0"/>
              <a:t>output port</a:t>
            </a:r>
            <a:endParaRPr lang="he-IL" sz="800" b="1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8BF9E89-7407-43F6-87CD-E165C7453E59}"/>
              </a:ext>
            </a:extLst>
          </p:cNvPr>
          <p:cNvGrpSpPr/>
          <p:nvPr/>
        </p:nvGrpSpPr>
        <p:grpSpPr>
          <a:xfrm>
            <a:off x="3293763" y="2137811"/>
            <a:ext cx="1139184" cy="647190"/>
            <a:chOff x="3752709" y="1227156"/>
            <a:chExt cx="1459456" cy="861617"/>
          </a:xfrm>
          <a:solidFill>
            <a:srgbClr val="D6E4EA"/>
          </a:solidFill>
        </p:grpSpPr>
        <p:sp>
          <p:nvSpPr>
            <p:cNvPr id="91" name="Cloud 90">
              <a:extLst>
                <a:ext uri="{FF2B5EF4-FFF2-40B4-BE49-F238E27FC236}">
                  <a16:creationId xmlns:a16="http://schemas.microsoft.com/office/drawing/2014/main" id="{308F655B-AD3F-4F88-B6CA-FB559372B8FF}"/>
                </a:ext>
              </a:extLst>
            </p:cNvPr>
            <p:cNvSpPr/>
            <p:nvPr/>
          </p:nvSpPr>
          <p:spPr bwMode="auto">
            <a:xfrm rot="16200000">
              <a:off x="4051628" y="928237"/>
              <a:ext cx="861617" cy="1459456"/>
            </a:xfrm>
            <a:prstGeom prst="cloud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  <a:prstDash val="sysDot"/>
            </a:ln>
            <a:effectLst/>
            <a:extLst/>
          </p:spPr>
          <p:txBody>
            <a:bodyPr vert="horz" wrap="square" lIns="51395" tIns="25698" rIns="51395" bIns="25698" numCol="1" rtlCol="0" anchor="t" anchorCtr="0" compatLnSpc="1">
              <a:prstTxWarp prst="textNoShape">
                <a:avLst/>
              </a:prstTxWarp>
            </a:bodyPr>
            <a:lstStyle/>
            <a:p>
              <a:pPr defTabSz="513939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011">
                <a:latin typeface="Arial" charset="0"/>
                <a:ea typeface="宋体" charset="-122"/>
              </a:endParaRPr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BE2E822-A40A-4438-9261-47E88F33C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484">
              <a:off x="4374064" y="1671690"/>
              <a:ext cx="241526" cy="33976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</p:pic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D2D4C86-F2A4-457C-B3A2-A86C9731E572}"/>
                </a:ext>
              </a:extLst>
            </p:cNvPr>
            <p:cNvCxnSpPr>
              <a:stCxn id="92" idx="3"/>
              <a:endCxn id="96" idx="2"/>
            </p:cNvCxnSpPr>
            <p:nvPr/>
          </p:nvCxnSpPr>
          <p:spPr bwMode="auto">
            <a:xfrm flipV="1">
              <a:off x="4615376" y="1796204"/>
              <a:ext cx="183499" cy="52547"/>
            </a:xfrm>
            <a:prstGeom prst="line">
              <a:avLst/>
            </a:prstGeom>
            <a:grpFill/>
            <a:ln w="9525" cap="flat" cmpd="sng" algn="ctr">
              <a:solidFill>
                <a:schemeClr val="bg1">
                  <a:lumMod val="50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3283BD7-B428-4115-BBEA-67622BE7D93F}"/>
                </a:ext>
              </a:extLst>
            </p:cNvPr>
            <p:cNvCxnSpPr>
              <a:stCxn id="92" idx="1"/>
              <a:endCxn id="95" idx="3"/>
            </p:cNvCxnSpPr>
            <p:nvPr/>
          </p:nvCxnSpPr>
          <p:spPr bwMode="auto">
            <a:xfrm flipH="1" flipV="1">
              <a:off x="4229203" y="1491978"/>
              <a:ext cx="145075" cy="342415"/>
            </a:xfrm>
            <a:prstGeom prst="line">
              <a:avLst/>
            </a:prstGeom>
            <a:grpFill/>
            <a:ln w="9525" cap="flat" cmpd="sng" algn="ctr">
              <a:solidFill>
                <a:schemeClr val="bg1">
                  <a:lumMod val="50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50FF35D-ED21-4C5A-BC6C-45732FE71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484">
              <a:off x="3987891" y="1314917"/>
              <a:ext cx="241526" cy="33976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4852DCC-E566-44DD-8C03-8CE389DA6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484">
              <a:off x="4688211" y="1456741"/>
              <a:ext cx="241526" cy="33976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</p:pic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10D1247-3D0F-4009-A096-0519968881E3}"/>
                </a:ext>
              </a:extLst>
            </p:cNvPr>
            <p:cNvCxnSpPr>
              <a:endCxn id="96" idx="1"/>
            </p:cNvCxnSpPr>
            <p:nvPr/>
          </p:nvCxnSpPr>
          <p:spPr bwMode="auto">
            <a:xfrm>
              <a:off x="4277546" y="1445681"/>
              <a:ext cx="410879" cy="173763"/>
            </a:xfrm>
            <a:prstGeom prst="line">
              <a:avLst/>
            </a:prstGeom>
            <a:grpFill/>
            <a:ln w="9525" cap="flat" cmpd="sng" algn="ctr">
              <a:solidFill>
                <a:schemeClr val="bg1">
                  <a:lumMod val="50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4B78ABC-432A-4961-BB09-E9876024FF09}"/>
              </a:ext>
            </a:extLst>
          </p:cNvPr>
          <p:cNvCxnSpPr>
            <a:cxnSpLocks/>
          </p:cNvCxnSpPr>
          <p:nvPr/>
        </p:nvCxnSpPr>
        <p:spPr bwMode="auto">
          <a:xfrm flipH="1">
            <a:off x="4707050" y="2756410"/>
            <a:ext cx="154221" cy="23806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9E599A3-8A4C-4DE1-9F2A-1176CEB00660}"/>
              </a:ext>
            </a:extLst>
          </p:cNvPr>
          <p:cNvSpPr txBox="1"/>
          <p:nvPr/>
        </p:nvSpPr>
        <p:spPr>
          <a:xfrm>
            <a:off x="2981753" y="3641810"/>
            <a:ext cx="1712663" cy="4821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00" dirty="0"/>
              <a:t>Router with NETSTREAM functionality</a:t>
            </a:r>
            <a:endParaRPr lang="he-IL" sz="900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852B861-CD98-40F5-9499-72E94674475C}"/>
              </a:ext>
            </a:extLst>
          </p:cNvPr>
          <p:cNvGrpSpPr/>
          <p:nvPr/>
        </p:nvGrpSpPr>
        <p:grpSpPr>
          <a:xfrm rot="696847">
            <a:off x="4172320" y="3708452"/>
            <a:ext cx="1744187" cy="1218458"/>
            <a:chOff x="1445891" y="3500355"/>
            <a:chExt cx="2326488" cy="1625244"/>
          </a:xfrm>
        </p:grpSpPr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7DC68E9-81E1-4092-A0FA-08FB5C82D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578175">
              <a:off x="2828360" y="4378569"/>
              <a:ext cx="245336" cy="269213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66ED2E3D-86A8-4ACC-A9EC-561774EC1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503296">
              <a:off x="2428845" y="4619755"/>
              <a:ext cx="254775" cy="279570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142D25C-ADDA-418E-9A7E-2C14BD9A8EFB}"/>
                </a:ext>
              </a:extLst>
            </p:cNvPr>
            <p:cNvSpPr txBox="1"/>
            <p:nvPr/>
          </p:nvSpPr>
          <p:spPr>
            <a:xfrm rot="20903153">
              <a:off x="2839197" y="3738426"/>
              <a:ext cx="725268" cy="328423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none" rtlCol="1">
              <a:spAutoFit/>
            </a:bodyPr>
            <a:lstStyle/>
            <a:p>
              <a:r>
                <a:rPr lang="en-US" sz="1000" dirty="0"/>
                <a:t>subnet</a:t>
              </a:r>
              <a:endParaRPr lang="he-IL" sz="1000" dirty="0"/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5D6579C4-49A5-421B-8768-D0C55B95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590497">
              <a:off x="1704656" y="4263473"/>
              <a:ext cx="257778" cy="282865"/>
            </a:xfrm>
            <a:prstGeom prst="rect">
              <a:avLst/>
            </a:prstGeom>
          </p:spPr>
        </p:pic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B24212-109C-4BAE-B911-EBF9268A9885}"/>
                </a:ext>
              </a:extLst>
            </p:cNvPr>
            <p:cNvSpPr/>
            <p:nvPr/>
          </p:nvSpPr>
          <p:spPr bwMode="auto">
            <a:xfrm>
              <a:off x="2014752" y="3539773"/>
              <a:ext cx="606055" cy="861237"/>
            </a:xfrm>
            <a:custGeom>
              <a:avLst/>
              <a:gdLst>
                <a:gd name="connsiteX0" fmla="*/ 606055 w 606055"/>
                <a:gd name="connsiteY0" fmla="*/ 0 h 861237"/>
                <a:gd name="connsiteX1" fmla="*/ 361507 w 606055"/>
                <a:gd name="connsiteY1" fmla="*/ 510363 h 861237"/>
                <a:gd name="connsiteX2" fmla="*/ 0 w 606055"/>
                <a:gd name="connsiteY2" fmla="*/ 861237 h 861237"/>
                <a:gd name="connsiteX3" fmla="*/ 0 w 606055"/>
                <a:gd name="connsiteY3" fmla="*/ 861237 h 8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055" h="861237">
                  <a:moveTo>
                    <a:pt x="606055" y="0"/>
                  </a:moveTo>
                  <a:cubicBezTo>
                    <a:pt x="534285" y="183412"/>
                    <a:pt x="462516" y="366824"/>
                    <a:pt x="361507" y="510363"/>
                  </a:cubicBezTo>
                  <a:cubicBezTo>
                    <a:pt x="260498" y="653902"/>
                    <a:pt x="0" y="861237"/>
                    <a:pt x="0" y="861237"/>
                  </a:cubicBezTo>
                  <a:lnTo>
                    <a:pt x="0" y="861237"/>
                  </a:ln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68553" tIns="34277" rIns="68553" bIns="34277" numCol="1" rtlCol="1" anchor="t" anchorCtr="0" compatLnSpc="1">
              <a:prstTxWarp prst="textNoShape">
                <a:avLst/>
              </a:prstTxWarp>
            </a:bodyPr>
            <a:lstStyle/>
            <a:p>
              <a:pPr algn="ctr" defTabSz="685526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1874">
                <a:latin typeface="FrutigerNext LT BlackCn"/>
                <a:ea typeface="ＭＳ Ｐゴシック" pitchFamily="34" charset="-128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E769D6F-0D04-45CB-B0EB-609D2B11EB26}"/>
                </a:ext>
              </a:extLst>
            </p:cNvPr>
            <p:cNvSpPr/>
            <p:nvPr/>
          </p:nvSpPr>
          <p:spPr bwMode="auto">
            <a:xfrm>
              <a:off x="2529063" y="3544494"/>
              <a:ext cx="284214" cy="882503"/>
            </a:xfrm>
            <a:custGeom>
              <a:avLst/>
              <a:gdLst>
                <a:gd name="connsiteX0" fmla="*/ 103461 w 284214"/>
                <a:gd name="connsiteY0" fmla="*/ 0 h 882503"/>
                <a:gd name="connsiteX1" fmla="*/ 7768 w 284214"/>
                <a:gd name="connsiteY1" fmla="*/ 531628 h 882503"/>
                <a:gd name="connsiteX2" fmla="*/ 284214 w 284214"/>
                <a:gd name="connsiteY2" fmla="*/ 882503 h 882503"/>
                <a:gd name="connsiteX3" fmla="*/ 284214 w 284214"/>
                <a:gd name="connsiteY3" fmla="*/ 882503 h 882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214" h="882503">
                  <a:moveTo>
                    <a:pt x="103461" y="0"/>
                  </a:moveTo>
                  <a:cubicBezTo>
                    <a:pt x="40552" y="192272"/>
                    <a:pt x="-22357" y="384544"/>
                    <a:pt x="7768" y="531628"/>
                  </a:cubicBezTo>
                  <a:cubicBezTo>
                    <a:pt x="37893" y="678712"/>
                    <a:pt x="284214" y="882503"/>
                    <a:pt x="284214" y="882503"/>
                  </a:cubicBezTo>
                  <a:lnTo>
                    <a:pt x="284214" y="882503"/>
                  </a:ln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68553" tIns="34277" rIns="68553" bIns="34277" numCol="1" rtlCol="1" anchor="t" anchorCtr="0" compatLnSpc="1">
              <a:prstTxWarp prst="textNoShape">
                <a:avLst/>
              </a:prstTxWarp>
            </a:bodyPr>
            <a:lstStyle/>
            <a:p>
              <a:pPr algn="ctr" defTabSz="685526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1874">
                <a:latin typeface="FrutigerNext LT BlackCn"/>
                <a:ea typeface="ＭＳ Ｐゴシック" pitchFamily="34" charset="-128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043E7ED-D58C-41BE-8A34-AADBA19DE694}"/>
                </a:ext>
              </a:extLst>
            </p:cNvPr>
            <p:cNvSpPr/>
            <p:nvPr/>
          </p:nvSpPr>
          <p:spPr bwMode="auto">
            <a:xfrm>
              <a:off x="2397291" y="3500355"/>
              <a:ext cx="235921" cy="1102729"/>
            </a:xfrm>
            <a:custGeom>
              <a:avLst/>
              <a:gdLst>
                <a:gd name="connsiteX0" fmla="*/ 281106 w 281106"/>
                <a:gd name="connsiteY0" fmla="*/ 0 h 1403498"/>
                <a:gd name="connsiteX1" fmla="*/ 4659 w 281106"/>
                <a:gd name="connsiteY1" fmla="*/ 850605 h 1403498"/>
                <a:gd name="connsiteX2" fmla="*/ 100352 w 281106"/>
                <a:gd name="connsiteY2" fmla="*/ 1403498 h 1403498"/>
                <a:gd name="connsiteX3" fmla="*/ 100352 w 281106"/>
                <a:gd name="connsiteY3" fmla="*/ 1403498 h 140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106" h="1403498">
                  <a:moveTo>
                    <a:pt x="281106" y="0"/>
                  </a:moveTo>
                  <a:cubicBezTo>
                    <a:pt x="157945" y="308344"/>
                    <a:pt x="34785" y="616689"/>
                    <a:pt x="4659" y="850605"/>
                  </a:cubicBezTo>
                  <a:cubicBezTo>
                    <a:pt x="-25467" y="1084521"/>
                    <a:pt x="100352" y="1403498"/>
                    <a:pt x="100352" y="1403498"/>
                  </a:cubicBezTo>
                  <a:lnTo>
                    <a:pt x="100352" y="1403498"/>
                  </a:ln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68553" tIns="34277" rIns="68553" bIns="34277" numCol="1" rtlCol="1" anchor="t" anchorCtr="0" compatLnSpc="1">
              <a:prstTxWarp prst="textNoShape">
                <a:avLst/>
              </a:prstTxWarp>
            </a:bodyPr>
            <a:lstStyle/>
            <a:p>
              <a:pPr algn="ctr" defTabSz="685526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 sz="1874" dirty="0">
                <a:latin typeface="FrutigerNext LT BlackCn"/>
                <a:ea typeface="ＭＳ Ｐゴシック" pitchFamily="34" charset="-128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F75F3A-52AC-4C21-94A3-E71C2FECF31F}"/>
                </a:ext>
              </a:extLst>
            </p:cNvPr>
            <p:cNvSpPr txBox="1"/>
            <p:nvPr/>
          </p:nvSpPr>
          <p:spPr>
            <a:xfrm rot="20903153">
              <a:off x="2153254" y="4817703"/>
              <a:ext cx="867687" cy="307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sz="900" dirty="0"/>
                <a:t>end user</a:t>
              </a:r>
              <a:endParaRPr lang="he-IL" sz="9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2CFBEB7-E798-48BB-9CFA-142A2AF61DE7}"/>
                </a:ext>
              </a:extLst>
            </p:cNvPr>
            <p:cNvSpPr txBox="1"/>
            <p:nvPr/>
          </p:nvSpPr>
          <p:spPr>
            <a:xfrm rot="20903153">
              <a:off x="2871976" y="4142850"/>
              <a:ext cx="900403" cy="307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sz="900" dirty="0"/>
                <a:t>end user</a:t>
              </a:r>
              <a:endParaRPr lang="he-IL" sz="9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E8D1F5A-B236-4101-B272-60D30D28EBA2}"/>
                </a:ext>
              </a:extLst>
            </p:cNvPr>
            <p:cNvSpPr txBox="1"/>
            <p:nvPr/>
          </p:nvSpPr>
          <p:spPr>
            <a:xfrm rot="20903153">
              <a:off x="1445891" y="4481667"/>
              <a:ext cx="910807" cy="307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sz="900" dirty="0"/>
                <a:t>end user</a:t>
              </a:r>
              <a:endParaRPr lang="he-IL" sz="900" dirty="0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E2A44B66-937B-404E-983B-9C72763751FC}"/>
              </a:ext>
            </a:extLst>
          </p:cNvPr>
          <p:cNvSpPr txBox="1"/>
          <p:nvPr/>
        </p:nvSpPr>
        <p:spPr>
          <a:xfrm>
            <a:off x="3399873" y="3417006"/>
            <a:ext cx="818476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" b="1" dirty="0"/>
              <a:t>input port</a:t>
            </a:r>
            <a:endParaRPr lang="he-IL" sz="800" b="1" dirty="0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D1EEF4EF-53C3-49EE-9C43-2001331C9D63}"/>
              </a:ext>
            </a:extLst>
          </p:cNvPr>
          <p:cNvSpPr/>
          <p:nvPr/>
        </p:nvSpPr>
        <p:spPr>
          <a:xfrm>
            <a:off x="3803435" y="2911416"/>
            <a:ext cx="1562913" cy="714098"/>
          </a:xfrm>
          <a:custGeom>
            <a:avLst/>
            <a:gdLst>
              <a:gd name="connsiteX0" fmla="*/ 110355 w 1671957"/>
              <a:gd name="connsiteY0" fmla="*/ 0 h 1207698"/>
              <a:gd name="connsiteX1" fmla="*/ 153487 w 1671957"/>
              <a:gd name="connsiteY1" fmla="*/ 707366 h 1207698"/>
              <a:gd name="connsiteX2" fmla="*/ 1594098 w 1671957"/>
              <a:gd name="connsiteY2" fmla="*/ 741871 h 1207698"/>
              <a:gd name="connsiteX3" fmla="*/ 1490581 w 1671957"/>
              <a:gd name="connsiteY3" fmla="*/ 1207698 h 1207698"/>
              <a:gd name="connsiteX4" fmla="*/ 1490581 w 1671957"/>
              <a:gd name="connsiteY4" fmla="*/ 1207698 h 120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1957" h="1207698">
                <a:moveTo>
                  <a:pt x="110355" y="0"/>
                </a:moveTo>
                <a:cubicBezTo>
                  <a:pt x="8276" y="291860"/>
                  <a:pt x="-93803" y="583721"/>
                  <a:pt x="153487" y="707366"/>
                </a:cubicBezTo>
                <a:cubicBezTo>
                  <a:pt x="400777" y="831011"/>
                  <a:pt x="1371249" y="658482"/>
                  <a:pt x="1594098" y="741871"/>
                </a:cubicBezTo>
                <a:cubicBezTo>
                  <a:pt x="1816947" y="825260"/>
                  <a:pt x="1490581" y="1207698"/>
                  <a:pt x="1490581" y="1207698"/>
                </a:cubicBezTo>
                <a:lnTo>
                  <a:pt x="1490581" y="1207698"/>
                </a:lnTo>
              </a:path>
            </a:pathLst>
          </a:custGeom>
          <a:noFill/>
          <a:ln w="12700"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349"/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345CD4D7-406A-48CD-B775-1EC7536FB52E}"/>
              </a:ext>
            </a:extLst>
          </p:cNvPr>
          <p:cNvSpPr/>
          <p:nvPr/>
        </p:nvSpPr>
        <p:spPr>
          <a:xfrm rot="1981499">
            <a:off x="5150051" y="3543218"/>
            <a:ext cx="150714" cy="222509"/>
          </a:xfrm>
          <a:prstGeom prst="downArrow">
            <a:avLst/>
          </a:prstGeom>
          <a:solidFill>
            <a:srgbClr val="C00000"/>
          </a:solidFill>
          <a:ln w="3175">
            <a:solidFill>
              <a:schemeClr val="bg1"/>
            </a:solidFill>
            <a:prstDash val="sysDot"/>
          </a:ln>
          <a:effectLst/>
        </p:spPr>
        <p:txBody>
          <a:bodyPr rot="0" spcFirstLastPara="0" vertOverflow="overflow" horzOverflow="overflow" vert="horz" wrap="square" lIns="51395" tIns="25698" rIns="51395" bIns="2569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3939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Font typeface="Wingdings" pitchFamily="2" charset="2"/>
              <a:buChar char="n"/>
            </a:pPr>
            <a:endParaRPr lang="he-IL" sz="1011">
              <a:latin typeface="Arial" charset="0"/>
              <a:ea typeface="宋体" charset="-122"/>
            </a:endParaRPr>
          </a:p>
        </p:txBody>
      </p:sp>
      <p:sp>
        <p:nvSpPr>
          <p:cNvPr id="114" name="Arrow: Down 113">
            <a:extLst>
              <a:ext uri="{FF2B5EF4-FFF2-40B4-BE49-F238E27FC236}">
                <a16:creationId xmlns:a16="http://schemas.microsoft.com/office/drawing/2014/main" id="{6D0E1233-BB2E-4107-B6E2-1076449E1330}"/>
              </a:ext>
            </a:extLst>
          </p:cNvPr>
          <p:cNvSpPr/>
          <p:nvPr/>
        </p:nvSpPr>
        <p:spPr>
          <a:xfrm rot="869283">
            <a:off x="3779016" y="2842455"/>
            <a:ext cx="150714" cy="222509"/>
          </a:xfrm>
          <a:prstGeom prst="downArrow">
            <a:avLst/>
          </a:prstGeom>
          <a:solidFill>
            <a:srgbClr val="C00000"/>
          </a:solidFill>
          <a:ln w="3175">
            <a:solidFill>
              <a:schemeClr val="bg1"/>
            </a:solidFill>
            <a:prstDash val="sysDot"/>
          </a:ln>
          <a:effectLst/>
        </p:spPr>
        <p:txBody>
          <a:bodyPr vert="horz" wrap="square" lIns="51395" tIns="25698" rIns="51395" bIns="25698" numCol="1" rtlCol="0" anchor="t" anchorCtr="0" compatLnSpc="1">
            <a:prstTxWarp prst="textNoShape">
              <a:avLst/>
            </a:prstTxWarp>
          </a:bodyPr>
          <a:lstStyle/>
          <a:p>
            <a:pPr defTabSz="513939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Font typeface="Wingdings" pitchFamily="2" charset="2"/>
              <a:buChar char="n"/>
            </a:pPr>
            <a:endParaRPr lang="he-IL" sz="1011" dirty="0">
              <a:latin typeface="Arial" charset="0"/>
              <a:ea typeface="宋体" charset="-122"/>
            </a:endParaRPr>
          </a:p>
        </p:txBody>
      </p:sp>
      <p:sp>
        <p:nvSpPr>
          <p:cNvPr id="115" name="Cloud 114">
            <a:extLst>
              <a:ext uri="{FF2B5EF4-FFF2-40B4-BE49-F238E27FC236}">
                <a16:creationId xmlns:a16="http://schemas.microsoft.com/office/drawing/2014/main" id="{02ADAFAF-54B6-45F4-90B5-1F3A0163EBEE}"/>
              </a:ext>
            </a:extLst>
          </p:cNvPr>
          <p:cNvSpPr/>
          <p:nvPr/>
        </p:nvSpPr>
        <p:spPr bwMode="auto">
          <a:xfrm rot="16200000">
            <a:off x="4787388" y="2350128"/>
            <a:ext cx="322069" cy="520366"/>
          </a:xfrm>
          <a:prstGeom prst="cloud">
            <a:avLst/>
          </a:prstGeom>
          <a:solidFill>
            <a:srgbClr val="D6E4EA"/>
          </a:solidFill>
          <a:ln w="3175">
            <a:solidFill>
              <a:schemeClr val="bg1"/>
            </a:solidFill>
            <a:prstDash val="sysDot"/>
          </a:ln>
          <a:effectLst/>
          <a:extLst/>
        </p:spPr>
        <p:txBody>
          <a:bodyPr vert="horz" wrap="square" lIns="51395" tIns="25698" rIns="51395" bIns="25698" numCol="1" rtlCol="0" anchor="t" anchorCtr="0" compatLnSpc="1">
            <a:prstTxWarp prst="textNoShape">
              <a:avLst/>
            </a:prstTxWarp>
          </a:bodyPr>
          <a:lstStyle/>
          <a:p>
            <a:pPr defTabSz="513939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Font typeface="Wingdings" pitchFamily="2" charset="2"/>
              <a:buChar char="n"/>
            </a:pPr>
            <a:endParaRPr lang="en-US" sz="1011">
              <a:latin typeface="Arial" charset="0"/>
              <a:ea typeface="宋体" charset="-122"/>
            </a:endParaRPr>
          </a:p>
        </p:txBody>
      </p:sp>
      <p:sp>
        <p:nvSpPr>
          <p:cNvPr id="116" name="Cloud 115">
            <a:extLst>
              <a:ext uri="{FF2B5EF4-FFF2-40B4-BE49-F238E27FC236}">
                <a16:creationId xmlns:a16="http://schemas.microsoft.com/office/drawing/2014/main" id="{42F5F67A-4841-4874-AF84-D998CEE196B5}"/>
              </a:ext>
            </a:extLst>
          </p:cNvPr>
          <p:cNvSpPr/>
          <p:nvPr/>
        </p:nvSpPr>
        <p:spPr bwMode="auto">
          <a:xfrm rot="16200000">
            <a:off x="5367238" y="2360736"/>
            <a:ext cx="310233" cy="483829"/>
          </a:xfrm>
          <a:prstGeom prst="cloud">
            <a:avLst/>
          </a:prstGeom>
          <a:solidFill>
            <a:srgbClr val="D6E4EA"/>
          </a:solidFill>
          <a:ln w="3175">
            <a:solidFill>
              <a:schemeClr val="bg1"/>
            </a:solidFill>
            <a:prstDash val="sysDot"/>
          </a:ln>
          <a:effectLst/>
          <a:extLst/>
        </p:spPr>
        <p:txBody>
          <a:bodyPr vert="horz" wrap="square" lIns="51395" tIns="25698" rIns="51395" bIns="25698" numCol="1" rtlCol="0" anchor="t" anchorCtr="0" compatLnSpc="1">
            <a:prstTxWarp prst="textNoShape">
              <a:avLst/>
            </a:prstTxWarp>
          </a:bodyPr>
          <a:lstStyle/>
          <a:p>
            <a:pPr defTabSz="513939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Font typeface="Wingdings" pitchFamily="2" charset="2"/>
              <a:buChar char="n"/>
            </a:pPr>
            <a:endParaRPr lang="en-US" sz="1011">
              <a:latin typeface="Arial" charset="0"/>
              <a:ea typeface="宋体" charset="-122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8451425-4EC2-4A6F-99FE-32287BEF80B9}"/>
              </a:ext>
            </a:extLst>
          </p:cNvPr>
          <p:cNvCxnSpPr>
            <a:cxnSpLocks/>
          </p:cNvCxnSpPr>
          <p:nvPr/>
        </p:nvCxnSpPr>
        <p:spPr bwMode="auto">
          <a:xfrm flipH="1">
            <a:off x="5155597" y="2804027"/>
            <a:ext cx="252729" cy="1530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5E5B382-D7E3-46EE-A5C0-9AFC0A01E16D}"/>
              </a:ext>
            </a:extLst>
          </p:cNvPr>
          <p:cNvSpPr txBox="1"/>
          <p:nvPr/>
        </p:nvSpPr>
        <p:spPr>
          <a:xfrm>
            <a:off x="3183139" y="1888012"/>
            <a:ext cx="2166086" cy="230832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l"/>
            <a:r>
              <a:rPr lang="en-US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Servers of the application of interest</a:t>
            </a:r>
            <a:endParaRPr lang="he-IL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CF10F15-AA12-465F-B8C2-4CEB750A7217}"/>
              </a:ext>
            </a:extLst>
          </p:cNvPr>
          <p:cNvSpPr txBox="1"/>
          <p:nvPr/>
        </p:nvSpPr>
        <p:spPr>
          <a:xfrm>
            <a:off x="4346582" y="2220539"/>
            <a:ext cx="1724046" cy="275332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Other applications servers</a:t>
            </a:r>
            <a:endParaRPr lang="he-IL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38B36CD-4773-4ABD-A72B-DCBD2E7A62DA}"/>
              </a:ext>
            </a:extLst>
          </p:cNvPr>
          <p:cNvSpPr txBox="1"/>
          <p:nvPr/>
        </p:nvSpPr>
        <p:spPr>
          <a:xfrm>
            <a:off x="3742760" y="1364839"/>
            <a:ext cx="1411556" cy="378693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Zoom In</a:t>
            </a:r>
            <a:endParaRPr lang="he-IL" sz="1100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179A154-3322-43CF-AAFE-D521F6E40D03}"/>
              </a:ext>
            </a:extLst>
          </p:cNvPr>
          <p:cNvSpPr txBox="1"/>
          <p:nvPr/>
        </p:nvSpPr>
        <p:spPr>
          <a:xfrm>
            <a:off x="955340" y="1530492"/>
            <a:ext cx="1562067" cy="390813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General view</a:t>
            </a:r>
            <a:endParaRPr lang="he-IL" sz="1200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773BCF6-4CFD-40BF-815D-419E5B1C998B}"/>
              </a:ext>
            </a:extLst>
          </p:cNvPr>
          <p:cNvSpPr txBox="1"/>
          <p:nvPr/>
        </p:nvSpPr>
        <p:spPr>
          <a:xfrm>
            <a:off x="6915004" y="1648778"/>
            <a:ext cx="4835377" cy="613373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NetStream feature allows to collect sampled traffic that enters and exits the campus</a:t>
            </a:r>
            <a:endParaRPr lang="he-IL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C500EE3-A56E-4FE0-9094-6E99549E2D67}"/>
              </a:ext>
            </a:extLst>
          </p:cNvPr>
          <p:cNvSpPr/>
          <p:nvPr/>
        </p:nvSpPr>
        <p:spPr>
          <a:xfrm>
            <a:off x="3089813" y="1762577"/>
            <a:ext cx="2938185" cy="3210041"/>
          </a:xfrm>
          <a:prstGeom prst="roundRect">
            <a:avLst>
              <a:gd name="adj" fmla="val 13244"/>
            </a:avLst>
          </a:prstGeom>
          <a:noFill/>
          <a:ln w="19050">
            <a:solidFill>
              <a:srgbClr val="BC5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5A76822-B80A-495F-89EC-5F7FC70969AD}"/>
              </a:ext>
            </a:extLst>
          </p:cNvPr>
          <p:cNvCxnSpPr>
            <a:cxnSpLocks/>
          </p:cNvCxnSpPr>
          <p:nvPr/>
        </p:nvCxnSpPr>
        <p:spPr bwMode="auto">
          <a:xfrm flipH="1">
            <a:off x="4782683" y="2779682"/>
            <a:ext cx="112448" cy="23925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C151C7E-2244-43D7-A214-7ADB18AE38F2}"/>
              </a:ext>
            </a:extLst>
          </p:cNvPr>
          <p:cNvCxnSpPr>
            <a:cxnSpLocks/>
          </p:cNvCxnSpPr>
          <p:nvPr/>
        </p:nvCxnSpPr>
        <p:spPr bwMode="auto">
          <a:xfrm flipH="1">
            <a:off x="5324135" y="2747138"/>
            <a:ext cx="112448" cy="23925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61B63E9-19C0-4AAD-92BE-F9AF06E0CD08}"/>
              </a:ext>
            </a:extLst>
          </p:cNvPr>
          <p:cNvSpPr/>
          <p:nvPr/>
        </p:nvSpPr>
        <p:spPr>
          <a:xfrm>
            <a:off x="1264134" y="3422021"/>
            <a:ext cx="307181" cy="341379"/>
          </a:xfrm>
          <a:prstGeom prst="roundRect">
            <a:avLst/>
          </a:prstGeom>
          <a:noFill/>
          <a:ln w="19050">
            <a:solidFill>
              <a:srgbClr val="BC5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5DBAE58-230B-4692-A16F-03A0ECF56F9F}"/>
              </a:ext>
            </a:extLst>
          </p:cNvPr>
          <p:cNvCxnSpPr>
            <a:cxnSpLocks/>
          </p:cNvCxnSpPr>
          <p:nvPr/>
        </p:nvCxnSpPr>
        <p:spPr bwMode="auto">
          <a:xfrm flipV="1">
            <a:off x="9545934" y="4667086"/>
            <a:ext cx="2013078" cy="59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7A0CD3C3-97DD-4A49-A30D-02D29B72BF08}"/>
              </a:ext>
            </a:extLst>
          </p:cNvPr>
          <p:cNvSpPr/>
          <p:nvPr/>
        </p:nvSpPr>
        <p:spPr bwMode="auto">
          <a:xfrm>
            <a:off x="9539295" y="4618113"/>
            <a:ext cx="143859" cy="11869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B3FE6DA-7D11-449A-B5C9-95C4BBBAC607}"/>
              </a:ext>
            </a:extLst>
          </p:cNvPr>
          <p:cNvSpPr/>
          <p:nvPr/>
        </p:nvSpPr>
        <p:spPr bwMode="auto">
          <a:xfrm>
            <a:off x="10348757" y="4600637"/>
            <a:ext cx="143859" cy="11869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ACBB29B-C89D-4B81-B647-B806810FF38E}"/>
              </a:ext>
            </a:extLst>
          </p:cNvPr>
          <p:cNvSpPr/>
          <p:nvPr/>
        </p:nvSpPr>
        <p:spPr bwMode="auto">
          <a:xfrm>
            <a:off x="11133119" y="4616920"/>
            <a:ext cx="143859" cy="11869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B86C4BD2-3A6C-416B-957F-8A0F31F0F24D}"/>
              </a:ext>
            </a:extLst>
          </p:cNvPr>
          <p:cNvSpPr/>
          <p:nvPr/>
        </p:nvSpPr>
        <p:spPr bwMode="auto">
          <a:xfrm rot="17520948">
            <a:off x="9578753" y="4327746"/>
            <a:ext cx="895419" cy="891842"/>
          </a:xfrm>
          <a:prstGeom prst="arc">
            <a:avLst>
              <a:gd name="adj1" fmla="val 16028953"/>
              <a:gd name="adj2" fmla="val 2777275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3" tIns="34277" rIns="68553" bIns="34277" numCol="1" rtlCol="1" anchor="t" anchorCtr="0" compatLnSpc="1">
            <a:prstTxWarp prst="textNoShape">
              <a:avLst/>
            </a:prstTxWarp>
          </a:bodyPr>
          <a:lstStyle/>
          <a:p>
            <a:pPr algn="ctr" defTabSz="685526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1874">
              <a:latin typeface="FrutigerNext LT BlackCn"/>
              <a:ea typeface="ＭＳ Ｐゴシック" pitchFamily="34" charset="-128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31564A-8E1E-4012-9A6C-94CE8CC47843}"/>
              </a:ext>
            </a:extLst>
          </p:cNvPr>
          <p:cNvSpPr txBox="1"/>
          <p:nvPr/>
        </p:nvSpPr>
        <p:spPr>
          <a:xfrm>
            <a:off x="10348757" y="4219619"/>
            <a:ext cx="1563248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100" dirty="0"/>
              <a:t>Aggregation time: 1 min</a:t>
            </a:r>
            <a:endParaRPr lang="he-IL" sz="11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482F4E34-B62C-4046-8819-28992890CA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488" y="2390884"/>
            <a:ext cx="4547493" cy="1452671"/>
          </a:xfrm>
          <a:prstGeom prst="rect">
            <a:avLst/>
          </a:prstGeom>
          <a:ln w="19050">
            <a:solidFill>
              <a:srgbClr val="BC5E00"/>
            </a:solidFill>
          </a:ln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D54B104-6FBD-4C0F-9DAA-5E2EBDFC2A44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1851861" y="3328380"/>
            <a:ext cx="733920" cy="1633707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BC5E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CD64552A-A625-4667-9E86-263AE44D1D36}"/>
              </a:ext>
            </a:extLst>
          </p:cNvPr>
          <p:cNvCxnSpPr>
            <a:cxnSpLocks/>
          </p:cNvCxnSpPr>
          <p:nvPr/>
        </p:nvCxnSpPr>
        <p:spPr bwMode="auto">
          <a:xfrm flipV="1">
            <a:off x="6082136" y="3895300"/>
            <a:ext cx="2638518" cy="511854"/>
          </a:xfrm>
          <a:prstGeom prst="bentConnector3">
            <a:avLst>
              <a:gd name="adj1" fmla="val 100716"/>
            </a:avLst>
          </a:prstGeom>
          <a:solidFill>
            <a:schemeClr val="accent1"/>
          </a:solidFill>
          <a:ln w="19050" cap="flat" cmpd="sng" algn="ctr">
            <a:solidFill>
              <a:srgbClr val="BC5E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cxnSp>
      <p:pic>
        <p:nvPicPr>
          <p:cNvPr id="6" name="Graphic 5" descr="Magnifying glass">
            <a:extLst>
              <a:ext uri="{FF2B5EF4-FFF2-40B4-BE49-F238E27FC236}">
                <a16:creationId xmlns:a16="http://schemas.microsoft.com/office/drawing/2014/main" id="{BBC64F5B-D614-45DE-922C-2F1558A7EC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38018">
            <a:off x="4774298" y="1396714"/>
            <a:ext cx="760036" cy="76003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0CAEA15-1926-462B-841C-4E10604C48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701" y="5601378"/>
            <a:ext cx="5256058" cy="72491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9F8D1BE-C689-4C99-BF04-C68584718394}"/>
              </a:ext>
            </a:extLst>
          </p:cNvPr>
          <p:cNvSpPr txBox="1"/>
          <p:nvPr/>
        </p:nvSpPr>
        <p:spPr>
          <a:xfrm flipH="1">
            <a:off x="7699158" y="5337266"/>
            <a:ext cx="2703935" cy="335926"/>
          </a:xfrm>
          <a:prstGeom prst="rect">
            <a:avLst/>
          </a:prstGeom>
          <a:noFill/>
        </p:spPr>
        <p:txBody>
          <a:bodyPr vert="horz"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few examples of the CC traffic. </a:t>
            </a:r>
            <a:endParaRPr lang="he-IL" sz="12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765C8-6BEB-467C-A3A0-D71F2C57A628}"/>
              </a:ext>
            </a:extLst>
          </p:cNvPr>
          <p:cNvSpPr/>
          <p:nvPr/>
        </p:nvSpPr>
        <p:spPr>
          <a:xfrm>
            <a:off x="6389648" y="6414699"/>
            <a:ext cx="52560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Each color denotes a separate conference call PPS along the time axis</a:t>
            </a:r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87EC5-5306-4929-8608-4224A6A3EC96}"/>
              </a:ext>
            </a:extLst>
          </p:cNvPr>
          <p:cNvSpPr/>
          <p:nvPr/>
        </p:nvSpPr>
        <p:spPr>
          <a:xfrm>
            <a:off x="8547" y="5556686"/>
            <a:ext cx="4572000" cy="7052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latin typeface="LinLibertineT"/>
              </a:rPr>
              <a:t>To reconstruct the complete traffic generated by a Conference Call (CC) application on a per-user basis</a:t>
            </a:r>
            <a:endParaRPr lang="en-US" sz="1400" dirty="0"/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E8DCD626-7618-4D35-A0DA-91B8B0D0785D}"/>
              </a:ext>
            </a:extLst>
          </p:cNvPr>
          <p:cNvSpPr txBox="1">
            <a:spLocks/>
          </p:cNvSpPr>
          <p:nvPr/>
        </p:nvSpPr>
        <p:spPr>
          <a:xfrm>
            <a:off x="3810316" y="52741"/>
            <a:ext cx="4291294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Use case: Campus Network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EC12231-BB85-40DB-84E6-0F29EC997278}"/>
              </a:ext>
            </a:extLst>
          </p:cNvPr>
          <p:cNvSpPr/>
          <p:nvPr/>
        </p:nvSpPr>
        <p:spPr>
          <a:xfrm>
            <a:off x="1580719" y="5287642"/>
            <a:ext cx="132420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Requirement:</a:t>
            </a:r>
          </a:p>
        </p:txBody>
      </p:sp>
    </p:spTree>
    <p:extLst>
      <p:ext uri="{BB962C8B-B14F-4D97-AF65-F5344CB8AC3E}">
        <p14:creationId xmlns:p14="http://schemas.microsoft.com/office/powerpoint/2010/main" val="401303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0941BF9-E083-43EA-ACE9-9A033B3D909F}"/>
              </a:ext>
            </a:extLst>
          </p:cNvPr>
          <p:cNvSpPr/>
          <p:nvPr/>
        </p:nvSpPr>
        <p:spPr>
          <a:xfrm>
            <a:off x="95831" y="4843474"/>
            <a:ext cx="6708700" cy="1220342"/>
          </a:xfrm>
          <a:prstGeom prst="roundRect">
            <a:avLst>
              <a:gd name="adj" fmla="val 5973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E67017-F739-43EA-B120-73E6014EAB61}"/>
              </a:ext>
            </a:extLst>
          </p:cNvPr>
          <p:cNvSpPr/>
          <p:nvPr/>
        </p:nvSpPr>
        <p:spPr>
          <a:xfrm>
            <a:off x="95831" y="1469904"/>
            <a:ext cx="6708701" cy="2817375"/>
          </a:xfrm>
          <a:prstGeom prst="roundRect">
            <a:avLst>
              <a:gd name="adj" fmla="val 5973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08317F1-B9C8-415E-9662-77B7981633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91" y="1799602"/>
            <a:ext cx="5216481" cy="188512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FB2E82-1E90-42D7-9B47-2E32A8277A04}"/>
              </a:ext>
            </a:extLst>
          </p:cNvPr>
          <p:cNvSpPr/>
          <p:nvPr/>
        </p:nvSpPr>
        <p:spPr>
          <a:xfrm>
            <a:off x="8833525" y="5621885"/>
            <a:ext cx="2943225" cy="304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rgbClr val="BC5E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Symmetric Mean Absolute Percentage 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10EC28-6DBC-4EB2-B532-9594E7CCFFF8}"/>
              </a:ext>
            </a:extLst>
          </p:cNvPr>
          <p:cNvSpPr txBox="1"/>
          <p:nvPr/>
        </p:nvSpPr>
        <p:spPr>
          <a:xfrm>
            <a:off x="2727273" y="6474243"/>
            <a:ext cx="6737453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/>
              <a:t>Average inference time for 50 timestamp-long chunk: 17 </a:t>
            </a:r>
            <a:r>
              <a:rPr lang="en-US" sz="1000" dirty="0" err="1"/>
              <a:t>ms</a:t>
            </a:r>
            <a:r>
              <a:rPr lang="en-US" sz="1000" dirty="0"/>
              <a:t> for max number of parameters required. Can be further finetuned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45F3D2-EFE1-4BB9-B875-DE1E90D2C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762" y="5150853"/>
            <a:ext cx="2943225" cy="5048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C27420-4981-4FD0-9F17-55216E2A8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5956181"/>
            <a:ext cx="3314700" cy="4476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834A6D-45A3-488D-8B13-8858A87438FF}"/>
              </a:ext>
            </a:extLst>
          </p:cNvPr>
          <p:cNvSpPr/>
          <p:nvPr/>
        </p:nvSpPr>
        <p:spPr>
          <a:xfrm>
            <a:off x="7746550" y="4900699"/>
            <a:ext cx="217394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C5E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Mean Absolute Percentage Error</a:t>
            </a:r>
            <a:endParaRPr lang="he-IL" sz="1000" dirty="0">
              <a:solidFill>
                <a:srgbClr val="BC5E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E98941-BDBC-4016-B080-22EF693D02E9}"/>
              </a:ext>
            </a:extLst>
          </p:cNvPr>
          <p:cNvSpPr/>
          <p:nvPr/>
        </p:nvSpPr>
        <p:spPr>
          <a:xfrm>
            <a:off x="226717" y="4900699"/>
            <a:ext cx="6488285" cy="1055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1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Sampled data</a:t>
            </a: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NetStream measurements.</a:t>
            </a:r>
          </a:p>
          <a:p>
            <a:pPr>
              <a:lnSpc>
                <a:spcPct val="200000"/>
              </a:lnSpc>
            </a:pPr>
            <a:r>
              <a:rPr lang="en-US" sz="11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Ground truth</a:t>
            </a: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a few samples with total duration of 1,584 min of full fine grained CC traffic records</a:t>
            </a:r>
          </a:p>
          <a:p>
            <a:pPr>
              <a:lnSpc>
                <a:spcPct val="200000"/>
              </a:lnSpc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(obtained with Wireshark).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86E12E-D02A-48FD-9374-F5E20D2C5B2C}"/>
              </a:ext>
            </a:extLst>
          </p:cNvPr>
          <p:cNvSpPr/>
          <p:nvPr/>
        </p:nvSpPr>
        <p:spPr>
          <a:xfrm>
            <a:off x="226717" y="1557661"/>
            <a:ext cx="6085260" cy="568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Sampled data</a:t>
            </a: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NetStream measurements contained 19 large batches, each batch including both CC and background traffic samples from about 5-7 days of records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64EA52-6136-4193-9336-FFCC914EA2A3}"/>
              </a:ext>
            </a:extLst>
          </p:cNvPr>
          <p:cNvSpPr/>
          <p:nvPr/>
        </p:nvSpPr>
        <p:spPr>
          <a:xfrm>
            <a:off x="318976" y="2474695"/>
            <a:ext cx="6485557" cy="822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Define input CC traffic by identifying CC server IP (‘source IP’ from data tuple)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Extract CC PPS and BPS segments corresponding to various users (users = different 'destination IP’ from data tuple)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702F17-4651-41F2-8E02-A7B39603DD98}"/>
              </a:ext>
            </a:extLst>
          </p:cNvPr>
          <p:cNvSpPr/>
          <p:nvPr/>
        </p:nvSpPr>
        <p:spPr>
          <a:xfrm>
            <a:off x="-105270" y="2169657"/>
            <a:ext cx="1955043" cy="318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 preparation</a:t>
            </a: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1995BE-783D-4196-A6E8-EE6058E72960}"/>
              </a:ext>
            </a:extLst>
          </p:cNvPr>
          <p:cNvSpPr/>
          <p:nvPr/>
        </p:nvSpPr>
        <p:spPr>
          <a:xfrm>
            <a:off x="95831" y="3334872"/>
            <a:ext cx="1517547" cy="314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Model training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8939CD-87E9-4F73-92D0-921DEC88B073}"/>
              </a:ext>
            </a:extLst>
          </p:cNvPr>
          <p:cNvSpPr txBox="1"/>
          <p:nvPr/>
        </p:nvSpPr>
        <p:spPr>
          <a:xfrm>
            <a:off x="318977" y="3585823"/>
            <a:ext cx="3734467" cy="57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 extracted CC segments as inputs to the model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2)  Train model</a:t>
            </a:r>
            <a:endParaRPr lang="en-US" sz="11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5469CFC-1D1D-4E66-9682-767C84C724ED}"/>
              </a:ext>
            </a:extLst>
          </p:cNvPr>
          <p:cNvSpPr txBox="1">
            <a:spLocks/>
          </p:cNvSpPr>
          <p:nvPr/>
        </p:nvSpPr>
        <p:spPr>
          <a:xfrm>
            <a:off x="4053444" y="86452"/>
            <a:ext cx="4291294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Conference Call traffic inversion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CBDA9C-7397-48BC-A5B1-D77D1EFDB1D7}"/>
              </a:ext>
            </a:extLst>
          </p:cNvPr>
          <p:cNvSpPr/>
          <p:nvPr/>
        </p:nvSpPr>
        <p:spPr>
          <a:xfrm>
            <a:off x="6336247" y="1079341"/>
            <a:ext cx="84099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Training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C07020-1A1F-49A0-9328-A48594B817EF}"/>
              </a:ext>
            </a:extLst>
          </p:cNvPr>
          <p:cNvSpPr/>
          <p:nvPr/>
        </p:nvSpPr>
        <p:spPr>
          <a:xfrm>
            <a:off x="6237420" y="4454510"/>
            <a:ext cx="113422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Verification</a:t>
            </a:r>
          </a:p>
        </p:txBody>
      </p:sp>
    </p:spTree>
    <p:extLst>
      <p:ext uri="{BB962C8B-B14F-4D97-AF65-F5344CB8AC3E}">
        <p14:creationId xmlns:p14="http://schemas.microsoft.com/office/powerpoint/2010/main" val="182615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A0378EE-299E-485B-B193-B335C95E85E3}"/>
              </a:ext>
            </a:extLst>
          </p:cNvPr>
          <p:cNvSpPr/>
          <p:nvPr/>
        </p:nvSpPr>
        <p:spPr>
          <a:xfrm>
            <a:off x="2135560" y="925852"/>
            <a:ext cx="7848872" cy="2503148"/>
          </a:xfrm>
          <a:prstGeom prst="roundRect">
            <a:avLst>
              <a:gd name="adj" fmla="val 13244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AF661F8-8869-4037-AAD2-BD74E351A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522" y="5476769"/>
            <a:ext cx="3133511" cy="8750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29F529C-7115-43A8-BD90-4100927611F8}"/>
              </a:ext>
            </a:extLst>
          </p:cNvPr>
          <p:cNvSpPr txBox="1"/>
          <p:nvPr/>
        </p:nvSpPr>
        <p:spPr>
          <a:xfrm>
            <a:off x="4389735" y="6394190"/>
            <a:ext cx="899605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SMAPE = 13%</a:t>
            </a:r>
            <a:endParaRPr lang="he-IL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FBC54C6-0330-49F3-A167-97F37C4B0D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837" y="5453514"/>
            <a:ext cx="3079465" cy="8982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36DD98C-2E1C-42CB-9768-7965870B93B8}"/>
              </a:ext>
            </a:extLst>
          </p:cNvPr>
          <p:cNvSpPr txBox="1"/>
          <p:nvPr/>
        </p:nvSpPr>
        <p:spPr>
          <a:xfrm>
            <a:off x="2019468" y="4716401"/>
            <a:ext cx="8576351" cy="6987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Visual comparison of the statistics-based method (</a:t>
            </a:r>
            <a:r>
              <a:rPr lang="en-US" sz="1400" dirty="0">
                <a:solidFill>
                  <a:srgbClr val="3333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blue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and our method (</a:t>
            </a: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to the ground truth (</a:t>
            </a:r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green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). 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Statistical results hardly restore peaks (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cyan circles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and over smooth the data (</a:t>
            </a:r>
            <a:r>
              <a:rPr lang="en-US" sz="1400" dirty="0">
                <a:solidFill>
                  <a:srgbClr val="E119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magenta circles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0512F5-007A-4970-9122-6FB8CE43A71B}"/>
              </a:ext>
            </a:extLst>
          </p:cNvPr>
          <p:cNvSpPr txBox="1"/>
          <p:nvPr/>
        </p:nvSpPr>
        <p:spPr>
          <a:xfrm>
            <a:off x="7658056" y="6390189"/>
            <a:ext cx="931665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SMAPE = 5.1%</a:t>
            </a:r>
            <a:endParaRPr lang="he-IL" sz="10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F419CDD-D8F5-471D-B6EC-DBD7443C41C7}"/>
              </a:ext>
            </a:extLst>
          </p:cNvPr>
          <p:cNvSpPr/>
          <p:nvPr/>
        </p:nvSpPr>
        <p:spPr>
          <a:xfrm>
            <a:off x="3673596" y="5616506"/>
            <a:ext cx="288107" cy="240007"/>
          </a:xfrm>
          <a:prstGeom prst="ellipse">
            <a:avLst/>
          </a:prstGeom>
          <a:noFill/>
          <a:ln w="19050">
            <a:solidFill>
              <a:srgbClr val="17CB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6D77BF-B16D-4B85-AC82-7FAE8D428E8B}"/>
              </a:ext>
            </a:extLst>
          </p:cNvPr>
          <p:cNvSpPr/>
          <p:nvPr/>
        </p:nvSpPr>
        <p:spPr>
          <a:xfrm>
            <a:off x="6966838" y="5610742"/>
            <a:ext cx="288107" cy="240007"/>
          </a:xfrm>
          <a:prstGeom prst="ellipse">
            <a:avLst/>
          </a:prstGeom>
          <a:noFill/>
          <a:ln w="19050">
            <a:solidFill>
              <a:srgbClr val="17CB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D9C3030-EBE5-40C9-A9E2-17B29EC40101}"/>
              </a:ext>
            </a:extLst>
          </p:cNvPr>
          <p:cNvSpPr/>
          <p:nvPr/>
        </p:nvSpPr>
        <p:spPr>
          <a:xfrm>
            <a:off x="5336473" y="5529799"/>
            <a:ext cx="463407" cy="462119"/>
          </a:xfrm>
          <a:prstGeom prst="ellipse">
            <a:avLst/>
          </a:prstGeom>
          <a:noFill/>
          <a:ln w="19050">
            <a:solidFill>
              <a:srgbClr val="F307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3FCBB80-1174-45BB-B7BD-A1AA97B59BED}"/>
              </a:ext>
            </a:extLst>
          </p:cNvPr>
          <p:cNvSpPr/>
          <p:nvPr/>
        </p:nvSpPr>
        <p:spPr>
          <a:xfrm>
            <a:off x="8629715" y="5499685"/>
            <a:ext cx="463407" cy="462119"/>
          </a:xfrm>
          <a:prstGeom prst="ellipse">
            <a:avLst/>
          </a:prstGeom>
          <a:noFill/>
          <a:ln w="19050">
            <a:solidFill>
              <a:srgbClr val="F307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34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15CE1-24E9-4437-AB31-296B7A3E6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66" y="1211321"/>
            <a:ext cx="7469115" cy="1909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23E530-7567-4FB5-B930-A23F8CA6AF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700" y="3587896"/>
            <a:ext cx="4049889" cy="105050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132C019-25CB-4BE5-A911-21E89DB82D54}"/>
              </a:ext>
            </a:extLst>
          </p:cNvPr>
          <p:cNvSpPr/>
          <p:nvPr/>
        </p:nvSpPr>
        <p:spPr>
          <a:xfrm>
            <a:off x="3063362" y="993374"/>
            <a:ext cx="20756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LinLibertineTB"/>
              </a:rPr>
              <a:t> 3 conference call samples </a:t>
            </a:r>
            <a:r>
              <a:rPr lang="en-US" sz="1200" dirty="0" err="1">
                <a:latin typeface="LinLibertineTB"/>
              </a:rPr>
              <a:t>pps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C485E0-00BC-4D56-86F6-3FCA5E03DA67}"/>
              </a:ext>
            </a:extLst>
          </p:cNvPr>
          <p:cNvSpPr/>
          <p:nvPr/>
        </p:nvSpPr>
        <p:spPr>
          <a:xfrm>
            <a:off x="6892092" y="997121"/>
            <a:ext cx="22845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LinLibertineTB"/>
              </a:rPr>
              <a:t>3 conference call samples bps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A136C3-6984-4646-9AD5-57CFFD3CDBA8}"/>
              </a:ext>
            </a:extLst>
          </p:cNvPr>
          <p:cNvSpPr/>
          <p:nvPr/>
        </p:nvSpPr>
        <p:spPr>
          <a:xfrm>
            <a:off x="3768045" y="3097626"/>
            <a:ext cx="41083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LinLibertineTB"/>
              </a:rPr>
              <a:t>Restored signal is shown in </a:t>
            </a:r>
            <a:r>
              <a:rPr lang="en-US" sz="1200" dirty="0">
                <a:solidFill>
                  <a:srgbClr val="C00000"/>
                </a:solidFill>
                <a:latin typeface="LinLibertineTB"/>
              </a:rPr>
              <a:t>red</a:t>
            </a:r>
            <a:r>
              <a:rPr lang="en-US" sz="1200" dirty="0">
                <a:latin typeface="LinLibertineTB"/>
              </a:rPr>
              <a:t>, true signal is shown in </a:t>
            </a:r>
            <a:r>
              <a:rPr lang="en-US" sz="1200" dirty="0">
                <a:solidFill>
                  <a:srgbClr val="00B050"/>
                </a:solidFill>
                <a:latin typeface="LinLibertineTB"/>
              </a:rPr>
              <a:t>green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F368A3E-A607-4E52-9411-A029EC5913D9}"/>
              </a:ext>
            </a:extLst>
          </p:cNvPr>
          <p:cNvSpPr txBox="1">
            <a:spLocks/>
          </p:cNvSpPr>
          <p:nvPr/>
        </p:nvSpPr>
        <p:spPr>
          <a:xfrm>
            <a:off x="4072218" y="52052"/>
            <a:ext cx="4291294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Evaluation and results</a:t>
            </a:r>
          </a:p>
        </p:txBody>
      </p:sp>
    </p:spTree>
    <p:extLst>
      <p:ext uri="{BB962C8B-B14F-4D97-AF65-F5344CB8AC3E}">
        <p14:creationId xmlns:p14="http://schemas.microsoft.com/office/powerpoint/2010/main" val="356669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92B3CC-C698-40D6-B853-B82C7C77075E}"/>
              </a:ext>
            </a:extLst>
          </p:cNvPr>
          <p:cNvSpPr/>
          <p:nvPr/>
        </p:nvSpPr>
        <p:spPr>
          <a:xfrm>
            <a:off x="203651" y="1047329"/>
            <a:ext cx="11355572" cy="1993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/>
              <a:t>                     a </a:t>
            </a:r>
            <a:r>
              <a:rPr lang="en-US" sz="1600" b="1" dirty="0"/>
              <a:t>self-supervised algorithm </a:t>
            </a:r>
            <a:r>
              <a:rPr lang="en-US" sz="1600" dirty="0"/>
              <a:t>to restore full traffic data from highly sampled traffic measurements</a:t>
            </a:r>
          </a:p>
          <a:p>
            <a:pPr marL="225425" indent="34448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No labeled training data required</a:t>
            </a:r>
          </a:p>
          <a:p>
            <a:pPr marL="225425" indent="34448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Low cost (adjustable number of parameters, can be trained on CPU, short inference time</a:t>
            </a:r>
          </a:p>
          <a:p>
            <a:pPr marL="225425" indent="34448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Efficient &amp; Accurate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5DC2EB-79B1-4867-A0E7-660D6C9EA57D}"/>
              </a:ext>
            </a:extLst>
          </p:cNvPr>
          <p:cNvSpPr txBox="1">
            <a:spLocks/>
          </p:cNvSpPr>
          <p:nvPr/>
        </p:nvSpPr>
        <p:spPr>
          <a:xfrm>
            <a:off x="4119481" y="291433"/>
            <a:ext cx="4291294" cy="66897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Summary and Discussion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54A63-A277-4D72-885D-CA819813B49C}"/>
              </a:ext>
            </a:extLst>
          </p:cNvPr>
          <p:cNvSpPr/>
          <p:nvPr/>
        </p:nvSpPr>
        <p:spPr>
          <a:xfrm>
            <a:off x="203651" y="1215926"/>
            <a:ext cx="107933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FDF3F5-5438-4738-9146-8C935834677C}"/>
              </a:ext>
            </a:extLst>
          </p:cNvPr>
          <p:cNvSpPr/>
          <p:nvPr/>
        </p:nvSpPr>
        <p:spPr>
          <a:xfrm>
            <a:off x="4257035" y="5492090"/>
            <a:ext cx="314150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Additional benefits and suggestions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9FB5E0-6236-4BCF-871A-DE3F4BB5B8D0}"/>
              </a:ext>
            </a:extLst>
          </p:cNvPr>
          <p:cNvSpPr/>
          <p:nvPr/>
        </p:nvSpPr>
        <p:spPr>
          <a:xfrm>
            <a:off x="1248579" y="5703239"/>
            <a:ext cx="9553074" cy="887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9913" indent="-34448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Cost reduction</a:t>
            </a: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A trade-off between sampling ratio and inversion accuracy can be found. </a:t>
            </a:r>
          </a:p>
          <a:p>
            <a:pPr marL="569913" indent="-34448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Optimization</a:t>
            </a: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Internal parameters (aging cache etc.) can be fine-tuned with respect to the desired accuracy.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84C3E-2AB3-4E0D-94D8-36D06F36356B}"/>
              </a:ext>
            </a:extLst>
          </p:cNvPr>
          <p:cNvSpPr txBox="1"/>
          <p:nvPr/>
        </p:nvSpPr>
        <p:spPr>
          <a:xfrm>
            <a:off x="7050825" y="3366114"/>
            <a:ext cx="4900534" cy="6121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(b) </a:t>
            </a:r>
            <a:r>
              <a:rPr lang="en-US" sz="1200" u="sng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Limitations</a:t>
            </a: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Low values are not presented in NetStream data and cannot be restored (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yellow circles</a:t>
            </a: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2F2E60-559B-4EC3-9440-0A49EFA6F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194" y="2620915"/>
            <a:ext cx="3865941" cy="18269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626A7C-6DC5-4BBC-8C8F-CCA42FF37F28}"/>
              </a:ext>
            </a:extLst>
          </p:cNvPr>
          <p:cNvSpPr/>
          <p:nvPr/>
        </p:nvSpPr>
        <p:spPr>
          <a:xfrm>
            <a:off x="7028288" y="2706429"/>
            <a:ext cx="5163712" cy="612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(a) Method restores true peaks (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cyan circles</a:t>
            </a: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and ignores irrelevant sampled peaks (</a:t>
            </a:r>
            <a:r>
              <a:rPr lang="en-US" sz="1200" dirty="0">
                <a:solidFill>
                  <a:srgbClr val="E119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magenta circle</a:t>
            </a: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46362D-20D4-4F61-9C9B-FC1519EEF81A}"/>
              </a:ext>
            </a:extLst>
          </p:cNvPr>
          <p:cNvSpPr/>
          <p:nvPr/>
        </p:nvSpPr>
        <p:spPr>
          <a:xfrm>
            <a:off x="5827786" y="4388693"/>
            <a:ext cx="39466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(b) 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F61B61-70A3-4748-AA0E-823694084270}"/>
              </a:ext>
            </a:extLst>
          </p:cNvPr>
          <p:cNvSpPr/>
          <p:nvPr/>
        </p:nvSpPr>
        <p:spPr>
          <a:xfrm>
            <a:off x="3379242" y="4404566"/>
            <a:ext cx="39466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(a) </a:t>
            </a:r>
            <a:endParaRPr lang="en-US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CECF5F-FC34-4D45-84C9-9429942D826B}"/>
              </a:ext>
            </a:extLst>
          </p:cNvPr>
          <p:cNvSpPr/>
          <p:nvPr/>
        </p:nvSpPr>
        <p:spPr>
          <a:xfrm>
            <a:off x="544660" y="4712491"/>
            <a:ext cx="11355571" cy="456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>
              <a:lnSpc>
                <a:spcPct val="200000"/>
              </a:lnSpc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General applicability: </a:t>
            </a: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Due to the standard input the product c</a:t>
            </a:r>
            <a:r>
              <a:rPr lang="en-US" sz="14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 be applied to the data collected by other vendors tools (like NetFlow)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178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1Pavel\1TOGA\Presentations\machlearn.jpg">
            <a:extLst>
              <a:ext uri="{FF2B5EF4-FFF2-40B4-BE49-F238E27FC236}">
                <a16:creationId xmlns:a16="http://schemas.microsoft.com/office/drawing/2014/main" id="{220A6B72-82D2-4C70-874B-4C004BA9C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4000" contrast="-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0" y="752476"/>
            <a:ext cx="9144000" cy="4674449"/>
          </a:xfrm>
          <a:prstGeom prst="rect">
            <a:avLst/>
          </a:prstGeom>
          <a:blipFill dpi="0" rotWithShape="1">
            <a:blip r:embed="rId4">
              <a:alphaModFix amt="49000"/>
            </a:blip>
            <a:srcRect/>
            <a:stretch>
              <a:fillRect/>
            </a:stretch>
          </a:blipFill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9737" y="2492896"/>
            <a:ext cx="4390697" cy="559676"/>
          </a:xfrm>
        </p:spPr>
        <p:txBody>
          <a:bodyPr anchor="t"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38087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2493</Words>
  <Application>Microsoft Office PowerPoint</Application>
  <PresentationFormat>Widescreen</PresentationFormat>
  <Paragraphs>346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4" baseType="lpstr">
      <vt:lpstr>Microsoft YaHei</vt:lpstr>
      <vt:lpstr>Microsoft YaHei</vt:lpstr>
      <vt:lpstr>ＭＳ Ｐゴシック</vt:lpstr>
      <vt:lpstr>宋体</vt:lpstr>
      <vt:lpstr>Arial</vt:lpstr>
      <vt:lpstr>Calibri</vt:lpstr>
      <vt:lpstr>Calibri Light</vt:lpstr>
      <vt:lpstr>等线</vt:lpstr>
      <vt:lpstr>FrutigerNext LT Black</vt:lpstr>
      <vt:lpstr>FrutigerNext LT BlackCn</vt:lpstr>
      <vt:lpstr>FrutigerNext LT Bold</vt:lpstr>
      <vt:lpstr>LinLibertineT</vt:lpstr>
      <vt:lpstr>LinLibertineTB</vt:lpstr>
      <vt:lpstr>Montserrat</vt:lpstr>
      <vt:lpstr>Times New Roman</vt:lpstr>
      <vt:lpstr>Wingdings</vt:lpstr>
      <vt:lpstr>Office Theme</vt:lpstr>
      <vt:lpstr>PowerPoint Presentation</vt:lpstr>
      <vt:lpstr>  a Comprehensive Portfolio  of AI-driven Network Intelligence Tools</vt:lpstr>
      <vt:lpstr>Digital Twin Junior:  Log Analysis and Interactive Troubleshooting</vt:lpstr>
      <vt:lpstr>Digital Twin Junior: Traffic 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Darya Frolova</dc:creator>
  <cp:lastModifiedBy>Shaked Leibzirer</cp:lastModifiedBy>
  <cp:revision>222</cp:revision>
  <dcterms:created xsi:type="dcterms:W3CDTF">2025-11-22T12:32:56Z</dcterms:created>
  <dcterms:modified xsi:type="dcterms:W3CDTF">2025-11-30T15:46:23Z</dcterms:modified>
</cp:coreProperties>
</file>