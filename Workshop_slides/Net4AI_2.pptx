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omments/modernComment_A42_FB33A486.xml" ContentType="application/vnd.ms-powerpoint.comments+xml"/>
  <Override PartName="/ppt/comments/modernComment_B2F_4844B5AF.xml" ContentType="application/vnd.ms-powerpoint.comments+xml"/>
  <Override PartName="/ppt/comments/modernComment_AFC_F34ED974.xml" ContentType="application/vnd.ms-powerpoint.comments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3.xml" ContentType="application/vnd.openxmlformats-officedocument.presentationml.notesSlide+xml"/>
  <Override PartName="/ppt/comments/modernComment_A7D_E6709C06.xml" ContentType="application/vnd.ms-powerpoint.comments+xml"/>
  <Override PartName="/ppt/comments/modernComment_B1C_FFD1244D.xml" ContentType="application/vnd.ms-powerpoint.comments+xml"/>
  <Override PartName="/ppt/comments/modernComment_B21_5CE93FC8.xml" ContentType="application/vnd.ms-powerpoint.comments+xml"/>
  <Override PartName="/ppt/media/image7.jpg" ContentType="image/jpeg"/>
  <Override PartName="/ppt/comments/modernComment_B32_F16F40C6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85" r:id="rId5"/>
    <p:sldMasterId id="2147483697" r:id="rId6"/>
  </p:sldMasterIdLst>
  <p:notesMasterIdLst>
    <p:notesMasterId r:id="rId24"/>
  </p:notesMasterIdLst>
  <p:handoutMasterIdLst>
    <p:handoutMasterId r:id="rId25"/>
  </p:handoutMasterIdLst>
  <p:sldIdLst>
    <p:sldId id="2626" r:id="rId7"/>
    <p:sldId id="2670" r:id="rId8"/>
    <p:sldId id="2863" r:id="rId9"/>
    <p:sldId id="2812" r:id="rId10"/>
    <p:sldId id="2864" r:id="rId11"/>
    <p:sldId id="2685" r:id="rId12"/>
    <p:sldId id="2865" r:id="rId13"/>
    <p:sldId id="2844" r:id="rId14"/>
    <p:sldId id="2845" r:id="rId15"/>
    <p:sldId id="2855" r:id="rId16"/>
    <p:sldId id="2854" r:id="rId17"/>
    <p:sldId id="2846" r:id="rId18"/>
    <p:sldId id="2818" r:id="rId19"/>
    <p:sldId id="2847" r:id="rId20"/>
    <p:sldId id="2849" r:id="rId21"/>
    <p:sldId id="2848" r:id="rId22"/>
    <p:sldId id="286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6DF34EE-6A81-1782-FA05-8415B55127A9}" name="Qiaolun Zhang" initials="QZ" userId="S::10653427@polimi.it::08ce0c54-1845-4dc2-a643-121fe94b02d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C4C9"/>
    <a:srgbClr val="6DA4BC"/>
    <a:srgbClr val="6DA4BB"/>
    <a:srgbClr val="4183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88"/>
    <p:restoredTop sz="94863"/>
  </p:normalViewPr>
  <p:slideViewPr>
    <p:cSldViewPr snapToGrid="0">
      <p:cViewPr varScale="1">
        <p:scale>
          <a:sx n="84" d="100"/>
          <a:sy n="84" d="100"/>
        </p:scale>
        <p:origin x="192" y="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comments/modernComment_A7D_E6709C0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5DC67BB-35BB-844C-9458-F463D63B7A0F}" authorId="{66DF34EE-6A81-1782-FA05-8415B55127A9}" created="2025-11-28T16:49:05.19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66139654" sldId="2685"/>
      <ac:spMk id="27" creationId="{F0257FC7-222F-696B-23B7-5AC33A387926}"/>
      <ac:txMk cp="0" len="64">
        <ac:context len="65" hash="3270738406"/>
      </ac:txMk>
    </ac:txMkLst>
    <p188:pos x="5524930" y="466694"/>
    <p188:txBody>
      <a:bodyPr/>
      <a:lstStyle/>
      <a:p>
        <a:r>
          <a:rPr lang="en-IT"/>
          <a:t>Routing and scheduling could be discussed with an example earlier
</a:t>
        </a:r>
      </a:p>
    </p188:txBody>
  </p188:cm>
  <p188:cm id="{2EE104CB-062A-6C45-82AF-BC126CBF9E1A}" authorId="{66DF34EE-6A81-1782-FA05-8415B55127A9}" created="2025-11-28T16:58:52.31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66139654" sldId="2685"/>
      <ac:spMk id="29" creationId="{860932AF-9A0B-EB05-7ED7-CBE0C9C56EA1}"/>
      <ac:txMk cp="34" len="5">
        <ac:context len="59" hash="3419955105"/>
      </ac:txMk>
    </ac:txMkLst>
    <p188:pos x="3995056" y="901502"/>
    <p188:txBody>
      <a:bodyPr/>
      <a:lstStyle/>
      <a:p>
        <a:r>
          <a:rPr lang="en-IT"/>
          <a:t>It should be subchunk, and subchunk has not been defined here</a:t>
        </a:r>
      </a:p>
    </p188:txBody>
  </p188:cm>
</p188:cmLst>
</file>

<file path=ppt/comments/modernComment_A42_FB33A48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79997CC-5DB2-9241-8925-E3851AAFE28F}" authorId="{66DF34EE-6A81-1782-FA05-8415B55127A9}" created="2025-11-28T16:40:55.81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214465670" sldId="2626"/>
      <ac:spMk id="3" creationId="{00000000-0000-0000-0000-000000000000}"/>
      <ac:txMk cp="137" len="37">
        <ac:context len="200" hash="744328887"/>
      </ac:txMk>
    </ac:txMkLst>
    <p188:pos x="9659155" y="838051"/>
    <p188:txBody>
      <a:bodyPr/>
      <a:lstStyle/>
      <a:p>
        <a:r>
          <a:rPr lang="en-IT"/>
          <a:t>Please put this at the same line</a:t>
        </a:r>
      </a:p>
    </p188:txBody>
  </p188:cm>
</p188:cmLst>
</file>

<file path=ppt/comments/modernComment_AFC_F34ED97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6D9FAE3-BDD0-B442-8AE3-CE3E06D52D80}" authorId="{66DF34EE-6A81-1782-FA05-8415B55127A9}" created="2025-11-28T16:43:17.69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082030964" sldId="2812"/>
      <ac:spMk id="26" creationId="{EF82AC07-6A7B-0D01-BF80-A82D6F2DDD57}"/>
      <ac:txMk cp="111" len="56">
        <ac:context len="310" hash="3846408839"/>
      </ac:txMk>
    </ac:txMkLst>
    <p188:pos x="4374438" y="1325020"/>
    <p188:txBody>
      <a:bodyPr/>
      <a:lstStyle/>
      <a:p>
        <a:r>
          <a:rPr lang="en-IT"/>
          <a:t>Can you add a reference for this?</a:t>
        </a:r>
      </a:p>
    </p188:txBody>
  </p188:cm>
</p188:cmLst>
</file>

<file path=ppt/comments/modernComment_B1C_FFD1244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EBC9C5C-B557-3840-AFE1-1DD8B9A48D2B}" authorId="{66DF34EE-6A81-1782-FA05-8415B55127A9}" created="2025-11-29T10:21:48.258">
    <pc:sldMkLst xmlns:pc="http://schemas.microsoft.com/office/powerpoint/2013/main/command">
      <pc:docMk/>
      <pc:sldMk cId="4291896397" sldId="2844"/>
    </pc:sldMkLst>
    <p188:txBody>
      <a:bodyPr/>
      <a:lstStyle/>
      <a:p>
        <a:r>
          <a:rPr lang="en-IT"/>
          <a:t>Try to use the animations for the text here</a:t>
        </a:r>
      </a:p>
    </p188:txBody>
  </p188:cm>
</p188:cmLst>
</file>

<file path=ppt/comments/modernComment_B2F_4844B5A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5B2C9D6-7D80-C14F-AC95-E3D26E13E6B5}" authorId="{66DF34EE-6A81-1782-FA05-8415B55127A9}" created="2025-11-28T16:41:58.06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212462511" sldId="2863"/>
      <ac:spMk id="6" creationId="{E4B99D6C-836C-95ED-B805-DD263E5B4A9F}"/>
      <ac:txMk cp="219" len="7">
        <ac:context len="267" hash="3324465037"/>
      </ac:txMk>
    </ac:txMkLst>
    <p188:pos x="5227187" y="1884514"/>
    <p188:txBody>
      <a:bodyPr/>
      <a:lstStyle/>
      <a:p>
        <a:r>
          <a:rPr lang="en-IT"/>
          <a:t>Why cross-DC communication becomes a bottleneck need to be discussed. I see it comes later, but at this page, the audience might becomes confused</a:t>
        </a:r>
      </a:p>
    </p188:txBody>
  </p188:cm>
  <p188:cm id="{83EC13A0-3D20-7542-9918-5095BF76C304}" authorId="{66DF34EE-6A81-1782-FA05-8415B55127A9}" created="2025-11-29T10:19:40.54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212462511" sldId="2863"/>
      <ac:picMk id="11" creationId="{91F636FE-59F2-1D85-4F75-6E1B935E41F4}"/>
    </ac:deMkLst>
    <p188:replyLst>
      <p188:reply id="{33AEA6C0-F8F8-9943-9CD8-EB22E7A24056}" authorId="{66DF34EE-6A81-1782-FA05-8415B55127A9}" created="2025-11-29T10:19:52.486">
        <p188:txBody>
          <a:bodyPr/>
          <a:lstStyle/>
          <a:p>
            <a:r>
              <a:rPr lang="en-IT"/>
              <a:t>collective communication should go before CCL</a:t>
            </a:r>
          </a:p>
        </p188:txBody>
      </p188:reply>
    </p188:replyLst>
    <p188:txBody>
      <a:bodyPr/>
      <a:lstStyle/>
      <a:p>
        <a:r>
          <a:rPr lang="en-IT"/>
          <a:t>I feel the logic flow of this slide is not clear:
1. you first introduce CCL without definition
2. Then you show the definition of CCL
3. But after showing CCL, you show the figure for collective communication</a:t>
        </a:r>
      </a:p>
    </p188:txBody>
  </p188:cm>
</p188:cmLst>
</file>

<file path=ppt/comments/modernComment_B21_5CE93FC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342B78C-1EF9-7B41-93E5-3C5AC5EF07CB}" authorId="{66DF34EE-6A81-1782-FA05-8415B55127A9}" created="2025-11-28T17:05:06.577">
    <pc:sldMkLst xmlns:pc="http://schemas.microsoft.com/office/powerpoint/2013/main/command">
      <pc:docMk/>
      <pc:sldMk cId="1558790088" sldId="2849"/>
    </pc:sldMkLst>
    <p188:txBody>
      <a:bodyPr/>
      <a:lstStyle/>
      <a:p>
        <a:r>
          <a:rPr lang="en-IT"/>
          <a:t>I fee the text is too much here:
Maybe you can describe in detail SCALL-CCL and TECCL, for SPH and NCCL, you can describe them together shortly</a:t>
        </a:r>
      </a:p>
    </p188:txBody>
  </p188:cm>
</p188:cmLst>
</file>

<file path=ppt/comments/modernComment_B32_F16F40C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13E6E83-3CE2-4040-9BBD-02427168B643}" authorId="{66DF34EE-6A81-1782-FA05-8415B55127A9}" created="2025-11-29T10:23:31.422">
    <pc:sldMkLst xmlns:pc="http://schemas.microsoft.com/office/powerpoint/2013/main/command">
      <pc:docMk/>
      <pc:sldMk cId="4050600134" sldId="2866"/>
    </pc:sldMkLst>
    <p188:txBody>
      <a:bodyPr/>
      <a:lstStyle/>
      <a:p>
        <a:r>
          <a:rPr lang="en-IT"/>
          <a:t>Please add a thank you page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D14ED0-9C78-4FB9-8EF8-41D4F0DC52E6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1945C0-DD78-4A38-B479-ABD580BB8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07194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1A11BE-5985-4958-B7BF-A4CE01A95E7F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06C8C-44A2-4D7E-9A55-28D9B6052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4038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06C8C-44A2-4D7E-9A55-28D9B60520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557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CF713-032A-F583-D08E-2620E6A8B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E16D85-BEC4-FEA7-E128-64B34A2CA2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FD8F46-7A0F-B89F-1EBA-6FC061727D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T"/>
              <a:t>multicast in a big topic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7B0621-842A-6F2F-289F-C1174E717B3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9BD9E0-B39C-37F7-112B-EEEB6F40BE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06C8C-44A2-4D7E-9A55-28D9B60520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795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T"/>
              <a:t>multicast in a big topic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06C8C-44A2-4D7E-9A55-28D9B605208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88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960783" cy="365125"/>
          </a:xfrm>
        </p:spPr>
        <p:txBody>
          <a:bodyPr/>
          <a:lstStyle/>
          <a:p>
            <a:fld id="{B06057A9-7F89-9E4F-A2C1-35D47C3C0568}" type="datetime1">
              <a:rPr lang="zh-CN" altLang="en-US" smtClean="0"/>
              <a:t>2025/11/30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98983" y="6356350"/>
            <a:ext cx="8594033" cy="365125"/>
          </a:xfrm>
        </p:spPr>
        <p:txBody>
          <a:bodyPr/>
          <a:lstStyle/>
          <a:p>
            <a:r>
              <a:rPr lang="en-US"/>
              <a:t>SCALE-CCL: A Scalable Collective Communication Library for Wide-Area Distributed Training, Jiaheng, INET4AI ’25</a:t>
            </a:r>
          </a:p>
          <a:p>
            <a:r>
              <a:rPr lang="en-US"/>
              <a:t>
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93016" y="6356350"/>
            <a:ext cx="960783" cy="365125"/>
          </a:xfrm>
        </p:spPr>
        <p:txBody>
          <a:bodyPr/>
          <a:lstStyle>
            <a:lvl1pPr>
              <a:defRPr>
                <a:solidFill>
                  <a:srgbClr val="6DA4BB"/>
                </a:solidFill>
              </a:defRPr>
            </a:lvl1pPr>
          </a:lstStyle>
          <a:p>
            <a:fld id="{5AFE0081-1ED4-41E0-88AB-D26DBE160E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560595-9B37-6E72-89A9-FA54E72EC950}"/>
              </a:ext>
            </a:extLst>
          </p:cNvPr>
          <p:cNvSpPr txBox="1"/>
          <p:nvPr userDrawn="1"/>
        </p:nvSpPr>
        <p:spPr>
          <a:xfrm>
            <a:off x="777992" y="1364655"/>
            <a:ext cx="410350" cy="3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T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E8B610F-BEE2-07E1-192A-D1504575E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04329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970722" cy="365125"/>
          </a:xfrm>
        </p:spPr>
        <p:txBody>
          <a:bodyPr/>
          <a:lstStyle/>
          <a:p>
            <a:fld id="{9FB9E808-97DB-484F-A10E-5B89D43A5DF4}" type="datetime1">
              <a:rPr lang="zh-CN" altLang="en-US" smtClean="0"/>
              <a:t>2025/11/30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08922" y="6356350"/>
            <a:ext cx="8736494" cy="365125"/>
          </a:xfrm>
        </p:spPr>
        <p:txBody>
          <a:bodyPr/>
          <a:lstStyle/>
          <a:p>
            <a:r>
              <a:rPr lang="en-US"/>
              <a:t>SCALE-CCL: A Scalable Collective Communication Library for Wide-Area Distributed Training, Jiaheng, INET4AI ’25</a:t>
            </a:r>
          </a:p>
          <a:p>
            <a:r>
              <a:rPr lang="en-US"/>
              <a:t>
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45416" y="6356350"/>
            <a:ext cx="808383" cy="365125"/>
          </a:xfrm>
        </p:spPr>
        <p:txBody>
          <a:bodyPr/>
          <a:lstStyle/>
          <a:p>
            <a:fld id="{5AFE0081-1ED4-41E0-88AB-D26DBE160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342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DCC6-5CFA-D147-97D3-387847B2BEBB}" type="datetime1">
              <a:rPr lang="zh-CN" altLang="en-US" smtClean="0"/>
              <a:t>2025/11/30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SCALE-CCL: A Scalable Collective Communication Library for Wide-Area Distributed Training, Jiaheng, INET4AI ’25</a:t>
            </a:r>
          </a:p>
          <a:p>
            <a:r>
              <a:rPr lang="en-US"/>
              <a:t>
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8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45B17-D0E0-E84F-B3A5-7EC5540FBF10}" type="datetime1">
              <a:rPr lang="zh-CN" altLang="en-US" smtClean="0"/>
              <a:t>2025/11/30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SCALE-CCL: A Scalable Collective Communication Library for Wide-Area Distributed Training, Jiaheng, INET4AI ’25</a:t>
            </a:r>
          </a:p>
          <a:p>
            <a:r>
              <a:rPr lang="en-US"/>
              <a:t>
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222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7BDE1-D1F8-C34F-9687-1318A838628C}" type="datetime1">
              <a:rPr lang="zh-CN" altLang="en-US" smtClean="0"/>
              <a:t>2025/11/30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SCALE-CCL: A Scalable Collective Communication Library for Wide-Area Distributed Training, Jiaheng, INET4AI ’25</a:t>
            </a:r>
          </a:p>
          <a:p>
            <a:r>
              <a:rPr lang="en-US"/>
              <a:t>
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453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6939F-F442-4749-815B-3B3EE11C75B4}" type="datetime1">
              <a:rPr lang="zh-CN" altLang="en-US" smtClean="0"/>
              <a:t>2025/11/30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SCALE-CCL: A Scalable Collective Communication Library for Wide-Area Distributed Training, Jiaheng, INET4AI ’25</a:t>
            </a:r>
          </a:p>
          <a:p>
            <a:r>
              <a:rPr lang="en-US"/>
              <a:t>
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194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1F262-D232-5C40-BA5B-382B40573CD4}" type="datetime1">
              <a:rPr lang="zh-CN" altLang="en-US" smtClean="0"/>
              <a:t>2025/11/30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SCALE-CCL: A Scalable Collective Communication Library for Wide-Area Distributed Training, Jiaheng, INET4AI ’25</a:t>
            </a:r>
          </a:p>
          <a:p>
            <a:r>
              <a:rPr lang="en-US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98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40754-7AC8-834D-AEC2-947B164B3256}" type="datetime1">
              <a:rPr lang="zh-CN" altLang="en-US" smtClean="0"/>
              <a:t>2025/11/30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SCALE-CCL: A Scalable Collective Communication Library for Wide-Area Distributed Training, Jiaheng, INET4AI ’25</a:t>
            </a:r>
          </a:p>
          <a:p>
            <a:r>
              <a:rPr lang="en-US"/>
              <a:t>
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793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02703-1748-964A-AE6C-B2911B08AE90}" type="datetime1">
              <a:rPr lang="zh-CN" altLang="en-US" smtClean="0"/>
              <a:t>2025/11/30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SCALE-CCL: A Scalable Collective Communication Library for Wide-Area Distributed Training, Jiaheng, INET4AI ’25</a:t>
            </a:r>
          </a:p>
          <a:p>
            <a:r>
              <a:rPr lang="en-US"/>
              <a:t>
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124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846E-4022-DE4A-966B-66BEB2932CCB}" type="datetime1">
              <a:rPr lang="zh-CN" altLang="en-US" smtClean="0"/>
              <a:t>2025/11/30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SCALE-CCL: A Scalable Collective Communication Library for Wide-Area Distributed Training, Jiaheng, INET4AI ’25</a:t>
            </a:r>
          </a:p>
          <a:p>
            <a:r>
              <a:rPr lang="en-US"/>
              <a:t>
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119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EFCB0-6CEB-CC45-AD2E-958D9FB6C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438E82-C7F0-9FE6-DB38-F68B23E98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036B5-0949-522D-A305-4D12186520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348" cy="365125"/>
          </a:xfrm>
        </p:spPr>
        <p:txBody>
          <a:bodyPr/>
          <a:lstStyle/>
          <a:p>
            <a:fld id="{2E378294-2282-3647-8974-7844F068D09F}" type="datetime1">
              <a:rPr lang="zh-CN" altLang="en-US" smtClean="0"/>
              <a:t>2025/11/30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4DEFA-41C5-9B9B-947D-E612D6E7E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96548" y="6356350"/>
            <a:ext cx="8229600" cy="365125"/>
          </a:xfrm>
        </p:spPr>
        <p:txBody>
          <a:bodyPr/>
          <a:lstStyle/>
          <a:p>
            <a:r>
              <a:rPr lang="en-GB" dirty="0"/>
              <a:t>SCALE-CCL: A Scalable Collective Communication Library for Wide-Area Distributed Training, Jiaheng, INET4AI ’25</a:t>
            </a:r>
          </a:p>
          <a:p>
            <a:r>
              <a:rPr lang="en-GB" dirty="0"/>
              <a:t>
</a:t>
            </a:r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256CE-934D-725D-CB7A-DA82ACDA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26148" y="6356350"/>
            <a:ext cx="927652" cy="365125"/>
          </a:xfrm>
        </p:spPr>
        <p:txBody>
          <a:bodyPr/>
          <a:lstStyle/>
          <a:p>
            <a:fld id="{19B27476-17BF-C344-813E-3FD0A10925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05777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2DAA4-2920-CF50-163D-453DC1978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E570-12DE-382F-D7C8-100BAFD12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3E70A-BDEC-0AFF-4A34-A24313CB6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D73A7-4741-D648-A70C-3F5152D2011E}" type="datetime1">
              <a:rPr lang="zh-CN" altLang="en-US" smtClean="0"/>
              <a:t>2025/11/30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97255-1299-BBD3-C645-559C40C95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SCALE-CCL: A Scalable Collective Communication Library for Wide-Area Distributed Training, Jiaheng, INET4AI ’25</a:t>
            </a:r>
          </a:p>
          <a:p>
            <a:r>
              <a:rPr lang="en-GB"/>
              <a:t>
</a:t>
            </a:r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62AEE-B6C5-3EC4-52AC-242873DF8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7476-17BF-C344-813E-3FD0A10925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87319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C769F-EFD2-62BC-7853-A4D048231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9C775-45DA-BA7E-FA5B-4D9DE11F2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A2D68-9964-E80B-4C18-B37099AD6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0E20E-96C2-9747-9949-313EACBDE137}" type="datetime1">
              <a:rPr lang="zh-CN" altLang="en-US" smtClean="0"/>
              <a:t>2025/11/30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37FE3-993A-EC51-26B1-0412A0253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SCALE-CCL: A Scalable Collective Communication Library for Wide-Area Distributed Training, Jiaheng, INET4AI ’25</a:t>
            </a:r>
          </a:p>
          <a:p>
            <a:r>
              <a:rPr lang="en-GB"/>
              <a:t>
</a:t>
            </a:r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4815C-050D-9E37-680A-5FF0214A3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7476-17BF-C344-813E-3FD0A10925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4147618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776E8-CC63-A55F-E4A6-19E9ED244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291BB-3FB2-DA80-9486-49F4631E8E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19AD2-7CB1-1610-4923-350006BCE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9A4D5-E36A-A5DA-AE71-0AB97A2AB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0FCB-4225-B342-8072-A051B3D6625E}" type="datetime1">
              <a:rPr lang="zh-CN" altLang="en-US" smtClean="0"/>
              <a:t>2025/11/30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5E63D1-3289-C285-736C-92705AE50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SCALE-CCL: A Scalable Collective Communication Library for Wide-Area Distributed Training, Jiaheng, INET4AI ’25</a:t>
            </a:r>
          </a:p>
          <a:p>
            <a:r>
              <a:rPr lang="en-GB"/>
              <a:t>
</a:t>
            </a:r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C877E-4BD1-24E9-B439-593CF4ABC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7476-17BF-C344-813E-3FD0A10925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88464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2B070-3A93-70AD-ACA2-7452FF1C5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4B395-C3C2-F3B6-5C2A-B16F357B0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2B9E7-657A-79CE-EDCE-2E7CBBDAF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8B49F-214A-C454-A14A-E103FBEC3C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EA070D-522D-F9C5-DBA9-EB7A1EBB4E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BB19BB-D323-BE4E-4DE9-D43A81C99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E8925-84F5-F94D-9366-EF81EFE39B18}" type="datetime1">
              <a:rPr lang="zh-CN" altLang="en-US" smtClean="0"/>
              <a:t>2025/11/30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D1E773-80A2-77CC-251A-B7C8F56D1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SCALE-CCL: A Scalable Collective Communication Library for Wide-Area Distributed Training, Jiaheng, INET4AI ’25</a:t>
            </a:r>
          </a:p>
          <a:p>
            <a:r>
              <a:rPr lang="en-GB"/>
              <a:t>
</a:t>
            </a:r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69E95C-C07D-4D3C-54F3-971F911FF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7476-17BF-C344-813E-3FD0A10925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266083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294DD-94CB-C94E-0305-E27BC1ECA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D1E59-5767-0037-5A69-65F04F096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6F8D-19EE-E142-9979-0488862D37DF}" type="datetime1">
              <a:rPr lang="zh-CN" altLang="en-US" smtClean="0"/>
              <a:t>2025/11/30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FF07F0-B43C-6ECA-A583-93F493E7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SCALE-CCL: A Scalable Collective Communication Library for Wide-Area Distributed Training, Jiaheng, INET4AI ’25</a:t>
            </a:r>
          </a:p>
          <a:p>
            <a:r>
              <a:rPr lang="en-GB"/>
              <a:t>
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651D6-9C1E-7A66-05FB-93FFD6A4F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7476-17BF-C344-813E-3FD0A10925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4441844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283F49-59F0-950B-E81A-1E26E6630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466B2-C989-664E-AC3E-D2D3A933BAF9}" type="datetime1">
              <a:rPr lang="zh-CN" altLang="en-US" smtClean="0"/>
              <a:t>2025/11/30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67D4F5-534E-D3E5-7AC4-D61D11E71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SCALE-CCL: A Scalable Collective Communication Library for Wide-Area Distributed Training, Jiaheng, INET4AI ’25</a:t>
            </a:r>
          </a:p>
          <a:p>
            <a:r>
              <a:rPr lang="en-GB"/>
              <a:t>
</a:t>
            </a:r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ED2FF-E942-D239-E657-F10F2A35A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7476-17BF-C344-813E-3FD0A10925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1355289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F3B30-DCDB-2E67-F209-F28B64349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14294-0841-44F0-FDB3-CC85AEA22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6EA5B1-541A-2BBC-5E8C-7A1BAAF74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3E3E2A-BB75-C3FA-06FC-982CDAD1A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73C6D-155E-DF46-A8C1-F66D89F7CFBA}" type="datetime1">
              <a:rPr lang="zh-CN" altLang="en-US" smtClean="0"/>
              <a:t>2025/11/30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47A5D-5142-21B5-BC69-41950A193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SCALE-CCL: A Scalable Collective Communication Library for Wide-Area Distributed Training, Jiaheng, INET4AI ’25</a:t>
            </a:r>
          </a:p>
          <a:p>
            <a:r>
              <a:rPr lang="en-GB"/>
              <a:t>
</a:t>
            </a:r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C6EBE9-6825-4102-0C7F-474A995C1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7476-17BF-C344-813E-3FD0A10925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1827665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88A84-9B4A-16D9-ACC8-E76157329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E13C50-9238-C699-C5E7-FA26E12F7F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F0F348-B8F0-D355-F7BB-BF38A40EB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15114-A83B-3CC1-DEDD-86B05E022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8B40-E029-8F41-9D4C-AAD634A9A842}" type="datetime1">
              <a:rPr lang="zh-CN" altLang="en-US" smtClean="0"/>
              <a:t>2025/11/30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D9681-999A-FDEB-B9A7-95F86C005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SCALE-CCL: A Scalable Collective Communication Library for Wide-Area Distributed Training, Jiaheng, INET4AI ’25</a:t>
            </a:r>
          </a:p>
          <a:p>
            <a:r>
              <a:rPr lang="en-GB"/>
              <a:t>
</a:t>
            </a:r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8A49A-D2F7-1A9E-A1B7-A93C9C29C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7476-17BF-C344-813E-3FD0A10925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683894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273F5-0C21-E347-F8A5-1EDEF0A74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D6B7F3-9D37-B7BE-44A7-6497C89FE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7FAB3-D9C1-0ACE-AC01-6421218AA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19BAD-83FF-C544-9BE3-49635CF7A6DA}" type="datetime1">
              <a:rPr lang="zh-CN" altLang="en-US" smtClean="0"/>
              <a:t>2025/11/30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5090A-62E4-D9BC-0CE3-6D1EFDE1B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SCALE-CCL: A Scalable Collective Communication Library for Wide-Area Distributed Training, Jiaheng, INET4AI ’25</a:t>
            </a:r>
          </a:p>
          <a:p>
            <a:r>
              <a:rPr lang="en-GB"/>
              <a:t>
</a:t>
            </a:r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0AF8F-0CE7-7050-F011-D20F59972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7476-17BF-C344-813E-3FD0A10925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6451353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9F5E4B-31DD-30F3-0BF7-4DB7E34239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79F73D-5DC9-D686-59E7-896A3F1C1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DE8CA-D0C2-E24B-905C-FC485A6CE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BB315-F4F5-464F-BE68-BAD5AA02BFE4}" type="datetime1">
              <a:rPr lang="zh-CN" altLang="en-US" smtClean="0"/>
              <a:t>2025/11/30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8E803-BA97-3C70-2070-218BC9012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SCALE-CCL: A Scalable Collective Communication Library for Wide-Area Distributed Training, Jiaheng, INET4AI ’25</a:t>
            </a:r>
          </a:p>
          <a:p>
            <a:r>
              <a:rPr lang="en-GB"/>
              <a:t>
</a:t>
            </a:r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B3044-F5ED-6580-6BFE-7EF011EB9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7476-17BF-C344-813E-3FD0A10925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977945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09B06-D75B-37CF-0101-7E20AD04A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7213CF-F559-D5A7-4C6D-74AB9C5003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EDEC0-7CA5-526C-FDE5-C5F000375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34F7-67BF-6D4E-B565-5658D1C5F2E8}" type="datetime1">
              <a:rPr lang="zh-CN" altLang="en-US" smtClean="0"/>
              <a:t>2025/11/30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C4667-A380-89CF-DBF8-CDA663543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SCALE-CCL: A Scalable Collective Communication Library for Wide-Area Distributed Training, Jiaheng, INET4AI ’25</a:t>
            </a:r>
          </a:p>
          <a:p>
            <a:r>
              <a:rPr lang="en-GB"/>
              <a:t>
</a:t>
            </a:r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DF29C-BEF8-CA15-672D-427C14D73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FE74D-A242-2A42-8CB3-538A816AF9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5393946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F07C8-D6E2-5490-6DBA-8F646214F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9D7CA-67FC-2B1F-2626-8779BDF0E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C53A4-402B-9D8A-6E17-D747D3A05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8C11-CA09-7544-86A3-6E2B0CE1E900}" type="datetime1">
              <a:rPr lang="zh-CN" altLang="en-US" smtClean="0"/>
              <a:t>2025/11/30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7E5D8-B041-4B1E-D249-BC0F9AA5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SCALE-CCL: A Scalable Collective Communication Library for Wide-Area Distributed Training, Jiaheng, INET4AI ’25</a:t>
            </a:r>
          </a:p>
          <a:p>
            <a:r>
              <a:rPr lang="en-GB"/>
              <a:t>
</a:t>
            </a:r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5C5E5-EDF7-B72B-0690-D79DD8C30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FE74D-A242-2A42-8CB3-538A816AF9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4223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C98D0-EED2-E46D-5FB3-702BC081F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F4792-E6BE-63A8-A5ED-E9B174BD0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99476-3831-5FC2-839C-AB4D767EA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2950F-DBFB-CC43-AE8E-91D625AF47A2}" type="datetime1">
              <a:rPr lang="zh-CN" altLang="en-US" smtClean="0"/>
              <a:t>2025/11/30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3708B-CDF9-868B-D7D5-FB23B9ADB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SCALE-CCL: A Scalable Collective Communication Library for Wide-Area Distributed Training, Jiaheng, INET4AI ’25</a:t>
            </a:r>
          </a:p>
          <a:p>
            <a:r>
              <a:rPr lang="en-GB"/>
              <a:t>
</a:t>
            </a:r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1A438-C61E-47A2-53B6-B0E8AC12A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FE74D-A242-2A42-8CB3-538A816AF9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5546799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E1EC7-5865-2EEB-FC4F-F831C8F49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19918-4D5F-142D-F172-8145FFED3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515458-99AB-DC3A-B358-81F911F1C2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B8B27-9C27-3440-0F5B-4626FEDB3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CE3F5-75AE-2E41-8ECD-B0B1FBABD539}" type="datetime1">
              <a:rPr lang="zh-CN" altLang="en-US" smtClean="0"/>
              <a:t>2025/11/30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A5785B-E11E-3009-A332-9FBA85CFD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SCALE-CCL: A Scalable Collective Communication Library for Wide-Area Distributed Training, Jiaheng, INET4AI ’25</a:t>
            </a:r>
          </a:p>
          <a:p>
            <a:r>
              <a:rPr lang="en-GB"/>
              <a:t>
</a:t>
            </a:r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DC007-17FC-C337-D1FF-B238FE9DF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FE74D-A242-2A42-8CB3-538A816AF9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278171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75682-9047-92F1-EA6D-EA42EC07F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09F94-1D3E-093F-B666-227BE32CB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146A-95B1-D4FA-E393-42792D7A65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6000B3-D274-8308-7465-9AC090AA09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8BF522-3428-8E2D-8C72-544309917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C98F29-DFD1-4F8B-9585-6A24060F2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C0CD3-9AEB-0743-80FA-7A28138F7C0E}" type="datetime1">
              <a:rPr lang="zh-CN" altLang="en-US" smtClean="0"/>
              <a:t>2025/11/30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1B3BD9-DAC3-5573-E534-8D96F546D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SCALE-CCL: A Scalable Collective Communication Library for Wide-Area Distributed Training, Jiaheng, INET4AI ’25</a:t>
            </a:r>
          </a:p>
          <a:p>
            <a:r>
              <a:rPr lang="en-GB"/>
              <a:t>
</a:t>
            </a:r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C4581D-4F89-57C8-B22E-37702911A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FE74D-A242-2A42-8CB3-538A816AF9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351423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8F87-33C6-D892-7E0B-5A04F6E21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BD15D-8493-58EA-F5A0-CFC59B660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13D39-6D64-204C-8031-2E13F66F3078}" type="datetime1">
              <a:rPr lang="zh-CN" altLang="en-US" smtClean="0"/>
              <a:t>2025/11/30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D4D4A-9664-C230-828E-BE11A9527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SCALE-CCL: A Scalable Collective Communication Library for Wide-Area Distributed Training, Jiaheng, INET4AI ’25</a:t>
            </a:r>
          </a:p>
          <a:p>
            <a:r>
              <a:rPr lang="en-GB"/>
              <a:t>
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35BCDC-4B56-475B-3BD6-46D6F0E6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FE74D-A242-2A42-8CB3-538A816AF9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1833759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6B1ECF-78FE-916F-4473-2D007472A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40D6D-90D1-5748-BF9E-8CD981FC85DE}" type="datetime1">
              <a:rPr lang="zh-CN" altLang="en-US" smtClean="0"/>
              <a:t>2025/11/30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4B88B6-3B7A-5448-0A48-41BFDE77A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SCALE-CCL: A Scalable Collective Communication Library for Wide-Area Distributed Training, Jiaheng, INET4AI ’25</a:t>
            </a:r>
          </a:p>
          <a:p>
            <a:r>
              <a:rPr lang="en-GB"/>
              <a:t>
</a:t>
            </a:r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CDE13-08FF-F456-F6A9-9201DCAC2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FE74D-A242-2A42-8CB3-538A816AF9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8867280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69BB7-8D19-FFDF-E640-6FB9BB1C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88961-561C-AD15-8F3D-C72239F4E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C8C4CD-148C-3167-5A53-179A27CCA8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A6927-4BFA-18E1-4F9A-FCF0D2DC6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0368D-720D-A547-963F-B66F216A6395}" type="datetime1">
              <a:rPr lang="zh-CN" altLang="en-US" smtClean="0"/>
              <a:t>2025/11/30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87F3E5-433C-E1CA-59C6-773628CC3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SCALE-CCL: A Scalable Collective Communication Library for Wide-Area Distributed Training, Jiaheng, INET4AI ’25</a:t>
            </a:r>
          </a:p>
          <a:p>
            <a:r>
              <a:rPr lang="en-GB"/>
              <a:t>
</a:t>
            </a:r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0BF77-6C1D-6DEF-9CC5-89143E8F7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FE74D-A242-2A42-8CB3-538A816AF9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71375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9583E-B94B-4DB6-5DE8-2B967A828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D2FBEC-DE28-3910-0331-EE911130B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9CD389-D0A5-B303-DFE5-8CC33B37FA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9BBB79-6D43-9C2D-D21F-E52FB1AB7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89232-4D30-AC4A-A2A4-318D83E8AFD2}" type="datetime1">
              <a:rPr lang="zh-CN" altLang="en-US" smtClean="0"/>
              <a:t>2025/11/30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8E52ED-37B4-E6E8-DA0E-9FDBD8EAC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SCALE-CCL: A Scalable Collective Communication Library for Wide-Area Distributed Training, Jiaheng, INET4AI ’25</a:t>
            </a:r>
          </a:p>
          <a:p>
            <a:r>
              <a:rPr lang="en-GB"/>
              <a:t>
</a:t>
            </a:r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AC037-A622-BDB5-7CA6-0892F91B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FE74D-A242-2A42-8CB3-538A816AF9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66503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B054E-0D62-0592-78D0-4772E920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48FDAC-20F5-17D2-751F-4F8A8FBC25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FF693-16FB-F5D5-BFC2-5D5CE7AD5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3DB8B-2890-2A43-A40C-4082EF90FCC8}" type="datetime1">
              <a:rPr lang="zh-CN" altLang="en-US" smtClean="0"/>
              <a:t>2025/11/30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62B72-132C-C2A4-4C23-F1B61642E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SCALE-CCL: A Scalable Collective Communication Library for Wide-Area Distributed Training, Jiaheng, INET4AI ’25</a:t>
            </a:r>
          </a:p>
          <a:p>
            <a:r>
              <a:rPr lang="en-GB"/>
              <a:t>
</a:t>
            </a:r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37C56-BD1A-CE46-FC42-1506295A5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FE74D-A242-2A42-8CB3-538A816AF9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84180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1E7F96-EC48-DAEB-9B6B-88F2DB98BD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FE8EBA-1B71-34C7-5204-BCA38CA40A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71F8F-FA43-32A4-1F23-CCBCEDF7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78B29-9773-2440-AD07-70A3FE97ED14}" type="datetime1">
              <a:rPr lang="zh-CN" altLang="en-US" smtClean="0"/>
              <a:t>2025/11/30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91757-CA7C-78DF-2416-9D7888905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SCALE-CCL: A Scalable Collective Communication Library for Wide-Area Distributed Training, Jiaheng, INET4AI ’25</a:t>
            </a:r>
          </a:p>
          <a:p>
            <a:r>
              <a:rPr lang="en-GB"/>
              <a:t>
</a:t>
            </a:r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DF12B-33A2-DB2B-8043-6B405BCBE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FE74D-A242-2A42-8CB3-538A816AF9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6763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51793"/>
            <a:ext cx="10515600" cy="49151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9707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D6B26-3EB9-B742-A967-38FA92C9216E}" type="datetime1">
              <a:rPr lang="zh-CN" altLang="en-US" smtClean="0"/>
              <a:t>2025/11/30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08922" y="6356350"/>
            <a:ext cx="88252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altLang="zh-CN" b="1"/>
              <a:t>SCALE-CCL: A Scalable Collective Communication Library for Wide-Area Distributed Training, Jiaheng, INET4AI ’25</a:t>
            </a:r>
          </a:p>
          <a:p>
            <a:r>
              <a:rPr lang="en-GB" altLang="zh-CN" b="1"/>
              <a:t>
</a:t>
            </a:r>
            <a:endParaRPr lang="en-GB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4" y="6356350"/>
            <a:ext cx="719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6DA4BB"/>
                </a:solidFill>
              </a:defRPr>
            </a:lvl1pPr>
          </a:lstStyle>
          <a:p>
            <a:fld id="{5AFE0081-1ED4-41E0-88AB-D26DBE160EA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02B122-BE13-02CF-0AE6-3DED054CF94D}"/>
              </a:ext>
            </a:extLst>
          </p:cNvPr>
          <p:cNvCxnSpPr/>
          <p:nvPr userDrawn="1"/>
        </p:nvCxnSpPr>
        <p:spPr>
          <a:xfrm>
            <a:off x="838200" y="1351793"/>
            <a:ext cx="1051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B25CD1F-2EEC-A5C5-B207-6AE1A75702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34" r="11300"/>
          <a:stretch/>
        </p:blipFill>
        <p:spPr>
          <a:xfrm>
            <a:off x="10634134" y="18255"/>
            <a:ext cx="1557866" cy="1110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32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14C241-5CE8-27FB-7573-267D78E1F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FAA68-D942-4A75-2B1A-7BCED88A0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36293-E7ED-3513-F78C-440468FCBF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5D5FF-0580-A848-A03A-F67CA85A188B}" type="datetime1">
              <a:rPr lang="zh-CN" altLang="en-US" smtClean="0"/>
              <a:t>2025/11/30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1BCB5-4A15-1807-C2F4-4199ABB9E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SCALE-CCL: A Scalable Collective Communication Library for Wide-Area Distributed Training, Jiaheng, INET4AI ’25</a:t>
            </a:r>
          </a:p>
          <a:p>
            <a:r>
              <a:rPr lang="en-GB"/>
              <a:t>
</a:t>
            </a:r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3B95F-DF87-0022-BCE5-A1017AA6F0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27476-17BF-C344-813E-3FD0A10925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45406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0819A1-8F81-C4F4-B2B9-CB5F1C44E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A8954-3652-E8E6-9D3D-8FE75FF1D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1B5A1-E80A-AB6F-B7FF-B0D3A5693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E4400E-2AB2-4644-A964-4E2554C26F32}" type="datetime1">
              <a:rPr lang="zh-CN" altLang="en-US" smtClean="0"/>
              <a:t>2025/11/30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33101-C2EA-141B-EDC3-1741ED9CFA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SCALE-CCL: A Scalable Collective Communication Library for Wide-Area Distributed Training, Jiaheng, INET4AI ’25</a:t>
            </a:r>
          </a:p>
          <a:p>
            <a:r>
              <a:rPr lang="en-GB"/>
              <a:t>
</a:t>
            </a:r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6F638-1B1A-A302-E9C0-A0D8DCF044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FE74D-A242-2A42-8CB3-538A816AF9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057971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A42_FB33A48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B2F_4844B5AF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AFC_F34ED97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microsoft.com/office/2018/10/relationships/comments" Target="../comments/modernComment_A7D_E6709C06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notesSlide" Target="../notesSlides/notesSlide3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slideLayout" Target="../slideLayouts/slideLayout2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8" Type="http://schemas.openxmlformats.org/officeDocument/2006/relationships/tags" Target="../tags/tag8.xml"/><Relationship Id="rId3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microsoft.com/office/2018/10/relationships/comments" Target="../comments/modernComment_B1C_FFD1244D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microsoft.com/office/2018/10/relationships/comments" Target="../comments/modernComment_B21_5CE93FC8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B32_F16F40C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570120"/>
            <a:ext cx="12191999" cy="2676506"/>
          </a:xfrm>
        </p:spPr>
        <p:txBody>
          <a:bodyPr anchor="t">
            <a:normAutofit/>
          </a:bodyPr>
          <a:lstStyle/>
          <a:p>
            <a:pPr>
              <a:spcBef>
                <a:spcPts val="0"/>
              </a:spcBef>
            </a:pPr>
            <a:r>
              <a:rPr lang="en-US" sz="3600"/>
              <a:t>SCALE-CCL: A Scalable Collective Communication Library </a:t>
            </a:r>
            <a:br>
              <a:rPr lang="en-US" sz="3600"/>
            </a:br>
            <a:r>
              <a:rPr lang="en-US" sz="3600"/>
              <a:t>for Wide-Area Distributed Training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0647" y="4326377"/>
            <a:ext cx="11403106" cy="1840497"/>
          </a:xfrm>
        </p:spPr>
        <p:txBody>
          <a:bodyPr>
            <a:noAutofit/>
          </a:bodyPr>
          <a:lstStyle/>
          <a:p>
            <a:r>
              <a:rPr lang="en-GB" altLang="zh-CN" b="1" u="sng">
                <a:latin typeface="+mj-lt"/>
              </a:rPr>
              <a:t>Jiaheng Xiong</a:t>
            </a:r>
            <a:r>
              <a:rPr lang="en-GB" altLang="zh-CN">
                <a:latin typeface="+mj-lt"/>
              </a:rPr>
              <a:t>, Qiaolun Zhang, Paolo Medagliani, Michele Ferrero, Xiaomin Liu, Meng Lian, Nicola Di Cicco, Baosen Zhao, Mëmëdhe Ibrahimi, Francesco Musumeci, Massimo Tornatore</a:t>
            </a:r>
            <a:br>
              <a:rPr lang="en-GB" altLang="zh-CN"/>
            </a:br>
            <a:endParaRPr lang="en-GB" altLang="zh-CN"/>
          </a:p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</a:t>
            </a:r>
          </a:p>
          <a:p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December 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1</a:t>
            </a:r>
            <a:r>
              <a:rPr lang="en-US" altLang="zh-CN" baseline="300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st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, 2025</a:t>
            </a:r>
          </a:p>
          <a:p>
            <a:endParaRPr lang="en-US" sz="3200"/>
          </a:p>
          <a:p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4EBCA3-9CB5-9484-12A4-6BEFA9543D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356" y="505255"/>
            <a:ext cx="2711622" cy="150645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BD859-3493-73A3-E54A-02C5575BB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7476-17BF-C344-813E-3FD0A10925D2}" type="slidenum">
              <a:rPr lang="en-IT" smtClean="0"/>
              <a:t>1</a:t>
            </a:fld>
            <a:endParaRPr lang="en-IT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581EB45-06E0-FA4B-9AA0-E76DC87B1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SCALE-CCL: A Scalable Collective Communication Library for Wide-Area Distributed Training, Jiaheng, INET4AI ’25</a:t>
            </a:r>
            <a:endParaRPr lang="en-GB" dirty="0"/>
          </a:p>
        </p:txBody>
      </p:sp>
      <p:pic>
        <p:nvPicPr>
          <p:cNvPr id="1028" name="Picture 4" descr="Huawei Logo, symbol, meaning, history, PNG, brand">
            <a:extLst>
              <a:ext uri="{FF2B5EF4-FFF2-40B4-BE49-F238E27FC236}">
                <a16:creationId xmlns:a16="http://schemas.microsoft.com/office/drawing/2014/main" id="{A1586CAC-17C7-6228-CB40-2030DFE9D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505255"/>
            <a:ext cx="2678148" cy="1506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46567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0FDA3-5000-6CE4-F76B-26DF2F7A9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30FC7-4A67-90FA-9147-AD20FC385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B9528-ED04-073A-8A30-1720F3009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843"/>
            <a:ext cx="10515600" cy="4218051"/>
          </a:xfrm>
        </p:spPr>
        <p:txBody>
          <a:bodyPr/>
          <a:lstStyle/>
          <a:p>
            <a:pPr marL="457200" lvl="1" indent="0">
              <a:buNone/>
            </a:pPr>
            <a:endParaRPr lang="en-US" sz="2400" dirty="0"/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Background</a:t>
            </a:r>
            <a:endParaRPr lang="en-IT" sz="2400"/>
          </a:p>
          <a:p>
            <a:pPr marL="914400" lvl="1" indent="-457200">
              <a:buFont typeface="+mj-lt"/>
              <a:buAutoNum type="arabicPeriod"/>
            </a:pPr>
            <a:r>
              <a:rPr lang="en-IT" sz="2400"/>
              <a:t>Motivation</a:t>
            </a:r>
            <a:endParaRPr lang="en-US" sz="2400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zh-CN" sz="2400" dirty="0"/>
              <a:t>System Model</a:t>
            </a:r>
            <a:endParaRPr lang="en-IT" sz="2400"/>
          </a:p>
          <a:p>
            <a:pPr marL="914400" lvl="1" indent="-457200">
              <a:buFont typeface="+mj-lt"/>
              <a:buAutoNum type="arabicPeriod"/>
            </a:pPr>
            <a:r>
              <a:rPr lang="en-IT" sz="2400"/>
              <a:t>Problem Statement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T" sz="2400"/>
              <a:t>Heuristic Algorithm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T" sz="2400"/>
              <a:t>Results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CA3BD3-872F-8DAD-6D24-4F59BA09B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2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DA42E1-7C2F-8D46-31E0-01326974E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SCALE-CCL: A Scalable Collective Communication Library for Wide-Area Distributed Training, Jiaheng, INET4AI ’25</a:t>
            </a:r>
          </a:p>
        </p:txBody>
      </p:sp>
    </p:spTree>
    <p:extLst>
      <p:ext uri="{BB962C8B-B14F-4D97-AF65-F5344CB8AC3E}">
        <p14:creationId xmlns:p14="http://schemas.microsoft.com/office/powerpoint/2010/main" val="2792937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24FC8-A626-2389-8D69-E2E9F5EAC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51DB3-E1EC-4B5C-7D6F-FD6BFA204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Background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695B57-A5DE-8959-FE36-58826DD01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3</a:t>
            </a:fld>
            <a:endParaRPr 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6A77889-5AE7-5AED-59B8-A6DFAB2D624E}"/>
              </a:ext>
            </a:extLst>
          </p:cNvPr>
          <p:cNvSpPr txBox="1"/>
          <p:nvPr/>
        </p:nvSpPr>
        <p:spPr>
          <a:xfrm>
            <a:off x="738809" y="3794365"/>
            <a:ext cx="10614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highlight>
                  <a:srgbClr val="FFFF00"/>
                </a:highlight>
              </a:rPr>
              <a:t>Collective</a:t>
            </a:r>
            <a:r>
              <a:rPr kumimoji="1" lang="zh-CN" altLang="en-US" b="1" dirty="0">
                <a:highlight>
                  <a:srgbClr val="FFFF00"/>
                </a:highlight>
              </a:rPr>
              <a:t> </a:t>
            </a:r>
            <a:r>
              <a:rPr kumimoji="1" lang="en-US" altLang="zh-CN" b="1" dirty="0">
                <a:highlight>
                  <a:srgbClr val="FFFF00"/>
                </a:highlight>
              </a:rPr>
              <a:t>Communication</a:t>
            </a:r>
            <a:r>
              <a:rPr kumimoji="1" lang="zh-CN" altLang="en-US" b="1" dirty="0">
                <a:highlight>
                  <a:srgbClr val="FFFF00"/>
                </a:highlight>
              </a:rPr>
              <a:t> </a:t>
            </a:r>
            <a:r>
              <a:rPr kumimoji="1" lang="en-US" altLang="zh-CN" b="1" dirty="0">
                <a:highlight>
                  <a:srgbClr val="FFFF00"/>
                </a:highlight>
              </a:rPr>
              <a:t>Libraries (CCL):</a:t>
            </a:r>
            <a:r>
              <a:rPr kumimoji="1" lang="zh-CN" altLang="en-US" b="1" dirty="0">
                <a:highlight>
                  <a:srgbClr val="FFFF00"/>
                </a:highlight>
              </a:rPr>
              <a:t> </a:t>
            </a:r>
            <a:r>
              <a:rPr lang="en-GB" altLang="zh-CN" dirty="0">
                <a:highlight>
                  <a:srgbClr val="FFFF00"/>
                </a:highlight>
              </a:rPr>
              <a:t>let multiple GPUs do </a:t>
            </a:r>
            <a:r>
              <a:rPr lang="en-GB" altLang="zh-CN" b="1" dirty="0">
                <a:highlight>
                  <a:srgbClr val="FFFF00"/>
                </a:highlight>
              </a:rPr>
              <a:t>routing and scheduling of chunks</a:t>
            </a:r>
            <a:r>
              <a:rPr lang="en-GB" altLang="zh-CN" dirty="0">
                <a:highlight>
                  <a:srgbClr val="FFFF00"/>
                </a:highlight>
              </a:rPr>
              <a:t> in a coordinated way so they can work together as a single, unified training system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B99D6C-836C-95ED-B805-DD263E5B4A9F}"/>
              </a:ext>
            </a:extLst>
          </p:cNvPr>
          <p:cNvSpPr txBox="1"/>
          <p:nvPr/>
        </p:nvSpPr>
        <p:spPr>
          <a:xfrm>
            <a:off x="928914" y="1657176"/>
            <a:ext cx="62317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Across Data Center distributed Training:</a:t>
            </a:r>
          </a:p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Model sizes keep growing, and future workloads may exceed the capacity of a single </a:t>
            </a:r>
            <a:r>
              <a:rPr lang="en-GB" altLang="zh-CN" dirty="0" err="1"/>
              <a:t>datacenter</a:t>
            </a:r>
            <a:endParaRPr lang="en-GB" altLang="zh-CN" dirty="0"/>
          </a:p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Compute and data resources are often distributed across multiple geographic regions</a:t>
            </a:r>
          </a:p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Current CCL algorithms don’t adopt WAN scenario</a:t>
            </a: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4F8DB9A3-DB38-044B-7372-9B4466F4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3730" y="6356350"/>
            <a:ext cx="9521686" cy="365125"/>
          </a:xfrm>
        </p:spPr>
        <p:txBody>
          <a:bodyPr/>
          <a:lstStyle/>
          <a:p>
            <a:r>
              <a:rPr lang="en-US" dirty="0"/>
              <a:t>SCALE-CCL: A Scalable Collective Communication Library for Wide-Area Distributed Training, Jiaheng, INET4AI ’25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B26D561-AA0B-4899-E6B8-862255008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0675" y="1481010"/>
            <a:ext cx="4193124" cy="220749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1F636FE-59F2-1D85-4F75-6E1B935E41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249" y="4546561"/>
            <a:ext cx="9780105" cy="130852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B29E42F-4B5B-49C6-4684-3D003B87AC9C}"/>
              </a:ext>
            </a:extLst>
          </p:cNvPr>
          <p:cNvSpPr txBox="1"/>
          <p:nvPr/>
        </p:nvSpPr>
        <p:spPr>
          <a:xfrm>
            <a:off x="3652214" y="5797940"/>
            <a:ext cx="4788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i="1" dirty="0"/>
              <a:t>Fig 1: Example of Different Collective Communications </a:t>
            </a:r>
            <a:r>
              <a:rPr kumimoji="1" lang="en-US" altLang="zh-CN" sz="1400" i="1" baseline="30000" dirty="0"/>
              <a:t>[1]</a:t>
            </a:r>
            <a:endParaRPr kumimoji="1" lang="zh-CN" altLang="en-US" sz="1400" i="1" baseline="300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5AB456-07D1-EA30-B919-AB3259E70663}"/>
              </a:ext>
            </a:extLst>
          </p:cNvPr>
          <p:cNvSpPr txBox="1"/>
          <p:nvPr/>
        </p:nvSpPr>
        <p:spPr>
          <a:xfrm>
            <a:off x="0" y="6233239"/>
            <a:ext cx="105576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i="1" dirty="0">
                <a:solidFill>
                  <a:schemeClr val="accent3"/>
                </a:solidFill>
              </a:rPr>
              <a:t>[1] </a:t>
            </a:r>
            <a:r>
              <a:rPr lang="en-GB" altLang="zh-CN" sz="1000" i="1" dirty="0">
                <a:solidFill>
                  <a:schemeClr val="accent3"/>
                </a:solidFill>
              </a:rPr>
              <a:t>Shah, Aashaka, et al. "{TACCL}: Guiding collective algorithm synthesis using communication sketches." 20th USENIX Symposium on Networked Systems Design and Implementation (NSDI 23). 2023.</a:t>
            </a:r>
            <a:endParaRPr kumimoji="1" lang="zh-CN" altLang="en-US" sz="1000" i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462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E23C3-3AB1-289C-46E0-8A29E418B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3A26D-D034-BBBB-70C1-F7B88A2C0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Motivation: </a:t>
            </a:r>
            <a:r>
              <a:rPr lang="en-US" altLang="zh-CN" dirty="0"/>
              <a:t>Dynamic Environment</a:t>
            </a:r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A41CA-168B-8AAB-6CB8-957F14C89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SCALE-CCL: A Scalable Collective Communication Library for Wide-Area Distributed Training, Jiaheng, INET4AI ’25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6D18B-B1A9-40E5-EDCD-D21B9BAC5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4</a:t>
            </a:fld>
            <a:endParaRPr 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E5788CA4-1558-ED21-9AF2-A0DB09B17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07" y="1791514"/>
            <a:ext cx="6220801" cy="3274972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EF82AC07-6A7B-0D01-BF80-A82D6F2DDD57}"/>
              </a:ext>
            </a:extLst>
          </p:cNvPr>
          <p:cNvSpPr txBox="1"/>
          <p:nvPr/>
        </p:nvSpPr>
        <p:spPr>
          <a:xfrm>
            <a:off x="6894576" y="2203791"/>
            <a:ext cx="44592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The link rate varies over time in WAN.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zh-CN" dirty="0"/>
              <a:t>Traffic can surge from nearly idle to full link capacity within seconds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zh-CN" dirty="0"/>
              <a:t>The fluctuation magnitude can reach ±100% or even higher</a:t>
            </a:r>
            <a:r>
              <a:rPr lang="en-GB" altLang="zh-CN" baseline="30000" dirty="0"/>
              <a:t>[1]</a:t>
            </a:r>
          </a:p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The CCL synthesizer needs to respond quickly</a:t>
            </a:r>
          </a:p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TECCL often responds at a timescale of tens or even hundreds of seconds.</a:t>
            </a:r>
            <a:r>
              <a:rPr lang="zh-CN" altLang="en-US" dirty="0"/>
              <a:t> </a:t>
            </a:r>
            <a:r>
              <a:rPr lang="en-US" altLang="zh-CN" dirty="0"/>
              <a:t>(Can not adopt WAN)</a:t>
            </a:r>
            <a:r>
              <a:rPr lang="en-GB" altLang="zh-CN" dirty="0"/>
              <a:t> 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2B59C5A-78EB-321C-C09A-5A560DB48F84}"/>
              </a:ext>
            </a:extLst>
          </p:cNvPr>
          <p:cNvSpPr txBox="1"/>
          <p:nvPr/>
        </p:nvSpPr>
        <p:spPr>
          <a:xfrm>
            <a:off x="0" y="6232866"/>
            <a:ext cx="92768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i="1" dirty="0">
                <a:solidFill>
                  <a:schemeClr val="accent3"/>
                </a:solidFill>
              </a:rPr>
              <a:t>[1] </a:t>
            </a:r>
            <a:r>
              <a:rPr kumimoji="1" lang="en-GB" altLang="zh-CN" sz="1000" i="1" dirty="0">
                <a:solidFill>
                  <a:schemeClr val="accent3"/>
                </a:solidFill>
              </a:rPr>
              <a:t>Singh, </a:t>
            </a:r>
            <a:r>
              <a:rPr kumimoji="1" lang="en-GB" altLang="zh-CN" sz="1000" i="1" dirty="0" err="1">
                <a:solidFill>
                  <a:schemeClr val="accent3"/>
                </a:solidFill>
              </a:rPr>
              <a:t>Rachee</a:t>
            </a:r>
            <a:r>
              <a:rPr kumimoji="1" lang="en-GB" altLang="zh-CN" sz="1000" i="1" dirty="0">
                <a:solidFill>
                  <a:schemeClr val="accent3"/>
                </a:solidFill>
              </a:rPr>
              <a:t>, et al. "RADWAN: rate adaptive wide area network." Proceedings of the 2018 Conference of the ACM Special Interest Group on Data Communication. 2018.</a:t>
            </a:r>
          </a:p>
        </p:txBody>
      </p:sp>
    </p:spTree>
    <p:extLst>
      <p:ext uri="{BB962C8B-B14F-4D97-AF65-F5344CB8AC3E}">
        <p14:creationId xmlns:p14="http://schemas.microsoft.com/office/powerpoint/2010/main" val="4082030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DFB8A-028E-1951-5E49-2BAE4C967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A553D2-9E17-A547-8FA2-F26A903E1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>
                <a:ea typeface="Abel"/>
                <a:cs typeface="Abel"/>
                <a:sym typeface="Abel"/>
              </a:rPr>
              <a:t>System Model (Different Transmission Type)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C3F192B-A930-258B-1ED7-20D4170C3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SCALE-CCL: A Scalable Collective Communication Library for Wide-Area Distributed Training, Jiaheng, INET4AI ’25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CF0E892-7664-0B16-1B84-BFC7017E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5</a:t>
            </a:fld>
            <a:endParaRPr 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78412B02-81EA-C6C3-9BDE-4A64277B35CC}"/>
              </a:ext>
            </a:extLst>
          </p:cNvPr>
          <p:cNvSpPr/>
          <p:nvPr/>
        </p:nvSpPr>
        <p:spPr>
          <a:xfrm rot="900305" flipV="1">
            <a:off x="2188126" y="4816485"/>
            <a:ext cx="1120304" cy="307704"/>
          </a:xfrm>
          <a:prstGeom prst="parallelogram">
            <a:avLst/>
          </a:prstGeom>
          <a:solidFill>
            <a:srgbClr val="92D050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D1145C7B-4187-10FA-058A-E26A1180452B}"/>
              </a:ext>
            </a:extLst>
          </p:cNvPr>
          <p:cNvSpPr/>
          <p:nvPr/>
        </p:nvSpPr>
        <p:spPr>
          <a:xfrm rot="900305" flipV="1">
            <a:off x="1174519" y="4546738"/>
            <a:ext cx="1120304" cy="307704"/>
          </a:xfrm>
          <a:prstGeom prst="parallelogram">
            <a:avLst/>
          </a:prstGeom>
          <a:solidFill>
            <a:srgbClr val="92D050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平行四边形 48">
            <a:extLst>
              <a:ext uri="{FF2B5EF4-FFF2-40B4-BE49-F238E27FC236}">
                <a16:creationId xmlns:a16="http://schemas.microsoft.com/office/drawing/2014/main" id="{664998ED-7D88-17C1-11D5-CFF4C58AF94E}"/>
              </a:ext>
            </a:extLst>
          </p:cNvPr>
          <p:cNvSpPr/>
          <p:nvPr/>
        </p:nvSpPr>
        <p:spPr>
          <a:xfrm rot="900305" flipV="1">
            <a:off x="2164481" y="2789896"/>
            <a:ext cx="1120304" cy="307704"/>
          </a:xfrm>
          <a:prstGeom prst="parallelogram">
            <a:avLst/>
          </a:prstGeom>
          <a:solidFill>
            <a:srgbClr val="92D050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平行四边形 49">
            <a:extLst>
              <a:ext uri="{FF2B5EF4-FFF2-40B4-BE49-F238E27FC236}">
                <a16:creationId xmlns:a16="http://schemas.microsoft.com/office/drawing/2014/main" id="{D4F4DE02-0EBE-CEBF-9F11-31C57B49543B}"/>
              </a:ext>
            </a:extLst>
          </p:cNvPr>
          <p:cNvSpPr/>
          <p:nvPr/>
        </p:nvSpPr>
        <p:spPr>
          <a:xfrm rot="900305" flipV="1">
            <a:off x="1144622" y="2202631"/>
            <a:ext cx="1120304" cy="307704"/>
          </a:xfrm>
          <a:prstGeom prst="parallelogram">
            <a:avLst/>
          </a:prstGeom>
          <a:solidFill>
            <a:srgbClr val="92D050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514ACC2D-006E-BA72-BC1B-493ADDC7A031}"/>
              </a:ext>
            </a:extLst>
          </p:cNvPr>
          <p:cNvSpPr/>
          <p:nvPr/>
        </p:nvSpPr>
        <p:spPr>
          <a:xfrm>
            <a:off x="838200" y="1668969"/>
            <a:ext cx="707748" cy="282263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Node 0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41075553-C9B7-277D-E3C2-B7AC7D8677AB}"/>
              </a:ext>
            </a:extLst>
          </p:cNvPr>
          <p:cNvSpPr/>
          <p:nvPr/>
        </p:nvSpPr>
        <p:spPr>
          <a:xfrm>
            <a:off x="1869470" y="1668968"/>
            <a:ext cx="707748" cy="282263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Node 1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402EF837-F5D8-0D1F-B3B5-633836C5CF1D}"/>
              </a:ext>
            </a:extLst>
          </p:cNvPr>
          <p:cNvSpPr/>
          <p:nvPr/>
        </p:nvSpPr>
        <p:spPr>
          <a:xfrm>
            <a:off x="2878618" y="1668968"/>
            <a:ext cx="707748" cy="282263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Node 2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54" name="圆角矩形 53">
            <a:extLst>
              <a:ext uri="{FF2B5EF4-FFF2-40B4-BE49-F238E27FC236}">
                <a16:creationId xmlns:a16="http://schemas.microsoft.com/office/drawing/2014/main" id="{A53AAAFF-89AE-B3E9-C673-69A10F215C3D}"/>
              </a:ext>
            </a:extLst>
          </p:cNvPr>
          <p:cNvSpPr/>
          <p:nvPr/>
        </p:nvSpPr>
        <p:spPr>
          <a:xfrm>
            <a:off x="838200" y="4013077"/>
            <a:ext cx="707748" cy="282263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Node 0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1B1525AC-0123-2575-7772-7B185C0B29EC}"/>
              </a:ext>
            </a:extLst>
          </p:cNvPr>
          <p:cNvSpPr/>
          <p:nvPr/>
        </p:nvSpPr>
        <p:spPr>
          <a:xfrm>
            <a:off x="1869470" y="4013076"/>
            <a:ext cx="707748" cy="282263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</a:rPr>
              <a:t>Node 1</a:t>
            </a:r>
            <a:endParaRPr kumimoji="1"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56" name="圆角矩形 55">
            <a:extLst>
              <a:ext uri="{FF2B5EF4-FFF2-40B4-BE49-F238E27FC236}">
                <a16:creationId xmlns:a16="http://schemas.microsoft.com/office/drawing/2014/main" id="{9CAAC780-7885-424A-2FEE-044272C18B6A}"/>
              </a:ext>
            </a:extLst>
          </p:cNvPr>
          <p:cNvSpPr/>
          <p:nvPr/>
        </p:nvSpPr>
        <p:spPr>
          <a:xfrm>
            <a:off x="2863870" y="4013076"/>
            <a:ext cx="707748" cy="282263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Node 2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B936666C-7EE5-5EAB-EB4B-F8DE67A437CB}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1192074" y="1951231"/>
            <a:ext cx="0" cy="1350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65D4ECDD-18D2-887C-4241-42488E3AB159}"/>
              </a:ext>
            </a:extLst>
          </p:cNvPr>
          <p:cNvCxnSpPr>
            <a:cxnSpLocks/>
          </p:cNvCxnSpPr>
          <p:nvPr/>
        </p:nvCxnSpPr>
        <p:spPr>
          <a:xfrm flipH="1">
            <a:off x="2212365" y="1951231"/>
            <a:ext cx="0" cy="1350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连接符 58">
            <a:extLst>
              <a:ext uri="{FF2B5EF4-FFF2-40B4-BE49-F238E27FC236}">
                <a16:creationId xmlns:a16="http://schemas.microsoft.com/office/drawing/2014/main" id="{D373A228-54D1-5929-8661-387DFCBDFEB9}"/>
              </a:ext>
            </a:extLst>
          </p:cNvPr>
          <p:cNvCxnSpPr>
            <a:cxnSpLocks/>
          </p:cNvCxnSpPr>
          <p:nvPr/>
        </p:nvCxnSpPr>
        <p:spPr>
          <a:xfrm>
            <a:off x="3236478" y="1951232"/>
            <a:ext cx="0" cy="1350483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线连接符 59">
            <a:extLst>
              <a:ext uri="{FF2B5EF4-FFF2-40B4-BE49-F238E27FC236}">
                <a16:creationId xmlns:a16="http://schemas.microsoft.com/office/drawing/2014/main" id="{671D0E00-4117-7A80-5308-C59122FFE1CA}"/>
              </a:ext>
            </a:extLst>
          </p:cNvPr>
          <p:cNvCxnSpPr>
            <a:cxnSpLocks/>
          </p:cNvCxnSpPr>
          <p:nvPr/>
        </p:nvCxnSpPr>
        <p:spPr>
          <a:xfrm>
            <a:off x="1220667" y="4295338"/>
            <a:ext cx="0" cy="1350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23344E0C-3BDF-0E67-D3C8-63F4BF35E283}"/>
              </a:ext>
            </a:extLst>
          </p:cNvPr>
          <p:cNvCxnSpPr>
            <a:cxnSpLocks/>
          </p:cNvCxnSpPr>
          <p:nvPr/>
        </p:nvCxnSpPr>
        <p:spPr>
          <a:xfrm flipH="1">
            <a:off x="2240958" y="4295338"/>
            <a:ext cx="0" cy="1350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93B56173-F9A8-0220-505E-68B02E496F73}"/>
              </a:ext>
            </a:extLst>
          </p:cNvPr>
          <p:cNvCxnSpPr>
            <a:cxnSpLocks/>
          </p:cNvCxnSpPr>
          <p:nvPr/>
        </p:nvCxnSpPr>
        <p:spPr>
          <a:xfrm>
            <a:off x="3250323" y="4295339"/>
            <a:ext cx="0" cy="1350483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930E6441-3DBF-3AB8-6D09-54C84873F989}"/>
              </a:ext>
            </a:extLst>
          </p:cNvPr>
          <p:cNvSpPr txBox="1"/>
          <p:nvPr/>
        </p:nvSpPr>
        <p:spPr>
          <a:xfrm>
            <a:off x="1096526" y="3301230"/>
            <a:ext cx="2222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(a) Store and Forward</a:t>
            </a:r>
            <a:endParaRPr kumimoji="1"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DC36BD29-45C3-24BD-883B-F720BC7D0456}"/>
              </a:ext>
            </a:extLst>
          </p:cNvPr>
          <p:cNvSpPr txBox="1"/>
          <p:nvPr/>
        </p:nvSpPr>
        <p:spPr>
          <a:xfrm>
            <a:off x="1405440" y="5645335"/>
            <a:ext cx="1671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(b) Cut-Through</a:t>
            </a:r>
            <a:endParaRPr kumimoji="1" lang="zh-CN" altLang="en-US"/>
          </a:p>
        </p:txBody>
      </p: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14CC4D30-CF9B-CD8E-A089-106C63A3B569}"/>
              </a:ext>
            </a:extLst>
          </p:cNvPr>
          <p:cNvCxnSpPr>
            <a:cxnSpLocks/>
          </p:cNvCxnSpPr>
          <p:nvPr/>
        </p:nvCxnSpPr>
        <p:spPr>
          <a:xfrm>
            <a:off x="1192074" y="2657489"/>
            <a:ext cx="100503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FA215CC0-12BD-0BAF-44F4-632FDDF1196C}"/>
              </a:ext>
            </a:extLst>
          </p:cNvPr>
          <p:cNvCxnSpPr>
            <a:cxnSpLocks/>
          </p:cNvCxnSpPr>
          <p:nvPr/>
        </p:nvCxnSpPr>
        <p:spPr>
          <a:xfrm>
            <a:off x="1192073" y="2945993"/>
            <a:ext cx="100503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53263D37-D47A-5A78-342A-493AE906407D}"/>
              </a:ext>
            </a:extLst>
          </p:cNvPr>
          <p:cNvCxnSpPr>
            <a:cxnSpLocks/>
          </p:cNvCxnSpPr>
          <p:nvPr/>
        </p:nvCxnSpPr>
        <p:spPr>
          <a:xfrm>
            <a:off x="1192072" y="3240535"/>
            <a:ext cx="204042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0D879C4F-4E3C-3837-DE37-954C778EA1EB}"/>
                  </a:ext>
                </a:extLst>
              </p:cNvPr>
              <p:cNvSpPr txBox="1"/>
              <p:nvPr/>
            </p:nvSpPr>
            <p:spPr>
              <a:xfrm>
                <a:off x="962220" y="2381773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1200" b="1" i="1" smtClean="0">
                          <a:latin typeface="Cambria Math" panose="02040503050406030204" pitchFamily="18" charset="0"/>
                        </a:rPr>
                        <m:t>𝜶</m:t>
                      </m:r>
                    </m:oMath>
                  </m:oMathPara>
                </a14:m>
                <a:endParaRPr kumimoji="1" lang="zh-CN" altLang="en-US" sz="1200" b="1"/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0D879C4F-4E3C-3837-DE37-954C778EA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220" y="2381773"/>
                <a:ext cx="322524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8E4957F4-7E4F-E5DA-1D0B-A8358834B42E}"/>
                  </a:ext>
                </a:extLst>
              </p:cNvPr>
              <p:cNvSpPr txBox="1"/>
              <p:nvPr/>
            </p:nvSpPr>
            <p:spPr>
              <a:xfrm>
                <a:off x="964448" y="2953587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1200" b="1" i="1" smtClean="0">
                          <a:latin typeface="Cambria Math" panose="02040503050406030204" pitchFamily="18" charset="0"/>
                        </a:rPr>
                        <m:t>𝜶</m:t>
                      </m:r>
                    </m:oMath>
                  </m:oMathPara>
                </a14:m>
                <a:endParaRPr kumimoji="1" lang="zh-CN" altLang="en-US" sz="1200" b="1"/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8E4957F4-7E4F-E5DA-1D0B-A8358834B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448" y="2953587"/>
                <a:ext cx="322524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AB07C124-D373-9828-140B-6E124480F27B}"/>
                  </a:ext>
                </a:extLst>
              </p:cNvPr>
              <p:cNvSpPr txBox="1"/>
              <p:nvPr/>
            </p:nvSpPr>
            <p:spPr>
              <a:xfrm>
                <a:off x="961418" y="2077831"/>
                <a:ext cx="3241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1200" b="1" i="1" smtClean="0">
                          <a:latin typeface="Cambria Math" panose="02040503050406030204" pitchFamily="18" charset="0"/>
                        </a:rPr>
                        <m:t>𝜷</m:t>
                      </m:r>
                    </m:oMath>
                  </m:oMathPara>
                </a14:m>
                <a:endParaRPr kumimoji="1" lang="zh-CN" altLang="en-US" sz="1200" b="1"/>
              </a:p>
            </p:txBody>
          </p:sp>
        </mc:Choice>
        <mc:Fallback xmlns="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AB07C124-D373-9828-140B-6E124480F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418" y="2077831"/>
                <a:ext cx="324128" cy="276999"/>
              </a:xfrm>
              <a:prstGeom prst="rect">
                <a:avLst/>
              </a:prstGeom>
              <a:blipFill>
                <a:blip r:embed="rId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F09187A5-D492-FCA8-7537-A8EAFA183E8B}"/>
                  </a:ext>
                </a:extLst>
              </p:cNvPr>
              <p:cNvSpPr txBox="1"/>
              <p:nvPr/>
            </p:nvSpPr>
            <p:spPr>
              <a:xfrm>
                <a:off x="961557" y="2664684"/>
                <a:ext cx="3241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1200" b="1" i="1" smtClean="0">
                          <a:latin typeface="Cambria Math" panose="02040503050406030204" pitchFamily="18" charset="0"/>
                        </a:rPr>
                        <m:t>𝜷</m:t>
                      </m:r>
                    </m:oMath>
                  </m:oMathPara>
                </a14:m>
                <a:endParaRPr kumimoji="1" lang="zh-CN" altLang="en-US" sz="1200" b="1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F09187A5-D492-FCA8-7537-A8EAFA183E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557" y="2664684"/>
                <a:ext cx="324128" cy="276999"/>
              </a:xfrm>
              <a:prstGeom prst="rect">
                <a:avLst/>
              </a:prstGeom>
              <a:blipFill>
                <a:blip r:embed="rId5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直线连接符 71">
            <a:extLst>
              <a:ext uri="{FF2B5EF4-FFF2-40B4-BE49-F238E27FC236}">
                <a16:creationId xmlns:a16="http://schemas.microsoft.com/office/drawing/2014/main" id="{16381F5A-F0C8-09B8-9507-4BBDB8F40694}"/>
              </a:ext>
            </a:extLst>
          </p:cNvPr>
          <p:cNvCxnSpPr>
            <a:cxnSpLocks/>
          </p:cNvCxnSpPr>
          <p:nvPr/>
        </p:nvCxnSpPr>
        <p:spPr>
          <a:xfrm>
            <a:off x="1232154" y="5008792"/>
            <a:ext cx="100503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382B9FFB-3D41-AB49-3030-5B76ABDF883C}"/>
              </a:ext>
            </a:extLst>
          </p:cNvPr>
          <p:cNvCxnSpPr>
            <a:cxnSpLocks/>
          </p:cNvCxnSpPr>
          <p:nvPr/>
        </p:nvCxnSpPr>
        <p:spPr>
          <a:xfrm>
            <a:off x="1220667" y="5263970"/>
            <a:ext cx="199707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69383753-CE6E-078D-FCF2-E2F439862A04}"/>
                  </a:ext>
                </a:extLst>
              </p:cNvPr>
              <p:cNvSpPr txBox="1"/>
              <p:nvPr/>
            </p:nvSpPr>
            <p:spPr>
              <a:xfrm>
                <a:off x="989438" y="4430786"/>
                <a:ext cx="3241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1200" b="1" i="1" smtClean="0">
                          <a:latin typeface="Cambria Math" panose="02040503050406030204" pitchFamily="18" charset="0"/>
                        </a:rPr>
                        <m:t>𝜷</m:t>
                      </m:r>
                    </m:oMath>
                  </m:oMathPara>
                </a14:m>
                <a:endParaRPr kumimoji="1" lang="zh-CN" altLang="en-US" sz="1200" b="1"/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69383753-CE6E-078D-FCF2-E2F439862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438" y="4430786"/>
                <a:ext cx="324128" cy="276999"/>
              </a:xfrm>
              <a:prstGeom prst="rect">
                <a:avLst/>
              </a:prstGeom>
              <a:blipFill>
                <a:blip r:embed="rId6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5A22635F-3B6F-DD95-38C9-C5BFDD130EA5}"/>
                  </a:ext>
                </a:extLst>
              </p:cNvPr>
              <p:cNvSpPr txBox="1"/>
              <p:nvPr/>
            </p:nvSpPr>
            <p:spPr>
              <a:xfrm>
                <a:off x="985357" y="4716599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1200" b="1" i="1" smtClean="0">
                          <a:latin typeface="Cambria Math" panose="02040503050406030204" pitchFamily="18" charset="0"/>
                        </a:rPr>
                        <m:t>𝜶</m:t>
                      </m:r>
                    </m:oMath>
                  </m:oMathPara>
                </a14:m>
                <a:endParaRPr kumimoji="1" lang="zh-CN" altLang="en-US" sz="1200" b="1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5A22635F-3B6F-DD95-38C9-C5BFDD130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357" y="4716599"/>
                <a:ext cx="322524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597B0B7B-DCF4-5035-4211-915A546EA0DE}"/>
                  </a:ext>
                </a:extLst>
              </p:cNvPr>
              <p:cNvSpPr txBox="1"/>
              <p:nvPr/>
            </p:nvSpPr>
            <p:spPr>
              <a:xfrm>
                <a:off x="980624" y="4986971"/>
                <a:ext cx="322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1200" b="1" i="1" smtClean="0">
                          <a:latin typeface="Cambria Math" panose="02040503050406030204" pitchFamily="18" charset="0"/>
                        </a:rPr>
                        <m:t>𝜶</m:t>
                      </m:r>
                    </m:oMath>
                  </m:oMathPara>
                </a14:m>
                <a:endParaRPr kumimoji="1" lang="zh-CN" altLang="en-US" sz="1200" b="1"/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597B0B7B-DCF4-5035-4211-915A546EA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624" y="4986971"/>
                <a:ext cx="322524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7F074A91-E485-9EC9-B23B-7C787881CD0B}"/>
                  </a:ext>
                </a:extLst>
              </p:cNvPr>
              <p:cNvSpPr txBox="1"/>
              <p:nvPr/>
            </p:nvSpPr>
            <p:spPr>
              <a:xfrm>
                <a:off x="3906078" y="1630017"/>
                <a:ext cx="7447714" cy="1779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/>
                  <a:t>We model the transmission type of GPUs as Store and Forward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altLang="zh-CN" dirty="0"/>
                  <a:t>GPU-to-GPU transfers require receiving the entire chunk before forwarding it to the next hop (End to End flows)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altLang="zh-CN" dirty="0"/>
                  <a:t>This creates an end-to-end delay that accumulates propagation (</a:t>
                </a:r>
                <a:r>
                  <a:rPr lang="el-GR" altLang="zh-CN" dirty="0"/>
                  <a:t>α) </a:t>
                </a:r>
                <a:r>
                  <a:rPr lang="en-GB" altLang="zh-CN" dirty="0"/>
                  <a:t>and transmission time (</a:t>
                </a:r>
                <a:r>
                  <a:rPr lang="el-GR" altLang="zh-CN" dirty="0"/>
                  <a:t>β) </a:t>
                </a:r>
                <a:r>
                  <a:rPr lang="en-GB" altLang="zh-CN" dirty="0"/>
                  <a:t>on every hop</a:t>
                </a:r>
              </a:p>
              <a:p>
                <a:r>
                  <a:rPr lang="en-GB" altLang="zh-CN" b="1" dirty="0">
                    <a:solidFill>
                      <a:srgbClr val="FF0000"/>
                    </a:solidFill>
                  </a:rPr>
                  <a:t>Transmission time: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GB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𝑺𝑭</m:t>
                        </m:r>
                      </m:sub>
                    </m:sSub>
                    <m:r>
                      <a:rPr lang="en-GB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d>
                      <m:dPr>
                        <m:ctrlPr>
                          <a:rPr lang="en-GB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lang="en-GB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d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𝒊𝒔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𝒕𝒉𝒆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𝒏𝒖𝒎𝒃𝒆𝒓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𝒐𝒇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𝒉𝒐𝒑𝒔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GB" altLang="zh-CN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7F074A91-E485-9EC9-B23B-7C787881C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078" y="1630017"/>
                <a:ext cx="7447714" cy="1779205"/>
              </a:xfrm>
              <a:prstGeom prst="rect">
                <a:avLst/>
              </a:prstGeom>
              <a:blipFill>
                <a:blip r:embed="rId9"/>
                <a:stretch>
                  <a:fillRect l="-681" t="-1418" b="-3546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563CBABC-AC30-CFBA-6CA9-B22A74AAAF09}"/>
                  </a:ext>
                </a:extLst>
              </p:cNvPr>
              <p:cNvSpPr txBox="1"/>
              <p:nvPr/>
            </p:nvSpPr>
            <p:spPr>
              <a:xfrm>
                <a:off x="3906074" y="4055165"/>
                <a:ext cx="7447714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/>
                  <a:t>We model the transmission type of Routers as Cut Through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altLang="zh-CN" dirty="0"/>
                  <a:t>A router can start forwarding as soon as the first part of the chunk arrives (packet level transmission from protocols)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altLang="zh-CN" dirty="0"/>
                  <a:t>End-to-end delay is dominated by propagation (</a:t>
                </a:r>
                <a:r>
                  <a:rPr lang="el-GR" altLang="zh-CN" dirty="0"/>
                  <a:t>α), </a:t>
                </a:r>
                <a:r>
                  <a:rPr lang="en-GB" altLang="zh-CN" dirty="0"/>
                  <a:t>with transmission time (</a:t>
                </a:r>
                <a:r>
                  <a:rPr lang="el-GR" altLang="zh-CN" dirty="0"/>
                  <a:t>β) </a:t>
                </a:r>
                <a:r>
                  <a:rPr lang="en-GB" altLang="zh-CN" dirty="0"/>
                  <a:t>determined by the bottleneck link only once</a:t>
                </a:r>
              </a:p>
              <a:p>
                <a:r>
                  <a:rPr lang="en-GB" altLang="zh-CN" b="1" dirty="0">
                    <a:solidFill>
                      <a:srgbClr val="FF0000"/>
                    </a:solidFill>
                  </a:rPr>
                  <a:t>Transmission time: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GB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𝑪𝑻</m:t>
                        </m:r>
                      </m:sub>
                    </m:sSub>
                    <m:r>
                      <a:rPr lang="en-GB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GB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GB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endParaRPr lang="en-GB" altLang="zh-CN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563CBABC-AC30-CFBA-6CA9-B22A74AAA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074" y="4055165"/>
                <a:ext cx="7447714" cy="1754326"/>
              </a:xfrm>
              <a:prstGeom prst="rect">
                <a:avLst/>
              </a:prstGeom>
              <a:blipFill>
                <a:blip r:embed="rId10"/>
                <a:stretch>
                  <a:fillRect l="-681" t="-1439" r="-681" b="-5036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0241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54" grpId="0" animBg="1"/>
      <p:bldP spid="55" grpId="0" animBg="1"/>
      <p:bldP spid="56" grpId="0" animBg="1"/>
      <p:bldP spid="64" grpId="0"/>
      <p:bldP spid="74" grpId="0"/>
      <p:bldP spid="75" grpId="0"/>
      <p:bldP spid="7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569EF1-B89A-D383-D01F-8611BDD70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>
                <a:ea typeface="Abel"/>
                <a:cs typeface="Abel"/>
                <a:sym typeface="Abel"/>
              </a:rPr>
              <a:t>Problem Statement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A68AFD-506F-5FAA-C599-91321213A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SCALE-CCL: A Scalable Collective Communication Library for Wide-Area Distributed Training, Jiaheng, INET4AI ’25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FD2A3A1-4DF7-EB06-019F-106A2472A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6</a:t>
            </a:fld>
            <a:endParaRPr lang="en-US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C62195B3-F744-7FA1-5CCC-227972CA6596}"/>
              </a:ext>
            </a:extLst>
          </p:cNvPr>
          <p:cNvGrpSpPr/>
          <p:nvPr/>
        </p:nvGrpSpPr>
        <p:grpSpPr>
          <a:xfrm>
            <a:off x="630016" y="3262723"/>
            <a:ext cx="932503" cy="850583"/>
            <a:chOff x="457719" y="4110708"/>
            <a:chExt cx="1198563" cy="1198563"/>
          </a:xfrm>
          <a:solidFill>
            <a:srgbClr val="004D82"/>
          </a:solidFill>
        </p:grpSpPr>
        <p:grpSp>
          <p:nvGrpSpPr>
            <p:cNvPr id="44" name="Gruppieren 6">
              <a:extLst>
                <a:ext uri="{FF2B5EF4-FFF2-40B4-BE49-F238E27FC236}">
                  <a16:creationId xmlns:a16="http://schemas.microsoft.com/office/drawing/2014/main" id="{70870CD6-1164-9E4E-13A5-8192FAA04CA2}"/>
                </a:ext>
              </a:extLst>
            </p:cNvPr>
            <p:cNvGrpSpPr/>
            <p:nvPr/>
          </p:nvGrpSpPr>
          <p:grpSpPr>
            <a:xfrm>
              <a:off x="457719" y="4110708"/>
              <a:ext cx="1198563" cy="1198563"/>
              <a:chOff x="779463" y="3076385"/>
              <a:chExt cx="1198563" cy="1198563"/>
            </a:xfrm>
            <a:grpFill/>
            <a:effectLst/>
          </p:grpSpPr>
          <p:sp>
            <p:nvSpPr>
              <p:cNvPr id="46" name="AutoShape 161" descr="© INSCALE GmbH, 26.05.2010&#10;http://www.presentationload.com/">
                <a:extLst>
                  <a:ext uri="{FF2B5EF4-FFF2-40B4-BE49-F238E27FC236}">
                    <a16:creationId xmlns:a16="http://schemas.microsoft.com/office/drawing/2014/main" id="{267A2686-2BC0-5C98-0365-FB19779D3575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33"/>
                </p:custDataLst>
              </p:nvPr>
            </p:nvSpPr>
            <p:spPr bwMode="gray">
              <a:xfrm>
                <a:off x="779463" y="3076385"/>
                <a:ext cx="1198563" cy="1198563"/>
              </a:xfrm>
              <a:prstGeom prst="rect">
                <a:avLst/>
              </a:prstGeom>
              <a:grpFill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635" kern="0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47" name="AutoShape 162" descr="© INSCALE GmbH, 26.05.2010&#10;http://www.presentationload.com/">
                <a:extLst>
                  <a:ext uri="{FF2B5EF4-FFF2-40B4-BE49-F238E27FC236}">
                    <a16:creationId xmlns:a16="http://schemas.microsoft.com/office/drawing/2014/main" id="{A3ECC5BD-6383-362F-100D-5D1A82C2769A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34"/>
                </p:custDataLst>
              </p:nvPr>
            </p:nvSpPr>
            <p:spPr bwMode="gray">
              <a:xfrm>
                <a:off x="843242" y="3140164"/>
                <a:ext cx="1071005" cy="1071005"/>
              </a:xfrm>
              <a:prstGeom prst="rect">
                <a:avLst/>
              </a:prstGeom>
              <a:grpFill/>
              <a:ln w="25400" cap="flat" cmpd="sng" algn="ctr">
                <a:solidFill>
                  <a:schemeClr val="bg1"/>
                </a:solidFill>
                <a:prstDash val="solid"/>
              </a:ln>
              <a:effectLst/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635" kern="0">
                  <a:solidFill>
                    <a:srgbClr val="000000"/>
                  </a:solidFill>
                  <a:latin typeface="Arial" panose="020B0604020202020204"/>
                  <a:cs typeface="+mn-cs"/>
                </a:endParaRPr>
              </a:p>
            </p:txBody>
          </p:sp>
          <p:sp>
            <p:nvSpPr>
              <p:cNvPr id="48" name="AutoShape 164" descr="© INSCALE GmbH, 26.05.2010&#10;http://www.presentationload.com/">
                <a:extLst>
                  <a:ext uri="{FF2B5EF4-FFF2-40B4-BE49-F238E27FC236}">
                    <a16:creationId xmlns:a16="http://schemas.microsoft.com/office/drawing/2014/main" id="{8A73C5C7-1079-38CC-E6BA-0ECEED62C19E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35"/>
                </p:custDataLst>
              </p:nvPr>
            </p:nvSpPr>
            <p:spPr bwMode="gray">
              <a:xfrm>
                <a:off x="891956" y="3178418"/>
                <a:ext cx="986769" cy="989176"/>
              </a:xfrm>
              <a:prstGeom prst="rect">
                <a:avLst/>
              </a:prstGeom>
              <a:grpFill/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635" kern="0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</p:grpSp>
        <p:sp>
          <p:nvSpPr>
            <p:cNvPr id="45" name="Freeform 88">
              <a:extLst>
                <a:ext uri="{FF2B5EF4-FFF2-40B4-BE49-F238E27FC236}">
                  <a16:creationId xmlns:a16="http://schemas.microsoft.com/office/drawing/2014/main" id="{91F33585-3803-542D-29EE-76B47A773328}"/>
                </a:ext>
              </a:extLst>
            </p:cNvPr>
            <p:cNvSpPr>
              <a:spLocks noChangeAspect="1" noEditPoints="1"/>
            </p:cNvSpPr>
            <p:nvPr>
              <p:custDataLst>
                <p:tags r:id="rId32"/>
              </p:custDataLst>
            </p:nvPr>
          </p:nvSpPr>
          <p:spPr bwMode="auto">
            <a:xfrm>
              <a:off x="669896" y="4305532"/>
              <a:ext cx="787400" cy="695325"/>
            </a:xfrm>
            <a:custGeom>
              <a:avLst/>
              <a:gdLst>
                <a:gd name="T0" fmla="*/ 2147483647 w 5398"/>
                <a:gd name="T1" fmla="*/ 2147483647 h 4763"/>
                <a:gd name="T2" fmla="*/ 2147483647 w 5398"/>
                <a:gd name="T3" fmla="*/ 2147483647 h 4763"/>
                <a:gd name="T4" fmla="*/ 2147483647 w 5398"/>
                <a:gd name="T5" fmla="*/ 2147483647 h 4763"/>
                <a:gd name="T6" fmla="*/ 2147483647 w 5398"/>
                <a:gd name="T7" fmla="*/ 2147483647 h 4763"/>
                <a:gd name="T8" fmla="*/ 2147483647 w 5398"/>
                <a:gd name="T9" fmla="*/ 2147483647 h 4763"/>
                <a:gd name="T10" fmla="*/ 2147483647 w 5398"/>
                <a:gd name="T11" fmla="*/ 2147483647 h 4763"/>
                <a:gd name="T12" fmla="*/ 2147483647 w 5398"/>
                <a:gd name="T13" fmla="*/ 2147483647 h 4763"/>
                <a:gd name="T14" fmla="*/ 2147483647 w 5398"/>
                <a:gd name="T15" fmla="*/ 2147483647 h 4763"/>
                <a:gd name="T16" fmla="*/ 2147483647 w 5398"/>
                <a:gd name="T17" fmla="*/ 2147483647 h 4763"/>
                <a:gd name="T18" fmla="*/ 2147483647 w 5398"/>
                <a:gd name="T19" fmla="*/ 2147483647 h 4763"/>
                <a:gd name="T20" fmla="*/ 2147483647 w 5398"/>
                <a:gd name="T21" fmla="*/ 2147483647 h 4763"/>
                <a:gd name="T22" fmla="*/ 2147483647 w 5398"/>
                <a:gd name="T23" fmla="*/ 2147483647 h 4763"/>
                <a:gd name="T24" fmla="*/ 2147483647 w 5398"/>
                <a:gd name="T25" fmla="*/ 2147483647 h 4763"/>
                <a:gd name="T26" fmla="*/ 2147483647 w 5398"/>
                <a:gd name="T27" fmla="*/ 2147483647 h 4763"/>
                <a:gd name="T28" fmla="*/ 2147483647 w 5398"/>
                <a:gd name="T29" fmla="*/ 2147483647 h 4763"/>
                <a:gd name="T30" fmla="*/ 2147483647 w 5398"/>
                <a:gd name="T31" fmla="*/ 2147483647 h 4763"/>
                <a:gd name="T32" fmla="*/ 2147483647 w 5398"/>
                <a:gd name="T33" fmla="*/ 2147483647 h 4763"/>
                <a:gd name="T34" fmla="*/ 2147483647 w 5398"/>
                <a:gd name="T35" fmla="*/ 2147483647 h 4763"/>
                <a:gd name="T36" fmla="*/ 2147483647 w 5398"/>
                <a:gd name="T37" fmla="*/ 2147483647 h 4763"/>
                <a:gd name="T38" fmla="*/ 2147483647 w 5398"/>
                <a:gd name="T39" fmla="*/ 2147483647 h 4763"/>
                <a:gd name="T40" fmla="*/ 2147483647 w 5398"/>
                <a:gd name="T41" fmla="*/ 2147483647 h 4763"/>
                <a:gd name="T42" fmla="*/ 2147483647 w 5398"/>
                <a:gd name="T43" fmla="*/ 2147483647 h 4763"/>
                <a:gd name="T44" fmla="*/ 2147483647 w 5398"/>
                <a:gd name="T45" fmla="*/ 2147483647 h 4763"/>
                <a:gd name="T46" fmla="*/ 2147483647 w 5398"/>
                <a:gd name="T47" fmla="*/ 2147483647 h 4763"/>
                <a:gd name="T48" fmla="*/ 2147483647 w 5398"/>
                <a:gd name="T49" fmla="*/ 2147483647 h 4763"/>
                <a:gd name="T50" fmla="*/ 2147483647 w 5398"/>
                <a:gd name="T51" fmla="*/ 2147483647 h 4763"/>
                <a:gd name="T52" fmla="*/ 2147483647 w 5398"/>
                <a:gd name="T53" fmla="*/ 2147483647 h 4763"/>
                <a:gd name="T54" fmla="*/ 2147483647 w 5398"/>
                <a:gd name="T55" fmla="*/ 2147483647 h 4763"/>
                <a:gd name="T56" fmla="*/ 2147483647 w 5398"/>
                <a:gd name="T57" fmla="*/ 2147483647 h 4763"/>
                <a:gd name="T58" fmla="*/ 2147483647 w 5398"/>
                <a:gd name="T59" fmla="*/ 2147483647 h 4763"/>
                <a:gd name="T60" fmla="*/ 2147483647 w 5398"/>
                <a:gd name="T61" fmla="*/ 2147483647 h 4763"/>
                <a:gd name="T62" fmla="*/ 2147483647 w 5398"/>
                <a:gd name="T63" fmla="*/ 2147483647 h 4763"/>
                <a:gd name="T64" fmla="*/ 2147483647 w 5398"/>
                <a:gd name="T65" fmla="*/ 2147483647 h 4763"/>
                <a:gd name="T66" fmla="*/ 2147483647 w 5398"/>
                <a:gd name="T67" fmla="*/ 2147483647 h 4763"/>
                <a:gd name="T68" fmla="*/ 2147483647 w 5398"/>
                <a:gd name="T69" fmla="*/ 2147483647 h 4763"/>
                <a:gd name="T70" fmla="*/ 2147483647 w 5398"/>
                <a:gd name="T71" fmla="*/ 2147483647 h 4763"/>
                <a:gd name="T72" fmla="*/ 2147483647 w 5398"/>
                <a:gd name="T73" fmla="*/ 2147483647 h 4763"/>
                <a:gd name="T74" fmla="*/ 2147483647 w 5398"/>
                <a:gd name="T75" fmla="*/ 2147483647 h 4763"/>
                <a:gd name="T76" fmla="*/ 2147483647 w 5398"/>
                <a:gd name="T77" fmla="*/ 2147483647 h 4763"/>
                <a:gd name="T78" fmla="*/ 2147483647 w 5398"/>
                <a:gd name="T79" fmla="*/ 2147483647 h 4763"/>
                <a:gd name="T80" fmla="*/ 2147483647 w 5398"/>
                <a:gd name="T81" fmla="*/ 2147483647 h 4763"/>
                <a:gd name="T82" fmla="*/ 2147483647 w 5398"/>
                <a:gd name="T83" fmla="*/ 2147483647 h 4763"/>
                <a:gd name="T84" fmla="*/ 2147483647 w 5398"/>
                <a:gd name="T85" fmla="*/ 2147483647 h 4763"/>
                <a:gd name="T86" fmla="*/ 2147483647 w 5398"/>
                <a:gd name="T87" fmla="*/ 2147483647 h 4763"/>
                <a:gd name="T88" fmla="*/ 2147483647 w 5398"/>
                <a:gd name="T89" fmla="*/ 2147483647 h 4763"/>
                <a:gd name="T90" fmla="*/ 2147483647 w 5398"/>
                <a:gd name="T91" fmla="*/ 2147483647 h 4763"/>
                <a:gd name="T92" fmla="*/ 2147483647 w 5398"/>
                <a:gd name="T93" fmla="*/ 2147483647 h 4763"/>
                <a:gd name="T94" fmla="*/ 2147483647 w 5398"/>
                <a:gd name="T95" fmla="*/ 2147483647 h 4763"/>
                <a:gd name="T96" fmla="*/ 2147483647 w 5398"/>
                <a:gd name="T97" fmla="*/ 2147483647 h 4763"/>
                <a:gd name="T98" fmla="*/ 2147483647 w 5398"/>
                <a:gd name="T99" fmla="*/ 2147483647 h 4763"/>
                <a:gd name="T100" fmla="*/ 2147483647 w 5398"/>
                <a:gd name="T101" fmla="*/ 2147483647 h 4763"/>
                <a:gd name="T102" fmla="*/ 2147483647 w 5398"/>
                <a:gd name="T103" fmla="*/ 2147483647 h 4763"/>
                <a:gd name="T104" fmla="*/ 2147483647 w 5398"/>
                <a:gd name="T105" fmla="*/ 2147483647 h 4763"/>
                <a:gd name="T106" fmla="*/ 2147483647 w 5398"/>
                <a:gd name="T107" fmla="*/ 2147483647 h 4763"/>
                <a:gd name="T108" fmla="*/ 2147483647 w 5398"/>
                <a:gd name="T109" fmla="*/ 2147483647 h 4763"/>
                <a:gd name="T110" fmla="*/ 2147483647 w 5398"/>
                <a:gd name="T111" fmla="*/ 2147483647 h 4763"/>
                <a:gd name="T112" fmla="*/ 2147483647 w 5398"/>
                <a:gd name="T113" fmla="*/ 2147483647 h 4763"/>
                <a:gd name="T114" fmla="*/ 2147483647 w 5398"/>
                <a:gd name="T115" fmla="*/ 2147483647 h 4763"/>
                <a:gd name="T116" fmla="*/ 2147483647 w 5398"/>
                <a:gd name="T117" fmla="*/ 2147483647 h 4763"/>
                <a:gd name="T118" fmla="*/ 2147483647 w 5398"/>
                <a:gd name="T119" fmla="*/ 2147483647 h 4763"/>
                <a:gd name="T120" fmla="*/ 2147483647 w 5398"/>
                <a:gd name="T121" fmla="*/ 2147483647 h 4763"/>
                <a:gd name="T122" fmla="*/ 2147483647 w 5398"/>
                <a:gd name="T123" fmla="*/ 2147483647 h 4763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5398"/>
                <a:gd name="T187" fmla="*/ 0 h 4763"/>
                <a:gd name="T188" fmla="*/ 5398 w 5398"/>
                <a:gd name="T189" fmla="*/ 4763 h 4763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5398" h="4763">
                  <a:moveTo>
                    <a:pt x="5307" y="3912"/>
                  </a:moveTo>
                  <a:lnTo>
                    <a:pt x="5307" y="3912"/>
                  </a:lnTo>
                  <a:lnTo>
                    <a:pt x="5328" y="3950"/>
                  </a:lnTo>
                  <a:lnTo>
                    <a:pt x="5345" y="3987"/>
                  </a:lnTo>
                  <a:lnTo>
                    <a:pt x="5360" y="4025"/>
                  </a:lnTo>
                  <a:lnTo>
                    <a:pt x="5374" y="4065"/>
                  </a:lnTo>
                  <a:lnTo>
                    <a:pt x="5383" y="4102"/>
                  </a:lnTo>
                  <a:lnTo>
                    <a:pt x="5391" y="4140"/>
                  </a:lnTo>
                  <a:lnTo>
                    <a:pt x="5395" y="4178"/>
                  </a:lnTo>
                  <a:lnTo>
                    <a:pt x="5398" y="4215"/>
                  </a:lnTo>
                  <a:lnTo>
                    <a:pt x="5398" y="4251"/>
                  </a:lnTo>
                  <a:lnTo>
                    <a:pt x="5397" y="4288"/>
                  </a:lnTo>
                  <a:lnTo>
                    <a:pt x="5391" y="4324"/>
                  </a:lnTo>
                  <a:lnTo>
                    <a:pt x="5384" y="4358"/>
                  </a:lnTo>
                  <a:lnTo>
                    <a:pt x="5376" y="4393"/>
                  </a:lnTo>
                  <a:lnTo>
                    <a:pt x="5366" y="4426"/>
                  </a:lnTo>
                  <a:lnTo>
                    <a:pt x="5352" y="4458"/>
                  </a:lnTo>
                  <a:lnTo>
                    <a:pt x="5337" y="4490"/>
                  </a:lnTo>
                  <a:lnTo>
                    <a:pt x="5319" y="4519"/>
                  </a:lnTo>
                  <a:lnTo>
                    <a:pt x="5301" y="4548"/>
                  </a:lnTo>
                  <a:lnTo>
                    <a:pt x="5279" y="4575"/>
                  </a:lnTo>
                  <a:lnTo>
                    <a:pt x="5256" y="4601"/>
                  </a:lnTo>
                  <a:lnTo>
                    <a:pt x="5230" y="4625"/>
                  </a:lnTo>
                  <a:lnTo>
                    <a:pt x="5204" y="4648"/>
                  </a:lnTo>
                  <a:lnTo>
                    <a:pt x="5176" y="4668"/>
                  </a:lnTo>
                  <a:lnTo>
                    <a:pt x="5145" y="4687"/>
                  </a:lnTo>
                  <a:lnTo>
                    <a:pt x="5114" y="4705"/>
                  </a:lnTo>
                  <a:lnTo>
                    <a:pt x="5080" y="4720"/>
                  </a:lnTo>
                  <a:lnTo>
                    <a:pt x="5045" y="4733"/>
                  </a:lnTo>
                  <a:lnTo>
                    <a:pt x="5008" y="4744"/>
                  </a:lnTo>
                  <a:lnTo>
                    <a:pt x="4970" y="4752"/>
                  </a:lnTo>
                  <a:lnTo>
                    <a:pt x="4931" y="4759"/>
                  </a:lnTo>
                  <a:lnTo>
                    <a:pt x="4889" y="4762"/>
                  </a:lnTo>
                  <a:lnTo>
                    <a:pt x="4847" y="4763"/>
                  </a:lnTo>
                  <a:lnTo>
                    <a:pt x="662" y="4762"/>
                  </a:lnTo>
                  <a:lnTo>
                    <a:pt x="605" y="4760"/>
                  </a:lnTo>
                  <a:lnTo>
                    <a:pt x="550" y="4755"/>
                  </a:lnTo>
                  <a:lnTo>
                    <a:pt x="498" y="4748"/>
                  </a:lnTo>
                  <a:lnTo>
                    <a:pt x="449" y="4737"/>
                  </a:lnTo>
                  <a:lnTo>
                    <a:pt x="402" y="4725"/>
                  </a:lnTo>
                  <a:lnTo>
                    <a:pt x="357" y="4710"/>
                  </a:lnTo>
                  <a:lnTo>
                    <a:pt x="317" y="4693"/>
                  </a:lnTo>
                  <a:lnTo>
                    <a:pt x="277" y="4672"/>
                  </a:lnTo>
                  <a:lnTo>
                    <a:pt x="241" y="4649"/>
                  </a:lnTo>
                  <a:lnTo>
                    <a:pt x="207" y="4626"/>
                  </a:lnTo>
                  <a:lnTo>
                    <a:pt x="176" y="4599"/>
                  </a:lnTo>
                  <a:lnTo>
                    <a:pt x="146" y="4571"/>
                  </a:lnTo>
                  <a:lnTo>
                    <a:pt x="120" y="4541"/>
                  </a:lnTo>
                  <a:lnTo>
                    <a:pt x="96" y="4510"/>
                  </a:lnTo>
                  <a:lnTo>
                    <a:pt x="76" y="4477"/>
                  </a:lnTo>
                  <a:lnTo>
                    <a:pt x="57" y="4444"/>
                  </a:lnTo>
                  <a:lnTo>
                    <a:pt x="41" y="4407"/>
                  </a:lnTo>
                  <a:lnTo>
                    <a:pt x="28" y="4370"/>
                  </a:lnTo>
                  <a:lnTo>
                    <a:pt x="18" y="4333"/>
                  </a:lnTo>
                  <a:lnTo>
                    <a:pt x="9" y="4295"/>
                  </a:lnTo>
                  <a:lnTo>
                    <a:pt x="3" y="4254"/>
                  </a:lnTo>
                  <a:lnTo>
                    <a:pt x="0" y="4215"/>
                  </a:lnTo>
                  <a:lnTo>
                    <a:pt x="0" y="4173"/>
                  </a:lnTo>
                  <a:lnTo>
                    <a:pt x="1" y="4132"/>
                  </a:lnTo>
                  <a:lnTo>
                    <a:pt x="7" y="4090"/>
                  </a:lnTo>
                  <a:lnTo>
                    <a:pt x="14" y="4048"/>
                  </a:lnTo>
                  <a:lnTo>
                    <a:pt x="23" y="4006"/>
                  </a:lnTo>
                  <a:lnTo>
                    <a:pt x="37" y="3964"/>
                  </a:lnTo>
                  <a:lnTo>
                    <a:pt x="51" y="3922"/>
                  </a:lnTo>
                  <a:lnTo>
                    <a:pt x="69" y="3881"/>
                  </a:lnTo>
                  <a:lnTo>
                    <a:pt x="88" y="3839"/>
                  </a:lnTo>
                  <a:lnTo>
                    <a:pt x="111" y="3797"/>
                  </a:lnTo>
                  <a:lnTo>
                    <a:pt x="2166" y="291"/>
                  </a:lnTo>
                  <a:lnTo>
                    <a:pt x="2189" y="254"/>
                  </a:lnTo>
                  <a:lnTo>
                    <a:pt x="2214" y="221"/>
                  </a:lnTo>
                  <a:lnTo>
                    <a:pt x="2241" y="189"/>
                  </a:lnTo>
                  <a:lnTo>
                    <a:pt x="2270" y="160"/>
                  </a:lnTo>
                  <a:lnTo>
                    <a:pt x="2301" y="134"/>
                  </a:lnTo>
                  <a:lnTo>
                    <a:pt x="2332" y="110"/>
                  </a:lnTo>
                  <a:lnTo>
                    <a:pt x="2366" y="88"/>
                  </a:lnTo>
                  <a:lnTo>
                    <a:pt x="2400" y="69"/>
                  </a:lnTo>
                  <a:lnTo>
                    <a:pt x="2435" y="53"/>
                  </a:lnTo>
                  <a:lnTo>
                    <a:pt x="2472" y="38"/>
                  </a:lnTo>
                  <a:lnTo>
                    <a:pt x="2508" y="26"/>
                  </a:lnTo>
                  <a:lnTo>
                    <a:pt x="2546" y="16"/>
                  </a:lnTo>
                  <a:lnTo>
                    <a:pt x="2584" y="8"/>
                  </a:lnTo>
                  <a:lnTo>
                    <a:pt x="2622" y="4"/>
                  </a:lnTo>
                  <a:lnTo>
                    <a:pt x="2661" y="1"/>
                  </a:lnTo>
                  <a:lnTo>
                    <a:pt x="2700" y="0"/>
                  </a:lnTo>
                  <a:lnTo>
                    <a:pt x="2738" y="3"/>
                  </a:lnTo>
                  <a:lnTo>
                    <a:pt x="2776" y="7"/>
                  </a:lnTo>
                  <a:lnTo>
                    <a:pt x="2815" y="14"/>
                  </a:lnTo>
                  <a:lnTo>
                    <a:pt x="2852" y="22"/>
                  </a:lnTo>
                  <a:lnTo>
                    <a:pt x="2890" y="32"/>
                  </a:lnTo>
                  <a:lnTo>
                    <a:pt x="2926" y="46"/>
                  </a:lnTo>
                  <a:lnTo>
                    <a:pt x="2962" y="61"/>
                  </a:lnTo>
                  <a:lnTo>
                    <a:pt x="2995" y="79"/>
                  </a:lnTo>
                  <a:lnTo>
                    <a:pt x="3029" y="97"/>
                  </a:lnTo>
                  <a:lnTo>
                    <a:pt x="3060" y="119"/>
                  </a:lnTo>
                  <a:lnTo>
                    <a:pt x="3092" y="142"/>
                  </a:lnTo>
                  <a:lnTo>
                    <a:pt x="3120" y="168"/>
                  </a:lnTo>
                  <a:lnTo>
                    <a:pt x="3147" y="196"/>
                  </a:lnTo>
                  <a:lnTo>
                    <a:pt x="3173" y="226"/>
                  </a:lnTo>
                  <a:lnTo>
                    <a:pt x="3196" y="259"/>
                  </a:lnTo>
                  <a:lnTo>
                    <a:pt x="3217" y="292"/>
                  </a:lnTo>
                  <a:lnTo>
                    <a:pt x="5307" y="3912"/>
                  </a:lnTo>
                  <a:close/>
                  <a:moveTo>
                    <a:pt x="5119" y="4020"/>
                  </a:moveTo>
                  <a:lnTo>
                    <a:pt x="3031" y="401"/>
                  </a:lnTo>
                  <a:lnTo>
                    <a:pt x="3017" y="379"/>
                  </a:lnTo>
                  <a:lnTo>
                    <a:pt x="3001" y="359"/>
                  </a:lnTo>
                  <a:lnTo>
                    <a:pt x="2985" y="340"/>
                  </a:lnTo>
                  <a:lnTo>
                    <a:pt x="2968" y="322"/>
                  </a:lnTo>
                  <a:lnTo>
                    <a:pt x="2949" y="306"/>
                  </a:lnTo>
                  <a:lnTo>
                    <a:pt x="2929" y="291"/>
                  </a:lnTo>
                  <a:lnTo>
                    <a:pt x="2909" y="277"/>
                  </a:lnTo>
                  <a:lnTo>
                    <a:pt x="2887" y="265"/>
                  </a:lnTo>
                  <a:lnTo>
                    <a:pt x="2865" y="254"/>
                  </a:lnTo>
                  <a:lnTo>
                    <a:pt x="2842" y="245"/>
                  </a:lnTo>
                  <a:lnTo>
                    <a:pt x="2819" y="237"/>
                  </a:lnTo>
                  <a:lnTo>
                    <a:pt x="2795" y="230"/>
                  </a:lnTo>
                  <a:lnTo>
                    <a:pt x="2771" y="225"/>
                  </a:lnTo>
                  <a:lnTo>
                    <a:pt x="2746" y="221"/>
                  </a:lnTo>
                  <a:lnTo>
                    <a:pt x="2721" y="218"/>
                  </a:lnTo>
                  <a:lnTo>
                    <a:pt x="2696" y="217"/>
                  </a:lnTo>
                  <a:lnTo>
                    <a:pt x="2671" y="218"/>
                  </a:lnTo>
                  <a:lnTo>
                    <a:pt x="2646" y="219"/>
                  </a:lnTo>
                  <a:lnTo>
                    <a:pt x="2620" y="222"/>
                  </a:lnTo>
                  <a:lnTo>
                    <a:pt x="2596" y="227"/>
                  </a:lnTo>
                  <a:lnTo>
                    <a:pt x="2572" y="233"/>
                  </a:lnTo>
                  <a:lnTo>
                    <a:pt x="2549" y="241"/>
                  </a:lnTo>
                  <a:lnTo>
                    <a:pt x="2524" y="250"/>
                  </a:lnTo>
                  <a:lnTo>
                    <a:pt x="2503" y="261"/>
                  </a:lnTo>
                  <a:lnTo>
                    <a:pt x="2480" y="273"/>
                  </a:lnTo>
                  <a:lnTo>
                    <a:pt x="2459" y="287"/>
                  </a:lnTo>
                  <a:lnTo>
                    <a:pt x="2439" y="302"/>
                  </a:lnTo>
                  <a:lnTo>
                    <a:pt x="2419" y="318"/>
                  </a:lnTo>
                  <a:lnTo>
                    <a:pt x="2401" y="337"/>
                  </a:lnTo>
                  <a:lnTo>
                    <a:pt x="2384" y="356"/>
                  </a:lnTo>
                  <a:lnTo>
                    <a:pt x="2367" y="378"/>
                  </a:lnTo>
                  <a:lnTo>
                    <a:pt x="2352" y="401"/>
                  </a:lnTo>
                  <a:lnTo>
                    <a:pt x="298" y="3906"/>
                  </a:lnTo>
                  <a:lnTo>
                    <a:pt x="282" y="3937"/>
                  </a:lnTo>
                  <a:lnTo>
                    <a:pt x="267" y="3967"/>
                  </a:lnTo>
                  <a:lnTo>
                    <a:pt x="253" y="3997"/>
                  </a:lnTo>
                  <a:lnTo>
                    <a:pt x="242" y="4027"/>
                  </a:lnTo>
                  <a:lnTo>
                    <a:pt x="233" y="4055"/>
                  </a:lnTo>
                  <a:lnTo>
                    <a:pt x="226" y="4085"/>
                  </a:lnTo>
                  <a:lnTo>
                    <a:pt x="221" y="4113"/>
                  </a:lnTo>
                  <a:lnTo>
                    <a:pt x="217" y="4142"/>
                  </a:lnTo>
                  <a:lnTo>
                    <a:pt x="214" y="4170"/>
                  </a:lnTo>
                  <a:lnTo>
                    <a:pt x="214" y="4197"/>
                  </a:lnTo>
                  <a:lnTo>
                    <a:pt x="215" y="4223"/>
                  </a:lnTo>
                  <a:lnTo>
                    <a:pt x="219" y="4250"/>
                  </a:lnTo>
                  <a:lnTo>
                    <a:pt x="225" y="4274"/>
                  </a:lnTo>
                  <a:lnTo>
                    <a:pt x="231" y="4300"/>
                  </a:lnTo>
                  <a:lnTo>
                    <a:pt x="240" y="4323"/>
                  </a:lnTo>
                  <a:lnTo>
                    <a:pt x="250" y="4346"/>
                  </a:lnTo>
                  <a:lnTo>
                    <a:pt x="263" y="4368"/>
                  </a:lnTo>
                  <a:lnTo>
                    <a:pt x="277" y="4389"/>
                  </a:lnTo>
                  <a:lnTo>
                    <a:pt x="294" y="4408"/>
                  </a:lnTo>
                  <a:lnTo>
                    <a:pt x="311" y="4427"/>
                  </a:lnTo>
                  <a:lnTo>
                    <a:pt x="330" y="4445"/>
                  </a:lnTo>
                  <a:lnTo>
                    <a:pt x="352" y="4461"/>
                  </a:lnTo>
                  <a:lnTo>
                    <a:pt x="375" y="4476"/>
                  </a:lnTo>
                  <a:lnTo>
                    <a:pt x="399" y="4491"/>
                  </a:lnTo>
                  <a:lnTo>
                    <a:pt x="426" y="4503"/>
                  </a:lnTo>
                  <a:lnTo>
                    <a:pt x="455" y="4514"/>
                  </a:lnTo>
                  <a:lnTo>
                    <a:pt x="485" y="4523"/>
                  </a:lnTo>
                  <a:lnTo>
                    <a:pt x="517" y="4530"/>
                  </a:lnTo>
                  <a:lnTo>
                    <a:pt x="551" y="4537"/>
                  </a:lnTo>
                  <a:lnTo>
                    <a:pt x="586" y="4541"/>
                  </a:lnTo>
                  <a:lnTo>
                    <a:pt x="623" y="4544"/>
                  </a:lnTo>
                  <a:lnTo>
                    <a:pt x="662" y="4545"/>
                  </a:lnTo>
                  <a:lnTo>
                    <a:pt x="4847" y="4546"/>
                  </a:lnTo>
                  <a:lnTo>
                    <a:pt x="4873" y="4546"/>
                  </a:lnTo>
                  <a:lnTo>
                    <a:pt x="4897" y="4544"/>
                  </a:lnTo>
                  <a:lnTo>
                    <a:pt x="4922" y="4541"/>
                  </a:lnTo>
                  <a:lnTo>
                    <a:pt x="4945" y="4536"/>
                  </a:lnTo>
                  <a:lnTo>
                    <a:pt x="4966" y="4529"/>
                  </a:lnTo>
                  <a:lnTo>
                    <a:pt x="4988" y="4522"/>
                  </a:lnTo>
                  <a:lnTo>
                    <a:pt x="5008" y="4513"/>
                  </a:lnTo>
                  <a:lnTo>
                    <a:pt x="5028" y="4503"/>
                  </a:lnTo>
                  <a:lnTo>
                    <a:pt x="5046" y="4492"/>
                  </a:lnTo>
                  <a:lnTo>
                    <a:pt x="5064" y="4480"/>
                  </a:lnTo>
                  <a:lnTo>
                    <a:pt x="5081" y="4467"/>
                  </a:lnTo>
                  <a:lnTo>
                    <a:pt x="5096" y="4453"/>
                  </a:lnTo>
                  <a:lnTo>
                    <a:pt x="5110" y="4437"/>
                  </a:lnTo>
                  <a:lnTo>
                    <a:pt x="5123" y="4421"/>
                  </a:lnTo>
                  <a:lnTo>
                    <a:pt x="5135" y="4404"/>
                  </a:lnTo>
                  <a:lnTo>
                    <a:pt x="5146" y="4387"/>
                  </a:lnTo>
                  <a:lnTo>
                    <a:pt x="5156" y="4368"/>
                  </a:lnTo>
                  <a:lnTo>
                    <a:pt x="5164" y="4349"/>
                  </a:lnTo>
                  <a:lnTo>
                    <a:pt x="5171" y="4329"/>
                  </a:lnTo>
                  <a:lnTo>
                    <a:pt x="5176" y="4307"/>
                  </a:lnTo>
                  <a:lnTo>
                    <a:pt x="5180" y="4285"/>
                  </a:lnTo>
                  <a:lnTo>
                    <a:pt x="5181" y="4264"/>
                  </a:lnTo>
                  <a:lnTo>
                    <a:pt x="5183" y="4241"/>
                  </a:lnTo>
                  <a:lnTo>
                    <a:pt x="5183" y="4218"/>
                  </a:lnTo>
                  <a:lnTo>
                    <a:pt x="5180" y="4195"/>
                  </a:lnTo>
                  <a:lnTo>
                    <a:pt x="5177" y="4170"/>
                  </a:lnTo>
                  <a:lnTo>
                    <a:pt x="5172" y="4146"/>
                  </a:lnTo>
                  <a:lnTo>
                    <a:pt x="5165" y="4121"/>
                  </a:lnTo>
                  <a:lnTo>
                    <a:pt x="5156" y="4096"/>
                  </a:lnTo>
                  <a:lnTo>
                    <a:pt x="5146" y="4071"/>
                  </a:lnTo>
                  <a:lnTo>
                    <a:pt x="5134" y="4046"/>
                  </a:lnTo>
                  <a:lnTo>
                    <a:pt x="5119" y="4020"/>
                  </a:lnTo>
                  <a:close/>
                  <a:moveTo>
                    <a:pt x="673" y="4253"/>
                  </a:moveTo>
                  <a:lnTo>
                    <a:pt x="673" y="4253"/>
                  </a:lnTo>
                  <a:lnTo>
                    <a:pt x="651" y="4251"/>
                  </a:lnTo>
                  <a:lnTo>
                    <a:pt x="631" y="4247"/>
                  </a:lnTo>
                  <a:lnTo>
                    <a:pt x="613" y="4242"/>
                  </a:lnTo>
                  <a:lnTo>
                    <a:pt x="597" y="4235"/>
                  </a:lnTo>
                  <a:lnTo>
                    <a:pt x="583" y="4226"/>
                  </a:lnTo>
                  <a:lnTo>
                    <a:pt x="573" y="4216"/>
                  </a:lnTo>
                  <a:lnTo>
                    <a:pt x="562" y="4204"/>
                  </a:lnTo>
                  <a:lnTo>
                    <a:pt x="555" y="4190"/>
                  </a:lnTo>
                  <a:lnTo>
                    <a:pt x="548" y="4177"/>
                  </a:lnTo>
                  <a:lnTo>
                    <a:pt x="545" y="4162"/>
                  </a:lnTo>
                  <a:lnTo>
                    <a:pt x="544" y="4146"/>
                  </a:lnTo>
                  <a:lnTo>
                    <a:pt x="544" y="4130"/>
                  </a:lnTo>
                  <a:lnTo>
                    <a:pt x="547" y="4113"/>
                  </a:lnTo>
                  <a:lnTo>
                    <a:pt x="551" y="4096"/>
                  </a:lnTo>
                  <a:lnTo>
                    <a:pt x="558" y="4079"/>
                  </a:lnTo>
                  <a:lnTo>
                    <a:pt x="567" y="4062"/>
                  </a:lnTo>
                  <a:lnTo>
                    <a:pt x="2615" y="555"/>
                  </a:lnTo>
                  <a:lnTo>
                    <a:pt x="2622" y="544"/>
                  </a:lnTo>
                  <a:lnTo>
                    <a:pt x="2630" y="536"/>
                  </a:lnTo>
                  <a:lnTo>
                    <a:pt x="2639" y="528"/>
                  </a:lnTo>
                  <a:lnTo>
                    <a:pt x="2650" y="522"/>
                  </a:lnTo>
                  <a:lnTo>
                    <a:pt x="2662" y="518"/>
                  </a:lnTo>
                  <a:lnTo>
                    <a:pt x="2675" y="514"/>
                  </a:lnTo>
                  <a:lnTo>
                    <a:pt x="2687" y="513"/>
                  </a:lnTo>
                  <a:lnTo>
                    <a:pt x="2699" y="512"/>
                  </a:lnTo>
                  <a:lnTo>
                    <a:pt x="2711" y="513"/>
                  </a:lnTo>
                  <a:lnTo>
                    <a:pt x="2725" y="514"/>
                  </a:lnTo>
                  <a:lnTo>
                    <a:pt x="2736" y="518"/>
                  </a:lnTo>
                  <a:lnTo>
                    <a:pt x="2748" y="522"/>
                  </a:lnTo>
                  <a:lnTo>
                    <a:pt x="2759" y="528"/>
                  </a:lnTo>
                  <a:lnTo>
                    <a:pt x="2768" y="536"/>
                  </a:lnTo>
                  <a:lnTo>
                    <a:pt x="2776" y="544"/>
                  </a:lnTo>
                  <a:lnTo>
                    <a:pt x="2783" y="555"/>
                  </a:lnTo>
                  <a:lnTo>
                    <a:pt x="4832" y="4062"/>
                  </a:lnTo>
                  <a:lnTo>
                    <a:pt x="4840" y="4079"/>
                  </a:lnTo>
                  <a:lnTo>
                    <a:pt x="4847" y="4096"/>
                  </a:lnTo>
                  <a:lnTo>
                    <a:pt x="4851" y="4113"/>
                  </a:lnTo>
                  <a:lnTo>
                    <a:pt x="4854" y="4130"/>
                  </a:lnTo>
                  <a:lnTo>
                    <a:pt x="4855" y="4146"/>
                  </a:lnTo>
                  <a:lnTo>
                    <a:pt x="4853" y="4162"/>
                  </a:lnTo>
                  <a:lnTo>
                    <a:pt x="4850" y="4177"/>
                  </a:lnTo>
                  <a:lnTo>
                    <a:pt x="4844" y="4190"/>
                  </a:lnTo>
                  <a:lnTo>
                    <a:pt x="4836" y="4204"/>
                  </a:lnTo>
                  <a:lnTo>
                    <a:pt x="4827" y="4216"/>
                  </a:lnTo>
                  <a:lnTo>
                    <a:pt x="4815" y="4226"/>
                  </a:lnTo>
                  <a:lnTo>
                    <a:pt x="4801" y="4235"/>
                  </a:lnTo>
                  <a:lnTo>
                    <a:pt x="4785" y="4242"/>
                  </a:lnTo>
                  <a:lnTo>
                    <a:pt x="4767" y="4247"/>
                  </a:lnTo>
                  <a:lnTo>
                    <a:pt x="4747" y="4251"/>
                  </a:lnTo>
                  <a:lnTo>
                    <a:pt x="4725" y="4253"/>
                  </a:lnTo>
                  <a:lnTo>
                    <a:pt x="673" y="4253"/>
                  </a:lnTo>
                  <a:close/>
                  <a:moveTo>
                    <a:pt x="2699" y="639"/>
                  </a:moveTo>
                  <a:lnTo>
                    <a:pt x="661" y="4117"/>
                  </a:lnTo>
                  <a:lnTo>
                    <a:pt x="658" y="4121"/>
                  </a:lnTo>
                  <a:lnTo>
                    <a:pt x="658" y="4125"/>
                  </a:lnTo>
                  <a:lnTo>
                    <a:pt x="658" y="4130"/>
                  </a:lnTo>
                  <a:lnTo>
                    <a:pt x="659" y="4135"/>
                  </a:lnTo>
                  <a:lnTo>
                    <a:pt x="662" y="4138"/>
                  </a:lnTo>
                  <a:lnTo>
                    <a:pt x="665" y="4142"/>
                  </a:lnTo>
                  <a:lnTo>
                    <a:pt x="669" y="4143"/>
                  </a:lnTo>
                  <a:lnTo>
                    <a:pt x="673" y="4144"/>
                  </a:lnTo>
                  <a:lnTo>
                    <a:pt x="4725" y="4144"/>
                  </a:lnTo>
                  <a:lnTo>
                    <a:pt x="4729" y="4143"/>
                  </a:lnTo>
                  <a:lnTo>
                    <a:pt x="4733" y="4142"/>
                  </a:lnTo>
                  <a:lnTo>
                    <a:pt x="4736" y="4138"/>
                  </a:lnTo>
                  <a:lnTo>
                    <a:pt x="4739" y="4135"/>
                  </a:lnTo>
                  <a:lnTo>
                    <a:pt x="4740" y="4130"/>
                  </a:lnTo>
                  <a:lnTo>
                    <a:pt x="4740" y="4125"/>
                  </a:lnTo>
                  <a:lnTo>
                    <a:pt x="4740" y="4121"/>
                  </a:lnTo>
                  <a:lnTo>
                    <a:pt x="4737" y="4117"/>
                  </a:lnTo>
                  <a:lnTo>
                    <a:pt x="2699" y="639"/>
                  </a:lnTo>
                  <a:close/>
                  <a:moveTo>
                    <a:pt x="2851" y="3051"/>
                  </a:moveTo>
                  <a:lnTo>
                    <a:pt x="2547" y="3051"/>
                  </a:lnTo>
                  <a:lnTo>
                    <a:pt x="2473" y="2428"/>
                  </a:lnTo>
                  <a:lnTo>
                    <a:pt x="2473" y="1494"/>
                  </a:lnTo>
                  <a:lnTo>
                    <a:pt x="2928" y="1494"/>
                  </a:lnTo>
                  <a:lnTo>
                    <a:pt x="2928" y="2428"/>
                  </a:lnTo>
                  <a:lnTo>
                    <a:pt x="2851" y="3051"/>
                  </a:lnTo>
                  <a:close/>
                  <a:moveTo>
                    <a:pt x="2975" y="3525"/>
                  </a:moveTo>
                  <a:lnTo>
                    <a:pt x="2975" y="3525"/>
                  </a:lnTo>
                  <a:lnTo>
                    <a:pt x="2974" y="3552"/>
                  </a:lnTo>
                  <a:lnTo>
                    <a:pt x="2970" y="3579"/>
                  </a:lnTo>
                  <a:lnTo>
                    <a:pt x="2962" y="3606"/>
                  </a:lnTo>
                  <a:lnTo>
                    <a:pt x="2952" y="3631"/>
                  </a:lnTo>
                  <a:lnTo>
                    <a:pt x="2940" y="3656"/>
                  </a:lnTo>
                  <a:lnTo>
                    <a:pt x="2926" y="3677"/>
                  </a:lnTo>
                  <a:lnTo>
                    <a:pt x="2910" y="3699"/>
                  </a:lnTo>
                  <a:lnTo>
                    <a:pt x="2893" y="3718"/>
                  </a:lnTo>
                  <a:lnTo>
                    <a:pt x="2872" y="3737"/>
                  </a:lnTo>
                  <a:lnTo>
                    <a:pt x="2851" y="3753"/>
                  </a:lnTo>
                  <a:lnTo>
                    <a:pt x="2828" y="3767"/>
                  </a:lnTo>
                  <a:lnTo>
                    <a:pt x="2803" y="3779"/>
                  </a:lnTo>
                  <a:lnTo>
                    <a:pt x="2779" y="3788"/>
                  </a:lnTo>
                  <a:lnTo>
                    <a:pt x="2753" y="3795"/>
                  </a:lnTo>
                  <a:lnTo>
                    <a:pt x="2726" y="3799"/>
                  </a:lnTo>
                  <a:lnTo>
                    <a:pt x="2699" y="3801"/>
                  </a:lnTo>
                  <a:lnTo>
                    <a:pt x="2672" y="3799"/>
                  </a:lnTo>
                  <a:lnTo>
                    <a:pt x="2645" y="3795"/>
                  </a:lnTo>
                  <a:lnTo>
                    <a:pt x="2619" y="3788"/>
                  </a:lnTo>
                  <a:lnTo>
                    <a:pt x="2593" y="3779"/>
                  </a:lnTo>
                  <a:lnTo>
                    <a:pt x="2569" y="3767"/>
                  </a:lnTo>
                  <a:lnTo>
                    <a:pt x="2546" y="3753"/>
                  </a:lnTo>
                  <a:lnTo>
                    <a:pt x="2526" y="3737"/>
                  </a:lnTo>
                  <a:lnTo>
                    <a:pt x="2505" y="3718"/>
                  </a:lnTo>
                  <a:lnTo>
                    <a:pt x="2488" y="3699"/>
                  </a:lnTo>
                  <a:lnTo>
                    <a:pt x="2472" y="3677"/>
                  </a:lnTo>
                  <a:lnTo>
                    <a:pt x="2458" y="3656"/>
                  </a:lnTo>
                  <a:lnTo>
                    <a:pt x="2446" y="3631"/>
                  </a:lnTo>
                  <a:lnTo>
                    <a:pt x="2436" y="3606"/>
                  </a:lnTo>
                  <a:lnTo>
                    <a:pt x="2430" y="3579"/>
                  </a:lnTo>
                  <a:lnTo>
                    <a:pt x="2426" y="3552"/>
                  </a:lnTo>
                  <a:lnTo>
                    <a:pt x="2424" y="3525"/>
                  </a:lnTo>
                  <a:lnTo>
                    <a:pt x="2426" y="3496"/>
                  </a:lnTo>
                  <a:lnTo>
                    <a:pt x="2430" y="3470"/>
                  </a:lnTo>
                  <a:lnTo>
                    <a:pt x="2436" y="3445"/>
                  </a:lnTo>
                  <a:lnTo>
                    <a:pt x="2446" y="3419"/>
                  </a:lnTo>
                  <a:lnTo>
                    <a:pt x="2458" y="3395"/>
                  </a:lnTo>
                  <a:lnTo>
                    <a:pt x="2472" y="3372"/>
                  </a:lnTo>
                  <a:lnTo>
                    <a:pt x="2488" y="3350"/>
                  </a:lnTo>
                  <a:lnTo>
                    <a:pt x="2505" y="3331"/>
                  </a:lnTo>
                  <a:lnTo>
                    <a:pt x="2526" y="3312"/>
                  </a:lnTo>
                  <a:lnTo>
                    <a:pt x="2546" y="3297"/>
                  </a:lnTo>
                  <a:lnTo>
                    <a:pt x="2569" y="3282"/>
                  </a:lnTo>
                  <a:lnTo>
                    <a:pt x="2593" y="3270"/>
                  </a:lnTo>
                  <a:lnTo>
                    <a:pt x="2619" y="3261"/>
                  </a:lnTo>
                  <a:lnTo>
                    <a:pt x="2645" y="3254"/>
                  </a:lnTo>
                  <a:lnTo>
                    <a:pt x="2672" y="3250"/>
                  </a:lnTo>
                  <a:lnTo>
                    <a:pt x="2699" y="3248"/>
                  </a:lnTo>
                  <a:lnTo>
                    <a:pt x="2726" y="3250"/>
                  </a:lnTo>
                  <a:lnTo>
                    <a:pt x="2753" y="3254"/>
                  </a:lnTo>
                  <a:lnTo>
                    <a:pt x="2779" y="3261"/>
                  </a:lnTo>
                  <a:lnTo>
                    <a:pt x="2803" y="3270"/>
                  </a:lnTo>
                  <a:lnTo>
                    <a:pt x="2828" y="3282"/>
                  </a:lnTo>
                  <a:lnTo>
                    <a:pt x="2851" y="3297"/>
                  </a:lnTo>
                  <a:lnTo>
                    <a:pt x="2872" y="3312"/>
                  </a:lnTo>
                  <a:lnTo>
                    <a:pt x="2893" y="3331"/>
                  </a:lnTo>
                  <a:lnTo>
                    <a:pt x="2910" y="3350"/>
                  </a:lnTo>
                  <a:lnTo>
                    <a:pt x="2926" y="3372"/>
                  </a:lnTo>
                  <a:lnTo>
                    <a:pt x="2940" y="3395"/>
                  </a:lnTo>
                  <a:lnTo>
                    <a:pt x="2952" y="3419"/>
                  </a:lnTo>
                  <a:lnTo>
                    <a:pt x="2962" y="3445"/>
                  </a:lnTo>
                  <a:lnTo>
                    <a:pt x="2970" y="3470"/>
                  </a:lnTo>
                  <a:lnTo>
                    <a:pt x="2974" y="3496"/>
                  </a:lnTo>
                  <a:lnTo>
                    <a:pt x="2975" y="3525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spcBef>
                  <a:spcPct val="20000"/>
                </a:spcBef>
              </a:pPr>
              <a:endParaRPr lang="de-DE" sz="2185">
                <a:solidFill>
                  <a:srgbClr val="000000"/>
                </a:solidFill>
              </a:endParaRPr>
            </a:p>
          </p:txBody>
        </p:sp>
      </p:grpSp>
      <p:cxnSp>
        <p:nvCxnSpPr>
          <p:cNvPr id="8" name="Gerade Verbindung 125">
            <a:extLst>
              <a:ext uri="{FF2B5EF4-FFF2-40B4-BE49-F238E27FC236}">
                <a16:creationId xmlns:a16="http://schemas.microsoft.com/office/drawing/2014/main" id="{B427E3C7-D3C8-5D63-4459-2158B1D2ED8B}"/>
              </a:ext>
            </a:extLst>
          </p:cNvPr>
          <p:cNvCxnSpPr>
            <a:stCxn id="46" idx="3"/>
          </p:cNvCxnSpPr>
          <p:nvPr>
            <p:custDataLst>
              <p:tags r:id="rId1"/>
            </p:custDataLst>
          </p:nvPr>
        </p:nvCxnSpPr>
        <p:spPr bwMode="gray">
          <a:xfrm>
            <a:off x="1562519" y="3688015"/>
            <a:ext cx="445754" cy="0"/>
          </a:xfrm>
          <a:prstGeom prst="line">
            <a:avLst/>
          </a:prstGeom>
          <a:ln w="12700">
            <a:solidFill>
              <a:srgbClr val="004D8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Gerade Verbindung 126">
            <a:extLst>
              <a:ext uri="{FF2B5EF4-FFF2-40B4-BE49-F238E27FC236}">
                <a16:creationId xmlns:a16="http://schemas.microsoft.com/office/drawing/2014/main" id="{58D5AE0A-BBE2-2CB6-86CE-1FDBEC76BAFE}"/>
              </a:ext>
            </a:extLst>
          </p:cNvPr>
          <p:cNvCxnSpPr>
            <a:cxnSpLocks/>
            <a:endCxn id="36" idx="1"/>
          </p:cNvCxnSpPr>
          <p:nvPr>
            <p:custDataLst>
              <p:tags r:id="rId2"/>
            </p:custDataLst>
          </p:nvPr>
        </p:nvCxnSpPr>
        <p:spPr bwMode="gray">
          <a:xfrm>
            <a:off x="2028431" y="3364516"/>
            <a:ext cx="1575732" cy="0"/>
          </a:xfrm>
          <a:prstGeom prst="line">
            <a:avLst/>
          </a:prstGeom>
          <a:ln w="12700">
            <a:solidFill>
              <a:srgbClr val="004D8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Gerade Verbindung 127">
            <a:extLst>
              <a:ext uri="{FF2B5EF4-FFF2-40B4-BE49-F238E27FC236}">
                <a16:creationId xmlns:a16="http://schemas.microsoft.com/office/drawing/2014/main" id="{3423F265-3AEC-67D9-0265-471E53AAADED}"/>
              </a:ext>
            </a:extLst>
          </p:cNvPr>
          <p:cNvCxnSpPr>
            <a:cxnSpLocks/>
            <a:endCxn id="42" idx="1"/>
          </p:cNvCxnSpPr>
          <p:nvPr>
            <p:custDataLst>
              <p:tags r:id="rId3"/>
            </p:custDataLst>
          </p:nvPr>
        </p:nvCxnSpPr>
        <p:spPr bwMode="gray">
          <a:xfrm>
            <a:off x="2028431" y="2032640"/>
            <a:ext cx="1636440" cy="1681"/>
          </a:xfrm>
          <a:prstGeom prst="line">
            <a:avLst/>
          </a:prstGeom>
          <a:ln w="12700">
            <a:solidFill>
              <a:srgbClr val="004D8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Gerade Verbindung 128">
            <a:extLst>
              <a:ext uri="{FF2B5EF4-FFF2-40B4-BE49-F238E27FC236}">
                <a16:creationId xmlns:a16="http://schemas.microsoft.com/office/drawing/2014/main" id="{155204A8-E4C2-C53F-DC85-B3D6B0E86E0F}"/>
              </a:ext>
            </a:extLst>
          </p:cNvPr>
          <p:cNvCxnSpPr>
            <a:cxnSpLocks/>
            <a:endCxn id="31" idx="1"/>
          </p:cNvCxnSpPr>
          <p:nvPr>
            <p:custDataLst>
              <p:tags r:id="rId4"/>
            </p:custDataLst>
          </p:nvPr>
        </p:nvCxnSpPr>
        <p:spPr bwMode="gray">
          <a:xfrm flipV="1">
            <a:off x="2004927" y="5581358"/>
            <a:ext cx="1639175" cy="15426"/>
          </a:xfrm>
          <a:prstGeom prst="line">
            <a:avLst/>
          </a:prstGeom>
          <a:ln w="12700">
            <a:solidFill>
              <a:srgbClr val="004D8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4">
            <a:extLst>
              <a:ext uri="{FF2B5EF4-FFF2-40B4-BE49-F238E27FC236}">
                <a16:creationId xmlns:a16="http://schemas.microsoft.com/office/drawing/2014/main" id="{B5AC7831-7AA3-FF4F-4031-E0C8B56B544A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>
            <a:off x="2008274" y="2036867"/>
            <a:ext cx="3640" cy="3581089"/>
          </a:xfrm>
          <a:prstGeom prst="line">
            <a:avLst/>
          </a:prstGeom>
          <a:ln w="12700">
            <a:solidFill>
              <a:srgbClr val="004D8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Gerade Verbindung 126">
            <a:extLst>
              <a:ext uri="{FF2B5EF4-FFF2-40B4-BE49-F238E27FC236}">
                <a16:creationId xmlns:a16="http://schemas.microsoft.com/office/drawing/2014/main" id="{85BE7107-17B8-9BA3-DDED-5374E658F488}"/>
              </a:ext>
            </a:extLst>
          </p:cNvPr>
          <p:cNvCxnSpPr>
            <a:cxnSpLocks/>
            <a:endCxn id="33" idx="1"/>
          </p:cNvCxnSpPr>
          <p:nvPr>
            <p:custDataLst>
              <p:tags r:id="rId6"/>
            </p:custDataLst>
          </p:nvPr>
        </p:nvCxnSpPr>
        <p:spPr bwMode="gray">
          <a:xfrm>
            <a:off x="2011914" y="4440904"/>
            <a:ext cx="1575719" cy="3714"/>
          </a:xfrm>
          <a:prstGeom prst="line">
            <a:avLst/>
          </a:prstGeom>
          <a:ln w="12700">
            <a:solidFill>
              <a:srgbClr val="004D8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14" name="Group 16">
            <a:extLst>
              <a:ext uri="{FF2B5EF4-FFF2-40B4-BE49-F238E27FC236}">
                <a16:creationId xmlns:a16="http://schemas.microsoft.com/office/drawing/2014/main" id="{C15B7B07-3ED5-4EA8-2CAD-3B051482AE4E}"/>
              </a:ext>
            </a:extLst>
          </p:cNvPr>
          <p:cNvGrpSpPr/>
          <p:nvPr/>
        </p:nvGrpSpPr>
        <p:grpSpPr>
          <a:xfrm>
            <a:off x="3620153" y="1656047"/>
            <a:ext cx="840352" cy="756547"/>
            <a:chOff x="4981926" y="1148181"/>
            <a:chExt cx="1080120" cy="1066056"/>
          </a:xfrm>
          <a:solidFill>
            <a:srgbClr val="004D82"/>
          </a:solidFill>
        </p:grpSpPr>
        <p:grpSp>
          <p:nvGrpSpPr>
            <p:cNvPr id="39" name="Gruppieren 6">
              <a:extLst>
                <a:ext uri="{FF2B5EF4-FFF2-40B4-BE49-F238E27FC236}">
                  <a16:creationId xmlns:a16="http://schemas.microsoft.com/office/drawing/2014/main" id="{D077A1C7-7B63-675E-94AE-F75C8190B06A}"/>
                </a:ext>
              </a:extLst>
            </p:cNvPr>
            <p:cNvGrpSpPr/>
            <p:nvPr/>
          </p:nvGrpSpPr>
          <p:grpSpPr>
            <a:xfrm>
              <a:off x="4981926" y="1148181"/>
              <a:ext cx="1080120" cy="1066056"/>
              <a:chOff x="779463" y="3076385"/>
              <a:chExt cx="1198563" cy="1198563"/>
            </a:xfrm>
            <a:grpFill/>
            <a:effectLst/>
          </p:grpSpPr>
          <p:sp>
            <p:nvSpPr>
              <p:cNvPr id="41" name="AutoShape 161" descr="© INSCALE GmbH, 26.05.2010&#10;http://www.presentationload.com/">
                <a:extLst>
                  <a:ext uri="{FF2B5EF4-FFF2-40B4-BE49-F238E27FC236}">
                    <a16:creationId xmlns:a16="http://schemas.microsoft.com/office/drawing/2014/main" id="{39523B25-AE33-C150-4D78-327F19BA5E19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29"/>
                </p:custDataLst>
              </p:nvPr>
            </p:nvSpPr>
            <p:spPr bwMode="gray">
              <a:xfrm>
                <a:off x="779463" y="3076385"/>
                <a:ext cx="1198563" cy="1198563"/>
              </a:xfrm>
              <a:prstGeom prst="rect">
                <a:avLst/>
              </a:prstGeom>
              <a:grpFill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635" kern="0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42" name="AutoShape 162" descr="© INSCALE GmbH, 26.05.2010&#10;http://www.presentationload.com/">
                <a:extLst>
                  <a:ext uri="{FF2B5EF4-FFF2-40B4-BE49-F238E27FC236}">
                    <a16:creationId xmlns:a16="http://schemas.microsoft.com/office/drawing/2014/main" id="{116F4A60-F866-DBBE-4B61-ECDDF8DDA295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30"/>
                </p:custDataLst>
              </p:nvPr>
            </p:nvSpPr>
            <p:spPr bwMode="gray">
              <a:xfrm>
                <a:off x="843242" y="3140164"/>
                <a:ext cx="1071005" cy="1071005"/>
              </a:xfrm>
              <a:prstGeom prst="rect">
                <a:avLst/>
              </a:prstGeom>
              <a:grpFill/>
              <a:ln w="25400" cap="flat" cmpd="sng" algn="ctr">
                <a:solidFill>
                  <a:schemeClr val="bg1"/>
                </a:solidFill>
                <a:prstDash val="solid"/>
              </a:ln>
              <a:effectLst/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635" kern="0">
                  <a:solidFill>
                    <a:srgbClr val="000000"/>
                  </a:solidFill>
                  <a:latin typeface="Arial" panose="020B0604020202020204"/>
                  <a:cs typeface="+mn-cs"/>
                </a:endParaRPr>
              </a:p>
            </p:txBody>
          </p:sp>
          <p:sp>
            <p:nvSpPr>
              <p:cNvPr id="43" name="AutoShape 164" descr="© INSCALE GmbH, 26.05.2010&#10;http://www.presentationload.com/">
                <a:extLst>
                  <a:ext uri="{FF2B5EF4-FFF2-40B4-BE49-F238E27FC236}">
                    <a16:creationId xmlns:a16="http://schemas.microsoft.com/office/drawing/2014/main" id="{9FC591F7-EC3F-A01E-9697-40AFA1628259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31"/>
                </p:custDataLst>
              </p:nvPr>
            </p:nvSpPr>
            <p:spPr bwMode="gray">
              <a:xfrm>
                <a:off x="891956" y="3178418"/>
                <a:ext cx="986769" cy="989176"/>
              </a:xfrm>
              <a:prstGeom prst="rect">
                <a:avLst/>
              </a:prstGeom>
              <a:grpFill/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635" kern="0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</p:grp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DB6C0DB3-ED94-3329-0CF5-EDE8075E1E17}"/>
                </a:ext>
              </a:extLst>
            </p:cNvPr>
            <p:cNvSpPr>
              <a:spLocks noChangeAspect="1" noEditPoints="1"/>
            </p:cNvSpPr>
            <p:nvPr>
              <p:custDataLst>
                <p:tags r:id="rId28"/>
              </p:custDataLst>
            </p:nvPr>
          </p:nvSpPr>
          <p:spPr bwMode="auto">
            <a:xfrm>
              <a:off x="5230948" y="1516288"/>
              <a:ext cx="582077" cy="329842"/>
            </a:xfrm>
            <a:custGeom>
              <a:avLst/>
              <a:gdLst>
                <a:gd name="T0" fmla="*/ 2147483647 w 6734"/>
                <a:gd name="T1" fmla="*/ 2147483647 h 3835"/>
                <a:gd name="T2" fmla="*/ 2147483647 w 6734"/>
                <a:gd name="T3" fmla="*/ 2147483647 h 3835"/>
                <a:gd name="T4" fmla="*/ 2147483647 w 6734"/>
                <a:gd name="T5" fmla="*/ 2147483647 h 3835"/>
                <a:gd name="T6" fmla="*/ 2147483647 w 6734"/>
                <a:gd name="T7" fmla="*/ 2147483647 h 3835"/>
                <a:gd name="T8" fmla="*/ 2147483647 w 6734"/>
                <a:gd name="T9" fmla="*/ 2147483647 h 3835"/>
                <a:gd name="T10" fmla="*/ 2147483647 w 6734"/>
                <a:gd name="T11" fmla="*/ 2147483647 h 3835"/>
                <a:gd name="T12" fmla="*/ 2147483647 w 6734"/>
                <a:gd name="T13" fmla="*/ 2147483647 h 3835"/>
                <a:gd name="T14" fmla="*/ 2147483647 w 6734"/>
                <a:gd name="T15" fmla="*/ 2147483647 h 3835"/>
                <a:gd name="T16" fmla="*/ 2147483647 w 6734"/>
                <a:gd name="T17" fmla="*/ 2147483647 h 3835"/>
                <a:gd name="T18" fmla="*/ 2147483647 w 6734"/>
                <a:gd name="T19" fmla="*/ 2147483647 h 3835"/>
                <a:gd name="T20" fmla="*/ 2147483647 w 6734"/>
                <a:gd name="T21" fmla="*/ 2147483647 h 3835"/>
                <a:gd name="T22" fmla="*/ 2147483647 w 6734"/>
                <a:gd name="T23" fmla="*/ 2147483647 h 3835"/>
                <a:gd name="T24" fmla="*/ 2147483647 w 6734"/>
                <a:gd name="T25" fmla="*/ 2147483647 h 3835"/>
                <a:gd name="T26" fmla="*/ 2147483647 w 6734"/>
                <a:gd name="T27" fmla="*/ 2147483647 h 3835"/>
                <a:gd name="T28" fmla="*/ 2147483647 w 6734"/>
                <a:gd name="T29" fmla="*/ 2147483647 h 3835"/>
                <a:gd name="T30" fmla="*/ 2147483647 w 6734"/>
                <a:gd name="T31" fmla="*/ 2147483647 h 3835"/>
                <a:gd name="T32" fmla="*/ 2147483647 w 6734"/>
                <a:gd name="T33" fmla="*/ 2147483647 h 3835"/>
                <a:gd name="T34" fmla="*/ 2147483647 w 6734"/>
                <a:gd name="T35" fmla="*/ 2147483647 h 3835"/>
                <a:gd name="T36" fmla="*/ 2147483647 w 6734"/>
                <a:gd name="T37" fmla="*/ 2147483647 h 3835"/>
                <a:gd name="T38" fmla="*/ 2147483647 w 6734"/>
                <a:gd name="T39" fmla="*/ 2147483647 h 3835"/>
                <a:gd name="T40" fmla="*/ 2147483647 w 6734"/>
                <a:gd name="T41" fmla="*/ 2147483647 h 3835"/>
                <a:gd name="T42" fmla="*/ 2147483647 w 6734"/>
                <a:gd name="T43" fmla="*/ 2147483647 h 3835"/>
                <a:gd name="T44" fmla="*/ 2147483647 w 6734"/>
                <a:gd name="T45" fmla="*/ 2147483647 h 3835"/>
                <a:gd name="T46" fmla="*/ 2147483647 w 6734"/>
                <a:gd name="T47" fmla="*/ 2147483647 h 3835"/>
                <a:gd name="T48" fmla="*/ 2147483647 w 6734"/>
                <a:gd name="T49" fmla="*/ 2147483647 h 3835"/>
                <a:gd name="T50" fmla="*/ 2147483647 w 6734"/>
                <a:gd name="T51" fmla="*/ 2147483647 h 3835"/>
                <a:gd name="T52" fmla="*/ 2147483647 w 6734"/>
                <a:gd name="T53" fmla="*/ 2147483647 h 3835"/>
                <a:gd name="T54" fmla="*/ 2147483647 w 6734"/>
                <a:gd name="T55" fmla="*/ 2147483647 h 3835"/>
                <a:gd name="T56" fmla="*/ 2147483647 w 6734"/>
                <a:gd name="T57" fmla="*/ 2147483647 h 3835"/>
                <a:gd name="T58" fmla="*/ 2147483647 w 6734"/>
                <a:gd name="T59" fmla="*/ 2147483647 h 3835"/>
                <a:gd name="T60" fmla="*/ 2147483647 w 6734"/>
                <a:gd name="T61" fmla="*/ 2147483647 h 3835"/>
                <a:gd name="T62" fmla="*/ 2147483647 w 6734"/>
                <a:gd name="T63" fmla="*/ 2147483647 h 3835"/>
                <a:gd name="T64" fmla="*/ 2147483647 w 6734"/>
                <a:gd name="T65" fmla="*/ 2147483647 h 3835"/>
                <a:gd name="T66" fmla="*/ 2147483647 w 6734"/>
                <a:gd name="T67" fmla="*/ 2147483647 h 3835"/>
                <a:gd name="T68" fmla="*/ 2147483647 w 6734"/>
                <a:gd name="T69" fmla="*/ 2147483647 h 3835"/>
                <a:gd name="T70" fmla="*/ 2147483647 w 6734"/>
                <a:gd name="T71" fmla="*/ 2147483647 h 3835"/>
                <a:gd name="T72" fmla="*/ 2147483647 w 6734"/>
                <a:gd name="T73" fmla="*/ 2147483647 h 3835"/>
                <a:gd name="T74" fmla="*/ 2147483647 w 6734"/>
                <a:gd name="T75" fmla="*/ 2147483647 h 3835"/>
                <a:gd name="T76" fmla="*/ 2147483647 w 6734"/>
                <a:gd name="T77" fmla="*/ 2147483647 h 3835"/>
                <a:gd name="T78" fmla="*/ 2147483647 w 6734"/>
                <a:gd name="T79" fmla="*/ 2147483647 h 3835"/>
                <a:gd name="T80" fmla="*/ 2147483647 w 6734"/>
                <a:gd name="T81" fmla="*/ 2147483647 h 3835"/>
                <a:gd name="T82" fmla="*/ 2147483647 w 6734"/>
                <a:gd name="T83" fmla="*/ 2147483647 h 3835"/>
                <a:gd name="T84" fmla="*/ 2147483647 w 6734"/>
                <a:gd name="T85" fmla="*/ 2147483647 h 3835"/>
                <a:gd name="T86" fmla="*/ 2147483647 w 6734"/>
                <a:gd name="T87" fmla="*/ 2147483647 h 3835"/>
                <a:gd name="T88" fmla="*/ 2147483647 w 6734"/>
                <a:gd name="T89" fmla="*/ 2147483647 h 3835"/>
                <a:gd name="T90" fmla="*/ 2147483647 w 6734"/>
                <a:gd name="T91" fmla="*/ 2147483647 h 3835"/>
                <a:gd name="T92" fmla="*/ 2147483647 w 6734"/>
                <a:gd name="T93" fmla="*/ 2147483647 h 3835"/>
                <a:gd name="T94" fmla="*/ 2147483647 w 6734"/>
                <a:gd name="T95" fmla="*/ 2147483647 h 3835"/>
                <a:gd name="T96" fmla="*/ 2147483647 w 6734"/>
                <a:gd name="T97" fmla="*/ 2147483647 h 3835"/>
                <a:gd name="T98" fmla="*/ 2147483647 w 6734"/>
                <a:gd name="T99" fmla="*/ 2147483647 h 3835"/>
                <a:gd name="T100" fmla="*/ 2147483647 w 6734"/>
                <a:gd name="T101" fmla="*/ 2147483647 h 3835"/>
                <a:gd name="T102" fmla="*/ 2147483647 w 6734"/>
                <a:gd name="T103" fmla="*/ 2147483647 h 3835"/>
                <a:gd name="T104" fmla="*/ 2147483647 w 6734"/>
                <a:gd name="T105" fmla="*/ 2147483647 h 3835"/>
                <a:gd name="T106" fmla="*/ 2147483647 w 6734"/>
                <a:gd name="T107" fmla="*/ 2147483647 h 3835"/>
                <a:gd name="T108" fmla="*/ 2147483647 w 6734"/>
                <a:gd name="T109" fmla="*/ 2147483647 h 3835"/>
                <a:gd name="T110" fmla="*/ 2147483647 w 6734"/>
                <a:gd name="T111" fmla="*/ 2147483647 h 3835"/>
                <a:gd name="T112" fmla="*/ 2147483647 w 6734"/>
                <a:gd name="T113" fmla="*/ 2147483647 h 3835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6734"/>
                <a:gd name="T172" fmla="*/ 0 h 3835"/>
                <a:gd name="T173" fmla="*/ 6734 w 6734"/>
                <a:gd name="T174" fmla="*/ 3835 h 3835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6734" h="3835">
                  <a:moveTo>
                    <a:pt x="6640" y="1028"/>
                  </a:moveTo>
                  <a:lnTo>
                    <a:pt x="6640" y="1028"/>
                  </a:lnTo>
                  <a:lnTo>
                    <a:pt x="6614" y="1007"/>
                  </a:lnTo>
                  <a:lnTo>
                    <a:pt x="6587" y="988"/>
                  </a:lnTo>
                  <a:lnTo>
                    <a:pt x="6558" y="970"/>
                  </a:lnTo>
                  <a:lnTo>
                    <a:pt x="6525" y="956"/>
                  </a:lnTo>
                  <a:lnTo>
                    <a:pt x="6491" y="944"/>
                  </a:lnTo>
                  <a:lnTo>
                    <a:pt x="6456" y="933"/>
                  </a:lnTo>
                  <a:lnTo>
                    <a:pt x="6420" y="926"/>
                  </a:lnTo>
                  <a:lnTo>
                    <a:pt x="6379" y="921"/>
                  </a:lnTo>
                  <a:lnTo>
                    <a:pt x="6339" y="918"/>
                  </a:lnTo>
                  <a:lnTo>
                    <a:pt x="6297" y="918"/>
                  </a:lnTo>
                  <a:lnTo>
                    <a:pt x="6255" y="921"/>
                  </a:lnTo>
                  <a:lnTo>
                    <a:pt x="6210" y="926"/>
                  </a:lnTo>
                  <a:lnTo>
                    <a:pt x="6164" y="935"/>
                  </a:lnTo>
                  <a:lnTo>
                    <a:pt x="6117" y="946"/>
                  </a:lnTo>
                  <a:lnTo>
                    <a:pt x="6070" y="960"/>
                  </a:lnTo>
                  <a:lnTo>
                    <a:pt x="6021" y="975"/>
                  </a:lnTo>
                  <a:lnTo>
                    <a:pt x="4738" y="1449"/>
                  </a:lnTo>
                  <a:lnTo>
                    <a:pt x="3475" y="1449"/>
                  </a:lnTo>
                  <a:lnTo>
                    <a:pt x="3419" y="1293"/>
                  </a:lnTo>
                  <a:lnTo>
                    <a:pt x="3457" y="1273"/>
                  </a:lnTo>
                  <a:lnTo>
                    <a:pt x="3494" y="1252"/>
                  </a:lnTo>
                  <a:lnTo>
                    <a:pt x="3531" y="1229"/>
                  </a:lnTo>
                  <a:lnTo>
                    <a:pt x="3567" y="1204"/>
                  </a:lnTo>
                  <a:lnTo>
                    <a:pt x="3602" y="1178"/>
                  </a:lnTo>
                  <a:lnTo>
                    <a:pt x="3637" y="1154"/>
                  </a:lnTo>
                  <a:lnTo>
                    <a:pt x="3670" y="1126"/>
                  </a:lnTo>
                  <a:lnTo>
                    <a:pt x="3702" y="1099"/>
                  </a:lnTo>
                  <a:lnTo>
                    <a:pt x="3763" y="1044"/>
                  </a:lnTo>
                  <a:lnTo>
                    <a:pt x="3817" y="989"/>
                  </a:lnTo>
                  <a:lnTo>
                    <a:pt x="3866" y="937"/>
                  </a:lnTo>
                  <a:lnTo>
                    <a:pt x="3908" y="888"/>
                  </a:lnTo>
                  <a:lnTo>
                    <a:pt x="3929" y="860"/>
                  </a:lnTo>
                  <a:lnTo>
                    <a:pt x="3950" y="832"/>
                  </a:lnTo>
                  <a:lnTo>
                    <a:pt x="3967" y="804"/>
                  </a:lnTo>
                  <a:lnTo>
                    <a:pt x="3983" y="776"/>
                  </a:lnTo>
                  <a:lnTo>
                    <a:pt x="3999" y="748"/>
                  </a:lnTo>
                  <a:lnTo>
                    <a:pt x="4011" y="720"/>
                  </a:lnTo>
                  <a:lnTo>
                    <a:pt x="4022" y="690"/>
                  </a:lnTo>
                  <a:lnTo>
                    <a:pt x="4032" y="662"/>
                  </a:lnTo>
                  <a:lnTo>
                    <a:pt x="4039" y="635"/>
                  </a:lnTo>
                  <a:lnTo>
                    <a:pt x="4046" y="607"/>
                  </a:lnTo>
                  <a:lnTo>
                    <a:pt x="4051" y="579"/>
                  </a:lnTo>
                  <a:lnTo>
                    <a:pt x="4053" y="551"/>
                  </a:lnTo>
                  <a:lnTo>
                    <a:pt x="4057" y="521"/>
                  </a:lnTo>
                  <a:lnTo>
                    <a:pt x="4057" y="493"/>
                  </a:lnTo>
                  <a:lnTo>
                    <a:pt x="4055" y="465"/>
                  </a:lnTo>
                  <a:lnTo>
                    <a:pt x="4053" y="437"/>
                  </a:lnTo>
                  <a:lnTo>
                    <a:pt x="4050" y="409"/>
                  </a:lnTo>
                  <a:lnTo>
                    <a:pt x="4044" y="381"/>
                  </a:lnTo>
                  <a:lnTo>
                    <a:pt x="4039" y="353"/>
                  </a:lnTo>
                  <a:lnTo>
                    <a:pt x="4032" y="325"/>
                  </a:lnTo>
                  <a:lnTo>
                    <a:pt x="4016" y="271"/>
                  </a:lnTo>
                  <a:lnTo>
                    <a:pt x="3995" y="215"/>
                  </a:lnTo>
                  <a:lnTo>
                    <a:pt x="3971" y="161"/>
                  </a:lnTo>
                  <a:lnTo>
                    <a:pt x="3943" y="107"/>
                  </a:lnTo>
                  <a:lnTo>
                    <a:pt x="3912" y="52"/>
                  </a:lnTo>
                  <a:lnTo>
                    <a:pt x="3878" y="0"/>
                  </a:lnTo>
                  <a:lnTo>
                    <a:pt x="3106" y="327"/>
                  </a:lnTo>
                  <a:lnTo>
                    <a:pt x="3043" y="315"/>
                  </a:lnTo>
                  <a:lnTo>
                    <a:pt x="2982" y="302"/>
                  </a:lnTo>
                  <a:lnTo>
                    <a:pt x="2922" y="294"/>
                  </a:lnTo>
                  <a:lnTo>
                    <a:pt x="2863" y="287"/>
                  </a:lnTo>
                  <a:lnTo>
                    <a:pt x="2803" y="280"/>
                  </a:lnTo>
                  <a:lnTo>
                    <a:pt x="2746" y="274"/>
                  </a:lnTo>
                  <a:lnTo>
                    <a:pt x="2690" y="271"/>
                  </a:lnTo>
                  <a:lnTo>
                    <a:pt x="2634" y="269"/>
                  </a:lnTo>
                  <a:lnTo>
                    <a:pt x="2580" y="269"/>
                  </a:lnTo>
                  <a:lnTo>
                    <a:pt x="2526" y="271"/>
                  </a:lnTo>
                  <a:lnTo>
                    <a:pt x="2471" y="274"/>
                  </a:lnTo>
                  <a:lnTo>
                    <a:pt x="2421" y="278"/>
                  </a:lnTo>
                  <a:lnTo>
                    <a:pt x="2368" y="285"/>
                  </a:lnTo>
                  <a:lnTo>
                    <a:pt x="2318" y="292"/>
                  </a:lnTo>
                  <a:lnTo>
                    <a:pt x="2269" y="301"/>
                  </a:lnTo>
                  <a:lnTo>
                    <a:pt x="2220" y="311"/>
                  </a:lnTo>
                  <a:lnTo>
                    <a:pt x="2171" y="323"/>
                  </a:lnTo>
                  <a:lnTo>
                    <a:pt x="2124" y="337"/>
                  </a:lnTo>
                  <a:lnTo>
                    <a:pt x="2078" y="353"/>
                  </a:lnTo>
                  <a:lnTo>
                    <a:pt x="2033" y="371"/>
                  </a:lnTo>
                  <a:lnTo>
                    <a:pt x="1987" y="388"/>
                  </a:lnTo>
                  <a:lnTo>
                    <a:pt x="1944" y="409"/>
                  </a:lnTo>
                  <a:lnTo>
                    <a:pt x="1900" y="430"/>
                  </a:lnTo>
                  <a:lnTo>
                    <a:pt x="1858" y="453"/>
                  </a:lnTo>
                  <a:lnTo>
                    <a:pt x="1816" y="479"/>
                  </a:lnTo>
                  <a:lnTo>
                    <a:pt x="1774" y="505"/>
                  </a:lnTo>
                  <a:lnTo>
                    <a:pt x="1734" y="533"/>
                  </a:lnTo>
                  <a:lnTo>
                    <a:pt x="1695" y="563"/>
                  </a:lnTo>
                  <a:lnTo>
                    <a:pt x="1657" y="593"/>
                  </a:lnTo>
                  <a:lnTo>
                    <a:pt x="1618" y="626"/>
                  </a:lnTo>
                  <a:lnTo>
                    <a:pt x="1582" y="661"/>
                  </a:lnTo>
                  <a:lnTo>
                    <a:pt x="1545" y="696"/>
                  </a:lnTo>
                  <a:lnTo>
                    <a:pt x="1542" y="1129"/>
                  </a:lnTo>
                  <a:lnTo>
                    <a:pt x="1550" y="1134"/>
                  </a:lnTo>
                  <a:lnTo>
                    <a:pt x="1587" y="1080"/>
                  </a:lnTo>
                  <a:lnTo>
                    <a:pt x="1625" y="1028"/>
                  </a:lnTo>
                  <a:lnTo>
                    <a:pt x="1664" y="981"/>
                  </a:lnTo>
                  <a:lnTo>
                    <a:pt x="1704" y="933"/>
                  </a:lnTo>
                  <a:lnTo>
                    <a:pt x="1744" y="891"/>
                  </a:lnTo>
                  <a:lnTo>
                    <a:pt x="1786" y="851"/>
                  </a:lnTo>
                  <a:lnTo>
                    <a:pt x="1828" y="815"/>
                  </a:lnTo>
                  <a:lnTo>
                    <a:pt x="1870" y="780"/>
                  </a:lnTo>
                  <a:lnTo>
                    <a:pt x="1914" y="748"/>
                  </a:lnTo>
                  <a:lnTo>
                    <a:pt x="1958" y="718"/>
                  </a:lnTo>
                  <a:lnTo>
                    <a:pt x="2003" y="692"/>
                  </a:lnTo>
                  <a:lnTo>
                    <a:pt x="2048" y="668"/>
                  </a:lnTo>
                  <a:lnTo>
                    <a:pt x="2096" y="647"/>
                  </a:lnTo>
                  <a:lnTo>
                    <a:pt x="2143" y="628"/>
                  </a:lnTo>
                  <a:lnTo>
                    <a:pt x="2190" y="610"/>
                  </a:lnTo>
                  <a:lnTo>
                    <a:pt x="2239" y="594"/>
                  </a:lnTo>
                  <a:lnTo>
                    <a:pt x="2288" y="582"/>
                  </a:lnTo>
                  <a:lnTo>
                    <a:pt x="2339" y="572"/>
                  </a:lnTo>
                  <a:lnTo>
                    <a:pt x="2391" y="565"/>
                  </a:lnTo>
                  <a:lnTo>
                    <a:pt x="2442" y="558"/>
                  </a:lnTo>
                  <a:lnTo>
                    <a:pt x="2496" y="552"/>
                  </a:lnTo>
                  <a:lnTo>
                    <a:pt x="2548" y="551"/>
                  </a:lnTo>
                  <a:lnTo>
                    <a:pt x="2602" y="551"/>
                  </a:lnTo>
                  <a:lnTo>
                    <a:pt x="2658" y="551"/>
                  </a:lnTo>
                  <a:lnTo>
                    <a:pt x="2714" y="554"/>
                  </a:lnTo>
                  <a:lnTo>
                    <a:pt x="2772" y="559"/>
                  </a:lnTo>
                  <a:lnTo>
                    <a:pt x="2830" y="565"/>
                  </a:lnTo>
                  <a:lnTo>
                    <a:pt x="2889" y="573"/>
                  </a:lnTo>
                  <a:lnTo>
                    <a:pt x="2949" y="582"/>
                  </a:lnTo>
                  <a:lnTo>
                    <a:pt x="3008" y="593"/>
                  </a:lnTo>
                  <a:lnTo>
                    <a:pt x="3069" y="607"/>
                  </a:lnTo>
                  <a:lnTo>
                    <a:pt x="3132" y="619"/>
                  </a:lnTo>
                  <a:lnTo>
                    <a:pt x="3758" y="355"/>
                  </a:lnTo>
                  <a:lnTo>
                    <a:pt x="3763" y="376"/>
                  </a:lnTo>
                  <a:lnTo>
                    <a:pt x="3768" y="399"/>
                  </a:lnTo>
                  <a:lnTo>
                    <a:pt x="3772" y="421"/>
                  </a:lnTo>
                  <a:lnTo>
                    <a:pt x="3773" y="442"/>
                  </a:lnTo>
                  <a:lnTo>
                    <a:pt x="3775" y="465"/>
                  </a:lnTo>
                  <a:lnTo>
                    <a:pt x="3775" y="488"/>
                  </a:lnTo>
                  <a:lnTo>
                    <a:pt x="3773" y="510"/>
                  </a:lnTo>
                  <a:lnTo>
                    <a:pt x="3772" y="535"/>
                  </a:lnTo>
                  <a:lnTo>
                    <a:pt x="3766" y="558"/>
                  </a:lnTo>
                  <a:lnTo>
                    <a:pt x="3761" y="580"/>
                  </a:lnTo>
                  <a:lnTo>
                    <a:pt x="3753" y="603"/>
                  </a:lnTo>
                  <a:lnTo>
                    <a:pt x="3744" y="626"/>
                  </a:lnTo>
                  <a:lnTo>
                    <a:pt x="3733" y="647"/>
                  </a:lnTo>
                  <a:lnTo>
                    <a:pt x="3721" y="669"/>
                  </a:lnTo>
                  <a:lnTo>
                    <a:pt x="3707" y="690"/>
                  </a:lnTo>
                  <a:lnTo>
                    <a:pt x="3691" y="711"/>
                  </a:lnTo>
                  <a:lnTo>
                    <a:pt x="3651" y="759"/>
                  </a:lnTo>
                  <a:lnTo>
                    <a:pt x="3613" y="801"/>
                  </a:lnTo>
                  <a:lnTo>
                    <a:pt x="3576" y="839"/>
                  </a:lnTo>
                  <a:lnTo>
                    <a:pt x="3538" y="874"/>
                  </a:lnTo>
                  <a:lnTo>
                    <a:pt x="3501" y="907"/>
                  </a:lnTo>
                  <a:lnTo>
                    <a:pt x="3462" y="935"/>
                  </a:lnTo>
                  <a:lnTo>
                    <a:pt x="3426" y="963"/>
                  </a:lnTo>
                  <a:lnTo>
                    <a:pt x="3385" y="988"/>
                  </a:lnTo>
                  <a:lnTo>
                    <a:pt x="3347" y="1010"/>
                  </a:lnTo>
                  <a:lnTo>
                    <a:pt x="3305" y="1033"/>
                  </a:lnTo>
                  <a:lnTo>
                    <a:pt x="3263" y="1054"/>
                  </a:lnTo>
                  <a:lnTo>
                    <a:pt x="3218" y="1075"/>
                  </a:lnTo>
                  <a:lnTo>
                    <a:pt x="3123" y="1117"/>
                  </a:lnTo>
                  <a:lnTo>
                    <a:pt x="3018" y="1162"/>
                  </a:lnTo>
                  <a:lnTo>
                    <a:pt x="3284" y="1729"/>
                  </a:lnTo>
                  <a:lnTo>
                    <a:pt x="4789" y="1729"/>
                  </a:lnTo>
                  <a:lnTo>
                    <a:pt x="6103" y="1238"/>
                  </a:lnTo>
                  <a:lnTo>
                    <a:pt x="6143" y="1224"/>
                  </a:lnTo>
                  <a:lnTo>
                    <a:pt x="6187" y="1211"/>
                  </a:lnTo>
                  <a:lnTo>
                    <a:pt x="6229" y="1203"/>
                  </a:lnTo>
                  <a:lnTo>
                    <a:pt x="6271" y="1196"/>
                  </a:lnTo>
                  <a:lnTo>
                    <a:pt x="6311" y="1192"/>
                  </a:lnTo>
                  <a:lnTo>
                    <a:pt x="6348" y="1192"/>
                  </a:lnTo>
                  <a:lnTo>
                    <a:pt x="6383" y="1196"/>
                  </a:lnTo>
                  <a:lnTo>
                    <a:pt x="6397" y="1199"/>
                  </a:lnTo>
                  <a:lnTo>
                    <a:pt x="6411" y="1203"/>
                  </a:lnTo>
                  <a:lnTo>
                    <a:pt x="6423" y="1208"/>
                  </a:lnTo>
                  <a:lnTo>
                    <a:pt x="6434" y="1213"/>
                  </a:lnTo>
                  <a:lnTo>
                    <a:pt x="6442" y="1220"/>
                  </a:lnTo>
                  <a:lnTo>
                    <a:pt x="6449" y="1229"/>
                  </a:lnTo>
                  <a:lnTo>
                    <a:pt x="6455" y="1238"/>
                  </a:lnTo>
                  <a:lnTo>
                    <a:pt x="6456" y="1248"/>
                  </a:lnTo>
                  <a:lnTo>
                    <a:pt x="6458" y="1259"/>
                  </a:lnTo>
                  <a:lnTo>
                    <a:pt x="6456" y="1271"/>
                  </a:lnTo>
                  <a:lnTo>
                    <a:pt x="6451" y="1285"/>
                  </a:lnTo>
                  <a:lnTo>
                    <a:pt x="6444" y="1299"/>
                  </a:lnTo>
                  <a:lnTo>
                    <a:pt x="6435" y="1314"/>
                  </a:lnTo>
                  <a:lnTo>
                    <a:pt x="6421" y="1332"/>
                  </a:lnTo>
                  <a:lnTo>
                    <a:pt x="6406" y="1349"/>
                  </a:lnTo>
                  <a:lnTo>
                    <a:pt x="6388" y="1370"/>
                  </a:lnTo>
                  <a:lnTo>
                    <a:pt x="6365" y="1391"/>
                  </a:lnTo>
                  <a:lnTo>
                    <a:pt x="6341" y="1412"/>
                  </a:lnTo>
                  <a:lnTo>
                    <a:pt x="6021" y="1682"/>
                  </a:lnTo>
                  <a:lnTo>
                    <a:pt x="5624" y="2015"/>
                  </a:lnTo>
                  <a:lnTo>
                    <a:pt x="5142" y="2421"/>
                  </a:lnTo>
                  <a:lnTo>
                    <a:pt x="5098" y="2456"/>
                  </a:lnTo>
                  <a:lnTo>
                    <a:pt x="5053" y="2487"/>
                  </a:lnTo>
                  <a:lnTo>
                    <a:pt x="5006" y="2517"/>
                  </a:lnTo>
                  <a:lnTo>
                    <a:pt x="4958" y="2543"/>
                  </a:lnTo>
                  <a:lnTo>
                    <a:pt x="4910" y="2568"/>
                  </a:lnTo>
                  <a:lnTo>
                    <a:pt x="4859" y="2590"/>
                  </a:lnTo>
                  <a:lnTo>
                    <a:pt x="4808" y="2610"/>
                  </a:lnTo>
                  <a:lnTo>
                    <a:pt x="4757" y="2625"/>
                  </a:lnTo>
                  <a:lnTo>
                    <a:pt x="4705" y="2641"/>
                  </a:lnTo>
                  <a:lnTo>
                    <a:pt x="4653" y="2653"/>
                  </a:lnTo>
                  <a:lnTo>
                    <a:pt x="4600" y="2664"/>
                  </a:lnTo>
                  <a:lnTo>
                    <a:pt x="4548" y="2671"/>
                  </a:lnTo>
                  <a:lnTo>
                    <a:pt x="4495" y="2678"/>
                  </a:lnTo>
                  <a:lnTo>
                    <a:pt x="4443" y="2681"/>
                  </a:lnTo>
                  <a:lnTo>
                    <a:pt x="4390" y="2683"/>
                  </a:lnTo>
                  <a:lnTo>
                    <a:pt x="4338" y="2685"/>
                  </a:lnTo>
                  <a:lnTo>
                    <a:pt x="1535" y="2664"/>
                  </a:lnTo>
                  <a:lnTo>
                    <a:pt x="1533" y="2944"/>
                  </a:lnTo>
                  <a:lnTo>
                    <a:pt x="4336" y="2965"/>
                  </a:lnTo>
                  <a:lnTo>
                    <a:pt x="4399" y="2963"/>
                  </a:lnTo>
                  <a:lnTo>
                    <a:pt x="4462" y="2959"/>
                  </a:lnTo>
                  <a:lnTo>
                    <a:pt x="4529" y="2954"/>
                  </a:lnTo>
                  <a:lnTo>
                    <a:pt x="4595" y="2945"/>
                  </a:lnTo>
                  <a:lnTo>
                    <a:pt x="4663" y="2933"/>
                  </a:lnTo>
                  <a:lnTo>
                    <a:pt x="4733" y="2919"/>
                  </a:lnTo>
                  <a:lnTo>
                    <a:pt x="4801" y="2902"/>
                  </a:lnTo>
                  <a:lnTo>
                    <a:pt x="4871" y="2881"/>
                  </a:lnTo>
                  <a:lnTo>
                    <a:pt x="4941" y="2856"/>
                  </a:lnTo>
                  <a:lnTo>
                    <a:pt x="5009" y="2828"/>
                  </a:lnTo>
                  <a:lnTo>
                    <a:pt x="5079" y="2795"/>
                  </a:lnTo>
                  <a:lnTo>
                    <a:pt x="5146" y="2760"/>
                  </a:lnTo>
                  <a:lnTo>
                    <a:pt x="5212" y="2720"/>
                  </a:lnTo>
                  <a:lnTo>
                    <a:pt x="5245" y="2699"/>
                  </a:lnTo>
                  <a:lnTo>
                    <a:pt x="5278" y="2676"/>
                  </a:lnTo>
                  <a:lnTo>
                    <a:pt x="5310" y="2653"/>
                  </a:lnTo>
                  <a:lnTo>
                    <a:pt x="5341" y="2629"/>
                  </a:lnTo>
                  <a:lnTo>
                    <a:pt x="5373" y="2603"/>
                  </a:lnTo>
                  <a:lnTo>
                    <a:pt x="5402" y="2576"/>
                  </a:lnTo>
                  <a:lnTo>
                    <a:pt x="6542" y="1543"/>
                  </a:lnTo>
                  <a:lnTo>
                    <a:pt x="6577" y="1510"/>
                  </a:lnTo>
                  <a:lnTo>
                    <a:pt x="6610" y="1475"/>
                  </a:lnTo>
                  <a:lnTo>
                    <a:pt x="6638" y="1442"/>
                  </a:lnTo>
                  <a:lnTo>
                    <a:pt x="6664" y="1409"/>
                  </a:lnTo>
                  <a:lnTo>
                    <a:pt x="6685" y="1376"/>
                  </a:lnTo>
                  <a:lnTo>
                    <a:pt x="6705" y="1342"/>
                  </a:lnTo>
                  <a:lnTo>
                    <a:pt x="6719" y="1309"/>
                  </a:lnTo>
                  <a:lnTo>
                    <a:pt x="6729" y="1276"/>
                  </a:lnTo>
                  <a:lnTo>
                    <a:pt x="6733" y="1259"/>
                  </a:lnTo>
                  <a:lnTo>
                    <a:pt x="6734" y="1243"/>
                  </a:lnTo>
                  <a:lnTo>
                    <a:pt x="6734" y="1227"/>
                  </a:lnTo>
                  <a:lnTo>
                    <a:pt x="6734" y="1211"/>
                  </a:lnTo>
                  <a:lnTo>
                    <a:pt x="6734" y="1194"/>
                  </a:lnTo>
                  <a:lnTo>
                    <a:pt x="6733" y="1178"/>
                  </a:lnTo>
                  <a:lnTo>
                    <a:pt x="6729" y="1162"/>
                  </a:lnTo>
                  <a:lnTo>
                    <a:pt x="6724" y="1147"/>
                  </a:lnTo>
                  <a:lnTo>
                    <a:pt x="6717" y="1133"/>
                  </a:lnTo>
                  <a:lnTo>
                    <a:pt x="6710" y="1117"/>
                  </a:lnTo>
                  <a:lnTo>
                    <a:pt x="6703" y="1101"/>
                  </a:lnTo>
                  <a:lnTo>
                    <a:pt x="6692" y="1085"/>
                  </a:lnTo>
                  <a:lnTo>
                    <a:pt x="6682" y="1071"/>
                  </a:lnTo>
                  <a:lnTo>
                    <a:pt x="6670" y="1056"/>
                  </a:lnTo>
                  <a:lnTo>
                    <a:pt x="6656" y="1042"/>
                  </a:lnTo>
                  <a:lnTo>
                    <a:pt x="6640" y="1028"/>
                  </a:lnTo>
                  <a:close/>
                  <a:moveTo>
                    <a:pt x="178" y="701"/>
                  </a:moveTo>
                  <a:lnTo>
                    <a:pt x="178" y="701"/>
                  </a:lnTo>
                  <a:lnTo>
                    <a:pt x="161" y="703"/>
                  </a:lnTo>
                  <a:lnTo>
                    <a:pt x="142" y="706"/>
                  </a:lnTo>
                  <a:lnTo>
                    <a:pt x="124" y="710"/>
                  </a:lnTo>
                  <a:lnTo>
                    <a:pt x="107" y="717"/>
                  </a:lnTo>
                  <a:lnTo>
                    <a:pt x="91" y="724"/>
                  </a:lnTo>
                  <a:lnTo>
                    <a:pt x="75" y="732"/>
                  </a:lnTo>
                  <a:lnTo>
                    <a:pt x="61" y="743"/>
                  </a:lnTo>
                  <a:lnTo>
                    <a:pt x="47" y="753"/>
                  </a:lnTo>
                  <a:lnTo>
                    <a:pt x="35" y="767"/>
                  </a:lnTo>
                  <a:lnTo>
                    <a:pt x="24" y="780"/>
                  </a:lnTo>
                  <a:lnTo>
                    <a:pt x="16" y="795"/>
                  </a:lnTo>
                  <a:lnTo>
                    <a:pt x="9" y="809"/>
                  </a:lnTo>
                  <a:lnTo>
                    <a:pt x="3" y="827"/>
                  </a:lnTo>
                  <a:lnTo>
                    <a:pt x="2" y="843"/>
                  </a:lnTo>
                  <a:lnTo>
                    <a:pt x="0" y="860"/>
                  </a:lnTo>
                  <a:lnTo>
                    <a:pt x="2" y="877"/>
                  </a:lnTo>
                  <a:lnTo>
                    <a:pt x="556" y="3835"/>
                  </a:lnTo>
                  <a:lnTo>
                    <a:pt x="1251" y="3835"/>
                  </a:lnTo>
                  <a:lnTo>
                    <a:pt x="1251" y="703"/>
                  </a:lnTo>
                  <a:lnTo>
                    <a:pt x="178" y="70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endParaRPr lang="de-DE" sz="2185"/>
            </a:p>
          </p:txBody>
        </p:sp>
      </p:grpSp>
      <p:grpSp>
        <p:nvGrpSpPr>
          <p:cNvPr id="15" name="Gruppieren 6">
            <a:extLst>
              <a:ext uri="{FF2B5EF4-FFF2-40B4-BE49-F238E27FC236}">
                <a16:creationId xmlns:a16="http://schemas.microsoft.com/office/drawing/2014/main" id="{0F9596C6-437E-9A22-4144-31DBA0735D9E}"/>
              </a:ext>
            </a:extLst>
          </p:cNvPr>
          <p:cNvGrpSpPr/>
          <p:nvPr/>
        </p:nvGrpSpPr>
        <p:grpSpPr>
          <a:xfrm>
            <a:off x="3604163" y="2986242"/>
            <a:ext cx="840352" cy="756547"/>
            <a:chOff x="779463" y="3076385"/>
            <a:chExt cx="1198563" cy="1198563"/>
          </a:xfrm>
          <a:solidFill>
            <a:srgbClr val="004D82"/>
          </a:solidFill>
          <a:effectLst/>
        </p:grpSpPr>
        <p:sp>
          <p:nvSpPr>
            <p:cNvPr id="36" name="AutoShape 161" descr="© INSCALE GmbH, 26.05.2010&#10;http://www.presentationload.com/">
              <a:extLst>
                <a:ext uri="{FF2B5EF4-FFF2-40B4-BE49-F238E27FC236}">
                  <a16:creationId xmlns:a16="http://schemas.microsoft.com/office/drawing/2014/main" id="{E4CC6E95-54FA-7F4D-1FED-E16E478DBE98}"/>
                </a:ext>
              </a:extLst>
            </p:cNvPr>
            <p:cNvSpPr>
              <a:spLocks noChangeAspect="1" noChangeArrowheads="1"/>
            </p:cNvSpPr>
            <p:nvPr>
              <p:custDataLst>
                <p:tags r:id="rId25"/>
              </p:custDataLst>
            </p:nvPr>
          </p:nvSpPr>
          <p:spPr bwMode="gray">
            <a:xfrm>
              <a:off x="779463" y="3076385"/>
              <a:ext cx="1198563" cy="1198563"/>
            </a:xfrm>
            <a:prstGeom prst="rect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35" kern="0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7" name="AutoShape 162" descr="© INSCALE GmbH, 26.05.2010&#10;http://www.presentationload.com/">
              <a:extLst>
                <a:ext uri="{FF2B5EF4-FFF2-40B4-BE49-F238E27FC236}">
                  <a16:creationId xmlns:a16="http://schemas.microsoft.com/office/drawing/2014/main" id="{7E91A457-B4EF-8F14-F5E0-C7B3E46443D5}"/>
                </a:ext>
              </a:extLst>
            </p:cNvPr>
            <p:cNvSpPr>
              <a:spLocks noChangeAspect="1" noChangeArrowheads="1"/>
            </p:cNvSpPr>
            <p:nvPr>
              <p:custDataLst>
                <p:tags r:id="rId26"/>
              </p:custDataLst>
            </p:nvPr>
          </p:nvSpPr>
          <p:spPr bwMode="gray">
            <a:xfrm>
              <a:off x="843242" y="3140164"/>
              <a:ext cx="1071005" cy="1071005"/>
            </a:xfrm>
            <a:prstGeom prst="rect">
              <a:avLst/>
            </a:prstGeom>
            <a:grpFill/>
            <a:ln w="254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35" kern="0">
                <a:solidFill>
                  <a:srgbClr val="000000"/>
                </a:solidFill>
                <a:latin typeface="Arial" panose="020B0604020202020204"/>
                <a:cs typeface="+mn-cs"/>
              </a:endParaRPr>
            </a:p>
          </p:txBody>
        </p:sp>
        <p:sp>
          <p:nvSpPr>
            <p:cNvPr id="38" name="AutoShape 164" descr="© INSCALE GmbH, 26.05.2010&#10;http://www.presentationload.com/">
              <a:extLst>
                <a:ext uri="{FF2B5EF4-FFF2-40B4-BE49-F238E27FC236}">
                  <a16:creationId xmlns:a16="http://schemas.microsoft.com/office/drawing/2014/main" id="{BFDD7A4B-D556-DF13-F11F-0A0A08310F8E}"/>
                </a:ext>
              </a:extLst>
            </p:cNvPr>
            <p:cNvSpPr>
              <a:spLocks noChangeAspect="1" noChangeArrowheads="1"/>
            </p:cNvSpPr>
            <p:nvPr>
              <p:custDataLst>
                <p:tags r:id="rId27"/>
              </p:custDataLst>
            </p:nvPr>
          </p:nvSpPr>
          <p:spPr bwMode="gray">
            <a:xfrm>
              <a:off x="891956" y="3178418"/>
              <a:ext cx="986769" cy="989176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35" kern="0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16" name="Freeform 301">
            <a:extLst>
              <a:ext uri="{FF2B5EF4-FFF2-40B4-BE49-F238E27FC236}">
                <a16:creationId xmlns:a16="http://schemas.microsoft.com/office/drawing/2014/main" id="{6ACD5C8E-82DC-843E-506C-EC9F0A692FDA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829344" y="3160672"/>
            <a:ext cx="301207" cy="407687"/>
          </a:xfrm>
          <a:custGeom>
            <a:avLst/>
            <a:gdLst>
              <a:gd name="T0" fmla="*/ 0 w 694"/>
              <a:gd name="T1" fmla="*/ 2147483647 h 1021"/>
              <a:gd name="T2" fmla="*/ 0 w 694"/>
              <a:gd name="T3" fmla="*/ 2147483647 h 1021"/>
              <a:gd name="T4" fmla="*/ 2147483647 w 694"/>
              <a:gd name="T5" fmla="*/ 0 h 1021"/>
              <a:gd name="T6" fmla="*/ 2147483647 w 694"/>
              <a:gd name="T7" fmla="*/ 2147483647 h 1021"/>
              <a:gd name="T8" fmla="*/ 2147483647 w 694"/>
              <a:gd name="T9" fmla="*/ 2147483647 h 1021"/>
              <a:gd name="T10" fmla="*/ 2147483647 w 694"/>
              <a:gd name="T11" fmla="*/ 2147483647 h 1021"/>
              <a:gd name="T12" fmla="*/ 2147483647 w 694"/>
              <a:gd name="T13" fmla="*/ 2147483647 h 1021"/>
              <a:gd name="T14" fmla="*/ 2147483647 w 694"/>
              <a:gd name="T15" fmla="*/ 2147483647 h 1021"/>
              <a:gd name="T16" fmla="*/ 2147483647 w 694"/>
              <a:gd name="T17" fmla="*/ 2147483647 h 1021"/>
              <a:gd name="T18" fmla="*/ 2147483647 w 694"/>
              <a:gd name="T19" fmla="*/ 2147483647 h 1021"/>
              <a:gd name="T20" fmla="*/ 2147483647 w 694"/>
              <a:gd name="T21" fmla="*/ 2147483647 h 1021"/>
              <a:gd name="T22" fmla="*/ 0 w 694"/>
              <a:gd name="T23" fmla="*/ 2147483647 h 1021"/>
              <a:gd name="T24" fmla="*/ 2147483647 w 694"/>
              <a:gd name="T25" fmla="*/ 2147483647 h 1021"/>
              <a:gd name="T26" fmla="*/ 2147483647 w 694"/>
              <a:gd name="T27" fmla="*/ 2147483647 h 1021"/>
              <a:gd name="T28" fmla="*/ 2147483647 w 694"/>
              <a:gd name="T29" fmla="*/ 2147483647 h 1021"/>
              <a:gd name="T30" fmla="*/ 2147483647 w 694"/>
              <a:gd name="T31" fmla="*/ 2147483647 h 1021"/>
              <a:gd name="T32" fmla="*/ 2147483647 w 694"/>
              <a:gd name="T33" fmla="*/ 2147483647 h 1021"/>
              <a:gd name="T34" fmla="*/ 2147483647 w 694"/>
              <a:gd name="T35" fmla="*/ 2147483647 h 1021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694" h="1021">
                <a:moveTo>
                  <a:pt x="0" y="346"/>
                </a:moveTo>
                <a:lnTo>
                  <a:pt x="0" y="346"/>
                </a:lnTo>
                <a:cubicBezTo>
                  <a:pt x="7" y="150"/>
                  <a:pt x="138" y="0"/>
                  <a:pt x="340" y="0"/>
                </a:cubicBezTo>
                <a:cubicBezTo>
                  <a:pt x="608" y="0"/>
                  <a:pt x="693" y="163"/>
                  <a:pt x="693" y="274"/>
                </a:cubicBezTo>
                <a:cubicBezTo>
                  <a:pt x="693" y="535"/>
                  <a:pt x="457" y="503"/>
                  <a:pt x="439" y="673"/>
                </a:cubicBezTo>
                <a:cubicBezTo>
                  <a:pt x="439" y="725"/>
                  <a:pt x="439" y="725"/>
                  <a:pt x="439" y="725"/>
                </a:cubicBezTo>
                <a:cubicBezTo>
                  <a:pt x="249" y="725"/>
                  <a:pt x="249" y="725"/>
                  <a:pt x="249" y="725"/>
                </a:cubicBezTo>
                <a:cubicBezTo>
                  <a:pt x="249" y="660"/>
                  <a:pt x="249" y="660"/>
                  <a:pt x="249" y="660"/>
                </a:cubicBezTo>
                <a:cubicBezTo>
                  <a:pt x="269" y="418"/>
                  <a:pt x="478" y="444"/>
                  <a:pt x="471" y="294"/>
                </a:cubicBezTo>
                <a:cubicBezTo>
                  <a:pt x="471" y="209"/>
                  <a:pt x="425" y="163"/>
                  <a:pt x="354" y="163"/>
                </a:cubicBezTo>
                <a:cubicBezTo>
                  <a:pt x="255" y="163"/>
                  <a:pt x="209" y="248"/>
                  <a:pt x="209" y="346"/>
                </a:cubicBezTo>
                <a:lnTo>
                  <a:pt x="0" y="346"/>
                </a:lnTo>
                <a:close/>
                <a:moveTo>
                  <a:pt x="229" y="809"/>
                </a:moveTo>
                <a:lnTo>
                  <a:pt x="229" y="809"/>
                </a:lnTo>
                <a:cubicBezTo>
                  <a:pt x="445" y="809"/>
                  <a:pt x="445" y="809"/>
                  <a:pt x="445" y="809"/>
                </a:cubicBezTo>
                <a:cubicBezTo>
                  <a:pt x="445" y="1020"/>
                  <a:pt x="445" y="1020"/>
                  <a:pt x="445" y="1020"/>
                </a:cubicBezTo>
                <a:cubicBezTo>
                  <a:pt x="229" y="1020"/>
                  <a:pt x="229" y="1020"/>
                  <a:pt x="229" y="1020"/>
                </a:cubicBezTo>
                <a:lnTo>
                  <a:pt x="229" y="809"/>
                </a:lnTo>
                <a:close/>
              </a:path>
            </a:pathLst>
          </a:custGeom>
          <a:solidFill>
            <a:srgbClr val="004D82"/>
          </a:solidFill>
          <a:ln>
            <a:solidFill>
              <a:schemeClr val="bg1"/>
            </a:solidFill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55">
              <a:solidFill>
                <a:srgbClr val="646464"/>
              </a:solidFill>
            </a:endParaRPr>
          </a:p>
        </p:txBody>
      </p:sp>
      <p:grpSp>
        <p:nvGrpSpPr>
          <p:cNvPr id="17" name="Gruppieren 6">
            <a:extLst>
              <a:ext uri="{FF2B5EF4-FFF2-40B4-BE49-F238E27FC236}">
                <a16:creationId xmlns:a16="http://schemas.microsoft.com/office/drawing/2014/main" id="{0662DA72-36F5-04B4-0AE9-515F7B37EC90}"/>
              </a:ext>
            </a:extLst>
          </p:cNvPr>
          <p:cNvGrpSpPr/>
          <p:nvPr/>
        </p:nvGrpSpPr>
        <p:grpSpPr>
          <a:xfrm>
            <a:off x="3587633" y="4066344"/>
            <a:ext cx="840352" cy="756547"/>
            <a:chOff x="779463" y="3076385"/>
            <a:chExt cx="1198563" cy="1198563"/>
          </a:xfrm>
          <a:solidFill>
            <a:srgbClr val="004D82"/>
          </a:solidFill>
          <a:effectLst/>
        </p:grpSpPr>
        <p:sp>
          <p:nvSpPr>
            <p:cNvPr id="33" name="AutoShape 161" descr="© INSCALE GmbH, 26.05.2010&#10;http://www.presentationload.com/">
              <a:extLst>
                <a:ext uri="{FF2B5EF4-FFF2-40B4-BE49-F238E27FC236}">
                  <a16:creationId xmlns:a16="http://schemas.microsoft.com/office/drawing/2014/main" id="{2A96A38D-4A52-BC2B-DD34-1FE2834BB902}"/>
                </a:ext>
              </a:extLst>
            </p:cNvPr>
            <p:cNvSpPr>
              <a:spLocks noChangeAspect="1" noChangeArrowheads="1"/>
            </p:cNvSpPr>
            <p:nvPr>
              <p:custDataLst>
                <p:tags r:id="rId22"/>
              </p:custDataLst>
            </p:nvPr>
          </p:nvSpPr>
          <p:spPr bwMode="gray">
            <a:xfrm>
              <a:off x="779463" y="3076385"/>
              <a:ext cx="1198563" cy="1198563"/>
            </a:xfrm>
            <a:prstGeom prst="rect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35" kern="0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4" name="AutoShape 162" descr="© INSCALE GmbH, 26.05.2010&#10;http://www.presentationload.com/">
              <a:extLst>
                <a:ext uri="{FF2B5EF4-FFF2-40B4-BE49-F238E27FC236}">
                  <a16:creationId xmlns:a16="http://schemas.microsoft.com/office/drawing/2014/main" id="{3C69925C-5403-D88F-63E6-0DAF2258E2DF}"/>
                </a:ext>
              </a:extLst>
            </p:cNvPr>
            <p:cNvSpPr>
              <a:spLocks noChangeAspect="1" noChangeArrowheads="1"/>
            </p:cNvSpPr>
            <p:nvPr>
              <p:custDataLst>
                <p:tags r:id="rId23"/>
              </p:custDataLst>
            </p:nvPr>
          </p:nvSpPr>
          <p:spPr bwMode="gray">
            <a:xfrm>
              <a:off x="843242" y="3140164"/>
              <a:ext cx="1071005" cy="1071005"/>
            </a:xfrm>
            <a:prstGeom prst="rect">
              <a:avLst/>
            </a:prstGeom>
            <a:grpFill/>
            <a:ln w="254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35" kern="0">
                <a:solidFill>
                  <a:srgbClr val="000000"/>
                </a:solidFill>
                <a:latin typeface="Arial" panose="020B0604020202020204"/>
                <a:cs typeface="+mn-cs"/>
              </a:endParaRPr>
            </a:p>
          </p:txBody>
        </p:sp>
        <p:sp>
          <p:nvSpPr>
            <p:cNvPr id="35" name="AutoShape 164" descr="© INSCALE GmbH, 26.05.2010&#10;http://www.presentationload.com/">
              <a:extLst>
                <a:ext uri="{FF2B5EF4-FFF2-40B4-BE49-F238E27FC236}">
                  <a16:creationId xmlns:a16="http://schemas.microsoft.com/office/drawing/2014/main" id="{5B6EF242-E30A-FC5A-F288-6B08ADDC7FF1}"/>
                </a:ext>
              </a:extLst>
            </p:cNvPr>
            <p:cNvSpPr>
              <a:spLocks noChangeAspect="1" noChangeArrowheads="1"/>
            </p:cNvSpPr>
            <p:nvPr>
              <p:custDataLst>
                <p:tags r:id="rId24"/>
              </p:custDataLst>
            </p:nvPr>
          </p:nvSpPr>
          <p:spPr bwMode="gray">
            <a:xfrm>
              <a:off x="891956" y="3178418"/>
              <a:ext cx="986769" cy="989176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35" kern="0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18" name="Freeform 46">
            <a:extLst>
              <a:ext uri="{FF2B5EF4-FFF2-40B4-BE49-F238E27FC236}">
                <a16:creationId xmlns:a16="http://schemas.microsoft.com/office/drawing/2014/main" id="{FF35FD9D-77E6-8776-9624-D6A2E03D3C0B}"/>
              </a:ext>
            </a:extLst>
          </p:cNvPr>
          <p:cNvSpPr>
            <a:spLocks noChangeAspect="1" noEditPoints="1"/>
          </p:cNvSpPr>
          <p:nvPr>
            <p:custDataLst>
              <p:tags r:id="rId8"/>
            </p:custDataLst>
          </p:nvPr>
        </p:nvSpPr>
        <p:spPr bwMode="auto">
          <a:xfrm>
            <a:off x="3769863" y="4209250"/>
            <a:ext cx="492952" cy="449646"/>
          </a:xfrm>
          <a:custGeom>
            <a:avLst/>
            <a:gdLst>
              <a:gd name="T0" fmla="*/ 2147483647 w 4760"/>
              <a:gd name="T1" fmla="*/ 2147483647 h 4763"/>
              <a:gd name="T2" fmla="*/ 2147483647 w 4760"/>
              <a:gd name="T3" fmla="*/ 2147483647 h 4763"/>
              <a:gd name="T4" fmla="*/ 2147483647 w 4760"/>
              <a:gd name="T5" fmla="*/ 2147483647 h 4763"/>
              <a:gd name="T6" fmla="*/ 2147483647 w 4760"/>
              <a:gd name="T7" fmla="*/ 2147483647 h 4763"/>
              <a:gd name="T8" fmla="*/ 2147483647 w 4760"/>
              <a:gd name="T9" fmla="*/ 2147483647 h 4763"/>
              <a:gd name="T10" fmla="*/ 2147483647 w 4760"/>
              <a:gd name="T11" fmla="*/ 2147483647 h 4763"/>
              <a:gd name="T12" fmla="*/ 2147483647 w 4760"/>
              <a:gd name="T13" fmla="*/ 2147483647 h 4763"/>
              <a:gd name="T14" fmla="*/ 2147483647 w 4760"/>
              <a:gd name="T15" fmla="*/ 2147483647 h 4763"/>
              <a:gd name="T16" fmla="*/ 2147483647 w 4760"/>
              <a:gd name="T17" fmla="*/ 2147483647 h 4763"/>
              <a:gd name="T18" fmla="*/ 2147483647 w 4760"/>
              <a:gd name="T19" fmla="*/ 2147483647 h 4763"/>
              <a:gd name="T20" fmla="*/ 2147483647 w 4760"/>
              <a:gd name="T21" fmla="*/ 2147483647 h 4763"/>
              <a:gd name="T22" fmla="*/ 2147483647 w 4760"/>
              <a:gd name="T23" fmla="*/ 2147483647 h 4763"/>
              <a:gd name="T24" fmla="*/ 2147483647 w 4760"/>
              <a:gd name="T25" fmla="*/ 2147483647 h 4763"/>
              <a:gd name="T26" fmla="*/ 2147483647 w 4760"/>
              <a:gd name="T27" fmla="*/ 2147483647 h 4763"/>
              <a:gd name="T28" fmla="*/ 2147483647 w 4760"/>
              <a:gd name="T29" fmla="*/ 2147483647 h 4763"/>
              <a:gd name="T30" fmla="*/ 2147483647 w 4760"/>
              <a:gd name="T31" fmla="*/ 2147483647 h 4763"/>
              <a:gd name="T32" fmla="*/ 2147483647 w 4760"/>
              <a:gd name="T33" fmla="*/ 2147483647 h 4763"/>
              <a:gd name="T34" fmla="*/ 2147483647 w 4760"/>
              <a:gd name="T35" fmla="*/ 2147483647 h 4763"/>
              <a:gd name="T36" fmla="*/ 2147483647 w 4760"/>
              <a:gd name="T37" fmla="*/ 2147483647 h 4763"/>
              <a:gd name="T38" fmla="*/ 2147483647 w 4760"/>
              <a:gd name="T39" fmla="*/ 2147483647 h 4763"/>
              <a:gd name="T40" fmla="*/ 2147483647 w 4760"/>
              <a:gd name="T41" fmla="*/ 2147483647 h 4763"/>
              <a:gd name="T42" fmla="*/ 2147483647 w 4760"/>
              <a:gd name="T43" fmla="*/ 2147483647 h 4763"/>
              <a:gd name="T44" fmla="*/ 2147483647 w 4760"/>
              <a:gd name="T45" fmla="*/ 2147483647 h 4763"/>
              <a:gd name="T46" fmla="*/ 2147483647 w 4760"/>
              <a:gd name="T47" fmla="*/ 2147483647 h 4763"/>
              <a:gd name="T48" fmla="*/ 2147483647 w 4760"/>
              <a:gd name="T49" fmla="*/ 2147483647 h 4763"/>
              <a:gd name="T50" fmla="*/ 2147483647 w 4760"/>
              <a:gd name="T51" fmla="*/ 2147483647 h 4763"/>
              <a:gd name="T52" fmla="*/ 2147483647 w 4760"/>
              <a:gd name="T53" fmla="*/ 2147483647 h 4763"/>
              <a:gd name="T54" fmla="*/ 2147483647 w 4760"/>
              <a:gd name="T55" fmla="*/ 2147483647 h 4763"/>
              <a:gd name="T56" fmla="*/ 2147483647 w 4760"/>
              <a:gd name="T57" fmla="*/ 2147483647 h 4763"/>
              <a:gd name="T58" fmla="*/ 2147483647 w 4760"/>
              <a:gd name="T59" fmla="*/ 2147483647 h 4763"/>
              <a:gd name="T60" fmla="*/ 2147483647 w 4760"/>
              <a:gd name="T61" fmla="*/ 2147483647 h 4763"/>
              <a:gd name="T62" fmla="*/ 2147483647 w 4760"/>
              <a:gd name="T63" fmla="*/ 2147483647 h 4763"/>
              <a:gd name="T64" fmla="*/ 2147483647 w 4760"/>
              <a:gd name="T65" fmla="*/ 2147483647 h 4763"/>
              <a:gd name="T66" fmla="*/ 2147483647 w 4760"/>
              <a:gd name="T67" fmla="*/ 2147483647 h 4763"/>
              <a:gd name="T68" fmla="*/ 2147483647 w 4760"/>
              <a:gd name="T69" fmla="*/ 2147483647 h 4763"/>
              <a:gd name="T70" fmla="*/ 2147483647 w 4760"/>
              <a:gd name="T71" fmla="*/ 2147483647 h 4763"/>
              <a:gd name="T72" fmla="*/ 2147483647 w 4760"/>
              <a:gd name="T73" fmla="*/ 2147483647 h 4763"/>
              <a:gd name="T74" fmla="*/ 2147483647 w 4760"/>
              <a:gd name="T75" fmla="*/ 2147483647 h 4763"/>
              <a:gd name="T76" fmla="*/ 2147483647 w 4760"/>
              <a:gd name="T77" fmla="*/ 2147483647 h 4763"/>
              <a:gd name="T78" fmla="*/ 2147483647 w 4760"/>
              <a:gd name="T79" fmla="*/ 2147483647 h 4763"/>
              <a:gd name="T80" fmla="*/ 2147483647 w 4760"/>
              <a:gd name="T81" fmla="*/ 2147483647 h 4763"/>
              <a:gd name="T82" fmla="*/ 2147483647 w 4760"/>
              <a:gd name="T83" fmla="*/ 2147483647 h 4763"/>
              <a:gd name="T84" fmla="*/ 2147483647 w 4760"/>
              <a:gd name="T85" fmla="*/ 2147483647 h 4763"/>
              <a:gd name="T86" fmla="*/ 2147483647 w 4760"/>
              <a:gd name="T87" fmla="*/ 2147483647 h 4763"/>
              <a:gd name="T88" fmla="*/ 2147483647 w 4760"/>
              <a:gd name="T89" fmla="*/ 2147483647 h 4763"/>
              <a:gd name="T90" fmla="*/ 2147483647 w 4760"/>
              <a:gd name="T91" fmla="*/ 2147483647 h 4763"/>
              <a:gd name="T92" fmla="*/ 2147483647 w 4760"/>
              <a:gd name="T93" fmla="*/ 2147483647 h 4763"/>
              <a:gd name="T94" fmla="*/ 2147483647 w 4760"/>
              <a:gd name="T95" fmla="*/ 2147483647 h 4763"/>
              <a:gd name="T96" fmla="*/ 2147483647 w 4760"/>
              <a:gd name="T97" fmla="*/ 2147483647 h 4763"/>
              <a:gd name="T98" fmla="*/ 2147483647 w 4760"/>
              <a:gd name="T99" fmla="*/ 2147483647 h 4763"/>
              <a:gd name="T100" fmla="*/ 2147483647 w 4760"/>
              <a:gd name="T101" fmla="*/ 2147483647 h 4763"/>
              <a:gd name="T102" fmla="*/ 2147483647 w 4760"/>
              <a:gd name="T103" fmla="*/ 2147483647 h 4763"/>
              <a:gd name="T104" fmla="*/ 2147483647 w 4760"/>
              <a:gd name="T105" fmla="*/ 2147483647 h 4763"/>
              <a:gd name="T106" fmla="*/ 2147483647 w 4760"/>
              <a:gd name="T107" fmla="*/ 2147483647 h 4763"/>
              <a:gd name="T108" fmla="*/ 2147483647 w 4760"/>
              <a:gd name="T109" fmla="*/ 2147483647 h 4763"/>
              <a:gd name="T110" fmla="*/ 2147483647 w 4760"/>
              <a:gd name="T111" fmla="*/ 2147483647 h 4763"/>
              <a:gd name="T112" fmla="*/ 2147483647 w 4760"/>
              <a:gd name="T113" fmla="*/ 2147483647 h 4763"/>
              <a:gd name="T114" fmla="*/ 2147483647 w 4760"/>
              <a:gd name="T115" fmla="*/ 2147483647 h 4763"/>
              <a:gd name="T116" fmla="*/ 2147483647 w 4760"/>
              <a:gd name="T117" fmla="*/ 2147483647 h 4763"/>
              <a:gd name="T118" fmla="*/ 2147483647 w 4760"/>
              <a:gd name="T119" fmla="*/ 2147483647 h 4763"/>
              <a:gd name="T120" fmla="*/ 2147483647 w 4760"/>
              <a:gd name="T121" fmla="*/ 2147483647 h 4763"/>
              <a:gd name="T122" fmla="*/ 2147483647 w 4760"/>
              <a:gd name="T123" fmla="*/ 2147483647 h 4763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4760"/>
              <a:gd name="T187" fmla="*/ 0 h 4763"/>
              <a:gd name="T188" fmla="*/ 4760 w 4760"/>
              <a:gd name="T189" fmla="*/ 4763 h 4763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4760" h="4763">
                <a:moveTo>
                  <a:pt x="4475" y="765"/>
                </a:moveTo>
                <a:lnTo>
                  <a:pt x="4475" y="765"/>
                </a:lnTo>
                <a:lnTo>
                  <a:pt x="4460" y="767"/>
                </a:lnTo>
                <a:lnTo>
                  <a:pt x="4444" y="769"/>
                </a:lnTo>
                <a:lnTo>
                  <a:pt x="4429" y="771"/>
                </a:lnTo>
                <a:lnTo>
                  <a:pt x="4413" y="772"/>
                </a:lnTo>
                <a:lnTo>
                  <a:pt x="4382" y="771"/>
                </a:lnTo>
                <a:lnTo>
                  <a:pt x="4353" y="768"/>
                </a:lnTo>
                <a:lnTo>
                  <a:pt x="4323" y="762"/>
                </a:lnTo>
                <a:lnTo>
                  <a:pt x="4295" y="754"/>
                </a:lnTo>
                <a:lnTo>
                  <a:pt x="4266" y="743"/>
                </a:lnTo>
                <a:lnTo>
                  <a:pt x="4239" y="730"/>
                </a:lnTo>
                <a:lnTo>
                  <a:pt x="4211" y="716"/>
                </a:lnTo>
                <a:lnTo>
                  <a:pt x="4187" y="699"/>
                </a:lnTo>
                <a:lnTo>
                  <a:pt x="4162" y="682"/>
                </a:lnTo>
                <a:lnTo>
                  <a:pt x="4139" y="663"/>
                </a:lnTo>
                <a:lnTo>
                  <a:pt x="4116" y="641"/>
                </a:lnTo>
                <a:lnTo>
                  <a:pt x="4096" y="619"/>
                </a:lnTo>
                <a:lnTo>
                  <a:pt x="4077" y="595"/>
                </a:lnTo>
                <a:lnTo>
                  <a:pt x="4059" y="570"/>
                </a:lnTo>
                <a:lnTo>
                  <a:pt x="4044" y="545"/>
                </a:lnTo>
                <a:lnTo>
                  <a:pt x="4030" y="519"/>
                </a:lnTo>
                <a:lnTo>
                  <a:pt x="4018" y="492"/>
                </a:lnTo>
                <a:lnTo>
                  <a:pt x="4007" y="464"/>
                </a:lnTo>
                <a:lnTo>
                  <a:pt x="3999" y="437"/>
                </a:lnTo>
                <a:lnTo>
                  <a:pt x="3993" y="408"/>
                </a:lnTo>
                <a:lnTo>
                  <a:pt x="3989" y="381"/>
                </a:lnTo>
                <a:lnTo>
                  <a:pt x="3987" y="353"/>
                </a:lnTo>
                <a:lnTo>
                  <a:pt x="3988" y="325"/>
                </a:lnTo>
                <a:lnTo>
                  <a:pt x="3992" y="298"/>
                </a:lnTo>
                <a:lnTo>
                  <a:pt x="3998" y="271"/>
                </a:lnTo>
                <a:lnTo>
                  <a:pt x="4006" y="245"/>
                </a:lnTo>
                <a:lnTo>
                  <a:pt x="4012" y="232"/>
                </a:lnTo>
                <a:lnTo>
                  <a:pt x="4018" y="218"/>
                </a:lnTo>
                <a:lnTo>
                  <a:pt x="4024" y="207"/>
                </a:lnTo>
                <a:lnTo>
                  <a:pt x="4032" y="194"/>
                </a:lnTo>
                <a:lnTo>
                  <a:pt x="4040" y="182"/>
                </a:lnTo>
                <a:lnTo>
                  <a:pt x="4049" y="171"/>
                </a:lnTo>
                <a:lnTo>
                  <a:pt x="4059" y="159"/>
                </a:lnTo>
                <a:lnTo>
                  <a:pt x="4070" y="148"/>
                </a:lnTo>
                <a:lnTo>
                  <a:pt x="4089" y="129"/>
                </a:lnTo>
                <a:lnTo>
                  <a:pt x="4112" y="114"/>
                </a:lnTo>
                <a:lnTo>
                  <a:pt x="4134" y="101"/>
                </a:lnTo>
                <a:lnTo>
                  <a:pt x="4159" y="89"/>
                </a:lnTo>
                <a:lnTo>
                  <a:pt x="4184" y="81"/>
                </a:lnTo>
                <a:lnTo>
                  <a:pt x="4210" y="74"/>
                </a:lnTo>
                <a:lnTo>
                  <a:pt x="4238" y="70"/>
                </a:lnTo>
                <a:lnTo>
                  <a:pt x="4265" y="68"/>
                </a:lnTo>
                <a:lnTo>
                  <a:pt x="4293" y="68"/>
                </a:lnTo>
                <a:lnTo>
                  <a:pt x="4322" y="71"/>
                </a:lnTo>
                <a:lnTo>
                  <a:pt x="4350" y="76"/>
                </a:lnTo>
                <a:lnTo>
                  <a:pt x="4380" y="83"/>
                </a:lnTo>
                <a:lnTo>
                  <a:pt x="4409" y="93"/>
                </a:lnTo>
                <a:lnTo>
                  <a:pt x="4436" y="104"/>
                </a:lnTo>
                <a:lnTo>
                  <a:pt x="4464" y="119"/>
                </a:lnTo>
                <a:lnTo>
                  <a:pt x="4492" y="135"/>
                </a:lnTo>
                <a:lnTo>
                  <a:pt x="4439" y="214"/>
                </a:lnTo>
                <a:lnTo>
                  <a:pt x="4413" y="198"/>
                </a:lnTo>
                <a:lnTo>
                  <a:pt x="4388" y="185"/>
                </a:lnTo>
                <a:lnTo>
                  <a:pt x="4363" y="176"/>
                </a:lnTo>
                <a:lnTo>
                  <a:pt x="4338" y="167"/>
                </a:lnTo>
                <a:lnTo>
                  <a:pt x="4315" y="163"/>
                </a:lnTo>
                <a:lnTo>
                  <a:pt x="4292" y="160"/>
                </a:lnTo>
                <a:lnTo>
                  <a:pt x="4271" y="159"/>
                </a:lnTo>
                <a:lnTo>
                  <a:pt x="4249" y="161"/>
                </a:lnTo>
                <a:lnTo>
                  <a:pt x="4229" y="165"/>
                </a:lnTo>
                <a:lnTo>
                  <a:pt x="4210" y="171"/>
                </a:lnTo>
                <a:lnTo>
                  <a:pt x="4191" y="178"/>
                </a:lnTo>
                <a:lnTo>
                  <a:pt x="4175" y="188"/>
                </a:lnTo>
                <a:lnTo>
                  <a:pt x="4159" y="198"/>
                </a:lnTo>
                <a:lnTo>
                  <a:pt x="4145" y="210"/>
                </a:lnTo>
                <a:lnTo>
                  <a:pt x="4132" y="224"/>
                </a:lnTo>
                <a:lnTo>
                  <a:pt x="4120" y="240"/>
                </a:lnTo>
                <a:lnTo>
                  <a:pt x="4109" y="255"/>
                </a:lnTo>
                <a:lnTo>
                  <a:pt x="4101" y="273"/>
                </a:lnTo>
                <a:lnTo>
                  <a:pt x="4094" y="292"/>
                </a:lnTo>
                <a:lnTo>
                  <a:pt x="4089" y="311"/>
                </a:lnTo>
                <a:lnTo>
                  <a:pt x="4086" y="331"/>
                </a:lnTo>
                <a:lnTo>
                  <a:pt x="4084" y="353"/>
                </a:lnTo>
                <a:lnTo>
                  <a:pt x="4084" y="374"/>
                </a:lnTo>
                <a:lnTo>
                  <a:pt x="4087" y="395"/>
                </a:lnTo>
                <a:lnTo>
                  <a:pt x="4090" y="418"/>
                </a:lnTo>
                <a:lnTo>
                  <a:pt x="4097" y="441"/>
                </a:lnTo>
                <a:lnTo>
                  <a:pt x="4106" y="463"/>
                </a:lnTo>
                <a:lnTo>
                  <a:pt x="4116" y="486"/>
                </a:lnTo>
                <a:lnTo>
                  <a:pt x="4130" y="509"/>
                </a:lnTo>
                <a:lnTo>
                  <a:pt x="4146" y="532"/>
                </a:lnTo>
                <a:lnTo>
                  <a:pt x="4164" y="555"/>
                </a:lnTo>
                <a:lnTo>
                  <a:pt x="4184" y="576"/>
                </a:lnTo>
                <a:lnTo>
                  <a:pt x="4201" y="591"/>
                </a:lnTo>
                <a:lnTo>
                  <a:pt x="4217" y="606"/>
                </a:lnTo>
                <a:lnTo>
                  <a:pt x="4234" y="619"/>
                </a:lnTo>
                <a:lnTo>
                  <a:pt x="4252" y="629"/>
                </a:lnTo>
                <a:lnTo>
                  <a:pt x="4270" y="640"/>
                </a:lnTo>
                <a:lnTo>
                  <a:pt x="4286" y="648"/>
                </a:lnTo>
                <a:lnTo>
                  <a:pt x="4304" y="657"/>
                </a:lnTo>
                <a:lnTo>
                  <a:pt x="4322" y="663"/>
                </a:lnTo>
                <a:lnTo>
                  <a:pt x="4340" y="667"/>
                </a:lnTo>
                <a:lnTo>
                  <a:pt x="4357" y="671"/>
                </a:lnTo>
                <a:lnTo>
                  <a:pt x="4374" y="674"/>
                </a:lnTo>
                <a:lnTo>
                  <a:pt x="4391" y="676"/>
                </a:lnTo>
                <a:lnTo>
                  <a:pt x="4407" y="676"/>
                </a:lnTo>
                <a:lnTo>
                  <a:pt x="4424" y="676"/>
                </a:lnTo>
                <a:lnTo>
                  <a:pt x="4439" y="674"/>
                </a:lnTo>
                <a:lnTo>
                  <a:pt x="4455" y="671"/>
                </a:lnTo>
                <a:lnTo>
                  <a:pt x="4475" y="765"/>
                </a:lnTo>
                <a:close/>
                <a:moveTo>
                  <a:pt x="2669" y="2745"/>
                </a:moveTo>
                <a:lnTo>
                  <a:pt x="2669" y="2745"/>
                </a:lnTo>
                <a:lnTo>
                  <a:pt x="2676" y="2780"/>
                </a:lnTo>
                <a:lnTo>
                  <a:pt x="2681" y="2814"/>
                </a:lnTo>
                <a:lnTo>
                  <a:pt x="2686" y="2849"/>
                </a:lnTo>
                <a:lnTo>
                  <a:pt x="2688" y="2884"/>
                </a:lnTo>
                <a:lnTo>
                  <a:pt x="2498" y="2884"/>
                </a:lnTo>
                <a:lnTo>
                  <a:pt x="2496" y="2857"/>
                </a:lnTo>
                <a:lnTo>
                  <a:pt x="2492" y="2831"/>
                </a:lnTo>
                <a:lnTo>
                  <a:pt x="2669" y="2745"/>
                </a:lnTo>
                <a:close/>
                <a:moveTo>
                  <a:pt x="2688" y="2979"/>
                </a:moveTo>
                <a:lnTo>
                  <a:pt x="2688" y="2979"/>
                </a:lnTo>
                <a:lnTo>
                  <a:pt x="2685" y="3020"/>
                </a:lnTo>
                <a:lnTo>
                  <a:pt x="2680" y="3060"/>
                </a:lnTo>
                <a:lnTo>
                  <a:pt x="2673" y="3101"/>
                </a:lnTo>
                <a:lnTo>
                  <a:pt x="2664" y="3139"/>
                </a:lnTo>
                <a:lnTo>
                  <a:pt x="2654" y="3178"/>
                </a:lnTo>
                <a:lnTo>
                  <a:pt x="2642" y="3215"/>
                </a:lnTo>
                <a:lnTo>
                  <a:pt x="2628" y="3251"/>
                </a:lnTo>
                <a:lnTo>
                  <a:pt x="2613" y="3287"/>
                </a:lnTo>
                <a:lnTo>
                  <a:pt x="2596" y="3323"/>
                </a:lnTo>
                <a:lnTo>
                  <a:pt x="2578" y="3357"/>
                </a:lnTo>
                <a:lnTo>
                  <a:pt x="2558" y="3390"/>
                </a:lnTo>
                <a:lnTo>
                  <a:pt x="2536" y="3422"/>
                </a:lnTo>
                <a:lnTo>
                  <a:pt x="2514" y="3453"/>
                </a:lnTo>
                <a:lnTo>
                  <a:pt x="2490" y="3483"/>
                </a:lnTo>
                <a:lnTo>
                  <a:pt x="2464" y="3511"/>
                </a:lnTo>
                <a:lnTo>
                  <a:pt x="2438" y="3540"/>
                </a:lnTo>
                <a:lnTo>
                  <a:pt x="2409" y="3566"/>
                </a:lnTo>
                <a:lnTo>
                  <a:pt x="2381" y="3591"/>
                </a:lnTo>
                <a:lnTo>
                  <a:pt x="2351" y="3616"/>
                </a:lnTo>
                <a:lnTo>
                  <a:pt x="2320" y="3638"/>
                </a:lnTo>
                <a:lnTo>
                  <a:pt x="2287" y="3660"/>
                </a:lnTo>
                <a:lnTo>
                  <a:pt x="2255" y="3679"/>
                </a:lnTo>
                <a:lnTo>
                  <a:pt x="2220" y="3698"/>
                </a:lnTo>
                <a:lnTo>
                  <a:pt x="2185" y="3714"/>
                </a:lnTo>
                <a:lnTo>
                  <a:pt x="2149" y="3730"/>
                </a:lnTo>
                <a:lnTo>
                  <a:pt x="2112" y="3743"/>
                </a:lnTo>
                <a:lnTo>
                  <a:pt x="2075" y="3755"/>
                </a:lnTo>
                <a:lnTo>
                  <a:pt x="2037" y="3766"/>
                </a:lnTo>
                <a:lnTo>
                  <a:pt x="1998" y="3774"/>
                </a:lnTo>
                <a:lnTo>
                  <a:pt x="1959" y="3781"/>
                </a:lnTo>
                <a:lnTo>
                  <a:pt x="1919" y="3786"/>
                </a:lnTo>
                <a:lnTo>
                  <a:pt x="1878" y="3789"/>
                </a:lnTo>
                <a:lnTo>
                  <a:pt x="1878" y="3599"/>
                </a:lnTo>
                <a:lnTo>
                  <a:pt x="1909" y="3596"/>
                </a:lnTo>
                <a:lnTo>
                  <a:pt x="1940" y="3592"/>
                </a:lnTo>
                <a:lnTo>
                  <a:pt x="1970" y="3586"/>
                </a:lnTo>
                <a:lnTo>
                  <a:pt x="1999" y="3579"/>
                </a:lnTo>
                <a:lnTo>
                  <a:pt x="2028" y="3571"/>
                </a:lnTo>
                <a:lnTo>
                  <a:pt x="2056" y="3561"/>
                </a:lnTo>
                <a:lnTo>
                  <a:pt x="2084" y="3551"/>
                </a:lnTo>
                <a:lnTo>
                  <a:pt x="2111" y="3539"/>
                </a:lnTo>
                <a:lnTo>
                  <a:pt x="2138" y="3526"/>
                </a:lnTo>
                <a:lnTo>
                  <a:pt x="2163" y="3511"/>
                </a:lnTo>
                <a:lnTo>
                  <a:pt x="2189" y="3497"/>
                </a:lnTo>
                <a:lnTo>
                  <a:pt x="2213" y="3481"/>
                </a:lnTo>
                <a:lnTo>
                  <a:pt x="2237" y="3463"/>
                </a:lnTo>
                <a:lnTo>
                  <a:pt x="2259" y="3445"/>
                </a:lnTo>
                <a:lnTo>
                  <a:pt x="2282" y="3426"/>
                </a:lnTo>
                <a:lnTo>
                  <a:pt x="2303" y="3406"/>
                </a:lnTo>
                <a:lnTo>
                  <a:pt x="2324" y="3384"/>
                </a:lnTo>
                <a:lnTo>
                  <a:pt x="2343" y="3362"/>
                </a:lnTo>
                <a:lnTo>
                  <a:pt x="2362" y="3339"/>
                </a:lnTo>
                <a:lnTo>
                  <a:pt x="2378" y="3315"/>
                </a:lnTo>
                <a:lnTo>
                  <a:pt x="2395" y="3291"/>
                </a:lnTo>
                <a:lnTo>
                  <a:pt x="2410" y="3266"/>
                </a:lnTo>
                <a:lnTo>
                  <a:pt x="2425" y="3239"/>
                </a:lnTo>
                <a:lnTo>
                  <a:pt x="2438" y="3213"/>
                </a:lnTo>
                <a:lnTo>
                  <a:pt x="2449" y="3186"/>
                </a:lnTo>
                <a:lnTo>
                  <a:pt x="2460" y="3159"/>
                </a:lnTo>
                <a:lnTo>
                  <a:pt x="2470" y="3130"/>
                </a:lnTo>
                <a:lnTo>
                  <a:pt x="2478" y="3101"/>
                </a:lnTo>
                <a:lnTo>
                  <a:pt x="2485" y="3071"/>
                </a:lnTo>
                <a:lnTo>
                  <a:pt x="2491" y="3041"/>
                </a:lnTo>
                <a:lnTo>
                  <a:pt x="2495" y="3010"/>
                </a:lnTo>
                <a:lnTo>
                  <a:pt x="2498" y="2979"/>
                </a:lnTo>
                <a:lnTo>
                  <a:pt x="2688" y="2979"/>
                </a:lnTo>
                <a:close/>
                <a:moveTo>
                  <a:pt x="1783" y="3789"/>
                </a:moveTo>
                <a:lnTo>
                  <a:pt x="1783" y="3789"/>
                </a:lnTo>
                <a:lnTo>
                  <a:pt x="1743" y="3786"/>
                </a:lnTo>
                <a:lnTo>
                  <a:pt x="1703" y="3781"/>
                </a:lnTo>
                <a:lnTo>
                  <a:pt x="1663" y="3774"/>
                </a:lnTo>
                <a:lnTo>
                  <a:pt x="1624" y="3766"/>
                </a:lnTo>
                <a:lnTo>
                  <a:pt x="1586" y="3755"/>
                </a:lnTo>
                <a:lnTo>
                  <a:pt x="1548" y="3743"/>
                </a:lnTo>
                <a:lnTo>
                  <a:pt x="1511" y="3729"/>
                </a:lnTo>
                <a:lnTo>
                  <a:pt x="1476" y="3713"/>
                </a:lnTo>
                <a:lnTo>
                  <a:pt x="1440" y="3697"/>
                </a:lnTo>
                <a:lnTo>
                  <a:pt x="1407" y="3679"/>
                </a:lnTo>
                <a:lnTo>
                  <a:pt x="1374" y="3659"/>
                </a:lnTo>
                <a:lnTo>
                  <a:pt x="1342" y="3637"/>
                </a:lnTo>
                <a:lnTo>
                  <a:pt x="1310" y="3615"/>
                </a:lnTo>
                <a:lnTo>
                  <a:pt x="1280" y="3590"/>
                </a:lnTo>
                <a:lnTo>
                  <a:pt x="1251" y="3565"/>
                </a:lnTo>
                <a:lnTo>
                  <a:pt x="1223" y="3539"/>
                </a:lnTo>
                <a:lnTo>
                  <a:pt x="1197" y="3510"/>
                </a:lnTo>
                <a:lnTo>
                  <a:pt x="1172" y="3482"/>
                </a:lnTo>
                <a:lnTo>
                  <a:pt x="1148" y="3452"/>
                </a:lnTo>
                <a:lnTo>
                  <a:pt x="1126" y="3420"/>
                </a:lnTo>
                <a:lnTo>
                  <a:pt x="1104" y="3388"/>
                </a:lnTo>
                <a:lnTo>
                  <a:pt x="1084" y="3355"/>
                </a:lnTo>
                <a:lnTo>
                  <a:pt x="1066" y="3321"/>
                </a:lnTo>
                <a:lnTo>
                  <a:pt x="1048" y="3286"/>
                </a:lnTo>
                <a:lnTo>
                  <a:pt x="1034" y="3250"/>
                </a:lnTo>
                <a:lnTo>
                  <a:pt x="1020" y="3213"/>
                </a:lnTo>
                <a:lnTo>
                  <a:pt x="1008" y="3177"/>
                </a:lnTo>
                <a:lnTo>
                  <a:pt x="997" y="3139"/>
                </a:lnTo>
                <a:lnTo>
                  <a:pt x="989" y="3099"/>
                </a:lnTo>
                <a:lnTo>
                  <a:pt x="982" y="3060"/>
                </a:lnTo>
                <a:lnTo>
                  <a:pt x="977" y="3020"/>
                </a:lnTo>
                <a:lnTo>
                  <a:pt x="974" y="2979"/>
                </a:lnTo>
                <a:lnTo>
                  <a:pt x="1165" y="2979"/>
                </a:lnTo>
                <a:lnTo>
                  <a:pt x="1167" y="3010"/>
                </a:lnTo>
                <a:lnTo>
                  <a:pt x="1172" y="3041"/>
                </a:lnTo>
                <a:lnTo>
                  <a:pt x="1177" y="3071"/>
                </a:lnTo>
                <a:lnTo>
                  <a:pt x="1184" y="3099"/>
                </a:lnTo>
                <a:lnTo>
                  <a:pt x="1192" y="3129"/>
                </a:lnTo>
                <a:lnTo>
                  <a:pt x="1202" y="3158"/>
                </a:lnTo>
                <a:lnTo>
                  <a:pt x="1212" y="3185"/>
                </a:lnTo>
                <a:lnTo>
                  <a:pt x="1224" y="3212"/>
                </a:lnTo>
                <a:lnTo>
                  <a:pt x="1237" y="3238"/>
                </a:lnTo>
                <a:lnTo>
                  <a:pt x="1251" y="3264"/>
                </a:lnTo>
                <a:lnTo>
                  <a:pt x="1267" y="3291"/>
                </a:lnTo>
                <a:lnTo>
                  <a:pt x="1282" y="3314"/>
                </a:lnTo>
                <a:lnTo>
                  <a:pt x="1300" y="3338"/>
                </a:lnTo>
                <a:lnTo>
                  <a:pt x="1318" y="3361"/>
                </a:lnTo>
                <a:lnTo>
                  <a:pt x="1338" y="3383"/>
                </a:lnTo>
                <a:lnTo>
                  <a:pt x="1358" y="3405"/>
                </a:lnTo>
                <a:lnTo>
                  <a:pt x="1378" y="3425"/>
                </a:lnTo>
                <a:lnTo>
                  <a:pt x="1401" y="3444"/>
                </a:lnTo>
                <a:lnTo>
                  <a:pt x="1424" y="3463"/>
                </a:lnTo>
                <a:lnTo>
                  <a:pt x="1447" y="3479"/>
                </a:lnTo>
                <a:lnTo>
                  <a:pt x="1472" y="3496"/>
                </a:lnTo>
                <a:lnTo>
                  <a:pt x="1497" y="3511"/>
                </a:lnTo>
                <a:lnTo>
                  <a:pt x="1523" y="3526"/>
                </a:lnTo>
                <a:lnTo>
                  <a:pt x="1549" y="3539"/>
                </a:lnTo>
                <a:lnTo>
                  <a:pt x="1577" y="3551"/>
                </a:lnTo>
                <a:lnTo>
                  <a:pt x="1605" y="3561"/>
                </a:lnTo>
                <a:lnTo>
                  <a:pt x="1634" y="3571"/>
                </a:lnTo>
                <a:lnTo>
                  <a:pt x="1662" y="3579"/>
                </a:lnTo>
                <a:lnTo>
                  <a:pt x="1692" y="3586"/>
                </a:lnTo>
                <a:lnTo>
                  <a:pt x="1722" y="3592"/>
                </a:lnTo>
                <a:lnTo>
                  <a:pt x="1752" y="3596"/>
                </a:lnTo>
                <a:lnTo>
                  <a:pt x="1783" y="3599"/>
                </a:lnTo>
                <a:lnTo>
                  <a:pt x="1783" y="3789"/>
                </a:lnTo>
                <a:close/>
                <a:moveTo>
                  <a:pt x="974" y="2884"/>
                </a:moveTo>
                <a:lnTo>
                  <a:pt x="974" y="2884"/>
                </a:lnTo>
                <a:lnTo>
                  <a:pt x="977" y="2844"/>
                </a:lnTo>
                <a:lnTo>
                  <a:pt x="982" y="2804"/>
                </a:lnTo>
                <a:lnTo>
                  <a:pt x="989" y="2763"/>
                </a:lnTo>
                <a:lnTo>
                  <a:pt x="997" y="2725"/>
                </a:lnTo>
                <a:lnTo>
                  <a:pt x="1008" y="2686"/>
                </a:lnTo>
                <a:lnTo>
                  <a:pt x="1020" y="2649"/>
                </a:lnTo>
                <a:lnTo>
                  <a:pt x="1034" y="2612"/>
                </a:lnTo>
                <a:lnTo>
                  <a:pt x="1050" y="2577"/>
                </a:lnTo>
                <a:lnTo>
                  <a:pt x="1066" y="2541"/>
                </a:lnTo>
                <a:lnTo>
                  <a:pt x="1085" y="2507"/>
                </a:lnTo>
                <a:lnTo>
                  <a:pt x="1104" y="2475"/>
                </a:lnTo>
                <a:lnTo>
                  <a:pt x="1126" y="2441"/>
                </a:lnTo>
                <a:lnTo>
                  <a:pt x="1149" y="2411"/>
                </a:lnTo>
                <a:lnTo>
                  <a:pt x="1173" y="2381"/>
                </a:lnTo>
                <a:lnTo>
                  <a:pt x="1198" y="2352"/>
                </a:lnTo>
                <a:lnTo>
                  <a:pt x="1225" y="2324"/>
                </a:lnTo>
                <a:lnTo>
                  <a:pt x="1253" y="2298"/>
                </a:lnTo>
                <a:lnTo>
                  <a:pt x="1281" y="2273"/>
                </a:lnTo>
                <a:lnTo>
                  <a:pt x="1312" y="2248"/>
                </a:lnTo>
                <a:lnTo>
                  <a:pt x="1343" y="2225"/>
                </a:lnTo>
                <a:lnTo>
                  <a:pt x="1375" y="2205"/>
                </a:lnTo>
                <a:lnTo>
                  <a:pt x="1408" y="2185"/>
                </a:lnTo>
                <a:lnTo>
                  <a:pt x="1443" y="2166"/>
                </a:lnTo>
                <a:lnTo>
                  <a:pt x="1477" y="2149"/>
                </a:lnTo>
                <a:lnTo>
                  <a:pt x="1513" y="2134"/>
                </a:lnTo>
                <a:lnTo>
                  <a:pt x="1549" y="2121"/>
                </a:lnTo>
                <a:lnTo>
                  <a:pt x="1587" y="2109"/>
                </a:lnTo>
                <a:lnTo>
                  <a:pt x="1625" y="2098"/>
                </a:lnTo>
                <a:lnTo>
                  <a:pt x="1663" y="2090"/>
                </a:lnTo>
                <a:lnTo>
                  <a:pt x="1703" y="2083"/>
                </a:lnTo>
                <a:lnTo>
                  <a:pt x="1743" y="2078"/>
                </a:lnTo>
                <a:lnTo>
                  <a:pt x="1783" y="2075"/>
                </a:lnTo>
                <a:lnTo>
                  <a:pt x="1783" y="2265"/>
                </a:lnTo>
                <a:lnTo>
                  <a:pt x="1752" y="2268"/>
                </a:lnTo>
                <a:lnTo>
                  <a:pt x="1723" y="2272"/>
                </a:lnTo>
                <a:lnTo>
                  <a:pt x="1693" y="2278"/>
                </a:lnTo>
                <a:lnTo>
                  <a:pt x="1663" y="2285"/>
                </a:lnTo>
                <a:lnTo>
                  <a:pt x="1634" y="2293"/>
                </a:lnTo>
                <a:lnTo>
                  <a:pt x="1605" y="2303"/>
                </a:lnTo>
                <a:lnTo>
                  <a:pt x="1578" y="2313"/>
                </a:lnTo>
                <a:lnTo>
                  <a:pt x="1551" y="2325"/>
                </a:lnTo>
                <a:lnTo>
                  <a:pt x="1525" y="2338"/>
                </a:lnTo>
                <a:lnTo>
                  <a:pt x="1498" y="2352"/>
                </a:lnTo>
                <a:lnTo>
                  <a:pt x="1473" y="2367"/>
                </a:lnTo>
                <a:lnTo>
                  <a:pt x="1449" y="2383"/>
                </a:lnTo>
                <a:lnTo>
                  <a:pt x="1425" y="2401"/>
                </a:lnTo>
                <a:lnTo>
                  <a:pt x="1402" y="2419"/>
                </a:lnTo>
                <a:lnTo>
                  <a:pt x="1380" y="2438"/>
                </a:lnTo>
                <a:lnTo>
                  <a:pt x="1359" y="2459"/>
                </a:lnTo>
                <a:lnTo>
                  <a:pt x="1338" y="2479"/>
                </a:lnTo>
                <a:lnTo>
                  <a:pt x="1319" y="2502"/>
                </a:lnTo>
                <a:lnTo>
                  <a:pt x="1301" y="2525"/>
                </a:lnTo>
                <a:lnTo>
                  <a:pt x="1284" y="2548"/>
                </a:lnTo>
                <a:lnTo>
                  <a:pt x="1267" y="2573"/>
                </a:lnTo>
                <a:lnTo>
                  <a:pt x="1251" y="2598"/>
                </a:lnTo>
                <a:lnTo>
                  <a:pt x="1237" y="2624"/>
                </a:lnTo>
                <a:lnTo>
                  <a:pt x="1224" y="2650"/>
                </a:lnTo>
                <a:lnTo>
                  <a:pt x="1212" y="2678"/>
                </a:lnTo>
                <a:lnTo>
                  <a:pt x="1202" y="2706"/>
                </a:lnTo>
                <a:lnTo>
                  <a:pt x="1192" y="2735"/>
                </a:lnTo>
                <a:lnTo>
                  <a:pt x="1184" y="2763"/>
                </a:lnTo>
                <a:lnTo>
                  <a:pt x="1177" y="2793"/>
                </a:lnTo>
                <a:lnTo>
                  <a:pt x="1172" y="2823"/>
                </a:lnTo>
                <a:lnTo>
                  <a:pt x="1167" y="2854"/>
                </a:lnTo>
                <a:lnTo>
                  <a:pt x="1165" y="2884"/>
                </a:lnTo>
                <a:lnTo>
                  <a:pt x="974" y="2884"/>
                </a:lnTo>
                <a:close/>
                <a:moveTo>
                  <a:pt x="3081" y="2436"/>
                </a:moveTo>
                <a:lnTo>
                  <a:pt x="3081" y="2436"/>
                </a:lnTo>
                <a:lnTo>
                  <a:pt x="3101" y="2488"/>
                </a:lnTo>
                <a:lnTo>
                  <a:pt x="3118" y="2542"/>
                </a:lnTo>
                <a:lnTo>
                  <a:pt x="3133" y="2597"/>
                </a:lnTo>
                <a:lnTo>
                  <a:pt x="3146" y="2653"/>
                </a:lnTo>
                <a:lnTo>
                  <a:pt x="3157" y="2710"/>
                </a:lnTo>
                <a:lnTo>
                  <a:pt x="3165" y="2767"/>
                </a:lnTo>
                <a:lnTo>
                  <a:pt x="3171" y="2825"/>
                </a:lnTo>
                <a:lnTo>
                  <a:pt x="3175" y="2884"/>
                </a:lnTo>
                <a:lnTo>
                  <a:pt x="2985" y="2884"/>
                </a:lnTo>
                <a:lnTo>
                  <a:pt x="2983" y="2845"/>
                </a:lnTo>
                <a:lnTo>
                  <a:pt x="2979" y="2806"/>
                </a:lnTo>
                <a:lnTo>
                  <a:pt x="2974" y="2768"/>
                </a:lnTo>
                <a:lnTo>
                  <a:pt x="2968" y="2730"/>
                </a:lnTo>
                <a:lnTo>
                  <a:pt x="2961" y="2692"/>
                </a:lnTo>
                <a:lnTo>
                  <a:pt x="2953" y="2654"/>
                </a:lnTo>
                <a:lnTo>
                  <a:pt x="2942" y="2617"/>
                </a:lnTo>
                <a:lnTo>
                  <a:pt x="2932" y="2582"/>
                </a:lnTo>
                <a:lnTo>
                  <a:pt x="3081" y="2436"/>
                </a:lnTo>
                <a:close/>
                <a:moveTo>
                  <a:pt x="3175" y="2979"/>
                </a:moveTo>
                <a:lnTo>
                  <a:pt x="3175" y="2979"/>
                </a:lnTo>
                <a:lnTo>
                  <a:pt x="3174" y="3013"/>
                </a:lnTo>
                <a:lnTo>
                  <a:pt x="3171" y="3045"/>
                </a:lnTo>
                <a:lnTo>
                  <a:pt x="3168" y="3078"/>
                </a:lnTo>
                <a:lnTo>
                  <a:pt x="3164" y="3110"/>
                </a:lnTo>
                <a:lnTo>
                  <a:pt x="3159" y="3142"/>
                </a:lnTo>
                <a:lnTo>
                  <a:pt x="3154" y="3174"/>
                </a:lnTo>
                <a:lnTo>
                  <a:pt x="3148" y="3205"/>
                </a:lnTo>
                <a:lnTo>
                  <a:pt x="3142" y="3237"/>
                </a:lnTo>
                <a:lnTo>
                  <a:pt x="3133" y="3268"/>
                </a:lnTo>
                <a:lnTo>
                  <a:pt x="3125" y="3299"/>
                </a:lnTo>
                <a:lnTo>
                  <a:pt x="3117" y="3329"/>
                </a:lnTo>
                <a:lnTo>
                  <a:pt x="3106" y="3359"/>
                </a:lnTo>
                <a:lnTo>
                  <a:pt x="3097" y="3389"/>
                </a:lnTo>
                <a:lnTo>
                  <a:pt x="3085" y="3419"/>
                </a:lnTo>
                <a:lnTo>
                  <a:pt x="3074" y="3447"/>
                </a:lnTo>
                <a:lnTo>
                  <a:pt x="3061" y="3477"/>
                </a:lnTo>
                <a:lnTo>
                  <a:pt x="3048" y="3504"/>
                </a:lnTo>
                <a:lnTo>
                  <a:pt x="3035" y="3533"/>
                </a:lnTo>
                <a:lnTo>
                  <a:pt x="3021" y="3561"/>
                </a:lnTo>
                <a:lnTo>
                  <a:pt x="3005" y="3589"/>
                </a:lnTo>
                <a:lnTo>
                  <a:pt x="2990" y="3615"/>
                </a:lnTo>
                <a:lnTo>
                  <a:pt x="2974" y="3642"/>
                </a:lnTo>
                <a:lnTo>
                  <a:pt x="2956" y="3668"/>
                </a:lnTo>
                <a:lnTo>
                  <a:pt x="2940" y="3693"/>
                </a:lnTo>
                <a:lnTo>
                  <a:pt x="2903" y="3744"/>
                </a:lnTo>
                <a:lnTo>
                  <a:pt x="2865" y="3792"/>
                </a:lnTo>
                <a:lnTo>
                  <a:pt x="2825" y="3839"/>
                </a:lnTo>
                <a:lnTo>
                  <a:pt x="2782" y="3883"/>
                </a:lnTo>
                <a:lnTo>
                  <a:pt x="2737" y="3926"/>
                </a:lnTo>
                <a:lnTo>
                  <a:pt x="2690" y="3966"/>
                </a:lnTo>
                <a:lnTo>
                  <a:pt x="2642" y="4005"/>
                </a:lnTo>
                <a:lnTo>
                  <a:pt x="2592" y="4041"/>
                </a:lnTo>
                <a:lnTo>
                  <a:pt x="2566" y="4059"/>
                </a:lnTo>
                <a:lnTo>
                  <a:pt x="2540" y="4075"/>
                </a:lnTo>
                <a:lnTo>
                  <a:pt x="2514" y="4091"/>
                </a:lnTo>
                <a:lnTo>
                  <a:pt x="2486" y="4106"/>
                </a:lnTo>
                <a:lnTo>
                  <a:pt x="2459" y="4122"/>
                </a:lnTo>
                <a:lnTo>
                  <a:pt x="2432" y="4136"/>
                </a:lnTo>
                <a:lnTo>
                  <a:pt x="2403" y="4149"/>
                </a:lnTo>
                <a:lnTo>
                  <a:pt x="2375" y="4162"/>
                </a:lnTo>
                <a:lnTo>
                  <a:pt x="2346" y="4175"/>
                </a:lnTo>
                <a:lnTo>
                  <a:pt x="2316" y="4186"/>
                </a:lnTo>
                <a:lnTo>
                  <a:pt x="2288" y="4198"/>
                </a:lnTo>
                <a:lnTo>
                  <a:pt x="2257" y="4207"/>
                </a:lnTo>
                <a:lnTo>
                  <a:pt x="2227" y="4218"/>
                </a:lnTo>
                <a:lnTo>
                  <a:pt x="2197" y="4226"/>
                </a:lnTo>
                <a:lnTo>
                  <a:pt x="2167" y="4235"/>
                </a:lnTo>
                <a:lnTo>
                  <a:pt x="2136" y="4243"/>
                </a:lnTo>
                <a:lnTo>
                  <a:pt x="2104" y="4249"/>
                </a:lnTo>
                <a:lnTo>
                  <a:pt x="2073" y="4255"/>
                </a:lnTo>
                <a:lnTo>
                  <a:pt x="2041" y="4261"/>
                </a:lnTo>
                <a:lnTo>
                  <a:pt x="2009" y="4265"/>
                </a:lnTo>
                <a:lnTo>
                  <a:pt x="1977" y="4269"/>
                </a:lnTo>
                <a:lnTo>
                  <a:pt x="1944" y="4273"/>
                </a:lnTo>
                <a:lnTo>
                  <a:pt x="1912" y="4275"/>
                </a:lnTo>
                <a:lnTo>
                  <a:pt x="1878" y="4276"/>
                </a:lnTo>
                <a:lnTo>
                  <a:pt x="1878" y="4086"/>
                </a:lnTo>
                <a:lnTo>
                  <a:pt x="1934" y="4083"/>
                </a:lnTo>
                <a:lnTo>
                  <a:pt x="1990" y="4077"/>
                </a:lnTo>
                <a:lnTo>
                  <a:pt x="2043" y="4067"/>
                </a:lnTo>
                <a:lnTo>
                  <a:pt x="2097" y="4056"/>
                </a:lnTo>
                <a:lnTo>
                  <a:pt x="2150" y="4042"/>
                </a:lnTo>
                <a:lnTo>
                  <a:pt x="2201" y="4027"/>
                </a:lnTo>
                <a:lnTo>
                  <a:pt x="2251" y="4008"/>
                </a:lnTo>
                <a:lnTo>
                  <a:pt x="2301" y="3988"/>
                </a:lnTo>
                <a:lnTo>
                  <a:pt x="2349" y="3965"/>
                </a:lnTo>
                <a:lnTo>
                  <a:pt x="2396" y="3940"/>
                </a:lnTo>
                <a:lnTo>
                  <a:pt x="2441" y="3913"/>
                </a:lnTo>
                <a:lnTo>
                  <a:pt x="2485" y="3883"/>
                </a:lnTo>
                <a:lnTo>
                  <a:pt x="2528" y="3852"/>
                </a:lnTo>
                <a:lnTo>
                  <a:pt x="2569" y="3820"/>
                </a:lnTo>
                <a:lnTo>
                  <a:pt x="2610" y="3786"/>
                </a:lnTo>
                <a:lnTo>
                  <a:pt x="2648" y="3749"/>
                </a:lnTo>
                <a:lnTo>
                  <a:pt x="2683" y="3711"/>
                </a:lnTo>
                <a:lnTo>
                  <a:pt x="2719" y="3672"/>
                </a:lnTo>
                <a:lnTo>
                  <a:pt x="2751" y="3630"/>
                </a:lnTo>
                <a:lnTo>
                  <a:pt x="2782" y="3587"/>
                </a:lnTo>
                <a:lnTo>
                  <a:pt x="2812" y="3543"/>
                </a:lnTo>
                <a:lnTo>
                  <a:pt x="2838" y="3497"/>
                </a:lnTo>
                <a:lnTo>
                  <a:pt x="2863" y="3451"/>
                </a:lnTo>
                <a:lnTo>
                  <a:pt x="2886" y="3402"/>
                </a:lnTo>
                <a:lnTo>
                  <a:pt x="2907" y="3353"/>
                </a:lnTo>
                <a:lnTo>
                  <a:pt x="2926" y="3302"/>
                </a:lnTo>
                <a:lnTo>
                  <a:pt x="2941" y="3251"/>
                </a:lnTo>
                <a:lnTo>
                  <a:pt x="2955" y="3198"/>
                </a:lnTo>
                <a:lnTo>
                  <a:pt x="2966" y="3144"/>
                </a:lnTo>
                <a:lnTo>
                  <a:pt x="2975" y="3091"/>
                </a:lnTo>
                <a:lnTo>
                  <a:pt x="2981" y="3035"/>
                </a:lnTo>
                <a:lnTo>
                  <a:pt x="2985" y="2979"/>
                </a:lnTo>
                <a:lnTo>
                  <a:pt x="3175" y="2979"/>
                </a:lnTo>
                <a:close/>
                <a:moveTo>
                  <a:pt x="1783" y="4276"/>
                </a:moveTo>
                <a:lnTo>
                  <a:pt x="1783" y="4276"/>
                </a:lnTo>
                <a:lnTo>
                  <a:pt x="1750" y="4275"/>
                </a:lnTo>
                <a:lnTo>
                  <a:pt x="1718" y="4273"/>
                </a:lnTo>
                <a:lnTo>
                  <a:pt x="1685" y="4269"/>
                </a:lnTo>
                <a:lnTo>
                  <a:pt x="1653" y="4265"/>
                </a:lnTo>
                <a:lnTo>
                  <a:pt x="1621" y="4261"/>
                </a:lnTo>
                <a:lnTo>
                  <a:pt x="1589" y="4255"/>
                </a:lnTo>
                <a:lnTo>
                  <a:pt x="1558" y="4249"/>
                </a:lnTo>
                <a:lnTo>
                  <a:pt x="1526" y="4242"/>
                </a:lnTo>
                <a:lnTo>
                  <a:pt x="1495" y="4235"/>
                </a:lnTo>
                <a:lnTo>
                  <a:pt x="1464" y="4226"/>
                </a:lnTo>
                <a:lnTo>
                  <a:pt x="1434" y="4217"/>
                </a:lnTo>
                <a:lnTo>
                  <a:pt x="1403" y="4207"/>
                </a:lnTo>
                <a:lnTo>
                  <a:pt x="1374" y="4198"/>
                </a:lnTo>
                <a:lnTo>
                  <a:pt x="1345" y="4186"/>
                </a:lnTo>
                <a:lnTo>
                  <a:pt x="1316" y="4174"/>
                </a:lnTo>
                <a:lnTo>
                  <a:pt x="1287" y="4162"/>
                </a:lnTo>
                <a:lnTo>
                  <a:pt x="1259" y="4149"/>
                </a:lnTo>
                <a:lnTo>
                  <a:pt x="1230" y="4136"/>
                </a:lnTo>
                <a:lnTo>
                  <a:pt x="1203" y="4122"/>
                </a:lnTo>
                <a:lnTo>
                  <a:pt x="1175" y="4106"/>
                </a:lnTo>
                <a:lnTo>
                  <a:pt x="1148" y="4091"/>
                </a:lnTo>
                <a:lnTo>
                  <a:pt x="1122" y="4074"/>
                </a:lnTo>
                <a:lnTo>
                  <a:pt x="1096" y="4058"/>
                </a:lnTo>
                <a:lnTo>
                  <a:pt x="1070" y="4041"/>
                </a:lnTo>
                <a:lnTo>
                  <a:pt x="1020" y="4004"/>
                </a:lnTo>
                <a:lnTo>
                  <a:pt x="971" y="3966"/>
                </a:lnTo>
                <a:lnTo>
                  <a:pt x="925" y="3926"/>
                </a:lnTo>
                <a:lnTo>
                  <a:pt x="880" y="3883"/>
                </a:lnTo>
                <a:lnTo>
                  <a:pt x="837" y="3838"/>
                </a:lnTo>
                <a:lnTo>
                  <a:pt x="797" y="3792"/>
                </a:lnTo>
                <a:lnTo>
                  <a:pt x="759" y="3743"/>
                </a:lnTo>
                <a:lnTo>
                  <a:pt x="722" y="3693"/>
                </a:lnTo>
                <a:lnTo>
                  <a:pt x="705" y="3667"/>
                </a:lnTo>
                <a:lnTo>
                  <a:pt x="689" y="3641"/>
                </a:lnTo>
                <a:lnTo>
                  <a:pt x="672" y="3615"/>
                </a:lnTo>
                <a:lnTo>
                  <a:pt x="657" y="3587"/>
                </a:lnTo>
                <a:lnTo>
                  <a:pt x="641" y="3560"/>
                </a:lnTo>
                <a:lnTo>
                  <a:pt x="627" y="3533"/>
                </a:lnTo>
                <a:lnTo>
                  <a:pt x="614" y="3504"/>
                </a:lnTo>
                <a:lnTo>
                  <a:pt x="601" y="3476"/>
                </a:lnTo>
                <a:lnTo>
                  <a:pt x="589" y="3447"/>
                </a:lnTo>
                <a:lnTo>
                  <a:pt x="577" y="3418"/>
                </a:lnTo>
                <a:lnTo>
                  <a:pt x="565" y="3388"/>
                </a:lnTo>
                <a:lnTo>
                  <a:pt x="556" y="3358"/>
                </a:lnTo>
                <a:lnTo>
                  <a:pt x="546" y="3329"/>
                </a:lnTo>
                <a:lnTo>
                  <a:pt x="537" y="3298"/>
                </a:lnTo>
                <a:lnTo>
                  <a:pt x="528" y="3267"/>
                </a:lnTo>
                <a:lnTo>
                  <a:pt x="521" y="3236"/>
                </a:lnTo>
                <a:lnTo>
                  <a:pt x="514" y="3205"/>
                </a:lnTo>
                <a:lnTo>
                  <a:pt x="508" y="3174"/>
                </a:lnTo>
                <a:lnTo>
                  <a:pt x="502" y="3142"/>
                </a:lnTo>
                <a:lnTo>
                  <a:pt x="497" y="3110"/>
                </a:lnTo>
                <a:lnTo>
                  <a:pt x="494" y="3078"/>
                </a:lnTo>
                <a:lnTo>
                  <a:pt x="492" y="3045"/>
                </a:lnTo>
                <a:lnTo>
                  <a:pt x="489" y="3013"/>
                </a:lnTo>
                <a:lnTo>
                  <a:pt x="487" y="2979"/>
                </a:lnTo>
                <a:lnTo>
                  <a:pt x="677" y="2979"/>
                </a:lnTo>
                <a:lnTo>
                  <a:pt x="680" y="3035"/>
                </a:lnTo>
                <a:lnTo>
                  <a:pt x="687" y="3090"/>
                </a:lnTo>
                <a:lnTo>
                  <a:pt x="696" y="3144"/>
                </a:lnTo>
                <a:lnTo>
                  <a:pt x="708" y="3198"/>
                </a:lnTo>
                <a:lnTo>
                  <a:pt x="721" y="3250"/>
                </a:lnTo>
                <a:lnTo>
                  <a:pt x="737" y="3302"/>
                </a:lnTo>
                <a:lnTo>
                  <a:pt x="755" y="3352"/>
                </a:lnTo>
                <a:lnTo>
                  <a:pt x="775" y="3402"/>
                </a:lnTo>
                <a:lnTo>
                  <a:pt x="799" y="3450"/>
                </a:lnTo>
                <a:lnTo>
                  <a:pt x="824" y="3497"/>
                </a:lnTo>
                <a:lnTo>
                  <a:pt x="850" y="3542"/>
                </a:lnTo>
                <a:lnTo>
                  <a:pt x="880" y="3586"/>
                </a:lnTo>
                <a:lnTo>
                  <a:pt x="911" y="3629"/>
                </a:lnTo>
                <a:lnTo>
                  <a:pt x="943" y="3671"/>
                </a:lnTo>
                <a:lnTo>
                  <a:pt x="978" y="3710"/>
                </a:lnTo>
                <a:lnTo>
                  <a:pt x="1014" y="3749"/>
                </a:lnTo>
                <a:lnTo>
                  <a:pt x="1052" y="3785"/>
                </a:lnTo>
                <a:lnTo>
                  <a:pt x="1092" y="3819"/>
                </a:lnTo>
                <a:lnTo>
                  <a:pt x="1133" y="3852"/>
                </a:lnTo>
                <a:lnTo>
                  <a:pt x="1175" y="3883"/>
                </a:lnTo>
                <a:lnTo>
                  <a:pt x="1221" y="3913"/>
                </a:lnTo>
                <a:lnTo>
                  <a:pt x="1266" y="3939"/>
                </a:lnTo>
                <a:lnTo>
                  <a:pt x="1313" y="3964"/>
                </a:lnTo>
                <a:lnTo>
                  <a:pt x="1361" y="3988"/>
                </a:lnTo>
                <a:lnTo>
                  <a:pt x="1411" y="4008"/>
                </a:lnTo>
                <a:lnTo>
                  <a:pt x="1460" y="4026"/>
                </a:lnTo>
                <a:lnTo>
                  <a:pt x="1513" y="4042"/>
                </a:lnTo>
                <a:lnTo>
                  <a:pt x="1565" y="4056"/>
                </a:lnTo>
                <a:lnTo>
                  <a:pt x="1618" y="4067"/>
                </a:lnTo>
                <a:lnTo>
                  <a:pt x="1673" y="4077"/>
                </a:lnTo>
                <a:lnTo>
                  <a:pt x="1728" y="4083"/>
                </a:lnTo>
                <a:lnTo>
                  <a:pt x="1783" y="4086"/>
                </a:lnTo>
                <a:lnTo>
                  <a:pt x="1783" y="4276"/>
                </a:lnTo>
                <a:close/>
                <a:moveTo>
                  <a:pt x="487" y="2884"/>
                </a:moveTo>
                <a:lnTo>
                  <a:pt x="487" y="2884"/>
                </a:lnTo>
                <a:lnTo>
                  <a:pt x="489" y="2851"/>
                </a:lnTo>
                <a:lnTo>
                  <a:pt x="492" y="2819"/>
                </a:lnTo>
                <a:lnTo>
                  <a:pt x="494" y="2786"/>
                </a:lnTo>
                <a:lnTo>
                  <a:pt x="497" y="2754"/>
                </a:lnTo>
                <a:lnTo>
                  <a:pt x="502" y="2722"/>
                </a:lnTo>
                <a:lnTo>
                  <a:pt x="508" y="2690"/>
                </a:lnTo>
                <a:lnTo>
                  <a:pt x="514" y="2659"/>
                </a:lnTo>
                <a:lnTo>
                  <a:pt x="521" y="2627"/>
                </a:lnTo>
                <a:lnTo>
                  <a:pt x="528" y="2596"/>
                </a:lnTo>
                <a:lnTo>
                  <a:pt x="537" y="2565"/>
                </a:lnTo>
                <a:lnTo>
                  <a:pt x="546" y="2535"/>
                </a:lnTo>
                <a:lnTo>
                  <a:pt x="556" y="2504"/>
                </a:lnTo>
                <a:lnTo>
                  <a:pt x="566" y="2475"/>
                </a:lnTo>
                <a:lnTo>
                  <a:pt x="577" y="2445"/>
                </a:lnTo>
                <a:lnTo>
                  <a:pt x="589" y="2417"/>
                </a:lnTo>
                <a:lnTo>
                  <a:pt x="601" y="2388"/>
                </a:lnTo>
                <a:lnTo>
                  <a:pt x="614" y="2360"/>
                </a:lnTo>
                <a:lnTo>
                  <a:pt x="628" y="2331"/>
                </a:lnTo>
                <a:lnTo>
                  <a:pt x="642" y="2304"/>
                </a:lnTo>
                <a:lnTo>
                  <a:pt x="657" y="2276"/>
                </a:lnTo>
                <a:lnTo>
                  <a:pt x="672" y="2249"/>
                </a:lnTo>
                <a:lnTo>
                  <a:pt x="689" y="2222"/>
                </a:lnTo>
                <a:lnTo>
                  <a:pt x="705" y="2196"/>
                </a:lnTo>
                <a:lnTo>
                  <a:pt x="723" y="2171"/>
                </a:lnTo>
                <a:lnTo>
                  <a:pt x="759" y="2121"/>
                </a:lnTo>
                <a:lnTo>
                  <a:pt x="797" y="2072"/>
                </a:lnTo>
                <a:lnTo>
                  <a:pt x="838" y="2026"/>
                </a:lnTo>
                <a:lnTo>
                  <a:pt x="881" y="1981"/>
                </a:lnTo>
                <a:lnTo>
                  <a:pt x="925" y="1938"/>
                </a:lnTo>
                <a:lnTo>
                  <a:pt x="971" y="1898"/>
                </a:lnTo>
                <a:lnTo>
                  <a:pt x="1020" y="1858"/>
                </a:lnTo>
                <a:lnTo>
                  <a:pt x="1071" y="1823"/>
                </a:lnTo>
                <a:lnTo>
                  <a:pt x="1096" y="1805"/>
                </a:lnTo>
                <a:lnTo>
                  <a:pt x="1122" y="1788"/>
                </a:lnTo>
                <a:lnTo>
                  <a:pt x="1149" y="1773"/>
                </a:lnTo>
                <a:lnTo>
                  <a:pt x="1175" y="1757"/>
                </a:lnTo>
                <a:lnTo>
                  <a:pt x="1203" y="1742"/>
                </a:lnTo>
                <a:lnTo>
                  <a:pt x="1231" y="1728"/>
                </a:lnTo>
                <a:lnTo>
                  <a:pt x="1259" y="1715"/>
                </a:lnTo>
                <a:lnTo>
                  <a:pt x="1287" y="1702"/>
                </a:lnTo>
                <a:lnTo>
                  <a:pt x="1317" y="1689"/>
                </a:lnTo>
                <a:lnTo>
                  <a:pt x="1345" y="1678"/>
                </a:lnTo>
                <a:lnTo>
                  <a:pt x="1375" y="1666"/>
                </a:lnTo>
                <a:lnTo>
                  <a:pt x="1405" y="1657"/>
                </a:lnTo>
                <a:lnTo>
                  <a:pt x="1434" y="1646"/>
                </a:lnTo>
                <a:lnTo>
                  <a:pt x="1465" y="1638"/>
                </a:lnTo>
                <a:lnTo>
                  <a:pt x="1496" y="1629"/>
                </a:lnTo>
                <a:lnTo>
                  <a:pt x="1527" y="1622"/>
                </a:lnTo>
                <a:lnTo>
                  <a:pt x="1558" y="1615"/>
                </a:lnTo>
                <a:lnTo>
                  <a:pt x="1590" y="1609"/>
                </a:lnTo>
                <a:lnTo>
                  <a:pt x="1621" y="1603"/>
                </a:lnTo>
                <a:lnTo>
                  <a:pt x="1653" y="1598"/>
                </a:lnTo>
                <a:lnTo>
                  <a:pt x="1686" y="1595"/>
                </a:lnTo>
                <a:lnTo>
                  <a:pt x="1718" y="1591"/>
                </a:lnTo>
                <a:lnTo>
                  <a:pt x="1750" y="1589"/>
                </a:lnTo>
                <a:lnTo>
                  <a:pt x="1783" y="1588"/>
                </a:lnTo>
                <a:lnTo>
                  <a:pt x="1783" y="1778"/>
                </a:lnTo>
                <a:lnTo>
                  <a:pt x="1728" y="1781"/>
                </a:lnTo>
                <a:lnTo>
                  <a:pt x="1673" y="1788"/>
                </a:lnTo>
                <a:lnTo>
                  <a:pt x="1618" y="1797"/>
                </a:lnTo>
                <a:lnTo>
                  <a:pt x="1565" y="1807"/>
                </a:lnTo>
                <a:lnTo>
                  <a:pt x="1513" y="1822"/>
                </a:lnTo>
                <a:lnTo>
                  <a:pt x="1462" y="1837"/>
                </a:lnTo>
                <a:lnTo>
                  <a:pt x="1411" y="1856"/>
                </a:lnTo>
                <a:lnTo>
                  <a:pt x="1362" y="1876"/>
                </a:lnTo>
                <a:lnTo>
                  <a:pt x="1313" y="1900"/>
                </a:lnTo>
                <a:lnTo>
                  <a:pt x="1267" y="1925"/>
                </a:lnTo>
                <a:lnTo>
                  <a:pt x="1221" y="1951"/>
                </a:lnTo>
                <a:lnTo>
                  <a:pt x="1177" y="1981"/>
                </a:lnTo>
                <a:lnTo>
                  <a:pt x="1134" y="2012"/>
                </a:lnTo>
                <a:lnTo>
                  <a:pt x="1092" y="2044"/>
                </a:lnTo>
                <a:lnTo>
                  <a:pt x="1053" y="2078"/>
                </a:lnTo>
                <a:lnTo>
                  <a:pt x="1015" y="2115"/>
                </a:lnTo>
                <a:lnTo>
                  <a:pt x="978" y="2153"/>
                </a:lnTo>
                <a:lnTo>
                  <a:pt x="944" y="2193"/>
                </a:lnTo>
                <a:lnTo>
                  <a:pt x="911" y="2234"/>
                </a:lnTo>
                <a:lnTo>
                  <a:pt x="880" y="2276"/>
                </a:lnTo>
                <a:lnTo>
                  <a:pt x="851" y="2320"/>
                </a:lnTo>
                <a:lnTo>
                  <a:pt x="824" y="2367"/>
                </a:lnTo>
                <a:lnTo>
                  <a:pt x="799" y="2413"/>
                </a:lnTo>
                <a:lnTo>
                  <a:pt x="777" y="2462"/>
                </a:lnTo>
                <a:lnTo>
                  <a:pt x="755" y="2510"/>
                </a:lnTo>
                <a:lnTo>
                  <a:pt x="737" y="2561"/>
                </a:lnTo>
                <a:lnTo>
                  <a:pt x="721" y="2612"/>
                </a:lnTo>
                <a:lnTo>
                  <a:pt x="708" y="2666"/>
                </a:lnTo>
                <a:lnTo>
                  <a:pt x="696" y="2719"/>
                </a:lnTo>
                <a:lnTo>
                  <a:pt x="687" y="2773"/>
                </a:lnTo>
                <a:lnTo>
                  <a:pt x="680" y="2829"/>
                </a:lnTo>
                <a:lnTo>
                  <a:pt x="677" y="2884"/>
                </a:lnTo>
                <a:lnTo>
                  <a:pt x="487" y="2884"/>
                </a:lnTo>
                <a:close/>
                <a:moveTo>
                  <a:pt x="1878" y="2075"/>
                </a:moveTo>
                <a:lnTo>
                  <a:pt x="1878" y="2075"/>
                </a:lnTo>
                <a:lnTo>
                  <a:pt x="1908" y="2077"/>
                </a:lnTo>
                <a:lnTo>
                  <a:pt x="1938" y="2080"/>
                </a:lnTo>
                <a:lnTo>
                  <a:pt x="1966" y="2084"/>
                </a:lnTo>
                <a:lnTo>
                  <a:pt x="1995" y="2089"/>
                </a:lnTo>
                <a:lnTo>
                  <a:pt x="2023" y="2095"/>
                </a:lnTo>
                <a:lnTo>
                  <a:pt x="2052" y="2102"/>
                </a:lnTo>
                <a:lnTo>
                  <a:pt x="2079" y="2110"/>
                </a:lnTo>
                <a:lnTo>
                  <a:pt x="2106" y="2118"/>
                </a:lnTo>
                <a:lnTo>
                  <a:pt x="2201" y="1921"/>
                </a:lnTo>
                <a:lnTo>
                  <a:pt x="2262" y="1861"/>
                </a:lnTo>
                <a:lnTo>
                  <a:pt x="2217" y="1843"/>
                </a:lnTo>
                <a:lnTo>
                  <a:pt x="2170" y="1828"/>
                </a:lnTo>
                <a:lnTo>
                  <a:pt x="2124" y="1814"/>
                </a:lnTo>
                <a:lnTo>
                  <a:pt x="2077" y="1803"/>
                </a:lnTo>
                <a:lnTo>
                  <a:pt x="2028" y="1794"/>
                </a:lnTo>
                <a:lnTo>
                  <a:pt x="1979" y="1786"/>
                </a:lnTo>
                <a:lnTo>
                  <a:pt x="1929" y="1781"/>
                </a:lnTo>
                <a:lnTo>
                  <a:pt x="1878" y="1778"/>
                </a:lnTo>
                <a:lnTo>
                  <a:pt x="1878" y="1588"/>
                </a:lnTo>
                <a:lnTo>
                  <a:pt x="1914" y="1590"/>
                </a:lnTo>
                <a:lnTo>
                  <a:pt x="1948" y="1592"/>
                </a:lnTo>
                <a:lnTo>
                  <a:pt x="1984" y="1596"/>
                </a:lnTo>
                <a:lnTo>
                  <a:pt x="2018" y="1600"/>
                </a:lnTo>
                <a:lnTo>
                  <a:pt x="2052" y="1605"/>
                </a:lnTo>
                <a:lnTo>
                  <a:pt x="2086" y="1611"/>
                </a:lnTo>
                <a:lnTo>
                  <a:pt x="2119" y="1619"/>
                </a:lnTo>
                <a:lnTo>
                  <a:pt x="2153" y="1626"/>
                </a:lnTo>
                <a:lnTo>
                  <a:pt x="2186" y="1634"/>
                </a:lnTo>
                <a:lnTo>
                  <a:pt x="2218" y="1643"/>
                </a:lnTo>
                <a:lnTo>
                  <a:pt x="2251" y="1654"/>
                </a:lnTo>
                <a:lnTo>
                  <a:pt x="2282" y="1665"/>
                </a:lnTo>
                <a:lnTo>
                  <a:pt x="2314" y="1677"/>
                </a:lnTo>
                <a:lnTo>
                  <a:pt x="2345" y="1689"/>
                </a:lnTo>
                <a:lnTo>
                  <a:pt x="2376" y="1702"/>
                </a:lnTo>
                <a:lnTo>
                  <a:pt x="2407" y="1716"/>
                </a:lnTo>
                <a:lnTo>
                  <a:pt x="2626" y="1496"/>
                </a:lnTo>
                <a:lnTo>
                  <a:pt x="2582" y="1472"/>
                </a:lnTo>
                <a:lnTo>
                  <a:pt x="2536" y="1450"/>
                </a:lnTo>
                <a:lnTo>
                  <a:pt x="2490" y="1429"/>
                </a:lnTo>
                <a:lnTo>
                  <a:pt x="2444" y="1408"/>
                </a:lnTo>
                <a:lnTo>
                  <a:pt x="2396" y="1391"/>
                </a:lnTo>
                <a:lnTo>
                  <a:pt x="2347" y="1374"/>
                </a:lnTo>
                <a:lnTo>
                  <a:pt x="2299" y="1358"/>
                </a:lnTo>
                <a:lnTo>
                  <a:pt x="2249" y="1344"/>
                </a:lnTo>
                <a:lnTo>
                  <a:pt x="2199" y="1332"/>
                </a:lnTo>
                <a:lnTo>
                  <a:pt x="2148" y="1320"/>
                </a:lnTo>
                <a:lnTo>
                  <a:pt x="2096" y="1312"/>
                </a:lnTo>
                <a:lnTo>
                  <a:pt x="2045" y="1304"/>
                </a:lnTo>
                <a:lnTo>
                  <a:pt x="1991" y="1298"/>
                </a:lnTo>
                <a:lnTo>
                  <a:pt x="1939" y="1294"/>
                </a:lnTo>
                <a:lnTo>
                  <a:pt x="1885" y="1292"/>
                </a:lnTo>
                <a:lnTo>
                  <a:pt x="1831" y="1291"/>
                </a:lnTo>
                <a:lnTo>
                  <a:pt x="1789" y="1291"/>
                </a:lnTo>
                <a:lnTo>
                  <a:pt x="1747" y="1293"/>
                </a:lnTo>
                <a:lnTo>
                  <a:pt x="1705" y="1296"/>
                </a:lnTo>
                <a:lnTo>
                  <a:pt x="1663" y="1299"/>
                </a:lnTo>
                <a:lnTo>
                  <a:pt x="1622" y="1304"/>
                </a:lnTo>
                <a:lnTo>
                  <a:pt x="1582" y="1310"/>
                </a:lnTo>
                <a:lnTo>
                  <a:pt x="1541" y="1316"/>
                </a:lnTo>
                <a:lnTo>
                  <a:pt x="1501" y="1324"/>
                </a:lnTo>
                <a:lnTo>
                  <a:pt x="1460" y="1332"/>
                </a:lnTo>
                <a:lnTo>
                  <a:pt x="1421" y="1342"/>
                </a:lnTo>
                <a:lnTo>
                  <a:pt x="1382" y="1353"/>
                </a:lnTo>
                <a:lnTo>
                  <a:pt x="1343" y="1364"/>
                </a:lnTo>
                <a:lnTo>
                  <a:pt x="1305" y="1376"/>
                </a:lnTo>
                <a:lnTo>
                  <a:pt x="1267" y="1391"/>
                </a:lnTo>
                <a:lnTo>
                  <a:pt x="1229" y="1405"/>
                </a:lnTo>
                <a:lnTo>
                  <a:pt x="1192" y="1419"/>
                </a:lnTo>
                <a:lnTo>
                  <a:pt x="1155" y="1436"/>
                </a:lnTo>
                <a:lnTo>
                  <a:pt x="1120" y="1452"/>
                </a:lnTo>
                <a:lnTo>
                  <a:pt x="1084" y="1470"/>
                </a:lnTo>
                <a:lnTo>
                  <a:pt x="1048" y="1489"/>
                </a:lnTo>
                <a:lnTo>
                  <a:pt x="1014" y="1508"/>
                </a:lnTo>
                <a:lnTo>
                  <a:pt x="980" y="1528"/>
                </a:lnTo>
                <a:lnTo>
                  <a:pt x="946" y="1550"/>
                </a:lnTo>
                <a:lnTo>
                  <a:pt x="913" y="1571"/>
                </a:lnTo>
                <a:lnTo>
                  <a:pt x="881" y="1594"/>
                </a:lnTo>
                <a:lnTo>
                  <a:pt x="849" y="1616"/>
                </a:lnTo>
                <a:lnTo>
                  <a:pt x="818" y="1641"/>
                </a:lnTo>
                <a:lnTo>
                  <a:pt x="787" y="1665"/>
                </a:lnTo>
                <a:lnTo>
                  <a:pt x="758" y="1691"/>
                </a:lnTo>
                <a:lnTo>
                  <a:pt x="728" y="1717"/>
                </a:lnTo>
                <a:lnTo>
                  <a:pt x="699" y="1743"/>
                </a:lnTo>
                <a:lnTo>
                  <a:pt x="671" y="1772"/>
                </a:lnTo>
                <a:lnTo>
                  <a:pt x="644" y="1799"/>
                </a:lnTo>
                <a:lnTo>
                  <a:pt x="616" y="1829"/>
                </a:lnTo>
                <a:lnTo>
                  <a:pt x="590" y="1857"/>
                </a:lnTo>
                <a:lnTo>
                  <a:pt x="565" y="1888"/>
                </a:lnTo>
                <a:lnTo>
                  <a:pt x="540" y="1919"/>
                </a:lnTo>
                <a:lnTo>
                  <a:pt x="516" y="1950"/>
                </a:lnTo>
                <a:lnTo>
                  <a:pt x="493" y="1982"/>
                </a:lnTo>
                <a:lnTo>
                  <a:pt x="470" y="2014"/>
                </a:lnTo>
                <a:lnTo>
                  <a:pt x="449" y="2047"/>
                </a:lnTo>
                <a:lnTo>
                  <a:pt x="427" y="2080"/>
                </a:lnTo>
                <a:lnTo>
                  <a:pt x="407" y="2115"/>
                </a:lnTo>
                <a:lnTo>
                  <a:pt x="388" y="2149"/>
                </a:lnTo>
                <a:lnTo>
                  <a:pt x="369" y="2185"/>
                </a:lnTo>
                <a:lnTo>
                  <a:pt x="351" y="2221"/>
                </a:lnTo>
                <a:lnTo>
                  <a:pt x="335" y="2256"/>
                </a:lnTo>
                <a:lnTo>
                  <a:pt x="319" y="2293"/>
                </a:lnTo>
                <a:lnTo>
                  <a:pt x="304" y="2330"/>
                </a:lnTo>
                <a:lnTo>
                  <a:pt x="290" y="2368"/>
                </a:lnTo>
                <a:lnTo>
                  <a:pt x="277" y="2406"/>
                </a:lnTo>
                <a:lnTo>
                  <a:pt x="264" y="2444"/>
                </a:lnTo>
                <a:lnTo>
                  <a:pt x="252" y="2483"/>
                </a:lnTo>
                <a:lnTo>
                  <a:pt x="241" y="2522"/>
                </a:lnTo>
                <a:lnTo>
                  <a:pt x="232" y="2561"/>
                </a:lnTo>
                <a:lnTo>
                  <a:pt x="223" y="2601"/>
                </a:lnTo>
                <a:lnTo>
                  <a:pt x="216" y="2641"/>
                </a:lnTo>
                <a:lnTo>
                  <a:pt x="209" y="2683"/>
                </a:lnTo>
                <a:lnTo>
                  <a:pt x="203" y="2723"/>
                </a:lnTo>
                <a:lnTo>
                  <a:pt x="198" y="2764"/>
                </a:lnTo>
                <a:lnTo>
                  <a:pt x="195" y="2806"/>
                </a:lnTo>
                <a:lnTo>
                  <a:pt x="192" y="2848"/>
                </a:lnTo>
                <a:lnTo>
                  <a:pt x="190" y="2889"/>
                </a:lnTo>
                <a:lnTo>
                  <a:pt x="190" y="2932"/>
                </a:lnTo>
                <a:lnTo>
                  <a:pt x="190" y="2975"/>
                </a:lnTo>
                <a:lnTo>
                  <a:pt x="192" y="3016"/>
                </a:lnTo>
                <a:lnTo>
                  <a:pt x="195" y="3058"/>
                </a:lnTo>
                <a:lnTo>
                  <a:pt x="198" y="3099"/>
                </a:lnTo>
                <a:lnTo>
                  <a:pt x="203" y="3141"/>
                </a:lnTo>
                <a:lnTo>
                  <a:pt x="209" y="3182"/>
                </a:lnTo>
                <a:lnTo>
                  <a:pt x="216" y="3223"/>
                </a:lnTo>
                <a:lnTo>
                  <a:pt x="223" y="3263"/>
                </a:lnTo>
                <a:lnTo>
                  <a:pt x="232" y="3302"/>
                </a:lnTo>
                <a:lnTo>
                  <a:pt x="241" y="3342"/>
                </a:lnTo>
                <a:lnTo>
                  <a:pt x="252" y="3381"/>
                </a:lnTo>
                <a:lnTo>
                  <a:pt x="264" y="3420"/>
                </a:lnTo>
                <a:lnTo>
                  <a:pt x="277" y="3458"/>
                </a:lnTo>
                <a:lnTo>
                  <a:pt x="290" y="3496"/>
                </a:lnTo>
                <a:lnTo>
                  <a:pt x="304" y="3534"/>
                </a:lnTo>
                <a:lnTo>
                  <a:pt x="319" y="3571"/>
                </a:lnTo>
                <a:lnTo>
                  <a:pt x="335" y="3608"/>
                </a:lnTo>
                <a:lnTo>
                  <a:pt x="351" y="3643"/>
                </a:lnTo>
                <a:lnTo>
                  <a:pt x="369" y="3679"/>
                </a:lnTo>
                <a:lnTo>
                  <a:pt x="388" y="3714"/>
                </a:lnTo>
                <a:lnTo>
                  <a:pt x="407" y="3749"/>
                </a:lnTo>
                <a:lnTo>
                  <a:pt x="427" y="3783"/>
                </a:lnTo>
                <a:lnTo>
                  <a:pt x="449" y="3817"/>
                </a:lnTo>
                <a:lnTo>
                  <a:pt x="470" y="3850"/>
                </a:lnTo>
                <a:lnTo>
                  <a:pt x="493" y="3882"/>
                </a:lnTo>
                <a:lnTo>
                  <a:pt x="516" y="3914"/>
                </a:lnTo>
                <a:lnTo>
                  <a:pt x="540" y="3945"/>
                </a:lnTo>
                <a:lnTo>
                  <a:pt x="565" y="3976"/>
                </a:lnTo>
                <a:lnTo>
                  <a:pt x="590" y="4007"/>
                </a:lnTo>
                <a:lnTo>
                  <a:pt x="616" y="4035"/>
                </a:lnTo>
                <a:lnTo>
                  <a:pt x="644" y="4065"/>
                </a:lnTo>
                <a:lnTo>
                  <a:pt x="671" y="4092"/>
                </a:lnTo>
                <a:lnTo>
                  <a:pt x="699" y="4121"/>
                </a:lnTo>
                <a:lnTo>
                  <a:pt x="728" y="4147"/>
                </a:lnTo>
                <a:lnTo>
                  <a:pt x="758" y="4173"/>
                </a:lnTo>
                <a:lnTo>
                  <a:pt x="787" y="4199"/>
                </a:lnTo>
                <a:lnTo>
                  <a:pt x="818" y="4223"/>
                </a:lnTo>
                <a:lnTo>
                  <a:pt x="849" y="4248"/>
                </a:lnTo>
                <a:lnTo>
                  <a:pt x="881" y="4270"/>
                </a:lnTo>
                <a:lnTo>
                  <a:pt x="913" y="4293"/>
                </a:lnTo>
                <a:lnTo>
                  <a:pt x="946" y="4315"/>
                </a:lnTo>
                <a:lnTo>
                  <a:pt x="980" y="4336"/>
                </a:lnTo>
                <a:lnTo>
                  <a:pt x="1014" y="4356"/>
                </a:lnTo>
                <a:lnTo>
                  <a:pt x="1048" y="4375"/>
                </a:lnTo>
                <a:lnTo>
                  <a:pt x="1084" y="4394"/>
                </a:lnTo>
                <a:lnTo>
                  <a:pt x="1120" y="4412"/>
                </a:lnTo>
                <a:lnTo>
                  <a:pt x="1155" y="4428"/>
                </a:lnTo>
                <a:lnTo>
                  <a:pt x="1192" y="4445"/>
                </a:lnTo>
                <a:lnTo>
                  <a:pt x="1229" y="4459"/>
                </a:lnTo>
                <a:lnTo>
                  <a:pt x="1267" y="4473"/>
                </a:lnTo>
                <a:lnTo>
                  <a:pt x="1305" y="4488"/>
                </a:lnTo>
                <a:lnTo>
                  <a:pt x="1343" y="4499"/>
                </a:lnTo>
                <a:lnTo>
                  <a:pt x="1382" y="4511"/>
                </a:lnTo>
                <a:lnTo>
                  <a:pt x="1421" y="4522"/>
                </a:lnTo>
                <a:lnTo>
                  <a:pt x="1460" y="4531"/>
                </a:lnTo>
                <a:lnTo>
                  <a:pt x="1501" y="4540"/>
                </a:lnTo>
                <a:lnTo>
                  <a:pt x="1541" y="4548"/>
                </a:lnTo>
                <a:lnTo>
                  <a:pt x="1582" y="4554"/>
                </a:lnTo>
                <a:lnTo>
                  <a:pt x="1622" y="4560"/>
                </a:lnTo>
                <a:lnTo>
                  <a:pt x="1663" y="4565"/>
                </a:lnTo>
                <a:lnTo>
                  <a:pt x="1705" y="4568"/>
                </a:lnTo>
                <a:lnTo>
                  <a:pt x="1747" y="4571"/>
                </a:lnTo>
                <a:lnTo>
                  <a:pt x="1789" y="4573"/>
                </a:lnTo>
                <a:lnTo>
                  <a:pt x="1831" y="4573"/>
                </a:lnTo>
                <a:lnTo>
                  <a:pt x="1874" y="4573"/>
                </a:lnTo>
                <a:lnTo>
                  <a:pt x="1915" y="4571"/>
                </a:lnTo>
                <a:lnTo>
                  <a:pt x="1958" y="4568"/>
                </a:lnTo>
                <a:lnTo>
                  <a:pt x="1999" y="4565"/>
                </a:lnTo>
                <a:lnTo>
                  <a:pt x="2040" y="4560"/>
                </a:lnTo>
                <a:lnTo>
                  <a:pt x="2081" y="4554"/>
                </a:lnTo>
                <a:lnTo>
                  <a:pt x="2122" y="4548"/>
                </a:lnTo>
                <a:lnTo>
                  <a:pt x="2162" y="4540"/>
                </a:lnTo>
                <a:lnTo>
                  <a:pt x="2201" y="4531"/>
                </a:lnTo>
                <a:lnTo>
                  <a:pt x="2242" y="4522"/>
                </a:lnTo>
                <a:lnTo>
                  <a:pt x="2281" y="4511"/>
                </a:lnTo>
                <a:lnTo>
                  <a:pt x="2319" y="4499"/>
                </a:lnTo>
                <a:lnTo>
                  <a:pt x="2358" y="4488"/>
                </a:lnTo>
                <a:lnTo>
                  <a:pt x="2395" y="4473"/>
                </a:lnTo>
                <a:lnTo>
                  <a:pt x="2433" y="4459"/>
                </a:lnTo>
                <a:lnTo>
                  <a:pt x="2470" y="4445"/>
                </a:lnTo>
                <a:lnTo>
                  <a:pt x="2506" y="4428"/>
                </a:lnTo>
                <a:lnTo>
                  <a:pt x="2542" y="4412"/>
                </a:lnTo>
                <a:lnTo>
                  <a:pt x="2578" y="4394"/>
                </a:lnTo>
                <a:lnTo>
                  <a:pt x="2613" y="4375"/>
                </a:lnTo>
                <a:lnTo>
                  <a:pt x="2648" y="4356"/>
                </a:lnTo>
                <a:lnTo>
                  <a:pt x="2682" y="4336"/>
                </a:lnTo>
                <a:lnTo>
                  <a:pt x="2715" y="4315"/>
                </a:lnTo>
                <a:lnTo>
                  <a:pt x="2749" y="4293"/>
                </a:lnTo>
                <a:lnTo>
                  <a:pt x="2781" y="4270"/>
                </a:lnTo>
                <a:lnTo>
                  <a:pt x="2813" y="4248"/>
                </a:lnTo>
                <a:lnTo>
                  <a:pt x="2845" y="4223"/>
                </a:lnTo>
                <a:lnTo>
                  <a:pt x="2875" y="4199"/>
                </a:lnTo>
                <a:lnTo>
                  <a:pt x="2905" y="4173"/>
                </a:lnTo>
                <a:lnTo>
                  <a:pt x="2935" y="4147"/>
                </a:lnTo>
                <a:lnTo>
                  <a:pt x="2964" y="4121"/>
                </a:lnTo>
                <a:lnTo>
                  <a:pt x="2992" y="4092"/>
                </a:lnTo>
                <a:lnTo>
                  <a:pt x="3019" y="4065"/>
                </a:lnTo>
                <a:lnTo>
                  <a:pt x="3045" y="4035"/>
                </a:lnTo>
                <a:lnTo>
                  <a:pt x="3072" y="4007"/>
                </a:lnTo>
                <a:lnTo>
                  <a:pt x="3098" y="3976"/>
                </a:lnTo>
                <a:lnTo>
                  <a:pt x="3123" y="3945"/>
                </a:lnTo>
                <a:lnTo>
                  <a:pt x="3146" y="3914"/>
                </a:lnTo>
                <a:lnTo>
                  <a:pt x="3169" y="3882"/>
                </a:lnTo>
                <a:lnTo>
                  <a:pt x="3192" y="3850"/>
                </a:lnTo>
                <a:lnTo>
                  <a:pt x="3214" y="3817"/>
                </a:lnTo>
                <a:lnTo>
                  <a:pt x="3234" y="3783"/>
                </a:lnTo>
                <a:lnTo>
                  <a:pt x="3254" y="3749"/>
                </a:lnTo>
                <a:lnTo>
                  <a:pt x="3275" y="3714"/>
                </a:lnTo>
                <a:lnTo>
                  <a:pt x="3292" y="3679"/>
                </a:lnTo>
                <a:lnTo>
                  <a:pt x="3310" y="3643"/>
                </a:lnTo>
                <a:lnTo>
                  <a:pt x="3327" y="3608"/>
                </a:lnTo>
                <a:lnTo>
                  <a:pt x="3344" y="3571"/>
                </a:lnTo>
                <a:lnTo>
                  <a:pt x="3359" y="3534"/>
                </a:lnTo>
                <a:lnTo>
                  <a:pt x="3373" y="3496"/>
                </a:lnTo>
                <a:lnTo>
                  <a:pt x="3386" y="3458"/>
                </a:lnTo>
                <a:lnTo>
                  <a:pt x="3398" y="3420"/>
                </a:lnTo>
                <a:lnTo>
                  <a:pt x="3410" y="3381"/>
                </a:lnTo>
                <a:lnTo>
                  <a:pt x="3421" y="3342"/>
                </a:lnTo>
                <a:lnTo>
                  <a:pt x="3430" y="3302"/>
                </a:lnTo>
                <a:lnTo>
                  <a:pt x="3439" y="3263"/>
                </a:lnTo>
                <a:lnTo>
                  <a:pt x="3447" y="3223"/>
                </a:lnTo>
                <a:lnTo>
                  <a:pt x="3454" y="3182"/>
                </a:lnTo>
                <a:lnTo>
                  <a:pt x="3459" y="3141"/>
                </a:lnTo>
                <a:lnTo>
                  <a:pt x="3463" y="3099"/>
                </a:lnTo>
                <a:lnTo>
                  <a:pt x="3467" y="3058"/>
                </a:lnTo>
                <a:lnTo>
                  <a:pt x="3471" y="3016"/>
                </a:lnTo>
                <a:lnTo>
                  <a:pt x="3472" y="2975"/>
                </a:lnTo>
                <a:lnTo>
                  <a:pt x="3472" y="2932"/>
                </a:lnTo>
                <a:lnTo>
                  <a:pt x="3472" y="2883"/>
                </a:lnTo>
                <a:lnTo>
                  <a:pt x="3469" y="2836"/>
                </a:lnTo>
                <a:lnTo>
                  <a:pt x="3466" y="2788"/>
                </a:lnTo>
                <a:lnTo>
                  <a:pt x="3461" y="2742"/>
                </a:lnTo>
                <a:lnTo>
                  <a:pt x="3455" y="2694"/>
                </a:lnTo>
                <a:lnTo>
                  <a:pt x="3448" y="2648"/>
                </a:lnTo>
                <a:lnTo>
                  <a:pt x="3440" y="2603"/>
                </a:lnTo>
                <a:lnTo>
                  <a:pt x="3429" y="2558"/>
                </a:lnTo>
                <a:lnTo>
                  <a:pt x="3418" y="2513"/>
                </a:lnTo>
                <a:lnTo>
                  <a:pt x="3405" y="2468"/>
                </a:lnTo>
                <a:lnTo>
                  <a:pt x="3392" y="2425"/>
                </a:lnTo>
                <a:lnTo>
                  <a:pt x="3378" y="2381"/>
                </a:lnTo>
                <a:lnTo>
                  <a:pt x="3361" y="2338"/>
                </a:lnTo>
                <a:lnTo>
                  <a:pt x="3345" y="2297"/>
                </a:lnTo>
                <a:lnTo>
                  <a:pt x="3327" y="2254"/>
                </a:lnTo>
                <a:lnTo>
                  <a:pt x="3307" y="2213"/>
                </a:lnTo>
                <a:lnTo>
                  <a:pt x="3449" y="2073"/>
                </a:lnTo>
                <a:lnTo>
                  <a:pt x="3474" y="2122"/>
                </a:lnTo>
                <a:lnTo>
                  <a:pt x="3498" y="2172"/>
                </a:lnTo>
                <a:lnTo>
                  <a:pt x="3519" y="2222"/>
                </a:lnTo>
                <a:lnTo>
                  <a:pt x="3539" y="2273"/>
                </a:lnTo>
                <a:lnTo>
                  <a:pt x="3558" y="2324"/>
                </a:lnTo>
                <a:lnTo>
                  <a:pt x="3576" y="2376"/>
                </a:lnTo>
                <a:lnTo>
                  <a:pt x="3593" y="2430"/>
                </a:lnTo>
                <a:lnTo>
                  <a:pt x="3607" y="2483"/>
                </a:lnTo>
                <a:lnTo>
                  <a:pt x="3619" y="2536"/>
                </a:lnTo>
                <a:lnTo>
                  <a:pt x="3631" y="2591"/>
                </a:lnTo>
                <a:lnTo>
                  <a:pt x="3640" y="2647"/>
                </a:lnTo>
                <a:lnTo>
                  <a:pt x="3649" y="2703"/>
                </a:lnTo>
                <a:lnTo>
                  <a:pt x="3655" y="2760"/>
                </a:lnTo>
                <a:lnTo>
                  <a:pt x="3658" y="2817"/>
                </a:lnTo>
                <a:lnTo>
                  <a:pt x="3662" y="2874"/>
                </a:lnTo>
                <a:lnTo>
                  <a:pt x="3662" y="2932"/>
                </a:lnTo>
                <a:lnTo>
                  <a:pt x="3662" y="2979"/>
                </a:lnTo>
                <a:lnTo>
                  <a:pt x="3659" y="3026"/>
                </a:lnTo>
                <a:lnTo>
                  <a:pt x="3657" y="3073"/>
                </a:lnTo>
                <a:lnTo>
                  <a:pt x="3652" y="3120"/>
                </a:lnTo>
                <a:lnTo>
                  <a:pt x="3647" y="3165"/>
                </a:lnTo>
                <a:lnTo>
                  <a:pt x="3642" y="3211"/>
                </a:lnTo>
                <a:lnTo>
                  <a:pt x="3633" y="3256"/>
                </a:lnTo>
                <a:lnTo>
                  <a:pt x="3625" y="3301"/>
                </a:lnTo>
                <a:lnTo>
                  <a:pt x="3615" y="3345"/>
                </a:lnTo>
                <a:lnTo>
                  <a:pt x="3605" y="3389"/>
                </a:lnTo>
                <a:lnTo>
                  <a:pt x="3593" y="3433"/>
                </a:lnTo>
                <a:lnTo>
                  <a:pt x="3580" y="3477"/>
                </a:lnTo>
                <a:lnTo>
                  <a:pt x="3566" y="3520"/>
                </a:lnTo>
                <a:lnTo>
                  <a:pt x="3551" y="3561"/>
                </a:lnTo>
                <a:lnTo>
                  <a:pt x="3535" y="3604"/>
                </a:lnTo>
                <a:lnTo>
                  <a:pt x="3518" y="3644"/>
                </a:lnTo>
                <a:lnTo>
                  <a:pt x="3500" y="3686"/>
                </a:lnTo>
                <a:lnTo>
                  <a:pt x="3481" y="3726"/>
                </a:lnTo>
                <a:lnTo>
                  <a:pt x="3462" y="3766"/>
                </a:lnTo>
                <a:lnTo>
                  <a:pt x="3441" y="3805"/>
                </a:lnTo>
                <a:lnTo>
                  <a:pt x="3420" y="3844"/>
                </a:lnTo>
                <a:lnTo>
                  <a:pt x="3397" y="3882"/>
                </a:lnTo>
                <a:lnTo>
                  <a:pt x="3373" y="3919"/>
                </a:lnTo>
                <a:lnTo>
                  <a:pt x="3349" y="3956"/>
                </a:lnTo>
                <a:lnTo>
                  <a:pt x="3325" y="3992"/>
                </a:lnTo>
                <a:lnTo>
                  <a:pt x="3298" y="4028"/>
                </a:lnTo>
                <a:lnTo>
                  <a:pt x="3272" y="4062"/>
                </a:lnTo>
                <a:lnTo>
                  <a:pt x="3244" y="4097"/>
                </a:lnTo>
                <a:lnTo>
                  <a:pt x="3215" y="4130"/>
                </a:lnTo>
                <a:lnTo>
                  <a:pt x="3187" y="4163"/>
                </a:lnTo>
                <a:lnTo>
                  <a:pt x="3157" y="4195"/>
                </a:lnTo>
                <a:lnTo>
                  <a:pt x="3126" y="4227"/>
                </a:lnTo>
                <a:lnTo>
                  <a:pt x="3094" y="4257"/>
                </a:lnTo>
                <a:lnTo>
                  <a:pt x="3062" y="4288"/>
                </a:lnTo>
                <a:lnTo>
                  <a:pt x="3029" y="4317"/>
                </a:lnTo>
                <a:lnTo>
                  <a:pt x="2996" y="4345"/>
                </a:lnTo>
                <a:lnTo>
                  <a:pt x="2961" y="4372"/>
                </a:lnTo>
                <a:lnTo>
                  <a:pt x="2927" y="4400"/>
                </a:lnTo>
                <a:lnTo>
                  <a:pt x="2891" y="4426"/>
                </a:lnTo>
                <a:lnTo>
                  <a:pt x="2854" y="4451"/>
                </a:lnTo>
                <a:lnTo>
                  <a:pt x="2818" y="4474"/>
                </a:lnTo>
                <a:lnTo>
                  <a:pt x="2781" y="4498"/>
                </a:lnTo>
                <a:lnTo>
                  <a:pt x="2743" y="4521"/>
                </a:lnTo>
                <a:lnTo>
                  <a:pt x="2704" y="4542"/>
                </a:lnTo>
                <a:lnTo>
                  <a:pt x="2664" y="4564"/>
                </a:lnTo>
                <a:lnTo>
                  <a:pt x="2625" y="4583"/>
                </a:lnTo>
                <a:lnTo>
                  <a:pt x="2585" y="4602"/>
                </a:lnTo>
                <a:lnTo>
                  <a:pt x="2544" y="4619"/>
                </a:lnTo>
                <a:lnTo>
                  <a:pt x="2503" y="4636"/>
                </a:lnTo>
                <a:lnTo>
                  <a:pt x="2460" y="4653"/>
                </a:lnTo>
                <a:lnTo>
                  <a:pt x="2419" y="4667"/>
                </a:lnTo>
                <a:lnTo>
                  <a:pt x="2376" y="4681"/>
                </a:lnTo>
                <a:lnTo>
                  <a:pt x="2332" y="4694"/>
                </a:lnTo>
                <a:lnTo>
                  <a:pt x="2289" y="4706"/>
                </a:lnTo>
                <a:lnTo>
                  <a:pt x="2245" y="4717"/>
                </a:lnTo>
                <a:lnTo>
                  <a:pt x="2200" y="4726"/>
                </a:lnTo>
                <a:lnTo>
                  <a:pt x="2155" y="4735"/>
                </a:lnTo>
                <a:lnTo>
                  <a:pt x="2110" y="4743"/>
                </a:lnTo>
                <a:lnTo>
                  <a:pt x="2065" y="4749"/>
                </a:lnTo>
                <a:lnTo>
                  <a:pt x="2018" y="4754"/>
                </a:lnTo>
                <a:lnTo>
                  <a:pt x="1972" y="4758"/>
                </a:lnTo>
                <a:lnTo>
                  <a:pt x="1926" y="4761"/>
                </a:lnTo>
                <a:lnTo>
                  <a:pt x="1878" y="4763"/>
                </a:lnTo>
                <a:lnTo>
                  <a:pt x="1831" y="4763"/>
                </a:lnTo>
                <a:lnTo>
                  <a:pt x="1783" y="4763"/>
                </a:lnTo>
                <a:lnTo>
                  <a:pt x="1737" y="4761"/>
                </a:lnTo>
                <a:lnTo>
                  <a:pt x="1691" y="4758"/>
                </a:lnTo>
                <a:lnTo>
                  <a:pt x="1644" y="4754"/>
                </a:lnTo>
                <a:lnTo>
                  <a:pt x="1598" y="4749"/>
                </a:lnTo>
                <a:lnTo>
                  <a:pt x="1552" y="4743"/>
                </a:lnTo>
                <a:lnTo>
                  <a:pt x="1507" y="4735"/>
                </a:lnTo>
                <a:lnTo>
                  <a:pt x="1462" y="4726"/>
                </a:lnTo>
                <a:lnTo>
                  <a:pt x="1418" y="4717"/>
                </a:lnTo>
                <a:lnTo>
                  <a:pt x="1374" y="4706"/>
                </a:lnTo>
                <a:lnTo>
                  <a:pt x="1330" y="4694"/>
                </a:lnTo>
                <a:lnTo>
                  <a:pt x="1287" y="4681"/>
                </a:lnTo>
                <a:lnTo>
                  <a:pt x="1244" y="4667"/>
                </a:lnTo>
                <a:lnTo>
                  <a:pt x="1202" y="4653"/>
                </a:lnTo>
                <a:lnTo>
                  <a:pt x="1160" y="4636"/>
                </a:lnTo>
                <a:lnTo>
                  <a:pt x="1118" y="4619"/>
                </a:lnTo>
                <a:lnTo>
                  <a:pt x="1078" y="4602"/>
                </a:lnTo>
                <a:lnTo>
                  <a:pt x="1038" y="4583"/>
                </a:lnTo>
                <a:lnTo>
                  <a:pt x="997" y="4564"/>
                </a:lnTo>
                <a:lnTo>
                  <a:pt x="958" y="4542"/>
                </a:lnTo>
                <a:lnTo>
                  <a:pt x="920" y="4521"/>
                </a:lnTo>
                <a:lnTo>
                  <a:pt x="882" y="4498"/>
                </a:lnTo>
                <a:lnTo>
                  <a:pt x="844" y="4474"/>
                </a:lnTo>
                <a:lnTo>
                  <a:pt x="807" y="4451"/>
                </a:lnTo>
                <a:lnTo>
                  <a:pt x="771" y="4426"/>
                </a:lnTo>
                <a:lnTo>
                  <a:pt x="735" y="4400"/>
                </a:lnTo>
                <a:lnTo>
                  <a:pt x="701" y="4372"/>
                </a:lnTo>
                <a:lnTo>
                  <a:pt x="666" y="4345"/>
                </a:lnTo>
                <a:lnTo>
                  <a:pt x="633" y="4317"/>
                </a:lnTo>
                <a:lnTo>
                  <a:pt x="600" y="4288"/>
                </a:lnTo>
                <a:lnTo>
                  <a:pt x="568" y="4257"/>
                </a:lnTo>
                <a:lnTo>
                  <a:pt x="537" y="4227"/>
                </a:lnTo>
                <a:lnTo>
                  <a:pt x="506" y="4195"/>
                </a:lnTo>
                <a:lnTo>
                  <a:pt x="476" y="4163"/>
                </a:lnTo>
                <a:lnTo>
                  <a:pt x="446" y="4130"/>
                </a:lnTo>
                <a:lnTo>
                  <a:pt x="418" y="4097"/>
                </a:lnTo>
                <a:lnTo>
                  <a:pt x="391" y="4062"/>
                </a:lnTo>
                <a:lnTo>
                  <a:pt x="363" y="4028"/>
                </a:lnTo>
                <a:lnTo>
                  <a:pt x="338" y="3992"/>
                </a:lnTo>
                <a:lnTo>
                  <a:pt x="312" y="3956"/>
                </a:lnTo>
                <a:lnTo>
                  <a:pt x="289" y="3919"/>
                </a:lnTo>
                <a:lnTo>
                  <a:pt x="265" y="3882"/>
                </a:lnTo>
                <a:lnTo>
                  <a:pt x="242" y="3844"/>
                </a:lnTo>
                <a:lnTo>
                  <a:pt x="221" y="3805"/>
                </a:lnTo>
                <a:lnTo>
                  <a:pt x="201" y="3766"/>
                </a:lnTo>
                <a:lnTo>
                  <a:pt x="180" y="3726"/>
                </a:lnTo>
                <a:lnTo>
                  <a:pt x="161" y="3686"/>
                </a:lnTo>
                <a:lnTo>
                  <a:pt x="144" y="3644"/>
                </a:lnTo>
                <a:lnTo>
                  <a:pt x="127" y="3604"/>
                </a:lnTo>
                <a:lnTo>
                  <a:pt x="112" y="3561"/>
                </a:lnTo>
                <a:lnTo>
                  <a:pt x="96" y="3520"/>
                </a:lnTo>
                <a:lnTo>
                  <a:pt x="82" y="3477"/>
                </a:lnTo>
                <a:lnTo>
                  <a:pt x="69" y="3433"/>
                </a:lnTo>
                <a:lnTo>
                  <a:pt x="58" y="3389"/>
                </a:lnTo>
                <a:lnTo>
                  <a:pt x="46" y="3345"/>
                </a:lnTo>
                <a:lnTo>
                  <a:pt x="37" y="3301"/>
                </a:lnTo>
                <a:lnTo>
                  <a:pt x="28" y="3256"/>
                </a:lnTo>
                <a:lnTo>
                  <a:pt x="21" y="3211"/>
                </a:lnTo>
                <a:lnTo>
                  <a:pt x="14" y="3165"/>
                </a:lnTo>
                <a:lnTo>
                  <a:pt x="9" y="3120"/>
                </a:lnTo>
                <a:lnTo>
                  <a:pt x="5" y="3073"/>
                </a:lnTo>
                <a:lnTo>
                  <a:pt x="2" y="3026"/>
                </a:lnTo>
                <a:lnTo>
                  <a:pt x="0" y="2979"/>
                </a:lnTo>
                <a:lnTo>
                  <a:pt x="0" y="2932"/>
                </a:lnTo>
                <a:lnTo>
                  <a:pt x="0" y="2884"/>
                </a:lnTo>
                <a:lnTo>
                  <a:pt x="2" y="2838"/>
                </a:lnTo>
                <a:lnTo>
                  <a:pt x="5" y="2791"/>
                </a:lnTo>
                <a:lnTo>
                  <a:pt x="9" y="2744"/>
                </a:lnTo>
                <a:lnTo>
                  <a:pt x="14" y="2699"/>
                </a:lnTo>
                <a:lnTo>
                  <a:pt x="21" y="2653"/>
                </a:lnTo>
                <a:lnTo>
                  <a:pt x="28" y="2608"/>
                </a:lnTo>
                <a:lnTo>
                  <a:pt x="37" y="2563"/>
                </a:lnTo>
                <a:lnTo>
                  <a:pt x="46" y="2519"/>
                </a:lnTo>
                <a:lnTo>
                  <a:pt x="58" y="2475"/>
                </a:lnTo>
                <a:lnTo>
                  <a:pt x="69" y="2431"/>
                </a:lnTo>
                <a:lnTo>
                  <a:pt x="82" y="2387"/>
                </a:lnTo>
                <a:lnTo>
                  <a:pt x="96" y="2344"/>
                </a:lnTo>
                <a:lnTo>
                  <a:pt x="112" y="2303"/>
                </a:lnTo>
                <a:lnTo>
                  <a:pt x="127" y="2261"/>
                </a:lnTo>
                <a:lnTo>
                  <a:pt x="144" y="2219"/>
                </a:lnTo>
                <a:lnTo>
                  <a:pt x="161" y="2178"/>
                </a:lnTo>
                <a:lnTo>
                  <a:pt x="180" y="2137"/>
                </a:lnTo>
                <a:lnTo>
                  <a:pt x="201" y="2098"/>
                </a:lnTo>
                <a:lnTo>
                  <a:pt x="221" y="2059"/>
                </a:lnTo>
                <a:lnTo>
                  <a:pt x="242" y="2020"/>
                </a:lnTo>
                <a:lnTo>
                  <a:pt x="265" y="1982"/>
                </a:lnTo>
                <a:lnTo>
                  <a:pt x="289" y="1945"/>
                </a:lnTo>
                <a:lnTo>
                  <a:pt x="312" y="1908"/>
                </a:lnTo>
                <a:lnTo>
                  <a:pt x="338" y="1871"/>
                </a:lnTo>
                <a:lnTo>
                  <a:pt x="363" y="1836"/>
                </a:lnTo>
                <a:lnTo>
                  <a:pt x="391" y="1801"/>
                </a:lnTo>
                <a:lnTo>
                  <a:pt x="418" y="1767"/>
                </a:lnTo>
                <a:lnTo>
                  <a:pt x="446" y="1734"/>
                </a:lnTo>
                <a:lnTo>
                  <a:pt x="476" y="1700"/>
                </a:lnTo>
                <a:lnTo>
                  <a:pt x="506" y="1668"/>
                </a:lnTo>
                <a:lnTo>
                  <a:pt x="537" y="1638"/>
                </a:lnTo>
                <a:lnTo>
                  <a:pt x="568" y="1607"/>
                </a:lnTo>
                <a:lnTo>
                  <a:pt x="600" y="1576"/>
                </a:lnTo>
                <a:lnTo>
                  <a:pt x="633" y="1547"/>
                </a:lnTo>
                <a:lnTo>
                  <a:pt x="666" y="1519"/>
                </a:lnTo>
                <a:lnTo>
                  <a:pt x="701" y="1491"/>
                </a:lnTo>
                <a:lnTo>
                  <a:pt x="735" y="1464"/>
                </a:lnTo>
                <a:lnTo>
                  <a:pt x="771" y="1438"/>
                </a:lnTo>
                <a:lnTo>
                  <a:pt x="807" y="1413"/>
                </a:lnTo>
                <a:lnTo>
                  <a:pt x="844" y="1389"/>
                </a:lnTo>
                <a:lnTo>
                  <a:pt x="882" y="1366"/>
                </a:lnTo>
                <a:lnTo>
                  <a:pt x="920" y="1343"/>
                </a:lnTo>
                <a:lnTo>
                  <a:pt x="958" y="1322"/>
                </a:lnTo>
                <a:lnTo>
                  <a:pt x="997" y="1301"/>
                </a:lnTo>
                <a:lnTo>
                  <a:pt x="1038" y="1281"/>
                </a:lnTo>
                <a:lnTo>
                  <a:pt x="1078" y="1262"/>
                </a:lnTo>
                <a:lnTo>
                  <a:pt x="1118" y="1244"/>
                </a:lnTo>
                <a:lnTo>
                  <a:pt x="1160" y="1228"/>
                </a:lnTo>
                <a:lnTo>
                  <a:pt x="1202" y="1211"/>
                </a:lnTo>
                <a:lnTo>
                  <a:pt x="1244" y="1197"/>
                </a:lnTo>
                <a:lnTo>
                  <a:pt x="1287" y="1183"/>
                </a:lnTo>
                <a:lnTo>
                  <a:pt x="1330" y="1170"/>
                </a:lnTo>
                <a:lnTo>
                  <a:pt x="1374" y="1158"/>
                </a:lnTo>
                <a:lnTo>
                  <a:pt x="1418" y="1147"/>
                </a:lnTo>
                <a:lnTo>
                  <a:pt x="1462" y="1138"/>
                </a:lnTo>
                <a:lnTo>
                  <a:pt x="1507" y="1129"/>
                </a:lnTo>
                <a:lnTo>
                  <a:pt x="1552" y="1122"/>
                </a:lnTo>
                <a:lnTo>
                  <a:pt x="1598" y="1115"/>
                </a:lnTo>
                <a:lnTo>
                  <a:pt x="1644" y="1110"/>
                </a:lnTo>
                <a:lnTo>
                  <a:pt x="1691" y="1106"/>
                </a:lnTo>
                <a:lnTo>
                  <a:pt x="1737" y="1103"/>
                </a:lnTo>
                <a:lnTo>
                  <a:pt x="1783" y="1101"/>
                </a:lnTo>
                <a:lnTo>
                  <a:pt x="1831" y="1101"/>
                </a:lnTo>
                <a:lnTo>
                  <a:pt x="1895" y="1102"/>
                </a:lnTo>
                <a:lnTo>
                  <a:pt x="1958" y="1104"/>
                </a:lnTo>
                <a:lnTo>
                  <a:pt x="2021" y="1110"/>
                </a:lnTo>
                <a:lnTo>
                  <a:pt x="2083" y="1117"/>
                </a:lnTo>
                <a:lnTo>
                  <a:pt x="2144" y="1127"/>
                </a:lnTo>
                <a:lnTo>
                  <a:pt x="2205" y="1139"/>
                </a:lnTo>
                <a:lnTo>
                  <a:pt x="2264" y="1152"/>
                </a:lnTo>
                <a:lnTo>
                  <a:pt x="2324" y="1167"/>
                </a:lnTo>
                <a:lnTo>
                  <a:pt x="2382" y="1185"/>
                </a:lnTo>
                <a:lnTo>
                  <a:pt x="2440" y="1204"/>
                </a:lnTo>
                <a:lnTo>
                  <a:pt x="2497" y="1225"/>
                </a:lnTo>
                <a:lnTo>
                  <a:pt x="2553" y="1248"/>
                </a:lnTo>
                <a:lnTo>
                  <a:pt x="2607" y="1273"/>
                </a:lnTo>
                <a:lnTo>
                  <a:pt x="2661" y="1299"/>
                </a:lnTo>
                <a:lnTo>
                  <a:pt x="2714" y="1328"/>
                </a:lnTo>
                <a:lnTo>
                  <a:pt x="2765" y="1357"/>
                </a:lnTo>
                <a:lnTo>
                  <a:pt x="3964" y="158"/>
                </a:lnTo>
                <a:lnTo>
                  <a:pt x="4021" y="100"/>
                </a:lnTo>
                <a:lnTo>
                  <a:pt x="4037" y="87"/>
                </a:lnTo>
                <a:lnTo>
                  <a:pt x="4052" y="74"/>
                </a:lnTo>
                <a:lnTo>
                  <a:pt x="4069" y="62"/>
                </a:lnTo>
                <a:lnTo>
                  <a:pt x="4086" y="51"/>
                </a:lnTo>
                <a:lnTo>
                  <a:pt x="4102" y="40"/>
                </a:lnTo>
                <a:lnTo>
                  <a:pt x="4120" y="32"/>
                </a:lnTo>
                <a:lnTo>
                  <a:pt x="4138" y="25"/>
                </a:lnTo>
                <a:lnTo>
                  <a:pt x="4156" y="18"/>
                </a:lnTo>
                <a:lnTo>
                  <a:pt x="4175" y="13"/>
                </a:lnTo>
                <a:lnTo>
                  <a:pt x="4194" y="8"/>
                </a:lnTo>
                <a:lnTo>
                  <a:pt x="4213" y="5"/>
                </a:lnTo>
                <a:lnTo>
                  <a:pt x="4233" y="2"/>
                </a:lnTo>
                <a:lnTo>
                  <a:pt x="4252" y="0"/>
                </a:lnTo>
                <a:lnTo>
                  <a:pt x="4272" y="0"/>
                </a:lnTo>
                <a:lnTo>
                  <a:pt x="4292" y="0"/>
                </a:lnTo>
                <a:lnTo>
                  <a:pt x="4312" y="2"/>
                </a:lnTo>
                <a:lnTo>
                  <a:pt x="4331" y="5"/>
                </a:lnTo>
                <a:lnTo>
                  <a:pt x="4352" y="7"/>
                </a:lnTo>
                <a:lnTo>
                  <a:pt x="4372" y="12"/>
                </a:lnTo>
                <a:lnTo>
                  <a:pt x="4392" y="17"/>
                </a:lnTo>
                <a:lnTo>
                  <a:pt x="4412" y="23"/>
                </a:lnTo>
                <a:lnTo>
                  <a:pt x="4431" y="30"/>
                </a:lnTo>
                <a:lnTo>
                  <a:pt x="4451" y="38"/>
                </a:lnTo>
                <a:lnTo>
                  <a:pt x="4470" y="46"/>
                </a:lnTo>
                <a:lnTo>
                  <a:pt x="4489" y="56"/>
                </a:lnTo>
                <a:lnTo>
                  <a:pt x="4508" y="66"/>
                </a:lnTo>
                <a:lnTo>
                  <a:pt x="4527" y="78"/>
                </a:lnTo>
                <a:lnTo>
                  <a:pt x="4545" y="90"/>
                </a:lnTo>
                <a:lnTo>
                  <a:pt x="4563" y="103"/>
                </a:lnTo>
                <a:lnTo>
                  <a:pt x="4580" y="118"/>
                </a:lnTo>
                <a:lnTo>
                  <a:pt x="4596" y="132"/>
                </a:lnTo>
                <a:lnTo>
                  <a:pt x="4613" y="148"/>
                </a:lnTo>
                <a:lnTo>
                  <a:pt x="4628" y="164"/>
                </a:lnTo>
                <a:lnTo>
                  <a:pt x="4642" y="180"/>
                </a:lnTo>
                <a:lnTo>
                  <a:pt x="4657" y="198"/>
                </a:lnTo>
                <a:lnTo>
                  <a:pt x="4670" y="216"/>
                </a:lnTo>
                <a:lnTo>
                  <a:pt x="4683" y="234"/>
                </a:lnTo>
                <a:lnTo>
                  <a:pt x="4694" y="252"/>
                </a:lnTo>
                <a:lnTo>
                  <a:pt x="4704" y="271"/>
                </a:lnTo>
                <a:lnTo>
                  <a:pt x="4714" y="290"/>
                </a:lnTo>
                <a:lnTo>
                  <a:pt x="4723" y="310"/>
                </a:lnTo>
                <a:lnTo>
                  <a:pt x="4730" y="329"/>
                </a:lnTo>
                <a:lnTo>
                  <a:pt x="4737" y="349"/>
                </a:lnTo>
                <a:lnTo>
                  <a:pt x="4743" y="368"/>
                </a:lnTo>
                <a:lnTo>
                  <a:pt x="4749" y="388"/>
                </a:lnTo>
                <a:lnTo>
                  <a:pt x="4753" y="408"/>
                </a:lnTo>
                <a:lnTo>
                  <a:pt x="4756" y="429"/>
                </a:lnTo>
                <a:lnTo>
                  <a:pt x="4759" y="449"/>
                </a:lnTo>
                <a:lnTo>
                  <a:pt x="4760" y="469"/>
                </a:lnTo>
                <a:lnTo>
                  <a:pt x="4760" y="489"/>
                </a:lnTo>
                <a:lnTo>
                  <a:pt x="4760" y="508"/>
                </a:lnTo>
                <a:lnTo>
                  <a:pt x="4759" y="528"/>
                </a:lnTo>
                <a:lnTo>
                  <a:pt x="4756" y="547"/>
                </a:lnTo>
                <a:lnTo>
                  <a:pt x="4753" y="568"/>
                </a:lnTo>
                <a:lnTo>
                  <a:pt x="4748" y="587"/>
                </a:lnTo>
                <a:lnTo>
                  <a:pt x="4742" y="604"/>
                </a:lnTo>
                <a:lnTo>
                  <a:pt x="4736" y="623"/>
                </a:lnTo>
                <a:lnTo>
                  <a:pt x="4728" y="641"/>
                </a:lnTo>
                <a:lnTo>
                  <a:pt x="4720" y="659"/>
                </a:lnTo>
                <a:lnTo>
                  <a:pt x="4710" y="676"/>
                </a:lnTo>
                <a:lnTo>
                  <a:pt x="4699" y="692"/>
                </a:lnTo>
                <a:lnTo>
                  <a:pt x="4688" y="708"/>
                </a:lnTo>
                <a:lnTo>
                  <a:pt x="4675" y="724"/>
                </a:lnTo>
                <a:lnTo>
                  <a:pt x="4660" y="739"/>
                </a:lnTo>
                <a:lnTo>
                  <a:pt x="4436" y="963"/>
                </a:lnTo>
                <a:lnTo>
                  <a:pt x="2812" y="2570"/>
                </a:lnTo>
                <a:lnTo>
                  <a:pt x="2211" y="2862"/>
                </a:lnTo>
                <a:lnTo>
                  <a:pt x="2213" y="2880"/>
                </a:lnTo>
                <a:lnTo>
                  <a:pt x="2216" y="2896"/>
                </a:lnTo>
                <a:lnTo>
                  <a:pt x="2217" y="2914"/>
                </a:lnTo>
                <a:lnTo>
                  <a:pt x="2217" y="2932"/>
                </a:lnTo>
                <a:lnTo>
                  <a:pt x="2217" y="2952"/>
                </a:lnTo>
                <a:lnTo>
                  <a:pt x="2216" y="2971"/>
                </a:lnTo>
                <a:lnTo>
                  <a:pt x="2213" y="2991"/>
                </a:lnTo>
                <a:lnTo>
                  <a:pt x="2210" y="3010"/>
                </a:lnTo>
                <a:lnTo>
                  <a:pt x="2205" y="3028"/>
                </a:lnTo>
                <a:lnTo>
                  <a:pt x="2200" y="3047"/>
                </a:lnTo>
                <a:lnTo>
                  <a:pt x="2194" y="3065"/>
                </a:lnTo>
                <a:lnTo>
                  <a:pt x="2187" y="3083"/>
                </a:lnTo>
                <a:lnTo>
                  <a:pt x="2179" y="3099"/>
                </a:lnTo>
                <a:lnTo>
                  <a:pt x="2170" y="3116"/>
                </a:lnTo>
                <a:lnTo>
                  <a:pt x="2161" y="3133"/>
                </a:lnTo>
                <a:lnTo>
                  <a:pt x="2151" y="3148"/>
                </a:lnTo>
                <a:lnTo>
                  <a:pt x="2141" y="3163"/>
                </a:lnTo>
                <a:lnTo>
                  <a:pt x="2129" y="3178"/>
                </a:lnTo>
                <a:lnTo>
                  <a:pt x="2117" y="3192"/>
                </a:lnTo>
                <a:lnTo>
                  <a:pt x="2104" y="3205"/>
                </a:lnTo>
                <a:lnTo>
                  <a:pt x="2091" y="3218"/>
                </a:lnTo>
                <a:lnTo>
                  <a:pt x="2077" y="3230"/>
                </a:lnTo>
                <a:lnTo>
                  <a:pt x="2062" y="3242"/>
                </a:lnTo>
                <a:lnTo>
                  <a:pt x="2047" y="3253"/>
                </a:lnTo>
                <a:lnTo>
                  <a:pt x="2032" y="3262"/>
                </a:lnTo>
                <a:lnTo>
                  <a:pt x="2015" y="3272"/>
                </a:lnTo>
                <a:lnTo>
                  <a:pt x="1998" y="3280"/>
                </a:lnTo>
                <a:lnTo>
                  <a:pt x="1982" y="3288"/>
                </a:lnTo>
                <a:lnTo>
                  <a:pt x="1964" y="3294"/>
                </a:lnTo>
                <a:lnTo>
                  <a:pt x="1946" y="3301"/>
                </a:lnTo>
                <a:lnTo>
                  <a:pt x="1927" y="3306"/>
                </a:lnTo>
                <a:lnTo>
                  <a:pt x="1909" y="3311"/>
                </a:lnTo>
                <a:lnTo>
                  <a:pt x="1890" y="3313"/>
                </a:lnTo>
                <a:lnTo>
                  <a:pt x="1870" y="3315"/>
                </a:lnTo>
                <a:lnTo>
                  <a:pt x="1851" y="3318"/>
                </a:lnTo>
                <a:lnTo>
                  <a:pt x="1831" y="3318"/>
                </a:lnTo>
                <a:lnTo>
                  <a:pt x="1811" y="3318"/>
                </a:lnTo>
                <a:lnTo>
                  <a:pt x="1792" y="3315"/>
                </a:lnTo>
                <a:lnTo>
                  <a:pt x="1773" y="3313"/>
                </a:lnTo>
                <a:lnTo>
                  <a:pt x="1754" y="3311"/>
                </a:lnTo>
                <a:lnTo>
                  <a:pt x="1735" y="3306"/>
                </a:lnTo>
                <a:lnTo>
                  <a:pt x="1717" y="3301"/>
                </a:lnTo>
                <a:lnTo>
                  <a:pt x="1698" y="3294"/>
                </a:lnTo>
                <a:lnTo>
                  <a:pt x="1681" y="3288"/>
                </a:lnTo>
                <a:lnTo>
                  <a:pt x="1663" y="3280"/>
                </a:lnTo>
                <a:lnTo>
                  <a:pt x="1647" y="3272"/>
                </a:lnTo>
                <a:lnTo>
                  <a:pt x="1631" y="3262"/>
                </a:lnTo>
                <a:lnTo>
                  <a:pt x="1615" y="3253"/>
                </a:lnTo>
                <a:lnTo>
                  <a:pt x="1601" y="3242"/>
                </a:lnTo>
                <a:lnTo>
                  <a:pt x="1585" y="3230"/>
                </a:lnTo>
                <a:lnTo>
                  <a:pt x="1572" y="3218"/>
                </a:lnTo>
                <a:lnTo>
                  <a:pt x="1558" y="3205"/>
                </a:lnTo>
                <a:lnTo>
                  <a:pt x="1546" y="3192"/>
                </a:lnTo>
                <a:lnTo>
                  <a:pt x="1533" y="3178"/>
                </a:lnTo>
                <a:lnTo>
                  <a:pt x="1522" y="3163"/>
                </a:lnTo>
                <a:lnTo>
                  <a:pt x="1511" y="3148"/>
                </a:lnTo>
                <a:lnTo>
                  <a:pt x="1501" y="3133"/>
                </a:lnTo>
                <a:lnTo>
                  <a:pt x="1491" y="3116"/>
                </a:lnTo>
                <a:lnTo>
                  <a:pt x="1483" y="3099"/>
                </a:lnTo>
                <a:lnTo>
                  <a:pt x="1476" y="3083"/>
                </a:lnTo>
                <a:lnTo>
                  <a:pt x="1469" y="3065"/>
                </a:lnTo>
                <a:lnTo>
                  <a:pt x="1463" y="3047"/>
                </a:lnTo>
                <a:lnTo>
                  <a:pt x="1457" y="3028"/>
                </a:lnTo>
                <a:lnTo>
                  <a:pt x="1453" y="3010"/>
                </a:lnTo>
                <a:lnTo>
                  <a:pt x="1450" y="2991"/>
                </a:lnTo>
                <a:lnTo>
                  <a:pt x="1447" y="2971"/>
                </a:lnTo>
                <a:lnTo>
                  <a:pt x="1446" y="2952"/>
                </a:lnTo>
                <a:lnTo>
                  <a:pt x="1445" y="2932"/>
                </a:lnTo>
                <a:lnTo>
                  <a:pt x="1446" y="2912"/>
                </a:lnTo>
                <a:lnTo>
                  <a:pt x="1447" y="2893"/>
                </a:lnTo>
                <a:lnTo>
                  <a:pt x="1450" y="2874"/>
                </a:lnTo>
                <a:lnTo>
                  <a:pt x="1453" y="2855"/>
                </a:lnTo>
                <a:lnTo>
                  <a:pt x="1457" y="2836"/>
                </a:lnTo>
                <a:lnTo>
                  <a:pt x="1463" y="2817"/>
                </a:lnTo>
                <a:lnTo>
                  <a:pt x="1469" y="2799"/>
                </a:lnTo>
                <a:lnTo>
                  <a:pt x="1476" y="2781"/>
                </a:lnTo>
                <a:lnTo>
                  <a:pt x="1483" y="2764"/>
                </a:lnTo>
                <a:lnTo>
                  <a:pt x="1491" y="2748"/>
                </a:lnTo>
                <a:lnTo>
                  <a:pt x="1501" y="2731"/>
                </a:lnTo>
                <a:lnTo>
                  <a:pt x="1511" y="2716"/>
                </a:lnTo>
                <a:lnTo>
                  <a:pt x="1522" y="2702"/>
                </a:lnTo>
                <a:lnTo>
                  <a:pt x="1533" y="2686"/>
                </a:lnTo>
                <a:lnTo>
                  <a:pt x="1546" y="2672"/>
                </a:lnTo>
                <a:lnTo>
                  <a:pt x="1558" y="2659"/>
                </a:lnTo>
                <a:lnTo>
                  <a:pt x="1572" y="2646"/>
                </a:lnTo>
                <a:lnTo>
                  <a:pt x="1585" y="2634"/>
                </a:lnTo>
                <a:lnTo>
                  <a:pt x="1601" y="2623"/>
                </a:lnTo>
                <a:lnTo>
                  <a:pt x="1615" y="2611"/>
                </a:lnTo>
                <a:lnTo>
                  <a:pt x="1631" y="2602"/>
                </a:lnTo>
                <a:lnTo>
                  <a:pt x="1647" y="2592"/>
                </a:lnTo>
                <a:lnTo>
                  <a:pt x="1663" y="2584"/>
                </a:lnTo>
                <a:lnTo>
                  <a:pt x="1681" y="2576"/>
                </a:lnTo>
                <a:lnTo>
                  <a:pt x="1698" y="2570"/>
                </a:lnTo>
                <a:lnTo>
                  <a:pt x="1717" y="2564"/>
                </a:lnTo>
                <a:lnTo>
                  <a:pt x="1735" y="2558"/>
                </a:lnTo>
                <a:lnTo>
                  <a:pt x="1754" y="2554"/>
                </a:lnTo>
                <a:lnTo>
                  <a:pt x="1773" y="2551"/>
                </a:lnTo>
                <a:lnTo>
                  <a:pt x="1792" y="2548"/>
                </a:lnTo>
                <a:lnTo>
                  <a:pt x="1811" y="2546"/>
                </a:lnTo>
                <a:lnTo>
                  <a:pt x="1831" y="2546"/>
                </a:lnTo>
                <a:lnTo>
                  <a:pt x="1864" y="2547"/>
                </a:lnTo>
                <a:lnTo>
                  <a:pt x="1896" y="2552"/>
                </a:lnTo>
                <a:lnTo>
                  <a:pt x="2022" y="2291"/>
                </a:lnTo>
                <a:lnTo>
                  <a:pt x="1988" y="2282"/>
                </a:lnTo>
                <a:lnTo>
                  <a:pt x="1952" y="2274"/>
                </a:lnTo>
                <a:lnTo>
                  <a:pt x="1915" y="2268"/>
                </a:lnTo>
                <a:lnTo>
                  <a:pt x="1878" y="2265"/>
                </a:lnTo>
                <a:lnTo>
                  <a:pt x="1878" y="2075"/>
                </a:lnTo>
                <a:close/>
                <a:moveTo>
                  <a:pt x="1827" y="2692"/>
                </a:moveTo>
                <a:lnTo>
                  <a:pt x="1827" y="2692"/>
                </a:lnTo>
                <a:lnTo>
                  <a:pt x="1804" y="2694"/>
                </a:lnTo>
                <a:lnTo>
                  <a:pt x="1780" y="2698"/>
                </a:lnTo>
                <a:lnTo>
                  <a:pt x="1757" y="2704"/>
                </a:lnTo>
                <a:lnTo>
                  <a:pt x="1736" y="2712"/>
                </a:lnTo>
                <a:lnTo>
                  <a:pt x="1715" y="2722"/>
                </a:lnTo>
                <a:lnTo>
                  <a:pt x="1696" y="2735"/>
                </a:lnTo>
                <a:lnTo>
                  <a:pt x="1678" y="2748"/>
                </a:lnTo>
                <a:lnTo>
                  <a:pt x="1661" y="2763"/>
                </a:lnTo>
                <a:lnTo>
                  <a:pt x="1646" y="2781"/>
                </a:lnTo>
                <a:lnTo>
                  <a:pt x="1631" y="2799"/>
                </a:lnTo>
                <a:lnTo>
                  <a:pt x="1620" y="2819"/>
                </a:lnTo>
                <a:lnTo>
                  <a:pt x="1610" y="2839"/>
                </a:lnTo>
                <a:lnTo>
                  <a:pt x="1602" y="2862"/>
                </a:lnTo>
                <a:lnTo>
                  <a:pt x="1596" y="2884"/>
                </a:lnTo>
                <a:lnTo>
                  <a:pt x="1592" y="2908"/>
                </a:lnTo>
                <a:lnTo>
                  <a:pt x="1591" y="2932"/>
                </a:lnTo>
                <a:lnTo>
                  <a:pt x="1592" y="2957"/>
                </a:lnTo>
                <a:lnTo>
                  <a:pt x="1597" y="2981"/>
                </a:lnTo>
                <a:lnTo>
                  <a:pt x="1602" y="3003"/>
                </a:lnTo>
                <a:lnTo>
                  <a:pt x="1610" y="3026"/>
                </a:lnTo>
                <a:lnTo>
                  <a:pt x="1621" y="3046"/>
                </a:lnTo>
                <a:lnTo>
                  <a:pt x="1633" y="3066"/>
                </a:lnTo>
                <a:lnTo>
                  <a:pt x="1646" y="3084"/>
                </a:lnTo>
                <a:lnTo>
                  <a:pt x="1662" y="3102"/>
                </a:lnTo>
                <a:lnTo>
                  <a:pt x="1679" y="3117"/>
                </a:lnTo>
                <a:lnTo>
                  <a:pt x="1697" y="3130"/>
                </a:lnTo>
                <a:lnTo>
                  <a:pt x="1717" y="3142"/>
                </a:lnTo>
                <a:lnTo>
                  <a:pt x="1738" y="3153"/>
                </a:lnTo>
                <a:lnTo>
                  <a:pt x="1760" y="3161"/>
                </a:lnTo>
                <a:lnTo>
                  <a:pt x="1783" y="3167"/>
                </a:lnTo>
                <a:lnTo>
                  <a:pt x="1807" y="3171"/>
                </a:lnTo>
                <a:lnTo>
                  <a:pt x="1831" y="3172"/>
                </a:lnTo>
                <a:lnTo>
                  <a:pt x="1856" y="3171"/>
                </a:lnTo>
                <a:lnTo>
                  <a:pt x="1880" y="3167"/>
                </a:lnTo>
                <a:lnTo>
                  <a:pt x="1902" y="3161"/>
                </a:lnTo>
                <a:lnTo>
                  <a:pt x="1925" y="3153"/>
                </a:lnTo>
                <a:lnTo>
                  <a:pt x="1945" y="3142"/>
                </a:lnTo>
                <a:lnTo>
                  <a:pt x="1965" y="3130"/>
                </a:lnTo>
                <a:lnTo>
                  <a:pt x="1984" y="3117"/>
                </a:lnTo>
                <a:lnTo>
                  <a:pt x="2001" y="3102"/>
                </a:lnTo>
                <a:lnTo>
                  <a:pt x="2016" y="3084"/>
                </a:lnTo>
                <a:lnTo>
                  <a:pt x="2030" y="3066"/>
                </a:lnTo>
                <a:lnTo>
                  <a:pt x="2042" y="3046"/>
                </a:lnTo>
                <a:lnTo>
                  <a:pt x="2052" y="3026"/>
                </a:lnTo>
                <a:lnTo>
                  <a:pt x="2060" y="3003"/>
                </a:lnTo>
                <a:lnTo>
                  <a:pt x="2066" y="2981"/>
                </a:lnTo>
                <a:lnTo>
                  <a:pt x="2070" y="2957"/>
                </a:lnTo>
                <a:lnTo>
                  <a:pt x="2071" y="2932"/>
                </a:lnTo>
                <a:lnTo>
                  <a:pt x="2071" y="2931"/>
                </a:lnTo>
                <a:lnTo>
                  <a:pt x="1862" y="3033"/>
                </a:lnTo>
                <a:lnTo>
                  <a:pt x="1728" y="2899"/>
                </a:lnTo>
                <a:lnTo>
                  <a:pt x="1827" y="2692"/>
                </a:lnTo>
                <a:close/>
                <a:moveTo>
                  <a:pt x="2056" y="2832"/>
                </a:moveTo>
                <a:lnTo>
                  <a:pt x="2527" y="2609"/>
                </a:lnTo>
                <a:lnTo>
                  <a:pt x="2495" y="2601"/>
                </a:lnTo>
                <a:lnTo>
                  <a:pt x="2464" y="2589"/>
                </a:lnTo>
                <a:lnTo>
                  <a:pt x="2433" y="2576"/>
                </a:lnTo>
                <a:lnTo>
                  <a:pt x="2402" y="2559"/>
                </a:lnTo>
                <a:lnTo>
                  <a:pt x="2373" y="2541"/>
                </a:lnTo>
                <a:lnTo>
                  <a:pt x="2345" y="2521"/>
                </a:lnTo>
                <a:lnTo>
                  <a:pt x="2318" y="2498"/>
                </a:lnTo>
                <a:lnTo>
                  <a:pt x="2292" y="2475"/>
                </a:lnTo>
                <a:lnTo>
                  <a:pt x="2267" y="2449"/>
                </a:lnTo>
                <a:lnTo>
                  <a:pt x="2244" y="2421"/>
                </a:lnTo>
                <a:lnTo>
                  <a:pt x="2224" y="2392"/>
                </a:lnTo>
                <a:lnTo>
                  <a:pt x="2206" y="2363"/>
                </a:lnTo>
                <a:lnTo>
                  <a:pt x="2189" y="2332"/>
                </a:lnTo>
                <a:lnTo>
                  <a:pt x="2176" y="2301"/>
                </a:lnTo>
                <a:lnTo>
                  <a:pt x="2164" y="2269"/>
                </a:lnTo>
                <a:lnTo>
                  <a:pt x="2156" y="2237"/>
                </a:lnTo>
                <a:lnTo>
                  <a:pt x="1929" y="2706"/>
                </a:lnTo>
                <a:lnTo>
                  <a:pt x="1947" y="2719"/>
                </a:lnTo>
                <a:lnTo>
                  <a:pt x="1965" y="2734"/>
                </a:lnTo>
                <a:lnTo>
                  <a:pt x="1983" y="2749"/>
                </a:lnTo>
                <a:lnTo>
                  <a:pt x="2001" y="2766"/>
                </a:lnTo>
                <a:lnTo>
                  <a:pt x="2016" y="2781"/>
                </a:lnTo>
                <a:lnTo>
                  <a:pt x="2030" y="2798"/>
                </a:lnTo>
                <a:lnTo>
                  <a:pt x="2043" y="2814"/>
                </a:lnTo>
                <a:lnTo>
                  <a:pt x="2056" y="2832"/>
                </a:lnTo>
                <a:close/>
                <a:moveTo>
                  <a:pt x="4202" y="1063"/>
                </a:moveTo>
                <a:lnTo>
                  <a:pt x="4202" y="1063"/>
                </a:lnTo>
                <a:lnTo>
                  <a:pt x="4181" y="1063"/>
                </a:lnTo>
                <a:lnTo>
                  <a:pt x="4160" y="1063"/>
                </a:lnTo>
                <a:lnTo>
                  <a:pt x="4139" y="1060"/>
                </a:lnTo>
                <a:lnTo>
                  <a:pt x="4119" y="1058"/>
                </a:lnTo>
                <a:lnTo>
                  <a:pt x="4097" y="1054"/>
                </a:lnTo>
                <a:lnTo>
                  <a:pt x="4077" y="1050"/>
                </a:lnTo>
                <a:lnTo>
                  <a:pt x="4056" y="1044"/>
                </a:lnTo>
                <a:lnTo>
                  <a:pt x="4036" y="1037"/>
                </a:lnTo>
                <a:lnTo>
                  <a:pt x="4014" y="1028"/>
                </a:lnTo>
                <a:lnTo>
                  <a:pt x="3994" y="1020"/>
                </a:lnTo>
                <a:lnTo>
                  <a:pt x="3975" y="1011"/>
                </a:lnTo>
                <a:lnTo>
                  <a:pt x="3955" y="1000"/>
                </a:lnTo>
                <a:lnTo>
                  <a:pt x="3936" y="988"/>
                </a:lnTo>
                <a:lnTo>
                  <a:pt x="3917" y="975"/>
                </a:lnTo>
                <a:lnTo>
                  <a:pt x="3898" y="962"/>
                </a:lnTo>
                <a:lnTo>
                  <a:pt x="3880" y="948"/>
                </a:lnTo>
                <a:lnTo>
                  <a:pt x="2396" y="2432"/>
                </a:lnTo>
                <a:lnTo>
                  <a:pt x="2420" y="2450"/>
                </a:lnTo>
                <a:lnTo>
                  <a:pt x="2445" y="2468"/>
                </a:lnTo>
                <a:lnTo>
                  <a:pt x="2471" y="2482"/>
                </a:lnTo>
                <a:lnTo>
                  <a:pt x="2497" y="2495"/>
                </a:lnTo>
                <a:lnTo>
                  <a:pt x="2524" y="2507"/>
                </a:lnTo>
                <a:lnTo>
                  <a:pt x="2552" y="2515"/>
                </a:lnTo>
                <a:lnTo>
                  <a:pt x="2579" y="2521"/>
                </a:lnTo>
                <a:lnTo>
                  <a:pt x="2606" y="2526"/>
                </a:lnTo>
                <a:lnTo>
                  <a:pt x="2633" y="2527"/>
                </a:lnTo>
                <a:lnTo>
                  <a:pt x="2648" y="2527"/>
                </a:lnTo>
                <a:lnTo>
                  <a:pt x="2662" y="2526"/>
                </a:lnTo>
                <a:lnTo>
                  <a:pt x="2675" y="2523"/>
                </a:lnTo>
                <a:lnTo>
                  <a:pt x="2688" y="2521"/>
                </a:lnTo>
                <a:lnTo>
                  <a:pt x="2702" y="2517"/>
                </a:lnTo>
                <a:lnTo>
                  <a:pt x="2715" y="2514"/>
                </a:lnTo>
                <a:lnTo>
                  <a:pt x="2728" y="2508"/>
                </a:lnTo>
                <a:lnTo>
                  <a:pt x="2742" y="2503"/>
                </a:lnTo>
                <a:lnTo>
                  <a:pt x="2755" y="2496"/>
                </a:lnTo>
                <a:lnTo>
                  <a:pt x="2766" y="2489"/>
                </a:lnTo>
                <a:lnTo>
                  <a:pt x="2780" y="2481"/>
                </a:lnTo>
                <a:lnTo>
                  <a:pt x="2791" y="2471"/>
                </a:lnTo>
                <a:lnTo>
                  <a:pt x="2803" y="2462"/>
                </a:lnTo>
                <a:lnTo>
                  <a:pt x="2815" y="2450"/>
                </a:lnTo>
                <a:lnTo>
                  <a:pt x="4202" y="1063"/>
                </a:lnTo>
                <a:close/>
                <a:moveTo>
                  <a:pt x="2330" y="2364"/>
                </a:moveTo>
                <a:lnTo>
                  <a:pt x="3814" y="880"/>
                </a:lnTo>
                <a:lnTo>
                  <a:pt x="3798" y="862"/>
                </a:lnTo>
                <a:lnTo>
                  <a:pt x="3785" y="844"/>
                </a:lnTo>
                <a:lnTo>
                  <a:pt x="3773" y="825"/>
                </a:lnTo>
                <a:lnTo>
                  <a:pt x="3761" y="805"/>
                </a:lnTo>
                <a:lnTo>
                  <a:pt x="3751" y="786"/>
                </a:lnTo>
                <a:lnTo>
                  <a:pt x="3741" y="766"/>
                </a:lnTo>
                <a:lnTo>
                  <a:pt x="3732" y="746"/>
                </a:lnTo>
                <a:lnTo>
                  <a:pt x="3725" y="726"/>
                </a:lnTo>
                <a:lnTo>
                  <a:pt x="3718" y="704"/>
                </a:lnTo>
                <a:lnTo>
                  <a:pt x="3712" y="684"/>
                </a:lnTo>
                <a:lnTo>
                  <a:pt x="3707" y="663"/>
                </a:lnTo>
                <a:lnTo>
                  <a:pt x="3703" y="642"/>
                </a:lnTo>
                <a:lnTo>
                  <a:pt x="3700" y="621"/>
                </a:lnTo>
                <a:lnTo>
                  <a:pt x="3699" y="601"/>
                </a:lnTo>
                <a:lnTo>
                  <a:pt x="3697" y="579"/>
                </a:lnTo>
                <a:lnTo>
                  <a:pt x="3697" y="559"/>
                </a:lnTo>
                <a:lnTo>
                  <a:pt x="2311" y="1946"/>
                </a:lnTo>
                <a:lnTo>
                  <a:pt x="2300" y="1958"/>
                </a:lnTo>
                <a:lnTo>
                  <a:pt x="2289" y="1970"/>
                </a:lnTo>
                <a:lnTo>
                  <a:pt x="2281" y="1982"/>
                </a:lnTo>
                <a:lnTo>
                  <a:pt x="2273" y="1994"/>
                </a:lnTo>
                <a:lnTo>
                  <a:pt x="2264" y="2007"/>
                </a:lnTo>
                <a:lnTo>
                  <a:pt x="2258" y="2020"/>
                </a:lnTo>
                <a:lnTo>
                  <a:pt x="2252" y="2033"/>
                </a:lnTo>
                <a:lnTo>
                  <a:pt x="2248" y="2046"/>
                </a:lnTo>
                <a:lnTo>
                  <a:pt x="2243" y="2059"/>
                </a:lnTo>
                <a:lnTo>
                  <a:pt x="2240" y="2072"/>
                </a:lnTo>
                <a:lnTo>
                  <a:pt x="2237" y="2085"/>
                </a:lnTo>
                <a:lnTo>
                  <a:pt x="2236" y="2099"/>
                </a:lnTo>
                <a:lnTo>
                  <a:pt x="2235" y="2113"/>
                </a:lnTo>
                <a:lnTo>
                  <a:pt x="2235" y="2127"/>
                </a:lnTo>
                <a:lnTo>
                  <a:pt x="2236" y="2154"/>
                </a:lnTo>
                <a:lnTo>
                  <a:pt x="2239" y="2183"/>
                </a:lnTo>
                <a:lnTo>
                  <a:pt x="2245" y="2210"/>
                </a:lnTo>
                <a:lnTo>
                  <a:pt x="2255" y="2237"/>
                </a:lnTo>
                <a:lnTo>
                  <a:pt x="2265" y="2263"/>
                </a:lnTo>
                <a:lnTo>
                  <a:pt x="2278" y="2291"/>
                </a:lnTo>
                <a:lnTo>
                  <a:pt x="2294" y="2316"/>
                </a:lnTo>
                <a:lnTo>
                  <a:pt x="2311" y="2341"/>
                </a:lnTo>
                <a:lnTo>
                  <a:pt x="2330" y="236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/>
          <a:lstStyle/>
          <a:p>
            <a:endParaRPr lang="de-DE" sz="2185"/>
          </a:p>
        </p:txBody>
      </p:sp>
      <p:grpSp>
        <p:nvGrpSpPr>
          <p:cNvPr id="19" name="Gruppieren 6">
            <a:extLst>
              <a:ext uri="{FF2B5EF4-FFF2-40B4-BE49-F238E27FC236}">
                <a16:creationId xmlns:a16="http://schemas.microsoft.com/office/drawing/2014/main" id="{8C33D341-0093-2DCD-A714-D31D5DC77D63}"/>
              </a:ext>
            </a:extLst>
          </p:cNvPr>
          <p:cNvGrpSpPr/>
          <p:nvPr/>
        </p:nvGrpSpPr>
        <p:grpSpPr>
          <a:xfrm>
            <a:off x="3599384" y="5203084"/>
            <a:ext cx="840352" cy="756547"/>
            <a:chOff x="779463" y="3076385"/>
            <a:chExt cx="1198563" cy="1198563"/>
          </a:xfrm>
          <a:solidFill>
            <a:srgbClr val="004D82"/>
          </a:solidFill>
          <a:effectLst/>
        </p:grpSpPr>
        <p:sp>
          <p:nvSpPr>
            <p:cNvPr id="30" name="AutoShape 161" descr="© INSCALE GmbH, 26.05.2010&#10;http://www.presentationload.com/">
              <a:extLst>
                <a:ext uri="{FF2B5EF4-FFF2-40B4-BE49-F238E27FC236}">
                  <a16:creationId xmlns:a16="http://schemas.microsoft.com/office/drawing/2014/main" id="{DBEB246E-780F-11AB-B6D0-3EFC9395B9A4}"/>
                </a:ext>
              </a:extLst>
            </p:cNvPr>
            <p:cNvSpPr>
              <a:spLocks noChangeAspect="1" noChangeArrowheads="1"/>
            </p:cNvSpPr>
            <p:nvPr>
              <p:custDataLst>
                <p:tags r:id="rId19"/>
              </p:custDataLst>
            </p:nvPr>
          </p:nvSpPr>
          <p:spPr bwMode="gray">
            <a:xfrm>
              <a:off x="779463" y="3076385"/>
              <a:ext cx="1198563" cy="1198563"/>
            </a:xfrm>
            <a:prstGeom prst="rect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35" kern="0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1" name="AutoShape 162" descr="© INSCALE GmbH, 26.05.2010&#10;http://www.presentationload.com/">
              <a:extLst>
                <a:ext uri="{FF2B5EF4-FFF2-40B4-BE49-F238E27FC236}">
                  <a16:creationId xmlns:a16="http://schemas.microsoft.com/office/drawing/2014/main" id="{3D554381-08CD-496F-5119-C52FDED683F1}"/>
                </a:ext>
              </a:extLst>
            </p:cNvPr>
            <p:cNvSpPr>
              <a:spLocks noChangeAspect="1" noChangeArrowheads="1"/>
            </p:cNvSpPr>
            <p:nvPr>
              <p:custDataLst>
                <p:tags r:id="rId20"/>
              </p:custDataLst>
            </p:nvPr>
          </p:nvSpPr>
          <p:spPr bwMode="gray">
            <a:xfrm>
              <a:off x="843242" y="3140164"/>
              <a:ext cx="1071005" cy="1071005"/>
            </a:xfrm>
            <a:prstGeom prst="rect">
              <a:avLst/>
            </a:prstGeom>
            <a:grpFill/>
            <a:ln w="254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35" kern="0">
                <a:solidFill>
                  <a:srgbClr val="000000"/>
                </a:solidFill>
                <a:latin typeface="Arial" panose="020B0604020202020204"/>
                <a:cs typeface="+mn-cs"/>
              </a:endParaRPr>
            </a:p>
          </p:txBody>
        </p:sp>
        <p:sp>
          <p:nvSpPr>
            <p:cNvPr id="32" name="AutoShape 164" descr="© INSCALE GmbH, 26.05.2010&#10;http://www.presentationload.com/">
              <a:extLst>
                <a:ext uri="{FF2B5EF4-FFF2-40B4-BE49-F238E27FC236}">
                  <a16:creationId xmlns:a16="http://schemas.microsoft.com/office/drawing/2014/main" id="{A1620538-F319-4D5D-AFA5-1EFDF8C8C786}"/>
                </a:ext>
              </a:extLst>
            </p:cNvPr>
            <p:cNvSpPr>
              <a:spLocks noChangeAspect="1" noChangeArrowheads="1"/>
            </p:cNvSpPr>
            <p:nvPr>
              <p:custDataLst>
                <p:tags r:id="rId21"/>
              </p:custDataLst>
            </p:nvPr>
          </p:nvSpPr>
          <p:spPr bwMode="gray">
            <a:xfrm>
              <a:off x="891956" y="3178417"/>
              <a:ext cx="986770" cy="989175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35" kern="0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20" name="Freeform 180">
            <a:extLst>
              <a:ext uri="{FF2B5EF4-FFF2-40B4-BE49-F238E27FC236}">
                <a16:creationId xmlns:a16="http://schemas.microsoft.com/office/drawing/2014/main" id="{2852CD19-4740-156B-CFB9-7AA548916A88}"/>
              </a:ext>
            </a:extLst>
          </p:cNvPr>
          <p:cNvSpPr>
            <a:spLocks noChangeAspect="1" noEditPoints="1"/>
          </p:cNvSpPr>
          <p:nvPr>
            <p:custDataLst>
              <p:tags r:id="rId9"/>
            </p:custDataLst>
          </p:nvPr>
        </p:nvSpPr>
        <p:spPr bwMode="auto">
          <a:xfrm>
            <a:off x="3780495" y="5450417"/>
            <a:ext cx="461716" cy="261881"/>
          </a:xfrm>
          <a:custGeom>
            <a:avLst/>
            <a:gdLst>
              <a:gd name="T0" fmla="*/ 420 w 2750"/>
              <a:gd name="T1" fmla="*/ 634 h 1710"/>
              <a:gd name="T2" fmla="*/ 902 w 2750"/>
              <a:gd name="T3" fmla="*/ 137 h 1710"/>
              <a:gd name="T4" fmla="*/ 618 w 2750"/>
              <a:gd name="T5" fmla="*/ 137 h 1710"/>
              <a:gd name="T6" fmla="*/ 136 w 2750"/>
              <a:gd name="T7" fmla="*/ 634 h 1710"/>
              <a:gd name="T8" fmla="*/ 420 w 2750"/>
              <a:gd name="T9" fmla="*/ 634 h 1710"/>
              <a:gd name="T10" fmla="*/ 133 w 2750"/>
              <a:gd name="T11" fmla="*/ 137 h 1710"/>
              <a:gd name="T12" fmla="*/ 133 w 2750"/>
              <a:gd name="T13" fmla="*/ 345 h 1710"/>
              <a:gd name="T14" fmla="*/ 335 w 2750"/>
              <a:gd name="T15" fmla="*/ 137 h 1710"/>
              <a:gd name="T16" fmla="*/ 133 w 2750"/>
              <a:gd name="T17" fmla="*/ 137 h 1710"/>
              <a:gd name="T18" fmla="*/ 1565 w 2750"/>
              <a:gd name="T19" fmla="*/ 634 h 1710"/>
              <a:gd name="T20" fmla="*/ 2047 w 2750"/>
              <a:gd name="T21" fmla="*/ 137 h 1710"/>
              <a:gd name="T22" fmla="*/ 1771 w 2750"/>
              <a:gd name="T23" fmla="*/ 137 h 1710"/>
              <a:gd name="T24" fmla="*/ 1288 w 2750"/>
              <a:gd name="T25" fmla="*/ 634 h 1710"/>
              <a:gd name="T26" fmla="*/ 1565 w 2750"/>
              <a:gd name="T27" fmla="*/ 634 h 1710"/>
              <a:gd name="T28" fmla="*/ 1006 w 2750"/>
              <a:gd name="T29" fmla="*/ 634 h 1710"/>
              <a:gd name="T30" fmla="*/ 1488 w 2750"/>
              <a:gd name="T31" fmla="*/ 137 h 1710"/>
              <a:gd name="T32" fmla="*/ 1185 w 2750"/>
              <a:gd name="T33" fmla="*/ 137 h 1710"/>
              <a:gd name="T34" fmla="*/ 703 w 2750"/>
              <a:gd name="T35" fmla="*/ 634 h 1710"/>
              <a:gd name="T36" fmla="*/ 1006 w 2750"/>
              <a:gd name="T37" fmla="*/ 634 h 1710"/>
              <a:gd name="T38" fmla="*/ 2133 w 2750"/>
              <a:gd name="T39" fmla="*/ 634 h 1710"/>
              <a:gd name="T40" fmla="*/ 2615 w 2750"/>
              <a:gd name="T41" fmla="*/ 137 h 1710"/>
              <a:gd name="T42" fmla="*/ 2330 w 2750"/>
              <a:gd name="T43" fmla="*/ 137 h 1710"/>
              <a:gd name="T44" fmla="*/ 1848 w 2750"/>
              <a:gd name="T45" fmla="*/ 634 h 1710"/>
              <a:gd name="T46" fmla="*/ 2133 w 2750"/>
              <a:gd name="T47" fmla="*/ 634 h 1710"/>
              <a:gd name="T48" fmla="*/ 2617 w 2750"/>
              <a:gd name="T49" fmla="*/ 634 h 1710"/>
              <a:gd name="T50" fmla="*/ 2617 w 2750"/>
              <a:gd name="T51" fmla="*/ 428 h 1710"/>
              <a:gd name="T52" fmla="*/ 2416 w 2750"/>
              <a:gd name="T53" fmla="*/ 634 h 1710"/>
              <a:gd name="T54" fmla="*/ 2617 w 2750"/>
              <a:gd name="T55" fmla="*/ 634 h 1710"/>
              <a:gd name="T56" fmla="*/ 0 w 2750"/>
              <a:gd name="T57" fmla="*/ 0 h 1710"/>
              <a:gd name="T58" fmla="*/ 0 w 2750"/>
              <a:gd name="T59" fmla="*/ 1710 h 1710"/>
              <a:gd name="T60" fmla="*/ 81 w 2750"/>
              <a:gd name="T61" fmla="*/ 1710 h 1710"/>
              <a:gd name="T62" fmla="*/ 81 w 2750"/>
              <a:gd name="T63" fmla="*/ 734 h 1710"/>
              <a:gd name="T64" fmla="*/ 2668 w 2750"/>
              <a:gd name="T65" fmla="*/ 734 h 1710"/>
              <a:gd name="T66" fmla="*/ 2668 w 2750"/>
              <a:gd name="T67" fmla="*/ 1710 h 1710"/>
              <a:gd name="T68" fmla="*/ 2750 w 2750"/>
              <a:gd name="T69" fmla="*/ 1710 h 1710"/>
              <a:gd name="T70" fmla="*/ 2750 w 2750"/>
              <a:gd name="T71" fmla="*/ 0 h 1710"/>
              <a:gd name="T72" fmla="*/ 0 w 2750"/>
              <a:gd name="T73" fmla="*/ 0 h 1710"/>
              <a:gd name="T74" fmla="*/ 2668 w 2750"/>
              <a:gd name="T75" fmla="*/ 689 h 1710"/>
              <a:gd name="T76" fmla="*/ 81 w 2750"/>
              <a:gd name="T77" fmla="*/ 689 h 1710"/>
              <a:gd name="T78" fmla="*/ 81 w 2750"/>
              <a:gd name="T79" fmla="*/ 81 h 1710"/>
              <a:gd name="T80" fmla="*/ 2668 w 2750"/>
              <a:gd name="T81" fmla="*/ 81 h 1710"/>
              <a:gd name="T82" fmla="*/ 2668 w 2750"/>
              <a:gd name="T83" fmla="*/ 689 h 1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750" h="1710">
                <a:moveTo>
                  <a:pt x="420" y="634"/>
                </a:moveTo>
                <a:lnTo>
                  <a:pt x="902" y="137"/>
                </a:lnTo>
                <a:lnTo>
                  <a:pt x="618" y="137"/>
                </a:lnTo>
                <a:lnTo>
                  <a:pt x="136" y="634"/>
                </a:lnTo>
                <a:lnTo>
                  <a:pt x="420" y="634"/>
                </a:lnTo>
                <a:close/>
                <a:moveTo>
                  <a:pt x="133" y="137"/>
                </a:moveTo>
                <a:lnTo>
                  <a:pt x="133" y="345"/>
                </a:lnTo>
                <a:lnTo>
                  <a:pt x="335" y="137"/>
                </a:lnTo>
                <a:lnTo>
                  <a:pt x="133" y="137"/>
                </a:lnTo>
                <a:close/>
                <a:moveTo>
                  <a:pt x="1565" y="634"/>
                </a:moveTo>
                <a:lnTo>
                  <a:pt x="2047" y="137"/>
                </a:lnTo>
                <a:lnTo>
                  <a:pt x="1771" y="137"/>
                </a:lnTo>
                <a:lnTo>
                  <a:pt x="1288" y="634"/>
                </a:lnTo>
                <a:lnTo>
                  <a:pt x="1565" y="634"/>
                </a:lnTo>
                <a:close/>
                <a:moveTo>
                  <a:pt x="1006" y="634"/>
                </a:moveTo>
                <a:lnTo>
                  <a:pt x="1488" y="137"/>
                </a:lnTo>
                <a:lnTo>
                  <a:pt x="1185" y="137"/>
                </a:lnTo>
                <a:lnTo>
                  <a:pt x="703" y="634"/>
                </a:lnTo>
                <a:lnTo>
                  <a:pt x="1006" y="634"/>
                </a:lnTo>
                <a:close/>
                <a:moveTo>
                  <a:pt x="2133" y="634"/>
                </a:moveTo>
                <a:lnTo>
                  <a:pt x="2615" y="137"/>
                </a:lnTo>
                <a:lnTo>
                  <a:pt x="2330" y="137"/>
                </a:lnTo>
                <a:lnTo>
                  <a:pt x="1848" y="634"/>
                </a:lnTo>
                <a:lnTo>
                  <a:pt x="2133" y="634"/>
                </a:lnTo>
                <a:close/>
                <a:moveTo>
                  <a:pt x="2617" y="634"/>
                </a:moveTo>
                <a:lnTo>
                  <a:pt x="2617" y="428"/>
                </a:lnTo>
                <a:lnTo>
                  <a:pt x="2416" y="634"/>
                </a:lnTo>
                <a:lnTo>
                  <a:pt x="2617" y="634"/>
                </a:lnTo>
                <a:close/>
                <a:moveTo>
                  <a:pt x="0" y="0"/>
                </a:moveTo>
                <a:lnTo>
                  <a:pt x="0" y="1710"/>
                </a:lnTo>
                <a:lnTo>
                  <a:pt x="81" y="1710"/>
                </a:lnTo>
                <a:lnTo>
                  <a:pt x="81" y="734"/>
                </a:lnTo>
                <a:lnTo>
                  <a:pt x="2668" y="734"/>
                </a:lnTo>
                <a:lnTo>
                  <a:pt x="2668" y="1710"/>
                </a:lnTo>
                <a:lnTo>
                  <a:pt x="2750" y="1710"/>
                </a:lnTo>
                <a:lnTo>
                  <a:pt x="2750" y="0"/>
                </a:lnTo>
                <a:lnTo>
                  <a:pt x="0" y="0"/>
                </a:lnTo>
                <a:close/>
                <a:moveTo>
                  <a:pt x="2668" y="689"/>
                </a:moveTo>
                <a:lnTo>
                  <a:pt x="81" y="689"/>
                </a:lnTo>
                <a:lnTo>
                  <a:pt x="81" y="81"/>
                </a:lnTo>
                <a:lnTo>
                  <a:pt x="2668" y="81"/>
                </a:lnTo>
                <a:lnTo>
                  <a:pt x="2668" y="6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83177" tIns="41589" rIns="83177" bIns="41589" numCol="1" anchor="t" anchorCtr="0" compatLnSpc="1"/>
          <a:lstStyle/>
          <a:p>
            <a:endParaRPr lang="de-DE" sz="2185"/>
          </a:p>
        </p:txBody>
      </p:sp>
      <p:sp>
        <p:nvSpPr>
          <p:cNvPr id="21" name="TextBox 37">
            <a:extLst>
              <a:ext uri="{FF2B5EF4-FFF2-40B4-BE49-F238E27FC236}">
                <a16:creationId xmlns:a16="http://schemas.microsoft.com/office/drawing/2014/main" id="{469CABF2-45DB-AF82-6E9D-D2C27499443B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91942" y="2521836"/>
            <a:ext cx="1801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rgbClr val="004D82"/>
                </a:solidFill>
              </a:rPr>
              <a:t>Problem statement</a:t>
            </a:r>
          </a:p>
        </p:txBody>
      </p:sp>
      <p:sp>
        <p:nvSpPr>
          <p:cNvPr id="22" name="TextBox 38">
            <a:extLst>
              <a:ext uri="{FF2B5EF4-FFF2-40B4-BE49-F238E27FC236}">
                <a16:creationId xmlns:a16="http://schemas.microsoft.com/office/drawing/2014/main" id="{E4F5F77A-CC9E-ECF4-3735-C51C9F9612A7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2260524" y="1659193"/>
            <a:ext cx="934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004D82"/>
                </a:solidFill>
                <a:latin typeface="+mn-lt"/>
              </a:rPr>
              <a:t>Given</a:t>
            </a:r>
          </a:p>
        </p:txBody>
      </p:sp>
      <p:sp>
        <p:nvSpPr>
          <p:cNvPr id="23" name="TextBox 39">
            <a:extLst>
              <a:ext uri="{FF2B5EF4-FFF2-40B4-BE49-F238E27FC236}">
                <a16:creationId xmlns:a16="http://schemas.microsoft.com/office/drawing/2014/main" id="{E04E6679-F063-02D5-23D9-B16BE672F8F2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2264697" y="2929839"/>
            <a:ext cx="1082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004D82"/>
                </a:solidFill>
                <a:latin typeface="+mn-lt"/>
              </a:rPr>
              <a:t>Decide</a:t>
            </a:r>
          </a:p>
        </p:txBody>
      </p:sp>
      <p:sp>
        <p:nvSpPr>
          <p:cNvPr id="24" name="TextBox 40">
            <a:extLst>
              <a:ext uri="{FF2B5EF4-FFF2-40B4-BE49-F238E27FC236}">
                <a16:creationId xmlns:a16="http://schemas.microsoft.com/office/drawing/2014/main" id="{A01DE3AB-03EF-52D1-0F2C-666FDA5E0257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2114232" y="3986565"/>
            <a:ext cx="1422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004D82"/>
                </a:solidFill>
                <a:latin typeface="+mn-lt"/>
              </a:rPr>
              <a:t>Objective</a:t>
            </a:r>
          </a:p>
        </p:txBody>
      </p:sp>
      <p:sp>
        <p:nvSpPr>
          <p:cNvPr id="25" name="TextBox 41">
            <a:extLst>
              <a:ext uri="{FF2B5EF4-FFF2-40B4-BE49-F238E27FC236}">
                <a16:creationId xmlns:a16="http://schemas.microsoft.com/office/drawing/2014/main" id="{E866FD7C-318C-9747-9659-5C8376B32F5B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2011835" y="5165379"/>
            <a:ext cx="1651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004D82"/>
                </a:solidFill>
                <a:latin typeface="+mn-lt"/>
              </a:rPr>
              <a:t>Constraints</a:t>
            </a:r>
          </a:p>
        </p:txBody>
      </p:sp>
      <p:sp>
        <p:nvSpPr>
          <p:cNvPr id="26" name="Rectangle 14" descr="© INSCALE GmbH, 26.05.2010&#10;http://www.presentationload.com/">
            <a:extLst>
              <a:ext uri="{FF2B5EF4-FFF2-40B4-BE49-F238E27FC236}">
                <a16:creationId xmlns:a16="http://schemas.microsoft.com/office/drawing/2014/main" id="{28FE2968-BFD8-1209-43C3-C67D9959E404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gray">
          <a:xfrm>
            <a:off x="4603911" y="1692025"/>
            <a:ext cx="6420368" cy="756486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98241" tIns="65494" rIns="98241" bIns="65494" anchor="ctr" anchorCtr="0"/>
          <a:lstStyle/>
          <a:p>
            <a:pPr marL="259715" indent="-259715" defTabSz="728980">
              <a:buClr>
                <a:srgbClr val="000000">
                  <a:lumMod val="75000"/>
                  <a:lumOff val="25000"/>
                </a:srgbClr>
              </a:buClr>
              <a:buFont typeface="Wingdings" panose="05000000000000000000" pitchFamily="2" charset="2"/>
              <a:buChar char="§"/>
              <a:defRPr/>
            </a:pPr>
            <a:r>
              <a:rPr lang="en-US" sz="2200" noProof="1">
                <a:solidFill>
                  <a:srgbClr val="004D82"/>
                </a:solidFill>
                <a:latin typeface="+mn-lt"/>
              </a:rPr>
              <a:t>Network topology of multiple data centers</a:t>
            </a:r>
          </a:p>
          <a:p>
            <a:pPr marL="259715" indent="-259715" defTabSz="728980">
              <a:buClr>
                <a:srgbClr val="000000">
                  <a:lumMod val="75000"/>
                  <a:lumOff val="25000"/>
                </a:srgbClr>
              </a:buClr>
              <a:buFont typeface="Wingdings" panose="05000000000000000000" pitchFamily="2" charset="2"/>
              <a:buChar char="§"/>
              <a:defRPr/>
            </a:pPr>
            <a:r>
              <a:rPr lang="en-US" sz="2200" noProof="1">
                <a:solidFill>
                  <a:srgbClr val="004D82"/>
                </a:solidFill>
                <a:latin typeface="+mn-lt"/>
              </a:rPr>
              <a:t>Collective operation</a:t>
            </a:r>
          </a:p>
          <a:p>
            <a:pPr marL="259715" indent="-259715" defTabSz="728980">
              <a:buClr>
                <a:srgbClr val="000000">
                  <a:lumMod val="75000"/>
                  <a:lumOff val="25000"/>
                </a:srgbClr>
              </a:buClr>
              <a:buFont typeface="Wingdings" panose="05000000000000000000" pitchFamily="2" charset="2"/>
              <a:buChar char="§"/>
              <a:defRPr/>
            </a:pPr>
            <a:r>
              <a:rPr lang="en-US" altLang="zh-CN" sz="2200" noProof="1">
                <a:solidFill>
                  <a:srgbClr val="004D82"/>
                </a:solidFill>
                <a:latin typeface="+mn-lt"/>
              </a:rPr>
              <a:t>Chunk</a:t>
            </a:r>
            <a:r>
              <a:rPr lang="en-US" sz="2200" noProof="1">
                <a:solidFill>
                  <a:srgbClr val="004D82"/>
                </a:solidFill>
                <a:latin typeface="+mn-lt"/>
              </a:rPr>
              <a:t> size</a:t>
            </a:r>
          </a:p>
          <a:p>
            <a:pPr marL="259715" indent="-259715" defTabSz="728980">
              <a:buClr>
                <a:srgbClr val="000000">
                  <a:lumMod val="75000"/>
                  <a:lumOff val="25000"/>
                </a:srgbClr>
              </a:buClr>
              <a:buFont typeface="Wingdings" panose="05000000000000000000" pitchFamily="2" charset="2"/>
              <a:buChar char="§"/>
              <a:defRPr/>
            </a:pPr>
            <a:r>
              <a:rPr lang="en-US" sz="2200" noProof="1">
                <a:solidFill>
                  <a:srgbClr val="004D82"/>
                </a:solidFill>
              </a:rPr>
              <a:t>Number of chunk</a:t>
            </a:r>
            <a:endParaRPr lang="en-US" sz="2200" noProof="1">
              <a:solidFill>
                <a:srgbClr val="004D82"/>
              </a:solidFill>
              <a:latin typeface="+mn-lt"/>
            </a:endParaRPr>
          </a:p>
        </p:txBody>
      </p:sp>
      <p:sp>
        <p:nvSpPr>
          <p:cNvPr id="27" name="Rectangle 14" descr="© INSCALE GmbH, 26.05.2010&#10;http://www.presentationload.com/">
            <a:extLst>
              <a:ext uri="{FF2B5EF4-FFF2-40B4-BE49-F238E27FC236}">
                <a16:creationId xmlns:a16="http://schemas.microsoft.com/office/drawing/2014/main" id="{F0257FC7-222F-696B-23B7-5AC33A387926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gray">
          <a:xfrm>
            <a:off x="4597864" y="3023481"/>
            <a:ext cx="6420368" cy="678708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98241" tIns="65494" rIns="98241" bIns="65494" anchor="ctr" anchorCtr="0"/>
          <a:lstStyle/>
          <a:p>
            <a:pPr marL="259715" indent="-259715" defTabSz="728980">
              <a:buClr>
                <a:srgbClr val="000000">
                  <a:lumMod val="75000"/>
                  <a:lumOff val="25000"/>
                </a:srgbClr>
              </a:buClr>
              <a:buFont typeface="Wingdings" panose="05000000000000000000" pitchFamily="2" charset="2"/>
              <a:buChar char="§"/>
              <a:defRPr/>
            </a:pPr>
            <a:r>
              <a:rPr lang="en-US" sz="2200" noProof="1">
                <a:solidFill>
                  <a:srgbClr val="004D82"/>
                </a:solidFill>
                <a:latin typeface="+mn-lt"/>
              </a:rPr>
              <a:t>Routing of subchunks</a:t>
            </a:r>
          </a:p>
          <a:p>
            <a:pPr marL="259715" indent="-259715" defTabSz="728980">
              <a:buClr>
                <a:srgbClr val="000000">
                  <a:lumMod val="75000"/>
                  <a:lumOff val="25000"/>
                </a:srgbClr>
              </a:buClr>
              <a:buFont typeface="Wingdings" panose="05000000000000000000" pitchFamily="2" charset="2"/>
              <a:buChar char="§"/>
              <a:defRPr/>
            </a:pPr>
            <a:r>
              <a:rPr lang="en-US" sz="2200" noProof="1">
                <a:solidFill>
                  <a:srgbClr val="FF0000"/>
                </a:solidFill>
                <a:latin typeface="+mn-lt"/>
              </a:rPr>
              <a:t>Scheduling of forwarding chunks</a:t>
            </a:r>
            <a:r>
              <a:rPr lang="en-US" sz="2200" noProof="1">
                <a:solidFill>
                  <a:srgbClr val="004D82"/>
                </a:solidFill>
                <a:latin typeface="+mn-lt"/>
              </a:rPr>
              <a:t> in one node</a:t>
            </a:r>
          </a:p>
        </p:txBody>
      </p:sp>
      <p:sp>
        <p:nvSpPr>
          <p:cNvPr id="28" name="Rectangle 14" descr="© INSCALE GmbH, 26.05.2010&#10;http://www.presentationload.com/">
            <a:extLst>
              <a:ext uri="{FF2B5EF4-FFF2-40B4-BE49-F238E27FC236}">
                <a16:creationId xmlns:a16="http://schemas.microsoft.com/office/drawing/2014/main" id="{A15D9BCE-16CB-33C6-E39F-F9096E28F307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gray">
          <a:xfrm>
            <a:off x="4603911" y="4204441"/>
            <a:ext cx="6283164" cy="423572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98241" tIns="65494" rIns="98241" bIns="65494" anchor="ctr" anchorCtr="0"/>
          <a:lstStyle/>
          <a:p>
            <a:pPr marL="259715" indent="-259715" defTabSz="728980">
              <a:buClr>
                <a:srgbClr val="000000">
                  <a:lumMod val="75000"/>
                  <a:lumOff val="25000"/>
                </a:srgbClr>
              </a:buClr>
              <a:buFont typeface="Wingdings" panose="05000000000000000000" pitchFamily="2" charset="2"/>
              <a:buChar char="§"/>
              <a:defRPr/>
            </a:pPr>
            <a:r>
              <a:rPr lang="en-US" sz="2200" noProof="1">
                <a:solidFill>
                  <a:srgbClr val="004D82"/>
                </a:solidFill>
                <a:latin typeface="+mn-lt"/>
              </a:rPr>
              <a:t>Minimize the required to finish the collective </a:t>
            </a:r>
          </a:p>
        </p:txBody>
      </p:sp>
      <p:sp>
        <p:nvSpPr>
          <p:cNvPr id="29" name="Rectangle 14" descr="© INSCALE GmbH, 26.05.2010&#10;http://www.presentationload.com/">
            <a:extLst>
              <a:ext uri="{FF2B5EF4-FFF2-40B4-BE49-F238E27FC236}">
                <a16:creationId xmlns:a16="http://schemas.microsoft.com/office/drawing/2014/main" id="{860932AF-9A0B-EB05-7ED7-CBE0C9C56EA1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gray">
          <a:xfrm>
            <a:off x="4608031" y="5203084"/>
            <a:ext cx="7397155" cy="879348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98241" tIns="65494" rIns="98241" bIns="65494" anchor="ctr" anchorCtr="0"/>
          <a:lstStyle/>
          <a:p>
            <a:pPr marL="259715" indent="-259715" defTabSz="728980">
              <a:buClr>
                <a:srgbClr val="000000">
                  <a:lumMod val="75000"/>
                  <a:lumOff val="25000"/>
                </a:srgbClr>
              </a:buClr>
              <a:buFont typeface="Wingdings" panose="05000000000000000000" pitchFamily="2" charset="2"/>
              <a:buChar char="§"/>
              <a:defRPr/>
            </a:pPr>
            <a:r>
              <a:rPr lang="en-US" altLang="zh-CN" sz="2200" noProof="1">
                <a:solidFill>
                  <a:srgbClr val="004D82"/>
                </a:solidFill>
                <a:cs typeface="Arial"/>
              </a:rPr>
              <a:t>Link latency</a:t>
            </a:r>
          </a:p>
          <a:p>
            <a:pPr marL="259715" indent="-259715" defTabSz="728980">
              <a:buClr>
                <a:srgbClr val="000000">
                  <a:lumMod val="75000"/>
                  <a:lumOff val="25000"/>
                </a:srgbClr>
              </a:buClr>
              <a:buFont typeface="Wingdings" panose="05000000000000000000" pitchFamily="2" charset="2"/>
              <a:buChar char="§"/>
              <a:defRPr/>
            </a:pPr>
            <a:r>
              <a:rPr lang="en-US" sz="2200" noProof="1">
                <a:solidFill>
                  <a:srgbClr val="004D82"/>
                </a:solidFill>
                <a:cs typeface="Arial"/>
              </a:rPr>
              <a:t>Node can only send a chunk after receiving it</a:t>
            </a:r>
          </a:p>
        </p:txBody>
      </p:sp>
    </p:spTree>
    <p:extLst>
      <p:ext uri="{BB962C8B-B14F-4D97-AF65-F5344CB8AC3E}">
        <p14:creationId xmlns:p14="http://schemas.microsoft.com/office/powerpoint/2010/main" val="386613965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8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4082A-7624-4E55-45AC-001A0221A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D31F76-9C14-B257-18B6-DA0CB6FAC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altLang="zh-CN" b="1" dirty="0"/>
              <a:t>System Model (Abstract Topology)</a:t>
            </a:r>
            <a:endParaRPr kumimoji="1"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023C44-43EA-7F4A-9A4C-0FCA5DD86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AFE0081-1ED4-41E0-88AB-D26DBE160EA6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grpSp>
        <p:nvGrpSpPr>
          <p:cNvPr id="202" name="组合 201">
            <a:extLst>
              <a:ext uri="{FF2B5EF4-FFF2-40B4-BE49-F238E27FC236}">
                <a16:creationId xmlns:a16="http://schemas.microsoft.com/office/drawing/2014/main" id="{BD3E178C-E914-B135-50F1-E435A93A07B7}"/>
              </a:ext>
            </a:extLst>
          </p:cNvPr>
          <p:cNvGrpSpPr/>
          <p:nvPr/>
        </p:nvGrpSpPr>
        <p:grpSpPr>
          <a:xfrm>
            <a:off x="457598" y="1579361"/>
            <a:ext cx="6823713" cy="2141363"/>
            <a:chOff x="40921" y="3918678"/>
            <a:chExt cx="6823713" cy="2141363"/>
          </a:xfrm>
        </p:grpSpPr>
        <p:sp>
          <p:nvSpPr>
            <p:cNvPr id="106" name="云形 105">
              <a:extLst>
                <a:ext uri="{FF2B5EF4-FFF2-40B4-BE49-F238E27FC236}">
                  <a16:creationId xmlns:a16="http://schemas.microsoft.com/office/drawing/2014/main" id="{CA1EAB1F-C7E9-711A-0903-1D4C84A9AED7}"/>
                </a:ext>
              </a:extLst>
            </p:cNvPr>
            <p:cNvSpPr/>
            <p:nvPr/>
          </p:nvSpPr>
          <p:spPr>
            <a:xfrm>
              <a:off x="1777711" y="3918678"/>
              <a:ext cx="3291489" cy="1996833"/>
            </a:xfrm>
            <a:prstGeom prst="cloud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" name="圆角矩形 42">
              <a:extLst>
                <a:ext uri="{FF2B5EF4-FFF2-40B4-BE49-F238E27FC236}">
                  <a16:creationId xmlns:a16="http://schemas.microsoft.com/office/drawing/2014/main" id="{C0C0CAE6-50BB-E557-01BA-47F54A881751}"/>
                </a:ext>
              </a:extLst>
            </p:cNvPr>
            <p:cNvSpPr/>
            <p:nvPr/>
          </p:nvSpPr>
          <p:spPr>
            <a:xfrm>
              <a:off x="40921" y="3946671"/>
              <a:ext cx="1231200" cy="2073600"/>
            </a:xfrm>
            <a:prstGeom prst="roundRect">
              <a:avLst/>
            </a:prstGeom>
            <a:noFill/>
            <a:ln w="41275" cmpd="tri"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4" name="圆角矩形 43">
              <a:extLst>
                <a:ext uri="{FF2B5EF4-FFF2-40B4-BE49-F238E27FC236}">
                  <a16:creationId xmlns:a16="http://schemas.microsoft.com/office/drawing/2014/main" id="{41256F1D-1A31-2D1B-E6A7-2D348BC3EAA2}"/>
                </a:ext>
              </a:extLst>
            </p:cNvPr>
            <p:cNvSpPr/>
            <p:nvPr/>
          </p:nvSpPr>
          <p:spPr>
            <a:xfrm>
              <a:off x="1152299" y="4358126"/>
              <a:ext cx="817570" cy="405007"/>
            </a:xfrm>
            <a:prstGeom prst="roundRect">
              <a:avLst/>
            </a:prstGeom>
            <a:solidFill>
              <a:srgbClr val="A3C4C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>
                  <a:solidFill>
                    <a:schemeClr val="tx1"/>
                  </a:solidFill>
                </a:rPr>
                <a:t>Border Router</a:t>
              </a:r>
              <a:r>
                <a:rPr kumimoji="1" lang="zh-CN" altLang="en-US" sz="1200" b="1">
                  <a:solidFill>
                    <a:schemeClr val="tx1"/>
                  </a:solidFill>
                </a:rPr>
                <a:t> </a:t>
              </a:r>
              <a:r>
                <a:rPr kumimoji="1" lang="en-US" altLang="zh-CN" sz="1200" b="1">
                  <a:solidFill>
                    <a:schemeClr val="tx1"/>
                  </a:solidFill>
                </a:rPr>
                <a:t>0</a:t>
              </a:r>
              <a:endParaRPr kumimoji="1" lang="zh-CN" alt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45" name="圆角矩形 44">
              <a:extLst>
                <a:ext uri="{FF2B5EF4-FFF2-40B4-BE49-F238E27FC236}">
                  <a16:creationId xmlns:a16="http://schemas.microsoft.com/office/drawing/2014/main" id="{BCF43AD9-1877-BE53-90B1-0128E76C231B}"/>
                </a:ext>
              </a:extLst>
            </p:cNvPr>
            <p:cNvSpPr/>
            <p:nvPr/>
          </p:nvSpPr>
          <p:spPr>
            <a:xfrm>
              <a:off x="1152299" y="5205697"/>
              <a:ext cx="817570" cy="405007"/>
            </a:xfrm>
            <a:prstGeom prst="roundRect">
              <a:avLst/>
            </a:prstGeom>
            <a:solidFill>
              <a:srgbClr val="A3C4C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>
                  <a:solidFill>
                    <a:schemeClr val="tx1"/>
                  </a:solidFill>
                </a:rPr>
                <a:t>Border Router 1</a:t>
              </a:r>
              <a:endParaRPr kumimoji="1" lang="zh-CN" alt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46" name="圆角矩形 45">
              <a:extLst>
                <a:ext uri="{FF2B5EF4-FFF2-40B4-BE49-F238E27FC236}">
                  <a16:creationId xmlns:a16="http://schemas.microsoft.com/office/drawing/2014/main" id="{0441B609-3C2F-6B8C-7CC6-BD408A16FA19}"/>
                </a:ext>
              </a:extLst>
            </p:cNvPr>
            <p:cNvSpPr/>
            <p:nvPr/>
          </p:nvSpPr>
          <p:spPr>
            <a:xfrm>
              <a:off x="4873647" y="4281432"/>
              <a:ext cx="799818" cy="405007"/>
            </a:xfrm>
            <a:prstGeom prst="roundRect">
              <a:avLst/>
            </a:prstGeom>
            <a:solidFill>
              <a:srgbClr val="A3C4C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>
                  <a:solidFill>
                    <a:schemeClr val="tx1"/>
                  </a:solidFill>
                </a:rPr>
                <a:t>Border Router 2</a:t>
              </a:r>
              <a:endParaRPr kumimoji="1" lang="zh-CN" alt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47" name="圆角矩形 46">
              <a:extLst>
                <a:ext uri="{FF2B5EF4-FFF2-40B4-BE49-F238E27FC236}">
                  <a16:creationId xmlns:a16="http://schemas.microsoft.com/office/drawing/2014/main" id="{64E3AF18-3DA2-1CEE-054A-7218D2D06227}"/>
                </a:ext>
              </a:extLst>
            </p:cNvPr>
            <p:cNvSpPr/>
            <p:nvPr/>
          </p:nvSpPr>
          <p:spPr>
            <a:xfrm>
              <a:off x="4873647" y="5129003"/>
              <a:ext cx="799818" cy="405007"/>
            </a:xfrm>
            <a:prstGeom prst="roundRect">
              <a:avLst/>
            </a:prstGeom>
            <a:solidFill>
              <a:srgbClr val="A3C4C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>
                  <a:solidFill>
                    <a:schemeClr val="tx1"/>
                  </a:solidFill>
                </a:rPr>
                <a:t>Border Router 3</a:t>
              </a:r>
              <a:endParaRPr kumimoji="1" lang="zh-CN" alt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E952F1D8-C68B-39ED-2BBD-D28C0528C8FC}"/>
                </a:ext>
              </a:extLst>
            </p:cNvPr>
            <p:cNvSpPr txBox="1"/>
            <p:nvPr/>
          </p:nvSpPr>
          <p:spPr>
            <a:xfrm>
              <a:off x="2932962" y="4733841"/>
              <a:ext cx="6206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b="1" dirty="0"/>
                <a:t>WAN</a:t>
              </a:r>
              <a:endParaRPr kumimoji="1" lang="zh-CN" altLang="en-US" sz="1600" b="1" dirty="0"/>
            </a:p>
          </p:txBody>
        </p:sp>
        <p:sp>
          <p:nvSpPr>
            <p:cNvPr id="49" name="圆角矩形 48">
              <a:extLst>
                <a:ext uri="{FF2B5EF4-FFF2-40B4-BE49-F238E27FC236}">
                  <a16:creationId xmlns:a16="http://schemas.microsoft.com/office/drawing/2014/main" id="{430BA39B-4E58-23FF-CC46-6064058C03ED}"/>
                </a:ext>
              </a:extLst>
            </p:cNvPr>
            <p:cNvSpPr/>
            <p:nvPr/>
          </p:nvSpPr>
          <p:spPr>
            <a:xfrm>
              <a:off x="335246" y="4001451"/>
              <a:ext cx="642551" cy="210065"/>
            </a:xfrm>
            <a:prstGeom prst="roundRect">
              <a:avLst/>
            </a:prstGeom>
            <a:solidFill>
              <a:srgbClr val="E8E8E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>
                  <a:solidFill>
                    <a:schemeClr val="tx1"/>
                  </a:solidFill>
                </a:rPr>
                <a:t>GPU</a:t>
              </a:r>
              <a:r>
                <a:rPr kumimoji="1" lang="zh-CN" altLang="en-US" sz="1200" b="1">
                  <a:solidFill>
                    <a:schemeClr val="tx1"/>
                  </a:solidFill>
                </a:rPr>
                <a:t> </a:t>
              </a:r>
              <a:r>
                <a:rPr kumimoji="1" lang="en-US" altLang="zh-CN" sz="1200" b="1">
                  <a:solidFill>
                    <a:schemeClr val="tx1"/>
                  </a:solidFill>
                </a:rPr>
                <a:t>0</a:t>
              </a:r>
              <a:endParaRPr kumimoji="1" lang="zh-CN" alt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50" name="圆角矩形 49">
              <a:extLst>
                <a:ext uri="{FF2B5EF4-FFF2-40B4-BE49-F238E27FC236}">
                  <a16:creationId xmlns:a16="http://schemas.microsoft.com/office/drawing/2014/main" id="{F70B0624-6480-A6E3-5460-0A6653E8DC1A}"/>
                </a:ext>
              </a:extLst>
            </p:cNvPr>
            <p:cNvSpPr/>
            <p:nvPr/>
          </p:nvSpPr>
          <p:spPr>
            <a:xfrm>
              <a:off x="335246" y="4515640"/>
              <a:ext cx="642551" cy="210065"/>
            </a:xfrm>
            <a:prstGeom prst="roundRect">
              <a:avLst/>
            </a:prstGeom>
            <a:solidFill>
              <a:srgbClr val="E8E8E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>
                  <a:solidFill>
                    <a:schemeClr val="tx1"/>
                  </a:solidFill>
                </a:rPr>
                <a:t>GPU</a:t>
              </a:r>
              <a:r>
                <a:rPr kumimoji="1" lang="zh-CN" altLang="en-US" sz="1200" b="1">
                  <a:solidFill>
                    <a:schemeClr val="tx1"/>
                  </a:solidFill>
                </a:rPr>
                <a:t> </a:t>
              </a:r>
              <a:r>
                <a:rPr kumimoji="1" lang="en-US" altLang="zh-CN" sz="1200" b="1">
                  <a:solidFill>
                    <a:schemeClr val="tx1"/>
                  </a:solidFill>
                </a:rPr>
                <a:t>1</a:t>
              </a:r>
              <a:endParaRPr kumimoji="1" lang="zh-CN" alt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51" name="圆角矩形 50">
              <a:extLst>
                <a:ext uri="{FF2B5EF4-FFF2-40B4-BE49-F238E27FC236}">
                  <a16:creationId xmlns:a16="http://schemas.microsoft.com/office/drawing/2014/main" id="{62AFD068-BC9F-6EDD-0712-5A347B2D2443}"/>
                </a:ext>
              </a:extLst>
            </p:cNvPr>
            <p:cNvSpPr/>
            <p:nvPr/>
          </p:nvSpPr>
          <p:spPr>
            <a:xfrm>
              <a:off x="335247" y="5029829"/>
              <a:ext cx="642551" cy="210065"/>
            </a:xfrm>
            <a:prstGeom prst="roundRect">
              <a:avLst/>
            </a:prstGeom>
            <a:solidFill>
              <a:srgbClr val="E8E8E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>
                  <a:solidFill>
                    <a:schemeClr val="tx1"/>
                  </a:solidFill>
                </a:rPr>
                <a:t>GPU</a:t>
              </a:r>
              <a:r>
                <a:rPr kumimoji="1" lang="zh-CN" altLang="en-US" sz="1200" b="1">
                  <a:solidFill>
                    <a:schemeClr val="tx1"/>
                  </a:solidFill>
                </a:rPr>
                <a:t> </a:t>
              </a:r>
              <a:r>
                <a:rPr kumimoji="1" lang="en-US" altLang="zh-CN" sz="1200" b="1">
                  <a:solidFill>
                    <a:schemeClr val="tx1"/>
                  </a:solidFill>
                </a:rPr>
                <a:t>2</a:t>
              </a:r>
              <a:endParaRPr kumimoji="1" lang="zh-CN" alt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52" name="圆角矩形 51">
              <a:extLst>
                <a:ext uri="{FF2B5EF4-FFF2-40B4-BE49-F238E27FC236}">
                  <a16:creationId xmlns:a16="http://schemas.microsoft.com/office/drawing/2014/main" id="{F4301867-E732-69C4-DF23-CF050C97A271}"/>
                </a:ext>
              </a:extLst>
            </p:cNvPr>
            <p:cNvSpPr/>
            <p:nvPr/>
          </p:nvSpPr>
          <p:spPr>
            <a:xfrm>
              <a:off x="335247" y="5544018"/>
              <a:ext cx="642551" cy="210065"/>
            </a:xfrm>
            <a:prstGeom prst="roundRect">
              <a:avLst/>
            </a:prstGeom>
            <a:solidFill>
              <a:srgbClr val="E8E8E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>
                  <a:solidFill>
                    <a:schemeClr val="tx1"/>
                  </a:solidFill>
                </a:rPr>
                <a:t>GPU</a:t>
              </a:r>
              <a:r>
                <a:rPr kumimoji="1" lang="zh-CN" altLang="en-US" sz="1200" b="1">
                  <a:solidFill>
                    <a:schemeClr val="tx1"/>
                  </a:solidFill>
                </a:rPr>
                <a:t> </a:t>
              </a:r>
              <a:r>
                <a:rPr kumimoji="1" lang="en-US" altLang="zh-CN" sz="1200" b="1">
                  <a:solidFill>
                    <a:schemeClr val="tx1"/>
                  </a:solidFill>
                </a:rPr>
                <a:t>3</a:t>
              </a:r>
              <a:endParaRPr kumimoji="1" lang="zh-CN" alt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53" name="圆角矩形 52">
              <a:extLst>
                <a:ext uri="{FF2B5EF4-FFF2-40B4-BE49-F238E27FC236}">
                  <a16:creationId xmlns:a16="http://schemas.microsoft.com/office/drawing/2014/main" id="{83B0CA02-8D60-2B1E-A2CD-EF8DEB73F10F}"/>
                </a:ext>
              </a:extLst>
            </p:cNvPr>
            <p:cNvSpPr/>
            <p:nvPr/>
          </p:nvSpPr>
          <p:spPr>
            <a:xfrm>
              <a:off x="5888627" y="4001451"/>
              <a:ext cx="642551" cy="210065"/>
            </a:xfrm>
            <a:prstGeom prst="roundRect">
              <a:avLst/>
            </a:prstGeom>
            <a:solidFill>
              <a:srgbClr val="E8E8E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>
                  <a:solidFill>
                    <a:schemeClr val="tx1"/>
                  </a:solidFill>
                </a:rPr>
                <a:t>GPU</a:t>
              </a:r>
              <a:r>
                <a:rPr kumimoji="1" lang="zh-CN" altLang="en-US" sz="1200" b="1">
                  <a:solidFill>
                    <a:schemeClr val="tx1"/>
                  </a:solidFill>
                </a:rPr>
                <a:t> </a:t>
              </a:r>
              <a:r>
                <a:rPr kumimoji="1" lang="en-US" altLang="zh-CN" sz="1200" b="1">
                  <a:solidFill>
                    <a:schemeClr val="tx1"/>
                  </a:solidFill>
                </a:rPr>
                <a:t>4</a:t>
              </a:r>
              <a:endParaRPr kumimoji="1" lang="zh-CN" alt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54" name="圆角矩形 53">
              <a:extLst>
                <a:ext uri="{FF2B5EF4-FFF2-40B4-BE49-F238E27FC236}">
                  <a16:creationId xmlns:a16="http://schemas.microsoft.com/office/drawing/2014/main" id="{DEAFC8F1-90FF-ED96-96EB-B2155AC12A6C}"/>
                </a:ext>
              </a:extLst>
            </p:cNvPr>
            <p:cNvSpPr/>
            <p:nvPr/>
          </p:nvSpPr>
          <p:spPr>
            <a:xfrm>
              <a:off x="5888627" y="4515640"/>
              <a:ext cx="642551" cy="210065"/>
            </a:xfrm>
            <a:prstGeom prst="roundRect">
              <a:avLst/>
            </a:prstGeom>
            <a:solidFill>
              <a:srgbClr val="E8E8E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>
                  <a:solidFill>
                    <a:schemeClr val="tx1"/>
                  </a:solidFill>
                </a:rPr>
                <a:t>GPU</a:t>
              </a:r>
              <a:r>
                <a:rPr kumimoji="1" lang="zh-CN" altLang="en-US" sz="1200" b="1">
                  <a:solidFill>
                    <a:schemeClr val="tx1"/>
                  </a:solidFill>
                </a:rPr>
                <a:t> </a:t>
              </a:r>
              <a:r>
                <a:rPr kumimoji="1" lang="en-US" altLang="zh-CN" sz="1200" b="1">
                  <a:solidFill>
                    <a:schemeClr val="tx1"/>
                  </a:solidFill>
                </a:rPr>
                <a:t>5</a:t>
              </a:r>
              <a:endParaRPr kumimoji="1" lang="zh-CN" alt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55" name="圆角矩形 54">
              <a:extLst>
                <a:ext uri="{FF2B5EF4-FFF2-40B4-BE49-F238E27FC236}">
                  <a16:creationId xmlns:a16="http://schemas.microsoft.com/office/drawing/2014/main" id="{7E13045C-EBCB-8E41-BC1B-5F4D65C445EE}"/>
                </a:ext>
              </a:extLst>
            </p:cNvPr>
            <p:cNvSpPr/>
            <p:nvPr/>
          </p:nvSpPr>
          <p:spPr>
            <a:xfrm>
              <a:off x="5888628" y="5029829"/>
              <a:ext cx="642551" cy="210065"/>
            </a:xfrm>
            <a:prstGeom prst="roundRect">
              <a:avLst/>
            </a:prstGeom>
            <a:solidFill>
              <a:srgbClr val="E8E8E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>
                  <a:solidFill>
                    <a:schemeClr val="tx1"/>
                  </a:solidFill>
                </a:rPr>
                <a:t>GPU</a:t>
              </a:r>
              <a:r>
                <a:rPr kumimoji="1" lang="zh-CN" altLang="en-US" sz="1200" b="1">
                  <a:solidFill>
                    <a:schemeClr val="tx1"/>
                  </a:solidFill>
                </a:rPr>
                <a:t> </a:t>
              </a:r>
              <a:r>
                <a:rPr kumimoji="1" lang="en-US" altLang="zh-CN" sz="1200" b="1">
                  <a:solidFill>
                    <a:schemeClr val="tx1"/>
                  </a:solidFill>
                </a:rPr>
                <a:t>6</a:t>
              </a:r>
              <a:endParaRPr kumimoji="1" lang="zh-CN" alt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56" name="圆角矩形 55">
              <a:extLst>
                <a:ext uri="{FF2B5EF4-FFF2-40B4-BE49-F238E27FC236}">
                  <a16:creationId xmlns:a16="http://schemas.microsoft.com/office/drawing/2014/main" id="{10E08D64-652F-B0FC-5DFE-E3C14C0F5E87}"/>
                </a:ext>
              </a:extLst>
            </p:cNvPr>
            <p:cNvSpPr/>
            <p:nvPr/>
          </p:nvSpPr>
          <p:spPr>
            <a:xfrm>
              <a:off x="5888628" y="5544018"/>
              <a:ext cx="642551" cy="210065"/>
            </a:xfrm>
            <a:prstGeom prst="roundRect">
              <a:avLst/>
            </a:prstGeom>
            <a:solidFill>
              <a:srgbClr val="E8E8E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>
                  <a:solidFill>
                    <a:schemeClr val="tx1"/>
                  </a:solidFill>
                </a:rPr>
                <a:t>GPU</a:t>
              </a:r>
              <a:r>
                <a:rPr kumimoji="1" lang="zh-CN" altLang="en-US" sz="1200" b="1">
                  <a:solidFill>
                    <a:schemeClr val="tx1"/>
                  </a:solidFill>
                </a:rPr>
                <a:t> </a:t>
              </a:r>
              <a:r>
                <a:rPr kumimoji="1" lang="en-US" altLang="zh-CN" sz="1200" b="1">
                  <a:solidFill>
                    <a:schemeClr val="tx1"/>
                  </a:solidFill>
                </a:rPr>
                <a:t>7</a:t>
              </a:r>
              <a:endParaRPr kumimoji="1" lang="zh-CN" altLang="en-US" sz="1200" b="1">
                <a:solidFill>
                  <a:schemeClr val="tx1"/>
                </a:solidFill>
              </a:endParaRPr>
            </a:p>
          </p:txBody>
        </p:sp>
        <p:cxnSp>
          <p:nvCxnSpPr>
            <p:cNvPr id="57" name="直线连接符 56">
              <a:extLst>
                <a:ext uri="{FF2B5EF4-FFF2-40B4-BE49-F238E27FC236}">
                  <a16:creationId xmlns:a16="http://schemas.microsoft.com/office/drawing/2014/main" id="{D2C3093D-33A5-A74A-EFD0-0D4C8C707DCE}"/>
                </a:ext>
              </a:extLst>
            </p:cNvPr>
            <p:cNvCxnSpPr>
              <a:cxnSpLocks/>
              <a:stCxn id="49" idx="3"/>
              <a:endCxn id="44" idx="1"/>
            </p:cNvCxnSpPr>
            <p:nvPr/>
          </p:nvCxnSpPr>
          <p:spPr>
            <a:xfrm>
              <a:off x="977797" y="4106484"/>
              <a:ext cx="174502" cy="454146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线连接符 57">
              <a:extLst>
                <a:ext uri="{FF2B5EF4-FFF2-40B4-BE49-F238E27FC236}">
                  <a16:creationId xmlns:a16="http://schemas.microsoft.com/office/drawing/2014/main" id="{F995240A-A081-3276-609D-D4D14175CA31}"/>
                </a:ext>
              </a:extLst>
            </p:cNvPr>
            <p:cNvCxnSpPr>
              <a:cxnSpLocks/>
              <a:stCxn id="52" idx="3"/>
              <a:endCxn id="45" idx="1"/>
            </p:cNvCxnSpPr>
            <p:nvPr/>
          </p:nvCxnSpPr>
          <p:spPr>
            <a:xfrm flipV="1">
              <a:off x="977798" y="5408201"/>
              <a:ext cx="174501" cy="24085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直线连接符 58">
              <a:extLst>
                <a:ext uri="{FF2B5EF4-FFF2-40B4-BE49-F238E27FC236}">
                  <a16:creationId xmlns:a16="http://schemas.microsoft.com/office/drawing/2014/main" id="{30C59194-9042-0B26-6BE7-2C311967CBB3}"/>
                </a:ext>
              </a:extLst>
            </p:cNvPr>
            <p:cNvCxnSpPr>
              <a:cxnSpLocks/>
              <a:stCxn id="49" idx="2"/>
              <a:endCxn id="50" idx="0"/>
            </p:cNvCxnSpPr>
            <p:nvPr/>
          </p:nvCxnSpPr>
          <p:spPr>
            <a:xfrm>
              <a:off x="656522" y="4211516"/>
              <a:ext cx="0" cy="304124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直线连接符 59">
              <a:extLst>
                <a:ext uri="{FF2B5EF4-FFF2-40B4-BE49-F238E27FC236}">
                  <a16:creationId xmlns:a16="http://schemas.microsoft.com/office/drawing/2014/main" id="{6337867B-884A-6A86-9B8D-8B311B5253B6}"/>
                </a:ext>
              </a:extLst>
            </p:cNvPr>
            <p:cNvCxnSpPr>
              <a:cxnSpLocks/>
              <a:stCxn id="50" idx="2"/>
              <a:endCxn id="51" idx="0"/>
            </p:cNvCxnSpPr>
            <p:nvPr/>
          </p:nvCxnSpPr>
          <p:spPr>
            <a:xfrm>
              <a:off x="656522" y="4725705"/>
              <a:ext cx="1" cy="304124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线连接符 60">
              <a:extLst>
                <a:ext uri="{FF2B5EF4-FFF2-40B4-BE49-F238E27FC236}">
                  <a16:creationId xmlns:a16="http://schemas.microsoft.com/office/drawing/2014/main" id="{359EE9C6-B047-FDF1-746D-9160C26DFEFA}"/>
                </a:ext>
              </a:extLst>
            </p:cNvPr>
            <p:cNvCxnSpPr>
              <a:cxnSpLocks/>
              <a:stCxn id="51" idx="2"/>
              <a:endCxn id="52" idx="0"/>
            </p:cNvCxnSpPr>
            <p:nvPr/>
          </p:nvCxnSpPr>
          <p:spPr>
            <a:xfrm>
              <a:off x="656523" y="5239894"/>
              <a:ext cx="0" cy="304124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线连接符 61">
              <a:extLst>
                <a:ext uri="{FF2B5EF4-FFF2-40B4-BE49-F238E27FC236}">
                  <a16:creationId xmlns:a16="http://schemas.microsoft.com/office/drawing/2014/main" id="{7454CED6-7F88-1EBB-D971-6A051D9C9B27}"/>
                </a:ext>
              </a:extLst>
            </p:cNvPr>
            <p:cNvCxnSpPr>
              <a:cxnSpLocks/>
              <a:stCxn id="46" idx="3"/>
              <a:endCxn id="53" idx="1"/>
            </p:cNvCxnSpPr>
            <p:nvPr/>
          </p:nvCxnSpPr>
          <p:spPr>
            <a:xfrm flipV="1">
              <a:off x="5673465" y="4106484"/>
              <a:ext cx="215162" cy="377452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直线连接符 62">
              <a:extLst>
                <a:ext uri="{FF2B5EF4-FFF2-40B4-BE49-F238E27FC236}">
                  <a16:creationId xmlns:a16="http://schemas.microsoft.com/office/drawing/2014/main" id="{AECC2C87-3AE4-2DEA-DD58-3DAF5E48DF15}"/>
                </a:ext>
              </a:extLst>
            </p:cNvPr>
            <p:cNvCxnSpPr>
              <a:cxnSpLocks/>
              <a:stCxn id="47" idx="3"/>
              <a:endCxn id="56" idx="1"/>
            </p:cNvCxnSpPr>
            <p:nvPr/>
          </p:nvCxnSpPr>
          <p:spPr>
            <a:xfrm>
              <a:off x="5673465" y="5331507"/>
              <a:ext cx="215163" cy="317544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直线连接符 63">
              <a:extLst>
                <a:ext uri="{FF2B5EF4-FFF2-40B4-BE49-F238E27FC236}">
                  <a16:creationId xmlns:a16="http://schemas.microsoft.com/office/drawing/2014/main" id="{B6A5B51B-60F4-9AD6-C98A-4D0176554A87}"/>
                </a:ext>
              </a:extLst>
            </p:cNvPr>
            <p:cNvCxnSpPr>
              <a:cxnSpLocks/>
              <a:stCxn id="54" idx="0"/>
              <a:endCxn id="53" idx="2"/>
            </p:cNvCxnSpPr>
            <p:nvPr/>
          </p:nvCxnSpPr>
          <p:spPr>
            <a:xfrm flipV="1">
              <a:off x="6209903" y="4211516"/>
              <a:ext cx="0" cy="304124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直线连接符 64">
              <a:extLst>
                <a:ext uri="{FF2B5EF4-FFF2-40B4-BE49-F238E27FC236}">
                  <a16:creationId xmlns:a16="http://schemas.microsoft.com/office/drawing/2014/main" id="{D53813E5-52C0-6430-E23E-1C8B43632AD4}"/>
                </a:ext>
              </a:extLst>
            </p:cNvPr>
            <p:cNvCxnSpPr>
              <a:cxnSpLocks/>
              <a:stCxn id="55" idx="0"/>
              <a:endCxn id="54" idx="2"/>
            </p:cNvCxnSpPr>
            <p:nvPr/>
          </p:nvCxnSpPr>
          <p:spPr>
            <a:xfrm flipH="1" flipV="1">
              <a:off x="6209903" y="4725705"/>
              <a:ext cx="1" cy="304124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直线连接符 65">
              <a:extLst>
                <a:ext uri="{FF2B5EF4-FFF2-40B4-BE49-F238E27FC236}">
                  <a16:creationId xmlns:a16="http://schemas.microsoft.com/office/drawing/2014/main" id="{4F235B35-0CE1-571E-76E6-2BDACAECD13A}"/>
                </a:ext>
              </a:extLst>
            </p:cNvPr>
            <p:cNvCxnSpPr>
              <a:cxnSpLocks/>
              <a:stCxn id="56" idx="0"/>
              <a:endCxn id="55" idx="2"/>
            </p:cNvCxnSpPr>
            <p:nvPr/>
          </p:nvCxnSpPr>
          <p:spPr>
            <a:xfrm flipV="1">
              <a:off x="6209904" y="5239894"/>
              <a:ext cx="0" cy="304124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直线连接符 66">
              <a:extLst>
                <a:ext uri="{FF2B5EF4-FFF2-40B4-BE49-F238E27FC236}">
                  <a16:creationId xmlns:a16="http://schemas.microsoft.com/office/drawing/2014/main" id="{A8A66073-B26F-EC1A-3DE4-935370A8EC9F}"/>
                </a:ext>
              </a:extLst>
            </p:cNvPr>
            <p:cNvCxnSpPr>
              <a:cxnSpLocks/>
              <a:stCxn id="49" idx="3"/>
              <a:endCxn id="45" idx="1"/>
            </p:cNvCxnSpPr>
            <p:nvPr/>
          </p:nvCxnSpPr>
          <p:spPr>
            <a:xfrm>
              <a:off x="977797" y="4106484"/>
              <a:ext cx="174502" cy="1301717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直线连接符 67">
              <a:extLst>
                <a:ext uri="{FF2B5EF4-FFF2-40B4-BE49-F238E27FC236}">
                  <a16:creationId xmlns:a16="http://schemas.microsoft.com/office/drawing/2014/main" id="{89EDC659-D722-6A36-C682-9E6C5BF7A84F}"/>
                </a:ext>
              </a:extLst>
            </p:cNvPr>
            <p:cNvCxnSpPr>
              <a:cxnSpLocks/>
              <a:stCxn id="52" idx="3"/>
              <a:endCxn id="44" idx="1"/>
            </p:cNvCxnSpPr>
            <p:nvPr/>
          </p:nvCxnSpPr>
          <p:spPr>
            <a:xfrm flipV="1">
              <a:off x="977798" y="4560630"/>
              <a:ext cx="174501" cy="108842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直线连接符 68">
              <a:extLst>
                <a:ext uri="{FF2B5EF4-FFF2-40B4-BE49-F238E27FC236}">
                  <a16:creationId xmlns:a16="http://schemas.microsoft.com/office/drawing/2014/main" id="{C47740BB-192A-A683-6AF6-3C18BE3D0074}"/>
                </a:ext>
              </a:extLst>
            </p:cNvPr>
            <p:cNvCxnSpPr>
              <a:cxnSpLocks/>
              <a:stCxn id="47" idx="3"/>
              <a:endCxn id="53" idx="1"/>
            </p:cNvCxnSpPr>
            <p:nvPr/>
          </p:nvCxnSpPr>
          <p:spPr>
            <a:xfrm flipV="1">
              <a:off x="5673465" y="4106484"/>
              <a:ext cx="215162" cy="1225023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直线连接符 69">
              <a:extLst>
                <a:ext uri="{FF2B5EF4-FFF2-40B4-BE49-F238E27FC236}">
                  <a16:creationId xmlns:a16="http://schemas.microsoft.com/office/drawing/2014/main" id="{89D7E925-7FA1-E448-C1C8-BA3DA363F475}"/>
                </a:ext>
              </a:extLst>
            </p:cNvPr>
            <p:cNvCxnSpPr>
              <a:cxnSpLocks/>
              <a:stCxn id="46" idx="3"/>
              <a:endCxn id="56" idx="1"/>
            </p:cNvCxnSpPr>
            <p:nvPr/>
          </p:nvCxnSpPr>
          <p:spPr>
            <a:xfrm>
              <a:off x="5673465" y="4483936"/>
              <a:ext cx="215163" cy="1165115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直线连接符 70">
              <a:extLst>
                <a:ext uri="{FF2B5EF4-FFF2-40B4-BE49-F238E27FC236}">
                  <a16:creationId xmlns:a16="http://schemas.microsoft.com/office/drawing/2014/main" id="{B9892151-772A-C32B-AC1A-AA27F93AE011}"/>
                </a:ext>
              </a:extLst>
            </p:cNvPr>
            <p:cNvCxnSpPr>
              <a:cxnSpLocks/>
              <a:stCxn id="50" idx="3"/>
              <a:endCxn id="44" idx="1"/>
            </p:cNvCxnSpPr>
            <p:nvPr/>
          </p:nvCxnSpPr>
          <p:spPr>
            <a:xfrm flipV="1">
              <a:off x="977797" y="4560630"/>
              <a:ext cx="174502" cy="60043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直线连接符 71">
              <a:extLst>
                <a:ext uri="{FF2B5EF4-FFF2-40B4-BE49-F238E27FC236}">
                  <a16:creationId xmlns:a16="http://schemas.microsoft.com/office/drawing/2014/main" id="{49065F73-F771-574E-553E-E94E4911F242}"/>
                </a:ext>
              </a:extLst>
            </p:cNvPr>
            <p:cNvCxnSpPr>
              <a:cxnSpLocks/>
              <a:stCxn id="50" idx="3"/>
              <a:endCxn id="45" idx="1"/>
            </p:cNvCxnSpPr>
            <p:nvPr/>
          </p:nvCxnSpPr>
          <p:spPr>
            <a:xfrm>
              <a:off x="977797" y="4620673"/>
              <a:ext cx="174502" cy="787528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直线连接符 72">
              <a:extLst>
                <a:ext uri="{FF2B5EF4-FFF2-40B4-BE49-F238E27FC236}">
                  <a16:creationId xmlns:a16="http://schemas.microsoft.com/office/drawing/2014/main" id="{699ABFE9-414F-7E8D-6373-EE237CA569E7}"/>
                </a:ext>
              </a:extLst>
            </p:cNvPr>
            <p:cNvCxnSpPr>
              <a:cxnSpLocks/>
              <a:stCxn id="44" idx="1"/>
              <a:endCxn id="51" idx="3"/>
            </p:cNvCxnSpPr>
            <p:nvPr/>
          </p:nvCxnSpPr>
          <p:spPr>
            <a:xfrm flipH="1">
              <a:off x="977798" y="4560630"/>
              <a:ext cx="174501" cy="574232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直线连接符 73">
              <a:extLst>
                <a:ext uri="{FF2B5EF4-FFF2-40B4-BE49-F238E27FC236}">
                  <a16:creationId xmlns:a16="http://schemas.microsoft.com/office/drawing/2014/main" id="{25C2DBF6-D97D-EB0A-0C2F-A572E94C20BB}"/>
                </a:ext>
              </a:extLst>
            </p:cNvPr>
            <p:cNvCxnSpPr>
              <a:cxnSpLocks/>
              <a:stCxn id="51" idx="3"/>
              <a:endCxn id="45" idx="1"/>
            </p:cNvCxnSpPr>
            <p:nvPr/>
          </p:nvCxnSpPr>
          <p:spPr>
            <a:xfrm>
              <a:off x="977798" y="5134862"/>
              <a:ext cx="174501" cy="273339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曲线连接符 74">
              <a:extLst>
                <a:ext uri="{FF2B5EF4-FFF2-40B4-BE49-F238E27FC236}">
                  <a16:creationId xmlns:a16="http://schemas.microsoft.com/office/drawing/2014/main" id="{5F0AE617-8CF0-0CD9-D4A7-AD0F26C9737D}"/>
                </a:ext>
              </a:extLst>
            </p:cNvPr>
            <p:cNvCxnSpPr>
              <a:stCxn id="49" idx="1"/>
              <a:endCxn id="51" idx="1"/>
            </p:cNvCxnSpPr>
            <p:nvPr/>
          </p:nvCxnSpPr>
          <p:spPr>
            <a:xfrm rot="10800000" flipH="1" flipV="1">
              <a:off x="335245" y="4106484"/>
              <a:ext cx="1" cy="1028378"/>
            </a:xfrm>
            <a:prstGeom prst="curvedConnector3">
              <a:avLst>
                <a:gd name="adj1" fmla="val -2286000000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曲线连接符 75">
              <a:extLst>
                <a:ext uri="{FF2B5EF4-FFF2-40B4-BE49-F238E27FC236}">
                  <a16:creationId xmlns:a16="http://schemas.microsoft.com/office/drawing/2014/main" id="{DE29B57B-945D-9184-D5DD-758F97041E96}"/>
                </a:ext>
              </a:extLst>
            </p:cNvPr>
            <p:cNvCxnSpPr>
              <a:cxnSpLocks/>
              <a:stCxn id="49" idx="1"/>
              <a:endCxn id="52" idx="1"/>
            </p:cNvCxnSpPr>
            <p:nvPr/>
          </p:nvCxnSpPr>
          <p:spPr>
            <a:xfrm rot="10800000" flipH="1" flipV="1">
              <a:off x="335245" y="4106483"/>
              <a:ext cx="1" cy="1542567"/>
            </a:xfrm>
            <a:prstGeom prst="curvedConnector3">
              <a:avLst>
                <a:gd name="adj1" fmla="val -2286000000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曲线连接符 76">
              <a:extLst>
                <a:ext uri="{FF2B5EF4-FFF2-40B4-BE49-F238E27FC236}">
                  <a16:creationId xmlns:a16="http://schemas.microsoft.com/office/drawing/2014/main" id="{0F238350-1EC9-CDC9-942C-44ACE4280510}"/>
                </a:ext>
              </a:extLst>
            </p:cNvPr>
            <p:cNvCxnSpPr>
              <a:cxnSpLocks/>
              <a:stCxn id="50" idx="1"/>
              <a:endCxn id="52" idx="1"/>
            </p:cNvCxnSpPr>
            <p:nvPr/>
          </p:nvCxnSpPr>
          <p:spPr>
            <a:xfrm rot="10800000" flipH="1" flipV="1">
              <a:off x="335245" y="4620673"/>
              <a:ext cx="1" cy="1028378"/>
            </a:xfrm>
            <a:prstGeom prst="curvedConnector3">
              <a:avLst>
                <a:gd name="adj1" fmla="val -2286000000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线连接符 77">
              <a:extLst>
                <a:ext uri="{FF2B5EF4-FFF2-40B4-BE49-F238E27FC236}">
                  <a16:creationId xmlns:a16="http://schemas.microsoft.com/office/drawing/2014/main" id="{838BBA17-A210-8F1E-568C-1D5B19D19DFC}"/>
                </a:ext>
              </a:extLst>
            </p:cNvPr>
            <p:cNvCxnSpPr>
              <a:cxnSpLocks/>
              <a:stCxn id="46" idx="3"/>
              <a:endCxn id="54" idx="1"/>
            </p:cNvCxnSpPr>
            <p:nvPr/>
          </p:nvCxnSpPr>
          <p:spPr>
            <a:xfrm>
              <a:off x="5673465" y="4483936"/>
              <a:ext cx="215162" cy="136737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直线连接符 78">
              <a:extLst>
                <a:ext uri="{FF2B5EF4-FFF2-40B4-BE49-F238E27FC236}">
                  <a16:creationId xmlns:a16="http://schemas.microsoft.com/office/drawing/2014/main" id="{32349D0C-A639-A226-6AE0-D41798B09208}"/>
                </a:ext>
              </a:extLst>
            </p:cNvPr>
            <p:cNvCxnSpPr>
              <a:cxnSpLocks/>
              <a:stCxn id="54" idx="1"/>
              <a:endCxn id="47" idx="3"/>
            </p:cNvCxnSpPr>
            <p:nvPr/>
          </p:nvCxnSpPr>
          <p:spPr>
            <a:xfrm flipH="1">
              <a:off x="5673465" y="4620673"/>
              <a:ext cx="215162" cy="710834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直线连接符 79">
              <a:extLst>
                <a:ext uri="{FF2B5EF4-FFF2-40B4-BE49-F238E27FC236}">
                  <a16:creationId xmlns:a16="http://schemas.microsoft.com/office/drawing/2014/main" id="{8A11B0A6-4519-E713-C7CB-7B76377AC62B}"/>
                </a:ext>
              </a:extLst>
            </p:cNvPr>
            <p:cNvCxnSpPr>
              <a:cxnSpLocks/>
              <a:stCxn id="55" idx="1"/>
              <a:endCxn id="46" idx="3"/>
            </p:cNvCxnSpPr>
            <p:nvPr/>
          </p:nvCxnSpPr>
          <p:spPr>
            <a:xfrm flipH="1" flipV="1">
              <a:off x="5673465" y="4483936"/>
              <a:ext cx="215163" cy="650926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线连接符 80">
              <a:extLst>
                <a:ext uri="{FF2B5EF4-FFF2-40B4-BE49-F238E27FC236}">
                  <a16:creationId xmlns:a16="http://schemas.microsoft.com/office/drawing/2014/main" id="{F22D5C3C-F638-1972-3859-12CCFB06D61D}"/>
                </a:ext>
              </a:extLst>
            </p:cNvPr>
            <p:cNvCxnSpPr>
              <a:cxnSpLocks/>
              <a:stCxn id="47" idx="3"/>
              <a:endCxn id="55" idx="1"/>
            </p:cNvCxnSpPr>
            <p:nvPr/>
          </p:nvCxnSpPr>
          <p:spPr>
            <a:xfrm flipV="1">
              <a:off x="5673465" y="5134862"/>
              <a:ext cx="215163" cy="196645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曲线连接符 81">
              <a:extLst>
                <a:ext uri="{FF2B5EF4-FFF2-40B4-BE49-F238E27FC236}">
                  <a16:creationId xmlns:a16="http://schemas.microsoft.com/office/drawing/2014/main" id="{65B5D29E-DC8D-51F3-EAF2-6F41E3AD47C3}"/>
                </a:ext>
              </a:extLst>
            </p:cNvPr>
            <p:cNvCxnSpPr>
              <a:cxnSpLocks/>
              <a:stCxn id="53" idx="3"/>
              <a:endCxn id="55" idx="3"/>
            </p:cNvCxnSpPr>
            <p:nvPr/>
          </p:nvCxnSpPr>
          <p:spPr>
            <a:xfrm>
              <a:off x="6531178" y="4106484"/>
              <a:ext cx="1" cy="1028378"/>
            </a:xfrm>
            <a:prstGeom prst="curvedConnector3">
              <a:avLst>
                <a:gd name="adj1" fmla="val 2286010000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曲线连接符 82">
              <a:extLst>
                <a:ext uri="{FF2B5EF4-FFF2-40B4-BE49-F238E27FC236}">
                  <a16:creationId xmlns:a16="http://schemas.microsoft.com/office/drawing/2014/main" id="{C5083072-458C-7ED5-FF26-0BE4B6E0A87C}"/>
                </a:ext>
              </a:extLst>
            </p:cNvPr>
            <p:cNvCxnSpPr>
              <a:cxnSpLocks/>
              <a:stCxn id="53" idx="3"/>
              <a:endCxn id="56" idx="3"/>
            </p:cNvCxnSpPr>
            <p:nvPr/>
          </p:nvCxnSpPr>
          <p:spPr>
            <a:xfrm>
              <a:off x="6531178" y="4106484"/>
              <a:ext cx="1" cy="1542567"/>
            </a:xfrm>
            <a:prstGeom prst="curvedConnector3">
              <a:avLst>
                <a:gd name="adj1" fmla="val 2286010000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曲线连接符 83">
              <a:extLst>
                <a:ext uri="{FF2B5EF4-FFF2-40B4-BE49-F238E27FC236}">
                  <a16:creationId xmlns:a16="http://schemas.microsoft.com/office/drawing/2014/main" id="{9BB8CE07-1A8C-97B0-434C-D3526636B744}"/>
                </a:ext>
              </a:extLst>
            </p:cNvPr>
            <p:cNvCxnSpPr>
              <a:cxnSpLocks/>
              <a:stCxn id="54" idx="3"/>
              <a:endCxn id="56" idx="3"/>
            </p:cNvCxnSpPr>
            <p:nvPr/>
          </p:nvCxnSpPr>
          <p:spPr>
            <a:xfrm>
              <a:off x="6531178" y="4620673"/>
              <a:ext cx="1" cy="1028378"/>
            </a:xfrm>
            <a:prstGeom prst="curvedConnector3">
              <a:avLst>
                <a:gd name="adj1" fmla="val 2286010000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5" name="圆角矩形 84">
              <a:extLst>
                <a:ext uri="{FF2B5EF4-FFF2-40B4-BE49-F238E27FC236}">
                  <a16:creationId xmlns:a16="http://schemas.microsoft.com/office/drawing/2014/main" id="{13ED435C-FD37-3839-648A-768920C116F1}"/>
                </a:ext>
              </a:extLst>
            </p:cNvPr>
            <p:cNvSpPr/>
            <p:nvPr/>
          </p:nvSpPr>
          <p:spPr>
            <a:xfrm>
              <a:off x="2425734" y="4213877"/>
              <a:ext cx="817570" cy="40500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 dirty="0">
                  <a:solidFill>
                    <a:schemeClr val="tx1"/>
                  </a:solidFill>
                </a:rPr>
                <a:t>Switch 0</a:t>
              </a:r>
              <a:endParaRPr kumimoji="1"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86" name="圆角矩形 85">
              <a:extLst>
                <a:ext uri="{FF2B5EF4-FFF2-40B4-BE49-F238E27FC236}">
                  <a16:creationId xmlns:a16="http://schemas.microsoft.com/office/drawing/2014/main" id="{A25AF522-2A4B-EF8E-1ADF-1C49B15F3D6F}"/>
                </a:ext>
              </a:extLst>
            </p:cNvPr>
            <p:cNvSpPr/>
            <p:nvPr/>
          </p:nvSpPr>
          <p:spPr>
            <a:xfrm>
              <a:off x="2252216" y="5137775"/>
              <a:ext cx="817570" cy="40500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 dirty="0">
                  <a:solidFill>
                    <a:schemeClr val="tx1"/>
                  </a:solidFill>
                </a:rPr>
                <a:t>Switch 1</a:t>
              </a:r>
              <a:endParaRPr kumimoji="1"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87" name="圆角矩形 86">
              <a:extLst>
                <a:ext uri="{FF2B5EF4-FFF2-40B4-BE49-F238E27FC236}">
                  <a16:creationId xmlns:a16="http://schemas.microsoft.com/office/drawing/2014/main" id="{33D84EF1-AB30-B39F-3C62-A8FE843E3FD0}"/>
                </a:ext>
              </a:extLst>
            </p:cNvPr>
            <p:cNvSpPr/>
            <p:nvPr/>
          </p:nvSpPr>
          <p:spPr>
            <a:xfrm>
              <a:off x="3506475" y="4078913"/>
              <a:ext cx="817570" cy="40500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 dirty="0">
                  <a:solidFill>
                    <a:schemeClr val="tx1"/>
                  </a:solidFill>
                </a:rPr>
                <a:t>Switch 2</a:t>
              </a:r>
              <a:endParaRPr kumimoji="1"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88" name="圆角矩形 87">
              <a:extLst>
                <a:ext uri="{FF2B5EF4-FFF2-40B4-BE49-F238E27FC236}">
                  <a16:creationId xmlns:a16="http://schemas.microsoft.com/office/drawing/2014/main" id="{E38983A6-2656-F071-7708-8CAD1717EF5E}"/>
                </a:ext>
              </a:extLst>
            </p:cNvPr>
            <p:cNvSpPr/>
            <p:nvPr/>
          </p:nvSpPr>
          <p:spPr>
            <a:xfrm>
              <a:off x="3197438" y="5272062"/>
              <a:ext cx="817570" cy="40500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 dirty="0">
                  <a:solidFill>
                    <a:schemeClr val="tx1"/>
                  </a:solidFill>
                </a:rPr>
                <a:t>Switch 3</a:t>
              </a:r>
              <a:endParaRPr kumimoji="1"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89" name="圆角矩形 88">
              <a:extLst>
                <a:ext uri="{FF2B5EF4-FFF2-40B4-BE49-F238E27FC236}">
                  <a16:creationId xmlns:a16="http://schemas.microsoft.com/office/drawing/2014/main" id="{4DD54621-BFF0-578E-8C00-571C7D3DE419}"/>
                </a:ext>
              </a:extLst>
            </p:cNvPr>
            <p:cNvSpPr/>
            <p:nvPr/>
          </p:nvSpPr>
          <p:spPr>
            <a:xfrm>
              <a:off x="3884612" y="4792525"/>
              <a:ext cx="817570" cy="40500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 dirty="0">
                  <a:solidFill>
                    <a:schemeClr val="tx1"/>
                  </a:solidFill>
                </a:rPr>
                <a:t>Switch 4</a:t>
              </a:r>
              <a:endParaRPr kumimoji="1" lang="zh-CN" altLang="en-US" sz="1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90" name="直线连接符 89">
              <a:extLst>
                <a:ext uri="{FF2B5EF4-FFF2-40B4-BE49-F238E27FC236}">
                  <a16:creationId xmlns:a16="http://schemas.microsoft.com/office/drawing/2014/main" id="{849E9EEE-94D4-9E19-DC00-88E1CA40F679}"/>
                </a:ext>
              </a:extLst>
            </p:cNvPr>
            <p:cNvCxnSpPr>
              <a:cxnSpLocks/>
              <a:stCxn id="44" idx="3"/>
              <a:endCxn id="86" idx="0"/>
            </p:cNvCxnSpPr>
            <p:nvPr/>
          </p:nvCxnSpPr>
          <p:spPr>
            <a:xfrm>
              <a:off x="1969869" y="4560630"/>
              <a:ext cx="691132" cy="577145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直线连接符 90">
              <a:extLst>
                <a:ext uri="{FF2B5EF4-FFF2-40B4-BE49-F238E27FC236}">
                  <a16:creationId xmlns:a16="http://schemas.microsoft.com/office/drawing/2014/main" id="{3C83C928-3724-9C5D-3512-117EFB9EA897}"/>
                </a:ext>
              </a:extLst>
            </p:cNvPr>
            <p:cNvCxnSpPr>
              <a:cxnSpLocks/>
              <a:stCxn id="45" idx="3"/>
              <a:endCxn id="86" idx="1"/>
            </p:cNvCxnSpPr>
            <p:nvPr/>
          </p:nvCxnSpPr>
          <p:spPr>
            <a:xfrm flipV="1">
              <a:off x="1969869" y="5340279"/>
              <a:ext cx="282347" cy="67922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直线连接符 91">
              <a:extLst>
                <a:ext uri="{FF2B5EF4-FFF2-40B4-BE49-F238E27FC236}">
                  <a16:creationId xmlns:a16="http://schemas.microsoft.com/office/drawing/2014/main" id="{20A753A0-4FE8-7826-5879-1026C885FF85}"/>
                </a:ext>
              </a:extLst>
            </p:cNvPr>
            <p:cNvCxnSpPr>
              <a:cxnSpLocks/>
              <a:stCxn id="85" idx="2"/>
              <a:endCxn id="45" idx="3"/>
            </p:cNvCxnSpPr>
            <p:nvPr/>
          </p:nvCxnSpPr>
          <p:spPr>
            <a:xfrm flipH="1">
              <a:off x="1969869" y="4618884"/>
              <a:ext cx="864650" cy="789317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直线连接符 92">
              <a:extLst>
                <a:ext uri="{FF2B5EF4-FFF2-40B4-BE49-F238E27FC236}">
                  <a16:creationId xmlns:a16="http://schemas.microsoft.com/office/drawing/2014/main" id="{00EE85CB-FD4C-A063-19E2-826D148B1234}"/>
                </a:ext>
              </a:extLst>
            </p:cNvPr>
            <p:cNvCxnSpPr>
              <a:cxnSpLocks/>
              <a:stCxn id="85" idx="1"/>
              <a:endCxn id="44" idx="3"/>
            </p:cNvCxnSpPr>
            <p:nvPr/>
          </p:nvCxnSpPr>
          <p:spPr>
            <a:xfrm flipH="1">
              <a:off x="1969869" y="4416381"/>
              <a:ext cx="455865" cy="144249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直线连接符 93">
              <a:extLst>
                <a:ext uri="{FF2B5EF4-FFF2-40B4-BE49-F238E27FC236}">
                  <a16:creationId xmlns:a16="http://schemas.microsoft.com/office/drawing/2014/main" id="{A7BA60F3-2642-B8D3-23E9-9095B66A9E90}"/>
                </a:ext>
              </a:extLst>
            </p:cNvPr>
            <p:cNvCxnSpPr>
              <a:cxnSpLocks/>
              <a:stCxn id="85" idx="3"/>
              <a:endCxn id="87" idx="1"/>
            </p:cNvCxnSpPr>
            <p:nvPr/>
          </p:nvCxnSpPr>
          <p:spPr>
            <a:xfrm flipV="1">
              <a:off x="3243304" y="4281417"/>
              <a:ext cx="263171" cy="134964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直线连接符 94">
              <a:extLst>
                <a:ext uri="{FF2B5EF4-FFF2-40B4-BE49-F238E27FC236}">
                  <a16:creationId xmlns:a16="http://schemas.microsoft.com/office/drawing/2014/main" id="{5730EB00-A563-A75F-45F4-A6F533A9E25B}"/>
                </a:ext>
              </a:extLst>
            </p:cNvPr>
            <p:cNvCxnSpPr>
              <a:cxnSpLocks/>
              <a:stCxn id="86" idx="3"/>
              <a:endCxn id="88" idx="1"/>
            </p:cNvCxnSpPr>
            <p:nvPr/>
          </p:nvCxnSpPr>
          <p:spPr>
            <a:xfrm>
              <a:off x="3069786" y="5340279"/>
              <a:ext cx="127652" cy="134287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直线连接符 95">
              <a:extLst>
                <a:ext uri="{FF2B5EF4-FFF2-40B4-BE49-F238E27FC236}">
                  <a16:creationId xmlns:a16="http://schemas.microsoft.com/office/drawing/2014/main" id="{50E34FDC-D20B-EE8B-94CA-978A5B30A87D}"/>
                </a:ext>
              </a:extLst>
            </p:cNvPr>
            <p:cNvCxnSpPr>
              <a:cxnSpLocks/>
              <a:stCxn id="87" idx="2"/>
              <a:endCxn id="88" idx="0"/>
            </p:cNvCxnSpPr>
            <p:nvPr/>
          </p:nvCxnSpPr>
          <p:spPr>
            <a:xfrm flipH="1">
              <a:off x="3606223" y="4483920"/>
              <a:ext cx="309037" cy="788142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直线连接符 96">
              <a:extLst>
                <a:ext uri="{FF2B5EF4-FFF2-40B4-BE49-F238E27FC236}">
                  <a16:creationId xmlns:a16="http://schemas.microsoft.com/office/drawing/2014/main" id="{E3580D92-63E9-01A4-B47D-DB156D7D34FD}"/>
                </a:ext>
              </a:extLst>
            </p:cNvPr>
            <p:cNvCxnSpPr>
              <a:cxnSpLocks/>
              <a:stCxn id="87" idx="3"/>
              <a:endCxn id="46" idx="1"/>
            </p:cNvCxnSpPr>
            <p:nvPr/>
          </p:nvCxnSpPr>
          <p:spPr>
            <a:xfrm>
              <a:off x="4324045" y="4281417"/>
              <a:ext cx="549602" cy="202519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直线连接符 97">
              <a:extLst>
                <a:ext uri="{FF2B5EF4-FFF2-40B4-BE49-F238E27FC236}">
                  <a16:creationId xmlns:a16="http://schemas.microsoft.com/office/drawing/2014/main" id="{2304E986-25BF-0AA6-3941-4995CC875045}"/>
                </a:ext>
              </a:extLst>
            </p:cNvPr>
            <p:cNvCxnSpPr>
              <a:cxnSpLocks/>
              <a:stCxn id="89" idx="2"/>
              <a:endCxn id="88" idx="3"/>
            </p:cNvCxnSpPr>
            <p:nvPr/>
          </p:nvCxnSpPr>
          <p:spPr>
            <a:xfrm flipH="1">
              <a:off x="4015008" y="5197532"/>
              <a:ext cx="278389" cy="277034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直线连接符 98">
              <a:extLst>
                <a:ext uri="{FF2B5EF4-FFF2-40B4-BE49-F238E27FC236}">
                  <a16:creationId xmlns:a16="http://schemas.microsoft.com/office/drawing/2014/main" id="{59538763-80A8-7B31-FB16-FFD40F577BE4}"/>
                </a:ext>
              </a:extLst>
            </p:cNvPr>
            <p:cNvCxnSpPr>
              <a:cxnSpLocks/>
              <a:stCxn id="87" idx="2"/>
              <a:endCxn id="89" idx="0"/>
            </p:cNvCxnSpPr>
            <p:nvPr/>
          </p:nvCxnSpPr>
          <p:spPr>
            <a:xfrm>
              <a:off x="3915260" y="4483920"/>
              <a:ext cx="378137" cy="308605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直线连接符 99">
              <a:extLst>
                <a:ext uri="{FF2B5EF4-FFF2-40B4-BE49-F238E27FC236}">
                  <a16:creationId xmlns:a16="http://schemas.microsoft.com/office/drawing/2014/main" id="{F9AB6216-BFD9-9702-B08C-2B6E592C7B87}"/>
                </a:ext>
              </a:extLst>
            </p:cNvPr>
            <p:cNvCxnSpPr>
              <a:cxnSpLocks/>
              <a:stCxn id="46" idx="1"/>
              <a:endCxn id="89" idx="0"/>
            </p:cNvCxnSpPr>
            <p:nvPr/>
          </p:nvCxnSpPr>
          <p:spPr>
            <a:xfrm flipH="1">
              <a:off x="4293397" y="4483936"/>
              <a:ext cx="580250" cy="308589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直线连接符 100">
              <a:extLst>
                <a:ext uri="{FF2B5EF4-FFF2-40B4-BE49-F238E27FC236}">
                  <a16:creationId xmlns:a16="http://schemas.microsoft.com/office/drawing/2014/main" id="{7AA7014E-8975-D01A-80F9-202B7DD05848}"/>
                </a:ext>
              </a:extLst>
            </p:cNvPr>
            <p:cNvCxnSpPr>
              <a:cxnSpLocks/>
              <a:stCxn id="47" idx="1"/>
              <a:endCxn id="89" idx="2"/>
            </p:cNvCxnSpPr>
            <p:nvPr/>
          </p:nvCxnSpPr>
          <p:spPr>
            <a:xfrm flipH="1" flipV="1">
              <a:off x="4293397" y="5197532"/>
              <a:ext cx="580250" cy="133975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6F65E374-47C9-45D8-ED96-5FDF66564C02}"/>
                </a:ext>
              </a:extLst>
            </p:cNvPr>
            <p:cNvSpPr txBox="1"/>
            <p:nvPr/>
          </p:nvSpPr>
          <p:spPr>
            <a:xfrm>
              <a:off x="374414" y="5721487"/>
              <a:ext cx="5741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b="1" dirty="0">
                  <a:solidFill>
                    <a:srgbClr val="00B0F0"/>
                  </a:solidFill>
                </a:rPr>
                <a:t>DC 0</a:t>
              </a:r>
              <a:endParaRPr kumimoji="1" lang="zh-CN" altLang="en-US" sz="1600" b="1" dirty="0">
                <a:solidFill>
                  <a:srgbClr val="00B0F0"/>
                </a:solidFill>
              </a:endParaRPr>
            </a:p>
          </p:txBody>
        </p:sp>
        <p:sp>
          <p:nvSpPr>
            <p:cNvPr id="103" name="圆角矩形 102">
              <a:extLst>
                <a:ext uri="{FF2B5EF4-FFF2-40B4-BE49-F238E27FC236}">
                  <a16:creationId xmlns:a16="http://schemas.microsoft.com/office/drawing/2014/main" id="{D611D44A-377D-DD58-454F-2372245F40B3}"/>
                </a:ext>
              </a:extLst>
            </p:cNvPr>
            <p:cNvSpPr/>
            <p:nvPr/>
          </p:nvSpPr>
          <p:spPr>
            <a:xfrm>
              <a:off x="5564340" y="3947298"/>
              <a:ext cx="1300294" cy="2072346"/>
            </a:xfrm>
            <a:prstGeom prst="roundRect">
              <a:avLst/>
            </a:prstGeom>
            <a:noFill/>
            <a:ln w="41275" cmpd="tri">
              <a:solidFill>
                <a:srgbClr val="7030A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0B6420B5-E8A1-9658-4842-D6C104960F4A}"/>
                </a:ext>
              </a:extLst>
            </p:cNvPr>
            <p:cNvSpPr txBox="1"/>
            <p:nvPr/>
          </p:nvSpPr>
          <p:spPr>
            <a:xfrm>
              <a:off x="5917281" y="5721487"/>
              <a:ext cx="5741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b="1" dirty="0">
                  <a:solidFill>
                    <a:srgbClr val="7030A0"/>
                  </a:solidFill>
                </a:rPr>
                <a:t>DC 1</a:t>
              </a:r>
              <a:endParaRPr kumimoji="1" lang="zh-CN" altLang="en-US" sz="1600" b="1" dirty="0">
                <a:solidFill>
                  <a:srgbClr val="7030A0"/>
                </a:solidFill>
              </a:endParaRPr>
            </a:p>
          </p:txBody>
        </p:sp>
      </p:grpSp>
      <p:grpSp>
        <p:nvGrpSpPr>
          <p:cNvPr id="204" name="组合 203">
            <a:extLst>
              <a:ext uri="{FF2B5EF4-FFF2-40B4-BE49-F238E27FC236}">
                <a16:creationId xmlns:a16="http://schemas.microsoft.com/office/drawing/2014/main" id="{E0BA2803-50C6-E2C8-4B8D-B5C212675056}"/>
              </a:ext>
            </a:extLst>
          </p:cNvPr>
          <p:cNvGrpSpPr/>
          <p:nvPr/>
        </p:nvGrpSpPr>
        <p:grpSpPr>
          <a:xfrm>
            <a:off x="7641994" y="1673642"/>
            <a:ext cx="4234246" cy="1833834"/>
            <a:chOff x="7675767" y="4012959"/>
            <a:chExt cx="4234246" cy="1833834"/>
          </a:xfrm>
        </p:grpSpPr>
        <p:sp>
          <p:nvSpPr>
            <p:cNvPr id="138" name="圆角矩形 137">
              <a:extLst>
                <a:ext uri="{FF2B5EF4-FFF2-40B4-BE49-F238E27FC236}">
                  <a16:creationId xmlns:a16="http://schemas.microsoft.com/office/drawing/2014/main" id="{52CA08A2-463B-998E-7DA2-675970CD1498}"/>
                </a:ext>
              </a:extLst>
            </p:cNvPr>
            <p:cNvSpPr/>
            <p:nvPr/>
          </p:nvSpPr>
          <p:spPr>
            <a:xfrm>
              <a:off x="10252481" y="4374142"/>
              <a:ext cx="799818" cy="405007"/>
            </a:xfrm>
            <a:prstGeom prst="roundRect">
              <a:avLst/>
            </a:prstGeom>
            <a:solidFill>
              <a:srgbClr val="A3C4C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>
                  <a:solidFill>
                    <a:schemeClr val="tx1"/>
                  </a:solidFill>
                </a:rPr>
                <a:t>Border Router 2</a:t>
              </a:r>
              <a:endParaRPr kumimoji="1" lang="zh-CN" alt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139" name="圆角矩形 138">
              <a:extLst>
                <a:ext uri="{FF2B5EF4-FFF2-40B4-BE49-F238E27FC236}">
                  <a16:creationId xmlns:a16="http://schemas.microsoft.com/office/drawing/2014/main" id="{93CEB527-F209-7EA0-CF37-32D090F78316}"/>
                </a:ext>
              </a:extLst>
            </p:cNvPr>
            <p:cNvSpPr/>
            <p:nvPr/>
          </p:nvSpPr>
          <p:spPr>
            <a:xfrm>
              <a:off x="10252481" y="5221713"/>
              <a:ext cx="799818" cy="405007"/>
            </a:xfrm>
            <a:prstGeom prst="roundRect">
              <a:avLst/>
            </a:prstGeom>
            <a:solidFill>
              <a:srgbClr val="A3C4C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>
                  <a:solidFill>
                    <a:schemeClr val="tx1"/>
                  </a:solidFill>
                </a:rPr>
                <a:t>Border Router 3</a:t>
              </a:r>
              <a:endParaRPr kumimoji="1" lang="zh-CN" alt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140" name="圆角矩形 139">
              <a:extLst>
                <a:ext uri="{FF2B5EF4-FFF2-40B4-BE49-F238E27FC236}">
                  <a16:creationId xmlns:a16="http://schemas.microsoft.com/office/drawing/2014/main" id="{F01BCCBF-0C6E-36B0-7CB4-79DF54B677C4}"/>
                </a:ext>
              </a:extLst>
            </p:cNvPr>
            <p:cNvSpPr/>
            <p:nvPr/>
          </p:nvSpPr>
          <p:spPr>
            <a:xfrm>
              <a:off x="11267461" y="4094161"/>
              <a:ext cx="642551" cy="210065"/>
            </a:xfrm>
            <a:prstGeom prst="roundRect">
              <a:avLst/>
            </a:prstGeom>
            <a:solidFill>
              <a:srgbClr val="E8E8E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>
                  <a:solidFill>
                    <a:schemeClr val="tx1"/>
                  </a:solidFill>
                </a:rPr>
                <a:t>GPU</a:t>
              </a:r>
              <a:r>
                <a:rPr kumimoji="1" lang="zh-CN" altLang="en-US" sz="1200" b="1">
                  <a:solidFill>
                    <a:schemeClr val="tx1"/>
                  </a:solidFill>
                </a:rPr>
                <a:t> </a:t>
              </a:r>
              <a:r>
                <a:rPr kumimoji="1" lang="en-US" altLang="zh-CN" sz="1200" b="1">
                  <a:solidFill>
                    <a:schemeClr val="tx1"/>
                  </a:solidFill>
                </a:rPr>
                <a:t>4</a:t>
              </a:r>
              <a:endParaRPr kumimoji="1" lang="zh-CN" alt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141" name="圆角矩形 140">
              <a:extLst>
                <a:ext uri="{FF2B5EF4-FFF2-40B4-BE49-F238E27FC236}">
                  <a16:creationId xmlns:a16="http://schemas.microsoft.com/office/drawing/2014/main" id="{2EABB38F-C468-B65A-FE42-64DD4C130354}"/>
                </a:ext>
              </a:extLst>
            </p:cNvPr>
            <p:cNvSpPr/>
            <p:nvPr/>
          </p:nvSpPr>
          <p:spPr>
            <a:xfrm>
              <a:off x="11267461" y="4608350"/>
              <a:ext cx="642551" cy="210065"/>
            </a:xfrm>
            <a:prstGeom prst="roundRect">
              <a:avLst/>
            </a:prstGeom>
            <a:solidFill>
              <a:srgbClr val="E8E8E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>
                  <a:solidFill>
                    <a:schemeClr val="tx1"/>
                  </a:solidFill>
                </a:rPr>
                <a:t>GPU</a:t>
              </a:r>
              <a:r>
                <a:rPr kumimoji="1" lang="zh-CN" altLang="en-US" sz="1200" b="1">
                  <a:solidFill>
                    <a:schemeClr val="tx1"/>
                  </a:solidFill>
                </a:rPr>
                <a:t> </a:t>
              </a:r>
              <a:r>
                <a:rPr kumimoji="1" lang="en-US" altLang="zh-CN" sz="1200" b="1">
                  <a:solidFill>
                    <a:schemeClr val="tx1"/>
                  </a:solidFill>
                </a:rPr>
                <a:t>5</a:t>
              </a:r>
              <a:endParaRPr kumimoji="1" lang="zh-CN" alt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142" name="圆角矩形 141">
              <a:extLst>
                <a:ext uri="{FF2B5EF4-FFF2-40B4-BE49-F238E27FC236}">
                  <a16:creationId xmlns:a16="http://schemas.microsoft.com/office/drawing/2014/main" id="{176B446A-0D42-7705-582D-B4FB02357BF5}"/>
                </a:ext>
              </a:extLst>
            </p:cNvPr>
            <p:cNvSpPr/>
            <p:nvPr/>
          </p:nvSpPr>
          <p:spPr>
            <a:xfrm>
              <a:off x="11267462" y="5122539"/>
              <a:ext cx="642551" cy="210065"/>
            </a:xfrm>
            <a:prstGeom prst="roundRect">
              <a:avLst/>
            </a:prstGeom>
            <a:solidFill>
              <a:srgbClr val="E8E8E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>
                  <a:solidFill>
                    <a:schemeClr val="tx1"/>
                  </a:solidFill>
                </a:rPr>
                <a:t>GPU</a:t>
              </a:r>
              <a:r>
                <a:rPr kumimoji="1" lang="zh-CN" altLang="en-US" sz="1200" b="1">
                  <a:solidFill>
                    <a:schemeClr val="tx1"/>
                  </a:solidFill>
                </a:rPr>
                <a:t> </a:t>
              </a:r>
              <a:r>
                <a:rPr kumimoji="1" lang="en-US" altLang="zh-CN" sz="1200" b="1">
                  <a:solidFill>
                    <a:schemeClr val="tx1"/>
                  </a:solidFill>
                </a:rPr>
                <a:t>6</a:t>
              </a:r>
              <a:endParaRPr kumimoji="1" lang="zh-CN" alt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143" name="圆角矩形 142">
              <a:extLst>
                <a:ext uri="{FF2B5EF4-FFF2-40B4-BE49-F238E27FC236}">
                  <a16:creationId xmlns:a16="http://schemas.microsoft.com/office/drawing/2014/main" id="{C4E2EFFD-E934-8EA3-3E2C-E05101C5380E}"/>
                </a:ext>
              </a:extLst>
            </p:cNvPr>
            <p:cNvSpPr/>
            <p:nvPr/>
          </p:nvSpPr>
          <p:spPr>
            <a:xfrm>
              <a:off x="11267462" y="5636728"/>
              <a:ext cx="642551" cy="210065"/>
            </a:xfrm>
            <a:prstGeom prst="roundRect">
              <a:avLst/>
            </a:prstGeom>
            <a:solidFill>
              <a:srgbClr val="E8E8E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>
                  <a:solidFill>
                    <a:schemeClr val="tx1"/>
                  </a:solidFill>
                </a:rPr>
                <a:t>GPU</a:t>
              </a:r>
              <a:r>
                <a:rPr kumimoji="1" lang="zh-CN" altLang="en-US" sz="1200" b="1">
                  <a:solidFill>
                    <a:schemeClr val="tx1"/>
                  </a:solidFill>
                </a:rPr>
                <a:t> </a:t>
              </a:r>
              <a:r>
                <a:rPr kumimoji="1" lang="en-US" altLang="zh-CN" sz="1200" b="1">
                  <a:solidFill>
                    <a:schemeClr val="tx1"/>
                  </a:solidFill>
                </a:rPr>
                <a:t>7</a:t>
              </a:r>
              <a:endParaRPr kumimoji="1" lang="zh-CN" altLang="en-US" sz="1200" b="1">
                <a:solidFill>
                  <a:schemeClr val="tx1"/>
                </a:solidFill>
              </a:endParaRPr>
            </a:p>
          </p:txBody>
        </p:sp>
        <p:cxnSp>
          <p:nvCxnSpPr>
            <p:cNvPr id="144" name="直线连接符 143">
              <a:extLst>
                <a:ext uri="{FF2B5EF4-FFF2-40B4-BE49-F238E27FC236}">
                  <a16:creationId xmlns:a16="http://schemas.microsoft.com/office/drawing/2014/main" id="{FC510B2C-3198-BFF6-3BCA-01F72A8AB477}"/>
                </a:ext>
              </a:extLst>
            </p:cNvPr>
            <p:cNvCxnSpPr>
              <a:cxnSpLocks/>
              <a:stCxn id="138" idx="3"/>
              <a:endCxn id="140" idx="1"/>
            </p:cNvCxnSpPr>
            <p:nvPr/>
          </p:nvCxnSpPr>
          <p:spPr>
            <a:xfrm flipV="1">
              <a:off x="11052299" y="4199194"/>
              <a:ext cx="215162" cy="377452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直线连接符 144">
              <a:extLst>
                <a:ext uri="{FF2B5EF4-FFF2-40B4-BE49-F238E27FC236}">
                  <a16:creationId xmlns:a16="http://schemas.microsoft.com/office/drawing/2014/main" id="{EA4E3222-1988-D0A1-E14B-F0A576C0E88E}"/>
                </a:ext>
              </a:extLst>
            </p:cNvPr>
            <p:cNvCxnSpPr>
              <a:cxnSpLocks/>
              <a:stCxn id="139" idx="3"/>
              <a:endCxn id="143" idx="1"/>
            </p:cNvCxnSpPr>
            <p:nvPr/>
          </p:nvCxnSpPr>
          <p:spPr>
            <a:xfrm>
              <a:off x="11052299" y="5424217"/>
              <a:ext cx="215163" cy="317544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直线连接符 145">
              <a:extLst>
                <a:ext uri="{FF2B5EF4-FFF2-40B4-BE49-F238E27FC236}">
                  <a16:creationId xmlns:a16="http://schemas.microsoft.com/office/drawing/2014/main" id="{4E43B6FE-522A-9950-9615-C5A3171680EF}"/>
                </a:ext>
              </a:extLst>
            </p:cNvPr>
            <p:cNvCxnSpPr>
              <a:cxnSpLocks/>
              <a:stCxn id="141" idx="0"/>
              <a:endCxn id="140" idx="2"/>
            </p:cNvCxnSpPr>
            <p:nvPr/>
          </p:nvCxnSpPr>
          <p:spPr>
            <a:xfrm flipV="1">
              <a:off x="11588737" y="4304226"/>
              <a:ext cx="0" cy="304124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7" name="直线连接符 146">
              <a:extLst>
                <a:ext uri="{FF2B5EF4-FFF2-40B4-BE49-F238E27FC236}">
                  <a16:creationId xmlns:a16="http://schemas.microsoft.com/office/drawing/2014/main" id="{BCA7E0B1-3F64-159C-51A8-D8A7C31D5F46}"/>
                </a:ext>
              </a:extLst>
            </p:cNvPr>
            <p:cNvCxnSpPr>
              <a:cxnSpLocks/>
              <a:stCxn id="142" idx="0"/>
              <a:endCxn id="141" idx="2"/>
            </p:cNvCxnSpPr>
            <p:nvPr/>
          </p:nvCxnSpPr>
          <p:spPr>
            <a:xfrm flipH="1" flipV="1">
              <a:off x="11588737" y="4818415"/>
              <a:ext cx="1" cy="304124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直线连接符 147">
              <a:extLst>
                <a:ext uri="{FF2B5EF4-FFF2-40B4-BE49-F238E27FC236}">
                  <a16:creationId xmlns:a16="http://schemas.microsoft.com/office/drawing/2014/main" id="{F03DC922-7E92-8544-BE1F-6F8E8B5630EA}"/>
                </a:ext>
              </a:extLst>
            </p:cNvPr>
            <p:cNvCxnSpPr>
              <a:cxnSpLocks/>
              <a:stCxn id="143" idx="0"/>
              <a:endCxn id="142" idx="2"/>
            </p:cNvCxnSpPr>
            <p:nvPr/>
          </p:nvCxnSpPr>
          <p:spPr>
            <a:xfrm flipV="1">
              <a:off x="11588738" y="5332604"/>
              <a:ext cx="0" cy="304124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直线连接符 148">
              <a:extLst>
                <a:ext uri="{FF2B5EF4-FFF2-40B4-BE49-F238E27FC236}">
                  <a16:creationId xmlns:a16="http://schemas.microsoft.com/office/drawing/2014/main" id="{8E856C16-1517-B797-9B96-750D23B1CFFD}"/>
                </a:ext>
              </a:extLst>
            </p:cNvPr>
            <p:cNvCxnSpPr>
              <a:cxnSpLocks/>
              <a:stCxn id="139" idx="3"/>
              <a:endCxn id="140" idx="1"/>
            </p:cNvCxnSpPr>
            <p:nvPr/>
          </p:nvCxnSpPr>
          <p:spPr>
            <a:xfrm flipV="1">
              <a:off x="11052299" y="4199194"/>
              <a:ext cx="215162" cy="1225023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直线连接符 149">
              <a:extLst>
                <a:ext uri="{FF2B5EF4-FFF2-40B4-BE49-F238E27FC236}">
                  <a16:creationId xmlns:a16="http://schemas.microsoft.com/office/drawing/2014/main" id="{FA3D2B12-376C-11AF-7421-0E5AC855DF82}"/>
                </a:ext>
              </a:extLst>
            </p:cNvPr>
            <p:cNvCxnSpPr>
              <a:cxnSpLocks/>
              <a:stCxn id="138" idx="3"/>
              <a:endCxn id="143" idx="1"/>
            </p:cNvCxnSpPr>
            <p:nvPr/>
          </p:nvCxnSpPr>
          <p:spPr>
            <a:xfrm>
              <a:off x="11052299" y="4576646"/>
              <a:ext cx="215163" cy="1165115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直线连接符 150">
              <a:extLst>
                <a:ext uri="{FF2B5EF4-FFF2-40B4-BE49-F238E27FC236}">
                  <a16:creationId xmlns:a16="http://schemas.microsoft.com/office/drawing/2014/main" id="{11D7343E-AA5F-3DC8-7211-B914838E453F}"/>
                </a:ext>
              </a:extLst>
            </p:cNvPr>
            <p:cNvCxnSpPr>
              <a:cxnSpLocks/>
              <a:stCxn id="138" idx="3"/>
              <a:endCxn id="141" idx="1"/>
            </p:cNvCxnSpPr>
            <p:nvPr/>
          </p:nvCxnSpPr>
          <p:spPr>
            <a:xfrm>
              <a:off x="11052299" y="4576646"/>
              <a:ext cx="215162" cy="136737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直线连接符 151">
              <a:extLst>
                <a:ext uri="{FF2B5EF4-FFF2-40B4-BE49-F238E27FC236}">
                  <a16:creationId xmlns:a16="http://schemas.microsoft.com/office/drawing/2014/main" id="{261642D6-4D10-0DBB-3BEB-6A44E917299A}"/>
                </a:ext>
              </a:extLst>
            </p:cNvPr>
            <p:cNvCxnSpPr>
              <a:cxnSpLocks/>
              <a:stCxn id="141" idx="1"/>
              <a:endCxn id="139" idx="3"/>
            </p:cNvCxnSpPr>
            <p:nvPr/>
          </p:nvCxnSpPr>
          <p:spPr>
            <a:xfrm flipH="1">
              <a:off x="11052299" y="4713383"/>
              <a:ext cx="215162" cy="710834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直线连接符 152">
              <a:extLst>
                <a:ext uri="{FF2B5EF4-FFF2-40B4-BE49-F238E27FC236}">
                  <a16:creationId xmlns:a16="http://schemas.microsoft.com/office/drawing/2014/main" id="{51C66344-3513-ED6B-3A2B-523DFE334A22}"/>
                </a:ext>
              </a:extLst>
            </p:cNvPr>
            <p:cNvCxnSpPr>
              <a:cxnSpLocks/>
              <a:stCxn id="142" idx="1"/>
              <a:endCxn id="138" idx="3"/>
            </p:cNvCxnSpPr>
            <p:nvPr/>
          </p:nvCxnSpPr>
          <p:spPr>
            <a:xfrm flipH="1" flipV="1">
              <a:off x="11052299" y="4576646"/>
              <a:ext cx="215163" cy="650926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直线连接符 153">
              <a:extLst>
                <a:ext uri="{FF2B5EF4-FFF2-40B4-BE49-F238E27FC236}">
                  <a16:creationId xmlns:a16="http://schemas.microsoft.com/office/drawing/2014/main" id="{F1EEAC77-E3DC-A9DA-5123-79A2F8C6AE38}"/>
                </a:ext>
              </a:extLst>
            </p:cNvPr>
            <p:cNvCxnSpPr>
              <a:cxnSpLocks/>
              <a:stCxn id="139" idx="3"/>
              <a:endCxn id="142" idx="1"/>
            </p:cNvCxnSpPr>
            <p:nvPr/>
          </p:nvCxnSpPr>
          <p:spPr>
            <a:xfrm flipV="1">
              <a:off x="11052299" y="5227572"/>
              <a:ext cx="215163" cy="196645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5" name="曲线连接符 154">
              <a:extLst>
                <a:ext uri="{FF2B5EF4-FFF2-40B4-BE49-F238E27FC236}">
                  <a16:creationId xmlns:a16="http://schemas.microsoft.com/office/drawing/2014/main" id="{FDEFD314-FF4C-2D6B-EFB8-4F8167B268EE}"/>
                </a:ext>
              </a:extLst>
            </p:cNvPr>
            <p:cNvCxnSpPr>
              <a:cxnSpLocks/>
              <a:stCxn id="140" idx="3"/>
              <a:endCxn id="142" idx="3"/>
            </p:cNvCxnSpPr>
            <p:nvPr/>
          </p:nvCxnSpPr>
          <p:spPr>
            <a:xfrm>
              <a:off x="11910012" y="4199194"/>
              <a:ext cx="1" cy="1028378"/>
            </a:xfrm>
            <a:prstGeom prst="curvedConnector3">
              <a:avLst>
                <a:gd name="adj1" fmla="val 2286010000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曲线连接符 155">
              <a:extLst>
                <a:ext uri="{FF2B5EF4-FFF2-40B4-BE49-F238E27FC236}">
                  <a16:creationId xmlns:a16="http://schemas.microsoft.com/office/drawing/2014/main" id="{34EBC7D7-A3BD-D7B2-6B48-73F907AD293C}"/>
                </a:ext>
              </a:extLst>
            </p:cNvPr>
            <p:cNvCxnSpPr>
              <a:cxnSpLocks/>
              <a:stCxn id="140" idx="3"/>
              <a:endCxn id="143" idx="3"/>
            </p:cNvCxnSpPr>
            <p:nvPr/>
          </p:nvCxnSpPr>
          <p:spPr>
            <a:xfrm>
              <a:off x="11910012" y="4199194"/>
              <a:ext cx="1" cy="1542567"/>
            </a:xfrm>
            <a:prstGeom prst="curvedConnector3">
              <a:avLst>
                <a:gd name="adj1" fmla="val 2286010000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7" name="曲线连接符 156">
              <a:extLst>
                <a:ext uri="{FF2B5EF4-FFF2-40B4-BE49-F238E27FC236}">
                  <a16:creationId xmlns:a16="http://schemas.microsoft.com/office/drawing/2014/main" id="{51396C4A-287A-CABB-A3F0-506976C187FD}"/>
                </a:ext>
              </a:extLst>
            </p:cNvPr>
            <p:cNvCxnSpPr>
              <a:cxnSpLocks/>
              <a:stCxn id="141" idx="3"/>
              <a:endCxn id="143" idx="3"/>
            </p:cNvCxnSpPr>
            <p:nvPr/>
          </p:nvCxnSpPr>
          <p:spPr>
            <a:xfrm>
              <a:off x="11910012" y="4713383"/>
              <a:ext cx="1" cy="1028378"/>
            </a:xfrm>
            <a:prstGeom prst="curvedConnector3">
              <a:avLst>
                <a:gd name="adj1" fmla="val 2286010000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1" name="圆角矩形 160">
              <a:extLst>
                <a:ext uri="{FF2B5EF4-FFF2-40B4-BE49-F238E27FC236}">
                  <a16:creationId xmlns:a16="http://schemas.microsoft.com/office/drawing/2014/main" id="{4FBCBADA-5406-2BB5-CFEE-564D5F211631}"/>
                </a:ext>
              </a:extLst>
            </p:cNvPr>
            <p:cNvSpPr/>
            <p:nvPr/>
          </p:nvSpPr>
          <p:spPr>
            <a:xfrm>
              <a:off x="8492821" y="4369634"/>
              <a:ext cx="817570" cy="405007"/>
            </a:xfrm>
            <a:prstGeom prst="roundRect">
              <a:avLst/>
            </a:prstGeom>
            <a:solidFill>
              <a:srgbClr val="A3C4C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>
                  <a:solidFill>
                    <a:schemeClr val="tx1"/>
                  </a:solidFill>
                </a:rPr>
                <a:t>Border Router</a:t>
              </a:r>
              <a:r>
                <a:rPr kumimoji="1" lang="zh-CN" altLang="en-US" sz="1200" b="1">
                  <a:solidFill>
                    <a:schemeClr val="tx1"/>
                  </a:solidFill>
                </a:rPr>
                <a:t> </a:t>
              </a:r>
              <a:r>
                <a:rPr kumimoji="1" lang="en-US" altLang="zh-CN" sz="1200" b="1">
                  <a:solidFill>
                    <a:schemeClr val="tx1"/>
                  </a:solidFill>
                </a:rPr>
                <a:t>0</a:t>
              </a:r>
              <a:endParaRPr kumimoji="1" lang="zh-CN" alt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162" name="圆角矩形 161">
              <a:extLst>
                <a:ext uri="{FF2B5EF4-FFF2-40B4-BE49-F238E27FC236}">
                  <a16:creationId xmlns:a16="http://schemas.microsoft.com/office/drawing/2014/main" id="{B8E2D113-EED7-F0D3-594F-9D30AFDDB5D3}"/>
                </a:ext>
              </a:extLst>
            </p:cNvPr>
            <p:cNvSpPr/>
            <p:nvPr/>
          </p:nvSpPr>
          <p:spPr>
            <a:xfrm>
              <a:off x="8492821" y="5217205"/>
              <a:ext cx="817570" cy="405007"/>
            </a:xfrm>
            <a:prstGeom prst="roundRect">
              <a:avLst/>
            </a:prstGeom>
            <a:solidFill>
              <a:srgbClr val="A3C4C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>
                  <a:solidFill>
                    <a:schemeClr val="tx1"/>
                  </a:solidFill>
                </a:rPr>
                <a:t>Border Router 1</a:t>
              </a:r>
              <a:endParaRPr kumimoji="1" lang="zh-CN" alt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163" name="圆角矩形 162">
              <a:extLst>
                <a:ext uri="{FF2B5EF4-FFF2-40B4-BE49-F238E27FC236}">
                  <a16:creationId xmlns:a16="http://schemas.microsoft.com/office/drawing/2014/main" id="{0154B65E-A646-746F-4951-7A40C9B5A431}"/>
                </a:ext>
              </a:extLst>
            </p:cNvPr>
            <p:cNvSpPr/>
            <p:nvPr/>
          </p:nvSpPr>
          <p:spPr>
            <a:xfrm>
              <a:off x="7675768" y="4012959"/>
              <a:ext cx="642551" cy="210065"/>
            </a:xfrm>
            <a:prstGeom prst="roundRect">
              <a:avLst/>
            </a:prstGeom>
            <a:solidFill>
              <a:srgbClr val="E8E8E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>
                  <a:solidFill>
                    <a:schemeClr val="tx1"/>
                  </a:solidFill>
                </a:rPr>
                <a:t>GPU</a:t>
              </a:r>
              <a:r>
                <a:rPr kumimoji="1" lang="zh-CN" altLang="en-US" sz="1200" b="1">
                  <a:solidFill>
                    <a:schemeClr val="tx1"/>
                  </a:solidFill>
                </a:rPr>
                <a:t> </a:t>
              </a:r>
              <a:r>
                <a:rPr kumimoji="1" lang="en-US" altLang="zh-CN" sz="1200" b="1">
                  <a:solidFill>
                    <a:schemeClr val="tx1"/>
                  </a:solidFill>
                </a:rPr>
                <a:t>0</a:t>
              </a:r>
              <a:endParaRPr kumimoji="1" lang="zh-CN" alt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164" name="圆角矩形 163">
              <a:extLst>
                <a:ext uri="{FF2B5EF4-FFF2-40B4-BE49-F238E27FC236}">
                  <a16:creationId xmlns:a16="http://schemas.microsoft.com/office/drawing/2014/main" id="{DA9DC069-D431-F044-C3AE-E8FC547B4D19}"/>
                </a:ext>
              </a:extLst>
            </p:cNvPr>
            <p:cNvSpPr/>
            <p:nvPr/>
          </p:nvSpPr>
          <p:spPr>
            <a:xfrm>
              <a:off x="7675768" y="4527148"/>
              <a:ext cx="642551" cy="210065"/>
            </a:xfrm>
            <a:prstGeom prst="roundRect">
              <a:avLst/>
            </a:prstGeom>
            <a:solidFill>
              <a:srgbClr val="E8E8E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>
                  <a:solidFill>
                    <a:schemeClr val="tx1"/>
                  </a:solidFill>
                </a:rPr>
                <a:t>GPU</a:t>
              </a:r>
              <a:r>
                <a:rPr kumimoji="1" lang="zh-CN" altLang="en-US" sz="1200" b="1">
                  <a:solidFill>
                    <a:schemeClr val="tx1"/>
                  </a:solidFill>
                </a:rPr>
                <a:t> </a:t>
              </a:r>
              <a:r>
                <a:rPr kumimoji="1" lang="en-US" altLang="zh-CN" sz="1200" b="1">
                  <a:solidFill>
                    <a:schemeClr val="tx1"/>
                  </a:solidFill>
                </a:rPr>
                <a:t>1</a:t>
              </a:r>
              <a:endParaRPr kumimoji="1" lang="zh-CN" alt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165" name="圆角矩形 164">
              <a:extLst>
                <a:ext uri="{FF2B5EF4-FFF2-40B4-BE49-F238E27FC236}">
                  <a16:creationId xmlns:a16="http://schemas.microsoft.com/office/drawing/2014/main" id="{5A2EB340-2469-711E-110E-A8B4B25B6310}"/>
                </a:ext>
              </a:extLst>
            </p:cNvPr>
            <p:cNvSpPr/>
            <p:nvPr/>
          </p:nvSpPr>
          <p:spPr>
            <a:xfrm>
              <a:off x="7675769" y="5041337"/>
              <a:ext cx="642551" cy="210065"/>
            </a:xfrm>
            <a:prstGeom prst="roundRect">
              <a:avLst/>
            </a:prstGeom>
            <a:solidFill>
              <a:srgbClr val="E8E8E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>
                  <a:solidFill>
                    <a:schemeClr val="tx1"/>
                  </a:solidFill>
                </a:rPr>
                <a:t>GPU</a:t>
              </a:r>
              <a:r>
                <a:rPr kumimoji="1" lang="zh-CN" altLang="en-US" sz="1200" b="1">
                  <a:solidFill>
                    <a:schemeClr val="tx1"/>
                  </a:solidFill>
                </a:rPr>
                <a:t> </a:t>
              </a:r>
              <a:r>
                <a:rPr kumimoji="1" lang="en-US" altLang="zh-CN" sz="1200" b="1">
                  <a:solidFill>
                    <a:schemeClr val="tx1"/>
                  </a:solidFill>
                </a:rPr>
                <a:t>2</a:t>
              </a:r>
              <a:endParaRPr kumimoji="1" lang="zh-CN" alt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166" name="圆角矩形 165">
              <a:extLst>
                <a:ext uri="{FF2B5EF4-FFF2-40B4-BE49-F238E27FC236}">
                  <a16:creationId xmlns:a16="http://schemas.microsoft.com/office/drawing/2014/main" id="{AD485531-67AA-2A5C-3AF0-0DE86AEF7146}"/>
                </a:ext>
              </a:extLst>
            </p:cNvPr>
            <p:cNvSpPr/>
            <p:nvPr/>
          </p:nvSpPr>
          <p:spPr>
            <a:xfrm>
              <a:off x="7675769" y="5555526"/>
              <a:ext cx="642551" cy="210065"/>
            </a:xfrm>
            <a:prstGeom prst="roundRect">
              <a:avLst/>
            </a:prstGeom>
            <a:solidFill>
              <a:srgbClr val="E8E8E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>
                  <a:solidFill>
                    <a:schemeClr val="tx1"/>
                  </a:solidFill>
                </a:rPr>
                <a:t>GPU</a:t>
              </a:r>
              <a:r>
                <a:rPr kumimoji="1" lang="zh-CN" altLang="en-US" sz="1200" b="1">
                  <a:solidFill>
                    <a:schemeClr val="tx1"/>
                  </a:solidFill>
                </a:rPr>
                <a:t> </a:t>
              </a:r>
              <a:r>
                <a:rPr kumimoji="1" lang="en-US" altLang="zh-CN" sz="1200" b="1">
                  <a:solidFill>
                    <a:schemeClr val="tx1"/>
                  </a:solidFill>
                </a:rPr>
                <a:t>3</a:t>
              </a:r>
              <a:endParaRPr kumimoji="1" lang="zh-CN" altLang="en-US" sz="1200" b="1">
                <a:solidFill>
                  <a:schemeClr val="tx1"/>
                </a:solidFill>
              </a:endParaRPr>
            </a:p>
          </p:txBody>
        </p:sp>
        <p:cxnSp>
          <p:nvCxnSpPr>
            <p:cNvPr id="167" name="直线连接符 166">
              <a:extLst>
                <a:ext uri="{FF2B5EF4-FFF2-40B4-BE49-F238E27FC236}">
                  <a16:creationId xmlns:a16="http://schemas.microsoft.com/office/drawing/2014/main" id="{CB1B2333-5D63-82F9-BAD5-2F03CB4B58AE}"/>
                </a:ext>
              </a:extLst>
            </p:cNvPr>
            <p:cNvCxnSpPr>
              <a:cxnSpLocks/>
              <a:stCxn id="163" idx="3"/>
              <a:endCxn id="161" idx="1"/>
            </p:cNvCxnSpPr>
            <p:nvPr/>
          </p:nvCxnSpPr>
          <p:spPr>
            <a:xfrm>
              <a:off x="8318319" y="4117992"/>
              <a:ext cx="174502" cy="454146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直线连接符 167">
              <a:extLst>
                <a:ext uri="{FF2B5EF4-FFF2-40B4-BE49-F238E27FC236}">
                  <a16:creationId xmlns:a16="http://schemas.microsoft.com/office/drawing/2014/main" id="{15A395DD-FEBC-3BE6-A773-A3396E2E3748}"/>
                </a:ext>
              </a:extLst>
            </p:cNvPr>
            <p:cNvCxnSpPr>
              <a:cxnSpLocks/>
              <a:stCxn id="166" idx="3"/>
              <a:endCxn id="162" idx="1"/>
            </p:cNvCxnSpPr>
            <p:nvPr/>
          </p:nvCxnSpPr>
          <p:spPr>
            <a:xfrm flipV="1">
              <a:off x="8318320" y="5419709"/>
              <a:ext cx="174501" cy="24085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直线连接符 168">
              <a:extLst>
                <a:ext uri="{FF2B5EF4-FFF2-40B4-BE49-F238E27FC236}">
                  <a16:creationId xmlns:a16="http://schemas.microsoft.com/office/drawing/2014/main" id="{D07F7B92-3BB9-9ED0-F915-B49B46A7188F}"/>
                </a:ext>
              </a:extLst>
            </p:cNvPr>
            <p:cNvCxnSpPr>
              <a:cxnSpLocks/>
              <a:stCxn id="163" idx="2"/>
              <a:endCxn id="164" idx="0"/>
            </p:cNvCxnSpPr>
            <p:nvPr/>
          </p:nvCxnSpPr>
          <p:spPr>
            <a:xfrm>
              <a:off x="7997044" y="4223024"/>
              <a:ext cx="0" cy="304124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直线连接符 169">
              <a:extLst>
                <a:ext uri="{FF2B5EF4-FFF2-40B4-BE49-F238E27FC236}">
                  <a16:creationId xmlns:a16="http://schemas.microsoft.com/office/drawing/2014/main" id="{1A6928B1-C677-927D-0A80-E3E9835BDDC8}"/>
                </a:ext>
              </a:extLst>
            </p:cNvPr>
            <p:cNvCxnSpPr>
              <a:cxnSpLocks/>
              <a:stCxn id="164" idx="2"/>
              <a:endCxn id="165" idx="0"/>
            </p:cNvCxnSpPr>
            <p:nvPr/>
          </p:nvCxnSpPr>
          <p:spPr>
            <a:xfrm>
              <a:off x="7997044" y="4737213"/>
              <a:ext cx="1" cy="304124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直线连接符 170">
              <a:extLst>
                <a:ext uri="{FF2B5EF4-FFF2-40B4-BE49-F238E27FC236}">
                  <a16:creationId xmlns:a16="http://schemas.microsoft.com/office/drawing/2014/main" id="{1503E6C7-8983-F759-F97F-6CC02C644372}"/>
                </a:ext>
              </a:extLst>
            </p:cNvPr>
            <p:cNvCxnSpPr>
              <a:cxnSpLocks/>
              <a:stCxn id="165" idx="2"/>
              <a:endCxn id="166" idx="0"/>
            </p:cNvCxnSpPr>
            <p:nvPr/>
          </p:nvCxnSpPr>
          <p:spPr>
            <a:xfrm>
              <a:off x="7997045" y="5251402"/>
              <a:ext cx="0" cy="304124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直线连接符 171">
              <a:extLst>
                <a:ext uri="{FF2B5EF4-FFF2-40B4-BE49-F238E27FC236}">
                  <a16:creationId xmlns:a16="http://schemas.microsoft.com/office/drawing/2014/main" id="{EAE606F9-9E16-222D-2B94-A7605697C872}"/>
                </a:ext>
              </a:extLst>
            </p:cNvPr>
            <p:cNvCxnSpPr>
              <a:cxnSpLocks/>
              <a:stCxn id="163" idx="3"/>
              <a:endCxn id="162" idx="1"/>
            </p:cNvCxnSpPr>
            <p:nvPr/>
          </p:nvCxnSpPr>
          <p:spPr>
            <a:xfrm>
              <a:off x="8318319" y="4117992"/>
              <a:ext cx="174502" cy="1301717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直线连接符 172">
              <a:extLst>
                <a:ext uri="{FF2B5EF4-FFF2-40B4-BE49-F238E27FC236}">
                  <a16:creationId xmlns:a16="http://schemas.microsoft.com/office/drawing/2014/main" id="{475EB5A4-46C7-782B-22D2-E5964A8581CA}"/>
                </a:ext>
              </a:extLst>
            </p:cNvPr>
            <p:cNvCxnSpPr>
              <a:cxnSpLocks/>
              <a:stCxn id="166" idx="3"/>
              <a:endCxn id="161" idx="1"/>
            </p:cNvCxnSpPr>
            <p:nvPr/>
          </p:nvCxnSpPr>
          <p:spPr>
            <a:xfrm flipV="1">
              <a:off x="8318320" y="4572138"/>
              <a:ext cx="174501" cy="108842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直线连接符 173">
              <a:extLst>
                <a:ext uri="{FF2B5EF4-FFF2-40B4-BE49-F238E27FC236}">
                  <a16:creationId xmlns:a16="http://schemas.microsoft.com/office/drawing/2014/main" id="{89BC28B1-A0DC-BF78-7F0B-96CF1E76EC40}"/>
                </a:ext>
              </a:extLst>
            </p:cNvPr>
            <p:cNvCxnSpPr>
              <a:cxnSpLocks/>
              <a:stCxn id="164" idx="3"/>
              <a:endCxn id="161" idx="1"/>
            </p:cNvCxnSpPr>
            <p:nvPr/>
          </p:nvCxnSpPr>
          <p:spPr>
            <a:xfrm flipV="1">
              <a:off x="8318319" y="4572138"/>
              <a:ext cx="174502" cy="60043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直线连接符 174">
              <a:extLst>
                <a:ext uri="{FF2B5EF4-FFF2-40B4-BE49-F238E27FC236}">
                  <a16:creationId xmlns:a16="http://schemas.microsoft.com/office/drawing/2014/main" id="{39E542EC-941B-36FB-0E48-68D8FF2B0070}"/>
                </a:ext>
              </a:extLst>
            </p:cNvPr>
            <p:cNvCxnSpPr>
              <a:cxnSpLocks/>
              <a:stCxn id="164" idx="3"/>
              <a:endCxn id="162" idx="1"/>
            </p:cNvCxnSpPr>
            <p:nvPr/>
          </p:nvCxnSpPr>
          <p:spPr>
            <a:xfrm>
              <a:off x="8318319" y="4632181"/>
              <a:ext cx="174502" cy="787528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直线连接符 175">
              <a:extLst>
                <a:ext uri="{FF2B5EF4-FFF2-40B4-BE49-F238E27FC236}">
                  <a16:creationId xmlns:a16="http://schemas.microsoft.com/office/drawing/2014/main" id="{391806D9-9EE4-EAA4-8F9E-F9D49F152353}"/>
                </a:ext>
              </a:extLst>
            </p:cNvPr>
            <p:cNvCxnSpPr>
              <a:cxnSpLocks/>
              <a:stCxn id="161" idx="1"/>
              <a:endCxn id="165" idx="3"/>
            </p:cNvCxnSpPr>
            <p:nvPr/>
          </p:nvCxnSpPr>
          <p:spPr>
            <a:xfrm flipH="1">
              <a:off x="8318320" y="4572138"/>
              <a:ext cx="174501" cy="574232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直线连接符 176">
              <a:extLst>
                <a:ext uri="{FF2B5EF4-FFF2-40B4-BE49-F238E27FC236}">
                  <a16:creationId xmlns:a16="http://schemas.microsoft.com/office/drawing/2014/main" id="{09881D06-52F7-E03F-0CBB-3FDCF94F870E}"/>
                </a:ext>
              </a:extLst>
            </p:cNvPr>
            <p:cNvCxnSpPr>
              <a:cxnSpLocks/>
              <a:stCxn id="165" idx="3"/>
              <a:endCxn id="162" idx="1"/>
            </p:cNvCxnSpPr>
            <p:nvPr/>
          </p:nvCxnSpPr>
          <p:spPr>
            <a:xfrm>
              <a:off x="8318320" y="5146370"/>
              <a:ext cx="174501" cy="273339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8" name="曲线连接符 177">
              <a:extLst>
                <a:ext uri="{FF2B5EF4-FFF2-40B4-BE49-F238E27FC236}">
                  <a16:creationId xmlns:a16="http://schemas.microsoft.com/office/drawing/2014/main" id="{FBCD729C-84E6-3EE9-DFFF-C9CD8151CED8}"/>
                </a:ext>
              </a:extLst>
            </p:cNvPr>
            <p:cNvCxnSpPr>
              <a:stCxn id="163" idx="1"/>
              <a:endCxn id="165" idx="1"/>
            </p:cNvCxnSpPr>
            <p:nvPr/>
          </p:nvCxnSpPr>
          <p:spPr>
            <a:xfrm rot="10800000" flipH="1" flipV="1">
              <a:off x="7675767" y="4117992"/>
              <a:ext cx="1" cy="1028378"/>
            </a:xfrm>
            <a:prstGeom prst="curvedConnector3">
              <a:avLst>
                <a:gd name="adj1" fmla="val -2286000000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9" name="曲线连接符 178">
              <a:extLst>
                <a:ext uri="{FF2B5EF4-FFF2-40B4-BE49-F238E27FC236}">
                  <a16:creationId xmlns:a16="http://schemas.microsoft.com/office/drawing/2014/main" id="{B8F0E186-89C7-82DB-B61D-89182B1BEBB8}"/>
                </a:ext>
              </a:extLst>
            </p:cNvPr>
            <p:cNvCxnSpPr>
              <a:cxnSpLocks/>
              <a:stCxn id="163" idx="1"/>
              <a:endCxn id="166" idx="1"/>
            </p:cNvCxnSpPr>
            <p:nvPr/>
          </p:nvCxnSpPr>
          <p:spPr>
            <a:xfrm rot="10800000" flipH="1" flipV="1">
              <a:off x="7675767" y="4117991"/>
              <a:ext cx="1" cy="1542567"/>
            </a:xfrm>
            <a:prstGeom prst="curvedConnector3">
              <a:avLst>
                <a:gd name="adj1" fmla="val -2286000000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曲线连接符 179">
              <a:extLst>
                <a:ext uri="{FF2B5EF4-FFF2-40B4-BE49-F238E27FC236}">
                  <a16:creationId xmlns:a16="http://schemas.microsoft.com/office/drawing/2014/main" id="{B9939A7F-2C47-F36F-9B53-D98304A121EC}"/>
                </a:ext>
              </a:extLst>
            </p:cNvPr>
            <p:cNvCxnSpPr>
              <a:cxnSpLocks/>
              <a:stCxn id="164" idx="1"/>
              <a:endCxn id="166" idx="1"/>
            </p:cNvCxnSpPr>
            <p:nvPr/>
          </p:nvCxnSpPr>
          <p:spPr>
            <a:xfrm rot="10800000" flipH="1" flipV="1">
              <a:off x="7675767" y="4632181"/>
              <a:ext cx="1" cy="1028378"/>
            </a:xfrm>
            <a:prstGeom prst="curvedConnector3">
              <a:avLst>
                <a:gd name="adj1" fmla="val -2286000000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直线连接符 181">
              <a:extLst>
                <a:ext uri="{FF2B5EF4-FFF2-40B4-BE49-F238E27FC236}">
                  <a16:creationId xmlns:a16="http://schemas.microsoft.com/office/drawing/2014/main" id="{1333A761-F858-D959-9C43-715D48B7FF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17952" y="4546673"/>
              <a:ext cx="936000" cy="1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3" name="直线连接符 182">
              <a:extLst>
                <a:ext uri="{FF2B5EF4-FFF2-40B4-BE49-F238E27FC236}">
                  <a16:creationId xmlns:a16="http://schemas.microsoft.com/office/drawing/2014/main" id="{9161DB71-E678-FB5D-59B7-213ADA715A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17952" y="4613728"/>
              <a:ext cx="936000" cy="1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1" name="直线连接符 190">
              <a:extLst>
                <a:ext uri="{FF2B5EF4-FFF2-40B4-BE49-F238E27FC236}">
                  <a16:creationId xmlns:a16="http://schemas.microsoft.com/office/drawing/2014/main" id="{933C7D77-61AA-71F0-6E4E-94304C5CD4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1127" y="5365823"/>
              <a:ext cx="936000" cy="1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2" name="直线连接符 191">
              <a:extLst>
                <a:ext uri="{FF2B5EF4-FFF2-40B4-BE49-F238E27FC236}">
                  <a16:creationId xmlns:a16="http://schemas.microsoft.com/office/drawing/2014/main" id="{BEB3728E-23EC-A760-BB0A-456D84A277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1127" y="5432878"/>
              <a:ext cx="936000" cy="1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3" name="直线连接符 192">
              <a:extLst>
                <a:ext uri="{FF2B5EF4-FFF2-40B4-BE49-F238E27FC236}">
                  <a16:creationId xmlns:a16="http://schemas.microsoft.com/office/drawing/2014/main" id="{76AB1A52-57DC-FC68-BEC0-CEA2FC6D9C31}"/>
                </a:ext>
              </a:extLst>
            </p:cNvPr>
            <p:cNvCxnSpPr>
              <a:cxnSpLocks/>
            </p:cNvCxnSpPr>
            <p:nvPr/>
          </p:nvCxnSpPr>
          <p:spPr>
            <a:xfrm>
              <a:off x="9320463" y="4725705"/>
              <a:ext cx="986590" cy="479992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6" name="直线连接符 195">
              <a:extLst>
                <a:ext uri="{FF2B5EF4-FFF2-40B4-BE49-F238E27FC236}">
                  <a16:creationId xmlns:a16="http://schemas.microsoft.com/office/drawing/2014/main" id="{08244F56-CBC1-68AF-ED7D-958C478D77D7}"/>
                </a:ext>
              </a:extLst>
            </p:cNvPr>
            <p:cNvCxnSpPr>
              <a:cxnSpLocks/>
            </p:cNvCxnSpPr>
            <p:nvPr/>
          </p:nvCxnSpPr>
          <p:spPr>
            <a:xfrm>
              <a:off x="9276345" y="4781847"/>
              <a:ext cx="986590" cy="479992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7" name="直线连接符 196">
              <a:extLst>
                <a:ext uri="{FF2B5EF4-FFF2-40B4-BE49-F238E27FC236}">
                  <a16:creationId xmlns:a16="http://schemas.microsoft.com/office/drawing/2014/main" id="{C278D37E-E03D-B405-81B5-99BB98C004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00411" y="4771155"/>
              <a:ext cx="1006642" cy="514720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0" name="直线连接符 199">
              <a:extLst>
                <a:ext uri="{FF2B5EF4-FFF2-40B4-BE49-F238E27FC236}">
                  <a16:creationId xmlns:a16="http://schemas.microsoft.com/office/drawing/2014/main" id="{0BC993C2-DB97-7EEA-00EA-EDD36E730A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60301" y="4723027"/>
              <a:ext cx="1006642" cy="514720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01" name="文本框 200">
            <a:extLst>
              <a:ext uri="{FF2B5EF4-FFF2-40B4-BE49-F238E27FC236}">
                <a16:creationId xmlns:a16="http://schemas.microsoft.com/office/drawing/2014/main" id="{014FE016-7A68-F3DC-84DB-913C8B246E05}"/>
              </a:ext>
            </a:extLst>
          </p:cNvPr>
          <p:cNvSpPr txBox="1"/>
          <p:nvPr/>
        </p:nvSpPr>
        <p:spPr>
          <a:xfrm>
            <a:off x="3028080" y="3671665"/>
            <a:ext cx="16827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(a) Physical Topology</a:t>
            </a:r>
            <a:endParaRPr kumimoji="1" lang="zh-CN" altLang="en-US" sz="1400" dirty="0"/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6A66880F-ED9E-A287-7925-91FB74F64359}"/>
              </a:ext>
            </a:extLst>
          </p:cNvPr>
          <p:cNvSpPr txBox="1"/>
          <p:nvPr/>
        </p:nvSpPr>
        <p:spPr>
          <a:xfrm>
            <a:off x="8946916" y="3671665"/>
            <a:ext cx="16244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(b) Logical Topology</a:t>
            </a:r>
            <a:endParaRPr kumimoji="1" lang="zh-CN" altLang="en-US" sz="1400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0B0328-8FAD-5644-A051-E8689F6A0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SCALE-CCL: A Scalable Collective Communication Library for Wide-Area Distributed Training, Jiaheng, INET4AI ’25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039A7AF-17DB-A159-B7C0-10E39FCC9512}"/>
              </a:ext>
            </a:extLst>
          </p:cNvPr>
          <p:cNvSpPr txBox="1"/>
          <p:nvPr/>
        </p:nvSpPr>
        <p:spPr>
          <a:xfrm>
            <a:off x="1374913" y="4152233"/>
            <a:ext cx="944217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abstract the physical topology to logical topology as Fig. (b)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kumimoji="1" lang="en-US" altLang="zh-CN" dirty="0"/>
              <a:t>Different field perform different function: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altLang="zh-CN" b="1" dirty="0"/>
              <a:t>Intra-DC field:</a:t>
            </a:r>
            <a:r>
              <a:rPr lang="en-GB" altLang="zh-CN" dirty="0"/>
              <a:t> leverages dense local connectivity to quickly diffuse </a:t>
            </a:r>
            <a:r>
              <a:rPr lang="en-GB" altLang="zh-CN" dirty="0" err="1"/>
              <a:t>subchunks</a:t>
            </a:r>
            <a:r>
              <a:rPr lang="en-GB" altLang="zh-CN" dirty="0"/>
              <a:t> among GPUs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altLang="zh-CN" b="1" dirty="0"/>
              <a:t>WAN field:</a:t>
            </a:r>
            <a:r>
              <a:rPr lang="en-GB" altLang="zh-CN" dirty="0"/>
              <a:t> forwards </a:t>
            </a:r>
            <a:r>
              <a:rPr lang="en-GB" altLang="zh-CN" dirty="0" err="1"/>
              <a:t>subchunks</a:t>
            </a:r>
            <a:r>
              <a:rPr lang="en-GB" altLang="zh-CN" dirty="0"/>
              <a:t> across border routers as early as possible toward the remote DC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altLang="zh-CN" b="1" dirty="0"/>
              <a:t>Remote-DC field:</a:t>
            </a:r>
            <a:r>
              <a:rPr lang="en-GB" altLang="zh-CN" dirty="0"/>
              <a:t> completes the final dissemination once </a:t>
            </a:r>
            <a:r>
              <a:rPr lang="en-GB" altLang="zh-CN" dirty="0" err="1"/>
              <a:t>subchunks</a:t>
            </a:r>
            <a:r>
              <a:rPr lang="en-GB" altLang="zh-CN" dirty="0"/>
              <a:t> arrive at the destination </a:t>
            </a:r>
            <a:r>
              <a:rPr lang="en-GB" altLang="zh-CN" dirty="0" err="1"/>
              <a:t>datacenter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2771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5A9A8-9C98-6A61-DD00-208045585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表&#10;&#10;AI 生成的内容可能不正确。">
            <a:extLst>
              <a:ext uri="{FF2B5EF4-FFF2-40B4-BE49-F238E27FC236}">
                <a16:creationId xmlns:a16="http://schemas.microsoft.com/office/drawing/2014/main" id="{BD1D949C-2281-078B-B1D6-16F78B7AD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5132" y="1565292"/>
            <a:ext cx="5591199" cy="313265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D29FAC0-B030-6027-C745-691559322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noProof="0" dirty="0"/>
              <a:t>Flow Chart of the Proposed Algorithm</a:t>
            </a:r>
            <a:endParaRPr kumimoji="1" lang="en-US" noProof="0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A3C5A6A-1578-3537-73AC-6CADC0C7E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SCALE-CCL: A Scalable Collective Communication Library for Wide-Area Distributed Training, Jiaheng, INET4AI ’25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5CF9CC5-1BA0-3F08-640C-F4710708D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8</a:t>
            </a:fld>
            <a:endParaRPr lang="en-US"/>
          </a:p>
        </p:txBody>
      </p:sp>
      <p:sp>
        <p:nvSpPr>
          <p:cNvPr id="98" name="TextBox 2">
            <a:extLst>
              <a:ext uri="{FF2B5EF4-FFF2-40B4-BE49-F238E27FC236}">
                <a16:creationId xmlns:a16="http://schemas.microsoft.com/office/drawing/2014/main" id="{A1297184-9C31-5162-3DF1-D95280AF8BBE}"/>
              </a:ext>
            </a:extLst>
          </p:cNvPr>
          <p:cNvSpPr txBox="1"/>
          <p:nvPr/>
        </p:nvSpPr>
        <p:spPr>
          <a:xfrm>
            <a:off x="5513238" y="4849809"/>
            <a:ext cx="6281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○"/>
            </a:pPr>
            <a:r>
              <a:rPr lang="en-US" altLang="zh-CN" dirty="0"/>
              <a:t>Each chunk will be divided into multiple sub-chunks, and independent decisions will be made for each sub-chunk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96B9F2B-71FC-809C-FB74-DEA9097A6F37}"/>
              </a:ext>
            </a:extLst>
          </p:cNvPr>
          <p:cNvSpPr txBox="1"/>
          <p:nvPr/>
        </p:nvSpPr>
        <p:spPr>
          <a:xfrm>
            <a:off x="1660182" y="5709195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Yes</a:t>
            </a:r>
            <a:endParaRPr kumimoji="1"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21AD1156-5D3E-91F4-363F-94C6C0739CDA}"/>
              </a:ext>
            </a:extLst>
          </p:cNvPr>
          <p:cNvSpPr/>
          <p:nvPr/>
        </p:nvSpPr>
        <p:spPr>
          <a:xfrm>
            <a:off x="418820" y="1922682"/>
            <a:ext cx="2493818" cy="4242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FF0000"/>
                </a:solidFill>
              </a:rPr>
              <a:t>Partition into </a:t>
            </a:r>
            <a:r>
              <a:rPr kumimoji="1" lang="en-US" altLang="zh-CN" err="1">
                <a:solidFill>
                  <a:srgbClr val="FF0000"/>
                </a:solidFill>
              </a:rPr>
              <a:t>subchunks</a:t>
            </a:r>
            <a:endParaRPr kumimoji="1" lang="zh-CN" altLang="en-US">
              <a:solidFill>
                <a:srgbClr val="FF0000"/>
              </a:solidFill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CB78722-04FF-0AA1-D4CF-14B0941E5ED2}"/>
              </a:ext>
            </a:extLst>
          </p:cNvPr>
          <p:cNvSpPr/>
          <p:nvPr/>
        </p:nvSpPr>
        <p:spPr>
          <a:xfrm>
            <a:off x="654992" y="2683214"/>
            <a:ext cx="2010387" cy="4242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002060"/>
                </a:solidFill>
              </a:rPr>
              <a:t>Local load balance</a:t>
            </a:r>
            <a:endParaRPr kumimoji="1" lang="zh-CN" altLang="en-US">
              <a:solidFill>
                <a:srgbClr val="002060"/>
              </a:solidFill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7351F26A-2975-8E8F-F224-7921ABC9E016}"/>
              </a:ext>
            </a:extLst>
          </p:cNvPr>
          <p:cNvSpPr/>
          <p:nvPr/>
        </p:nvSpPr>
        <p:spPr>
          <a:xfrm>
            <a:off x="714244" y="3441773"/>
            <a:ext cx="1891884" cy="4242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err="1">
                <a:solidFill>
                  <a:srgbClr val="002060"/>
                </a:solidFill>
              </a:rPr>
              <a:t>Subchunk</a:t>
            </a:r>
            <a:r>
              <a:rPr kumimoji="1" lang="en-US" altLang="zh-CN">
                <a:solidFill>
                  <a:srgbClr val="002060"/>
                </a:solidFill>
              </a:rPr>
              <a:t> sorting</a:t>
            </a:r>
            <a:endParaRPr kumimoji="1" lang="zh-CN" altLang="en-US">
              <a:solidFill>
                <a:srgbClr val="002060"/>
              </a:solidFill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2EB9597-8039-2742-8483-F4E18C77EBE1}"/>
              </a:ext>
            </a:extLst>
          </p:cNvPr>
          <p:cNvGrpSpPr/>
          <p:nvPr/>
        </p:nvGrpSpPr>
        <p:grpSpPr>
          <a:xfrm>
            <a:off x="2664393" y="3506227"/>
            <a:ext cx="2848845" cy="984224"/>
            <a:chOff x="4646813" y="3802683"/>
            <a:chExt cx="3291835" cy="984224"/>
          </a:xfrm>
        </p:grpSpPr>
        <p:sp>
          <p:nvSpPr>
            <p:cNvPr id="12" name="圆角矩形 11">
              <a:extLst>
                <a:ext uri="{FF2B5EF4-FFF2-40B4-BE49-F238E27FC236}">
                  <a16:creationId xmlns:a16="http://schemas.microsoft.com/office/drawing/2014/main" id="{29A3BF85-6328-F591-9FCB-F55CEE741445}"/>
                </a:ext>
              </a:extLst>
            </p:cNvPr>
            <p:cNvSpPr/>
            <p:nvPr/>
          </p:nvSpPr>
          <p:spPr>
            <a:xfrm>
              <a:off x="4705003" y="3802683"/>
              <a:ext cx="3175456" cy="984224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C49D4CED-35BA-3EF1-6FC7-BDC446DF0B64}"/>
                </a:ext>
              </a:extLst>
            </p:cNvPr>
            <p:cNvSpPr txBox="1"/>
            <p:nvPr/>
          </p:nvSpPr>
          <p:spPr>
            <a:xfrm>
              <a:off x="4646813" y="3813442"/>
              <a:ext cx="329183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/>
                <a:t>Event handle</a:t>
              </a:r>
            </a:p>
            <a:p>
              <a:pPr algn="ctr"/>
              <a:r>
                <a:rPr kumimoji="1" lang="en-US" altLang="zh-CN"/>
                <a:t>Transmission start/complete</a:t>
              </a:r>
            </a:p>
            <a:p>
              <a:pPr algn="ctr"/>
              <a:r>
                <a:rPr kumimoji="1" lang="en-US" altLang="zh-CN"/>
                <a:t>Reception start/complete</a:t>
              </a:r>
            </a:p>
          </p:txBody>
        </p:sp>
      </p:grp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9D70EBB7-D6A2-B844-C5CC-2FD57F797EF1}"/>
              </a:ext>
            </a:extLst>
          </p:cNvPr>
          <p:cNvSpPr/>
          <p:nvPr/>
        </p:nvSpPr>
        <p:spPr>
          <a:xfrm>
            <a:off x="3454957" y="2683213"/>
            <a:ext cx="1269278" cy="4242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002060"/>
                </a:solidFill>
              </a:rPr>
              <a:t>Next event</a:t>
            </a:r>
            <a:endParaRPr kumimoji="1" lang="zh-CN" altLang="en-US">
              <a:solidFill>
                <a:srgbClr val="002060"/>
              </a:solidFill>
            </a:endParaRPr>
          </a:p>
        </p:txBody>
      </p:sp>
      <p:sp>
        <p:nvSpPr>
          <p:cNvPr id="15" name="Diamond 5">
            <a:extLst>
              <a:ext uri="{FF2B5EF4-FFF2-40B4-BE49-F238E27FC236}">
                <a16:creationId xmlns:a16="http://schemas.microsoft.com/office/drawing/2014/main" id="{49EDCDE7-6E1A-78AC-3CCC-39BDB57F8384}"/>
              </a:ext>
            </a:extLst>
          </p:cNvPr>
          <p:cNvSpPr/>
          <p:nvPr/>
        </p:nvSpPr>
        <p:spPr>
          <a:xfrm>
            <a:off x="561158" y="4904748"/>
            <a:ext cx="2198053" cy="775920"/>
          </a:xfrm>
          <a:prstGeom prst="diamond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>
                <a:solidFill>
                  <a:srgbClr val="002060"/>
                </a:solidFill>
              </a:rPr>
              <a:t>Collective finished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D29E3984-E800-0601-1695-0EE4DC235E9B}"/>
              </a:ext>
            </a:extLst>
          </p:cNvPr>
          <p:cNvSpPr/>
          <p:nvPr/>
        </p:nvSpPr>
        <p:spPr>
          <a:xfrm>
            <a:off x="714244" y="4200332"/>
            <a:ext cx="1891884" cy="424279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002060"/>
                </a:solidFill>
              </a:rPr>
              <a:t>Transmission</a:t>
            </a:r>
            <a:endParaRPr kumimoji="1" lang="zh-CN" altLang="en-US">
              <a:solidFill>
                <a:srgbClr val="002060"/>
              </a:solidFill>
            </a:endParaRPr>
          </a:p>
        </p:txBody>
      </p:sp>
      <p:cxnSp>
        <p:nvCxnSpPr>
          <p:cNvPr id="17" name="Straight Arrow Connector 58">
            <a:extLst>
              <a:ext uri="{FF2B5EF4-FFF2-40B4-BE49-F238E27FC236}">
                <a16:creationId xmlns:a16="http://schemas.microsoft.com/office/drawing/2014/main" id="{93F32C9A-CD96-079F-7C25-4CE5A6FABFFC}"/>
              </a:ext>
            </a:extLst>
          </p:cNvPr>
          <p:cNvCxnSpPr>
            <a:cxnSpLocks/>
          </p:cNvCxnSpPr>
          <p:nvPr/>
        </p:nvCxnSpPr>
        <p:spPr>
          <a:xfrm flipH="1">
            <a:off x="1660184" y="5675212"/>
            <a:ext cx="1" cy="4588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58">
            <a:extLst>
              <a:ext uri="{FF2B5EF4-FFF2-40B4-BE49-F238E27FC236}">
                <a16:creationId xmlns:a16="http://schemas.microsoft.com/office/drawing/2014/main" id="{4581CB5C-EDB5-EBA3-72BA-9949746B698C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660184" y="2344233"/>
            <a:ext cx="2" cy="338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58">
            <a:extLst>
              <a:ext uri="{FF2B5EF4-FFF2-40B4-BE49-F238E27FC236}">
                <a16:creationId xmlns:a16="http://schemas.microsoft.com/office/drawing/2014/main" id="{B35F3844-028B-7004-70E9-0240E9667D63}"/>
              </a:ext>
            </a:extLst>
          </p:cNvPr>
          <p:cNvCxnSpPr>
            <a:cxnSpLocks/>
          </p:cNvCxnSpPr>
          <p:nvPr/>
        </p:nvCxnSpPr>
        <p:spPr>
          <a:xfrm>
            <a:off x="1660184" y="3083417"/>
            <a:ext cx="2" cy="338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58">
            <a:extLst>
              <a:ext uri="{FF2B5EF4-FFF2-40B4-BE49-F238E27FC236}">
                <a16:creationId xmlns:a16="http://schemas.microsoft.com/office/drawing/2014/main" id="{1BD99954-0B0C-B551-722B-CB2E60263A31}"/>
              </a:ext>
            </a:extLst>
          </p:cNvPr>
          <p:cNvCxnSpPr>
            <a:cxnSpLocks/>
          </p:cNvCxnSpPr>
          <p:nvPr/>
        </p:nvCxnSpPr>
        <p:spPr>
          <a:xfrm>
            <a:off x="1660182" y="3853881"/>
            <a:ext cx="2" cy="338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58">
            <a:extLst>
              <a:ext uri="{FF2B5EF4-FFF2-40B4-BE49-F238E27FC236}">
                <a16:creationId xmlns:a16="http://schemas.microsoft.com/office/drawing/2014/main" id="{EDD823C1-E2A9-2742-F021-9D31F1B2F558}"/>
              </a:ext>
            </a:extLst>
          </p:cNvPr>
          <p:cNvCxnSpPr>
            <a:cxnSpLocks/>
          </p:cNvCxnSpPr>
          <p:nvPr/>
        </p:nvCxnSpPr>
        <p:spPr>
          <a:xfrm>
            <a:off x="1660182" y="4595019"/>
            <a:ext cx="2" cy="338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57">
            <a:extLst>
              <a:ext uri="{FF2B5EF4-FFF2-40B4-BE49-F238E27FC236}">
                <a16:creationId xmlns:a16="http://schemas.microsoft.com/office/drawing/2014/main" id="{C8137BCE-346D-CFF1-B16E-8DA6A61556AD}"/>
              </a:ext>
            </a:extLst>
          </p:cNvPr>
          <p:cNvCxnSpPr>
            <a:cxnSpLocks/>
            <a:stCxn id="15" idx="3"/>
            <a:endCxn id="12" idx="2"/>
          </p:cNvCxnSpPr>
          <p:nvPr/>
        </p:nvCxnSpPr>
        <p:spPr>
          <a:xfrm flipV="1">
            <a:off x="2759211" y="4490451"/>
            <a:ext cx="1329605" cy="802257"/>
          </a:xfrm>
          <a:prstGeom prst="bent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58">
            <a:extLst>
              <a:ext uri="{FF2B5EF4-FFF2-40B4-BE49-F238E27FC236}">
                <a16:creationId xmlns:a16="http://schemas.microsoft.com/office/drawing/2014/main" id="{50388C08-C679-A35B-60D2-72701F127AB7}"/>
              </a:ext>
            </a:extLst>
          </p:cNvPr>
          <p:cNvCxnSpPr>
            <a:cxnSpLocks/>
            <a:stCxn id="13" idx="0"/>
            <a:endCxn id="14" idx="2"/>
          </p:cNvCxnSpPr>
          <p:nvPr/>
        </p:nvCxnSpPr>
        <p:spPr>
          <a:xfrm flipV="1">
            <a:off x="4088816" y="3107492"/>
            <a:ext cx="780" cy="4094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58">
            <a:extLst>
              <a:ext uri="{FF2B5EF4-FFF2-40B4-BE49-F238E27FC236}">
                <a16:creationId xmlns:a16="http://schemas.microsoft.com/office/drawing/2014/main" id="{EE8B20BC-5FBD-E4C1-F2A5-CC0B00DAF25D}"/>
              </a:ext>
            </a:extLst>
          </p:cNvPr>
          <p:cNvCxnSpPr>
            <a:cxnSpLocks/>
            <a:stCxn id="14" idx="1"/>
            <a:endCxn id="9" idx="3"/>
          </p:cNvCxnSpPr>
          <p:nvPr/>
        </p:nvCxnSpPr>
        <p:spPr>
          <a:xfrm flipH="1">
            <a:off x="2665379" y="2895353"/>
            <a:ext cx="789578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1BE9D3FA-DC64-65B0-77F5-CED56238CD6F}"/>
              </a:ext>
            </a:extLst>
          </p:cNvPr>
          <p:cNvSpPr txBox="1"/>
          <p:nvPr/>
        </p:nvSpPr>
        <p:spPr>
          <a:xfrm>
            <a:off x="2966173" y="4945961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No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91896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3FA59-F1D4-E4F0-CCA0-86AAB00F4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BBD86F-7429-4016-50B1-34612F526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noProof="0">
                <a:latin typeface="Abel" panose="02000506030000020004" pitchFamily="2" charset="0"/>
              </a:rPr>
              <a:t>Flow Chart of the Proposed Algorithm</a:t>
            </a:r>
            <a:endParaRPr kumimoji="1" lang="en-US" noProof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69EE8F6-6E20-BC35-78AB-C30C0ADD0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SCALE-CCL: A Scalable Collective Communication Library for Wide-Area Distributed Training, Jiaheng, INET4AI ’25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B51319-F62B-B830-BB38-5260212D6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9</a:t>
            </a:fld>
            <a:endParaRPr 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29B697-5A84-8CD7-FEF1-1533950A7DBB}"/>
              </a:ext>
            </a:extLst>
          </p:cNvPr>
          <p:cNvSpPr txBox="1"/>
          <p:nvPr/>
        </p:nvSpPr>
        <p:spPr>
          <a:xfrm>
            <a:off x="2120099" y="5554004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Yes</a:t>
            </a:r>
            <a:endParaRPr kumimoji="1"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3BED7B02-22BD-EEB2-6BC6-1211B12E3007}"/>
              </a:ext>
            </a:extLst>
          </p:cNvPr>
          <p:cNvSpPr/>
          <p:nvPr/>
        </p:nvSpPr>
        <p:spPr>
          <a:xfrm>
            <a:off x="878737" y="1767491"/>
            <a:ext cx="2493818" cy="4242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</a:rPr>
              <a:t>Partition into </a:t>
            </a:r>
            <a:r>
              <a:rPr kumimoji="1" lang="en-US" altLang="zh-CN" err="1">
                <a:solidFill>
                  <a:schemeClr val="tx1"/>
                </a:solidFill>
              </a:rPr>
              <a:t>subchunks</a:t>
            </a: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4CD7657-7DE8-F9EC-7881-A1C3AD63E5E4}"/>
              </a:ext>
            </a:extLst>
          </p:cNvPr>
          <p:cNvSpPr/>
          <p:nvPr/>
        </p:nvSpPr>
        <p:spPr>
          <a:xfrm>
            <a:off x="1114909" y="2528023"/>
            <a:ext cx="2010387" cy="4242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FF0000"/>
                </a:solidFill>
              </a:rPr>
              <a:t>Local load balance</a:t>
            </a:r>
            <a:endParaRPr kumimoji="1" lang="zh-CN" altLang="en-US">
              <a:solidFill>
                <a:srgbClr val="FF0000"/>
              </a:solidFill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D4FB26D9-B7EA-BC8D-5C13-4A39A177172A}"/>
              </a:ext>
            </a:extLst>
          </p:cNvPr>
          <p:cNvSpPr/>
          <p:nvPr/>
        </p:nvSpPr>
        <p:spPr>
          <a:xfrm>
            <a:off x="1174161" y="3286582"/>
            <a:ext cx="1891884" cy="4242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err="1">
                <a:solidFill>
                  <a:srgbClr val="002060"/>
                </a:solidFill>
              </a:rPr>
              <a:t>Subchunk</a:t>
            </a:r>
            <a:r>
              <a:rPr kumimoji="1" lang="en-US" altLang="zh-CN">
                <a:solidFill>
                  <a:srgbClr val="002060"/>
                </a:solidFill>
              </a:rPr>
              <a:t> sorting</a:t>
            </a:r>
            <a:endParaRPr kumimoji="1" lang="zh-CN" altLang="en-US">
              <a:solidFill>
                <a:srgbClr val="002060"/>
              </a:solidFill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70881C8-0839-8D2F-2A88-B6A9953C331E}"/>
              </a:ext>
            </a:extLst>
          </p:cNvPr>
          <p:cNvGrpSpPr/>
          <p:nvPr/>
        </p:nvGrpSpPr>
        <p:grpSpPr>
          <a:xfrm>
            <a:off x="3124310" y="3351036"/>
            <a:ext cx="2848845" cy="984224"/>
            <a:chOff x="4646813" y="3802683"/>
            <a:chExt cx="3291835" cy="984224"/>
          </a:xfrm>
        </p:grpSpPr>
        <p:sp>
          <p:nvSpPr>
            <p:cNvPr id="12" name="圆角矩形 11">
              <a:extLst>
                <a:ext uri="{FF2B5EF4-FFF2-40B4-BE49-F238E27FC236}">
                  <a16:creationId xmlns:a16="http://schemas.microsoft.com/office/drawing/2014/main" id="{473B8282-7599-1983-9715-15258750F019}"/>
                </a:ext>
              </a:extLst>
            </p:cNvPr>
            <p:cNvSpPr/>
            <p:nvPr/>
          </p:nvSpPr>
          <p:spPr>
            <a:xfrm>
              <a:off x="4705003" y="3802683"/>
              <a:ext cx="3175456" cy="984224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DE96D4DD-D328-A06C-4BCE-4BB3321315D0}"/>
                </a:ext>
              </a:extLst>
            </p:cNvPr>
            <p:cNvSpPr txBox="1"/>
            <p:nvPr/>
          </p:nvSpPr>
          <p:spPr>
            <a:xfrm>
              <a:off x="4646813" y="3813442"/>
              <a:ext cx="329183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/>
                <a:t>Event handle</a:t>
              </a:r>
            </a:p>
            <a:p>
              <a:pPr algn="ctr"/>
              <a:r>
                <a:rPr kumimoji="1" lang="en-US" altLang="zh-CN"/>
                <a:t>Transmission start/complete</a:t>
              </a:r>
            </a:p>
            <a:p>
              <a:pPr algn="ctr"/>
              <a:r>
                <a:rPr kumimoji="1" lang="en-US" altLang="zh-CN"/>
                <a:t>Reception start/complete</a:t>
              </a:r>
            </a:p>
          </p:txBody>
        </p:sp>
      </p:grp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9AE435DE-0EBA-8A5F-5DA7-0A039C0D2542}"/>
              </a:ext>
            </a:extLst>
          </p:cNvPr>
          <p:cNvSpPr/>
          <p:nvPr/>
        </p:nvSpPr>
        <p:spPr>
          <a:xfrm>
            <a:off x="3914874" y="2528022"/>
            <a:ext cx="1269278" cy="4242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002060"/>
                </a:solidFill>
              </a:rPr>
              <a:t>Next event</a:t>
            </a:r>
            <a:endParaRPr kumimoji="1" lang="zh-CN" altLang="en-US">
              <a:solidFill>
                <a:srgbClr val="002060"/>
              </a:solidFill>
            </a:endParaRPr>
          </a:p>
        </p:txBody>
      </p:sp>
      <p:sp>
        <p:nvSpPr>
          <p:cNvPr id="15" name="Diamond 5">
            <a:extLst>
              <a:ext uri="{FF2B5EF4-FFF2-40B4-BE49-F238E27FC236}">
                <a16:creationId xmlns:a16="http://schemas.microsoft.com/office/drawing/2014/main" id="{2CD50B9D-0E7F-AAAF-B357-A148EF07E69C}"/>
              </a:ext>
            </a:extLst>
          </p:cNvPr>
          <p:cNvSpPr/>
          <p:nvPr/>
        </p:nvSpPr>
        <p:spPr>
          <a:xfrm>
            <a:off x="1021075" y="4749557"/>
            <a:ext cx="2198053" cy="775920"/>
          </a:xfrm>
          <a:prstGeom prst="diamond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>
                <a:solidFill>
                  <a:srgbClr val="002060"/>
                </a:solidFill>
              </a:rPr>
              <a:t>Collective finished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7B7D9E1E-C471-E741-0715-77CB5F2D5A2F}"/>
              </a:ext>
            </a:extLst>
          </p:cNvPr>
          <p:cNvSpPr/>
          <p:nvPr/>
        </p:nvSpPr>
        <p:spPr>
          <a:xfrm>
            <a:off x="1174161" y="4045141"/>
            <a:ext cx="1891884" cy="424279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002060"/>
                </a:solidFill>
              </a:rPr>
              <a:t>Transmission</a:t>
            </a:r>
            <a:endParaRPr kumimoji="1" lang="zh-CN" altLang="en-US">
              <a:solidFill>
                <a:srgbClr val="002060"/>
              </a:solidFill>
            </a:endParaRPr>
          </a:p>
        </p:txBody>
      </p:sp>
      <p:cxnSp>
        <p:nvCxnSpPr>
          <p:cNvPr id="17" name="Straight Arrow Connector 58">
            <a:extLst>
              <a:ext uri="{FF2B5EF4-FFF2-40B4-BE49-F238E27FC236}">
                <a16:creationId xmlns:a16="http://schemas.microsoft.com/office/drawing/2014/main" id="{75AAB9A1-6635-2D8F-B076-9C43737F99EA}"/>
              </a:ext>
            </a:extLst>
          </p:cNvPr>
          <p:cNvCxnSpPr>
            <a:cxnSpLocks/>
          </p:cNvCxnSpPr>
          <p:nvPr/>
        </p:nvCxnSpPr>
        <p:spPr>
          <a:xfrm flipH="1">
            <a:off x="2120101" y="5520021"/>
            <a:ext cx="1" cy="4588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58">
            <a:extLst>
              <a:ext uri="{FF2B5EF4-FFF2-40B4-BE49-F238E27FC236}">
                <a16:creationId xmlns:a16="http://schemas.microsoft.com/office/drawing/2014/main" id="{56BDD52F-4DE6-ADD4-71C7-10AFFB322AA2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2120101" y="2189042"/>
            <a:ext cx="2" cy="338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58">
            <a:extLst>
              <a:ext uri="{FF2B5EF4-FFF2-40B4-BE49-F238E27FC236}">
                <a16:creationId xmlns:a16="http://schemas.microsoft.com/office/drawing/2014/main" id="{081BA802-1FC1-8A48-B77A-443A62A90C92}"/>
              </a:ext>
            </a:extLst>
          </p:cNvPr>
          <p:cNvCxnSpPr>
            <a:cxnSpLocks/>
          </p:cNvCxnSpPr>
          <p:nvPr/>
        </p:nvCxnSpPr>
        <p:spPr>
          <a:xfrm>
            <a:off x="2120101" y="2928226"/>
            <a:ext cx="2" cy="338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58">
            <a:extLst>
              <a:ext uri="{FF2B5EF4-FFF2-40B4-BE49-F238E27FC236}">
                <a16:creationId xmlns:a16="http://schemas.microsoft.com/office/drawing/2014/main" id="{39A1A80D-AAC3-1AEF-08B2-F0282791E008}"/>
              </a:ext>
            </a:extLst>
          </p:cNvPr>
          <p:cNvCxnSpPr>
            <a:cxnSpLocks/>
          </p:cNvCxnSpPr>
          <p:nvPr/>
        </p:nvCxnSpPr>
        <p:spPr>
          <a:xfrm>
            <a:off x="2120099" y="3698690"/>
            <a:ext cx="2" cy="338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58">
            <a:extLst>
              <a:ext uri="{FF2B5EF4-FFF2-40B4-BE49-F238E27FC236}">
                <a16:creationId xmlns:a16="http://schemas.microsoft.com/office/drawing/2014/main" id="{6D8892B1-DA21-69B7-E342-A924BDACB4C3}"/>
              </a:ext>
            </a:extLst>
          </p:cNvPr>
          <p:cNvCxnSpPr>
            <a:cxnSpLocks/>
          </p:cNvCxnSpPr>
          <p:nvPr/>
        </p:nvCxnSpPr>
        <p:spPr>
          <a:xfrm>
            <a:off x="2120099" y="4439828"/>
            <a:ext cx="2" cy="338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57">
            <a:extLst>
              <a:ext uri="{FF2B5EF4-FFF2-40B4-BE49-F238E27FC236}">
                <a16:creationId xmlns:a16="http://schemas.microsoft.com/office/drawing/2014/main" id="{863EED66-8B80-BACD-34BA-A769546B6D53}"/>
              </a:ext>
            </a:extLst>
          </p:cNvPr>
          <p:cNvCxnSpPr>
            <a:cxnSpLocks/>
            <a:stCxn id="15" idx="3"/>
            <a:endCxn id="12" idx="2"/>
          </p:cNvCxnSpPr>
          <p:nvPr/>
        </p:nvCxnSpPr>
        <p:spPr>
          <a:xfrm flipV="1">
            <a:off x="3219128" y="4335260"/>
            <a:ext cx="1329605" cy="802257"/>
          </a:xfrm>
          <a:prstGeom prst="bent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58">
            <a:extLst>
              <a:ext uri="{FF2B5EF4-FFF2-40B4-BE49-F238E27FC236}">
                <a16:creationId xmlns:a16="http://schemas.microsoft.com/office/drawing/2014/main" id="{5BD90F71-0CD7-E26A-7AA5-E9C2251487FE}"/>
              </a:ext>
            </a:extLst>
          </p:cNvPr>
          <p:cNvCxnSpPr>
            <a:cxnSpLocks/>
            <a:stCxn id="13" idx="0"/>
            <a:endCxn id="14" idx="2"/>
          </p:cNvCxnSpPr>
          <p:nvPr/>
        </p:nvCxnSpPr>
        <p:spPr>
          <a:xfrm flipV="1">
            <a:off x="4548733" y="2952301"/>
            <a:ext cx="780" cy="4094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58">
            <a:extLst>
              <a:ext uri="{FF2B5EF4-FFF2-40B4-BE49-F238E27FC236}">
                <a16:creationId xmlns:a16="http://schemas.microsoft.com/office/drawing/2014/main" id="{1CB5DEF9-859B-DB81-9875-8D92EB8B2451}"/>
              </a:ext>
            </a:extLst>
          </p:cNvPr>
          <p:cNvCxnSpPr>
            <a:cxnSpLocks/>
            <a:stCxn id="14" idx="1"/>
            <a:endCxn id="9" idx="3"/>
          </p:cNvCxnSpPr>
          <p:nvPr/>
        </p:nvCxnSpPr>
        <p:spPr>
          <a:xfrm flipH="1">
            <a:off x="3125296" y="2740162"/>
            <a:ext cx="789578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6FB7A2AF-1A2F-3091-87AD-AB31A0EDEB84}"/>
              </a:ext>
            </a:extLst>
          </p:cNvPr>
          <p:cNvSpPr txBox="1"/>
          <p:nvPr/>
        </p:nvSpPr>
        <p:spPr>
          <a:xfrm>
            <a:off x="3426090" y="4790770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No</a:t>
            </a:r>
            <a:endParaRPr kumimoji="1" lang="zh-CN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0E12F5E5-58E3-7858-FCAA-01A659EF26FE}"/>
              </a:ext>
            </a:extLst>
          </p:cNvPr>
          <p:cNvSpPr/>
          <p:nvPr/>
        </p:nvSpPr>
        <p:spPr>
          <a:xfrm>
            <a:off x="6405544" y="1768060"/>
            <a:ext cx="1430217" cy="422893"/>
          </a:xfrm>
          <a:prstGeom prst="roundRect">
            <a:avLst/>
          </a:prstGeom>
          <a:solidFill>
            <a:srgbClr val="E8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</a:t>
            </a: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Sub chunk: 0,1,2,3</a:t>
            </a:r>
            <a:r>
              <a:rPr kumimoji="1" lang="zh-CN" altLang="en-US" sz="12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8B3EE2C-2B18-7489-56AA-AD5A48E972C3}"/>
              </a:ext>
            </a:extLst>
          </p:cNvPr>
          <p:cNvSpPr/>
          <p:nvPr/>
        </p:nvSpPr>
        <p:spPr>
          <a:xfrm>
            <a:off x="8534913" y="1503942"/>
            <a:ext cx="1304905" cy="405007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Border Router 0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2BD2F136-8C9C-9E71-99A6-C7B178653862}"/>
              </a:ext>
            </a:extLst>
          </p:cNvPr>
          <p:cNvSpPr/>
          <p:nvPr/>
        </p:nvSpPr>
        <p:spPr>
          <a:xfrm>
            <a:off x="8534913" y="1996445"/>
            <a:ext cx="1304905" cy="405007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Border Router 1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DD3C5534-EC4B-7636-079D-F6F0CB2C8AA8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 flipV="1">
            <a:off x="7835761" y="1706446"/>
            <a:ext cx="699152" cy="273061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DC8012A2-525A-519F-4D66-39B039C00501}"/>
              </a:ext>
            </a:extLst>
          </p:cNvPr>
          <p:cNvCxnSpPr>
            <a:cxnSpLocks/>
            <a:stCxn id="3" idx="3"/>
            <a:endCxn id="26" idx="1"/>
          </p:cNvCxnSpPr>
          <p:nvPr/>
        </p:nvCxnSpPr>
        <p:spPr>
          <a:xfrm>
            <a:off x="7835761" y="1979507"/>
            <a:ext cx="699152" cy="21944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5E17726D-5333-8045-A674-F798E8CEAA79}"/>
              </a:ext>
            </a:extLst>
          </p:cNvPr>
          <p:cNvSpPr txBox="1"/>
          <p:nvPr/>
        </p:nvSpPr>
        <p:spPr>
          <a:xfrm rot="20334212">
            <a:off x="7787892" y="1668191"/>
            <a:ext cx="5822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00"/>
              <a:t>Queue 0</a:t>
            </a:r>
            <a:endParaRPr kumimoji="1" lang="zh-CN" altLang="en-US" sz="90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7B7AF09-B2BF-E88B-D35F-6D2F38E0FD69}"/>
              </a:ext>
            </a:extLst>
          </p:cNvPr>
          <p:cNvSpPr txBox="1"/>
          <p:nvPr/>
        </p:nvSpPr>
        <p:spPr>
          <a:xfrm rot="1243026">
            <a:off x="7785628" y="2031091"/>
            <a:ext cx="5822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00"/>
              <a:t>Queue 1</a:t>
            </a:r>
            <a:endParaRPr kumimoji="1" lang="zh-CN" altLang="en-US" sz="900"/>
          </a:p>
        </p:txBody>
      </p:sp>
      <p:sp>
        <p:nvSpPr>
          <p:cNvPr id="31" name="右箭头 30">
            <a:extLst>
              <a:ext uri="{FF2B5EF4-FFF2-40B4-BE49-F238E27FC236}">
                <a16:creationId xmlns:a16="http://schemas.microsoft.com/office/drawing/2014/main" id="{EE18C4E5-F248-C82D-8EE3-A611D6A62CCA}"/>
              </a:ext>
            </a:extLst>
          </p:cNvPr>
          <p:cNvSpPr/>
          <p:nvPr/>
        </p:nvSpPr>
        <p:spPr>
          <a:xfrm rot="5400000">
            <a:off x="6754431" y="2484041"/>
            <a:ext cx="682143" cy="1119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5D71897-F020-46DC-AF7E-026D092D6E50}"/>
              </a:ext>
            </a:extLst>
          </p:cNvPr>
          <p:cNvSpPr txBox="1"/>
          <p:nvPr/>
        </p:nvSpPr>
        <p:spPr>
          <a:xfrm>
            <a:off x="7125986" y="2388181"/>
            <a:ext cx="15233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/>
              <a:t>Local load balance</a:t>
            </a:r>
            <a:endParaRPr kumimoji="1" lang="zh-CN" altLang="en-US" sz="1400"/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6C40D864-5554-5EFA-49FE-ECA60478C876}"/>
              </a:ext>
            </a:extLst>
          </p:cNvPr>
          <p:cNvSpPr/>
          <p:nvPr/>
        </p:nvSpPr>
        <p:spPr>
          <a:xfrm>
            <a:off x="6405543" y="2897081"/>
            <a:ext cx="1406723" cy="422893"/>
          </a:xfrm>
          <a:prstGeom prst="roundRect">
            <a:avLst/>
          </a:prstGeom>
          <a:solidFill>
            <a:srgbClr val="E8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</a:t>
            </a: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Sub chunk: 0,1,2,3</a:t>
            </a:r>
            <a:r>
              <a:rPr kumimoji="1" lang="zh-CN" altLang="en-US" sz="12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DF320A18-C73A-74E7-5D52-29916BADB334}"/>
              </a:ext>
            </a:extLst>
          </p:cNvPr>
          <p:cNvSpPr/>
          <p:nvPr/>
        </p:nvSpPr>
        <p:spPr>
          <a:xfrm>
            <a:off x="8541174" y="2614132"/>
            <a:ext cx="1304905" cy="405007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Border Router 0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54367FF9-6776-20CF-3A83-901657B9F141}"/>
              </a:ext>
            </a:extLst>
          </p:cNvPr>
          <p:cNvSpPr/>
          <p:nvPr/>
        </p:nvSpPr>
        <p:spPr>
          <a:xfrm>
            <a:off x="8542152" y="3248104"/>
            <a:ext cx="1298427" cy="405007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Border Router 1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35A1441C-A7A6-EC6C-C905-C02CCF3E71D9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 flipV="1">
            <a:off x="7812266" y="2816636"/>
            <a:ext cx="728908" cy="29189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线连接符 36">
            <a:extLst>
              <a:ext uri="{FF2B5EF4-FFF2-40B4-BE49-F238E27FC236}">
                <a16:creationId xmlns:a16="http://schemas.microsoft.com/office/drawing/2014/main" id="{FB822B4E-60D4-5357-86E9-FF8FC2965A42}"/>
              </a:ext>
            </a:extLst>
          </p:cNvPr>
          <p:cNvCxnSpPr>
            <a:cxnSpLocks/>
            <a:stCxn id="33" idx="3"/>
            <a:endCxn id="35" idx="1"/>
          </p:cNvCxnSpPr>
          <p:nvPr/>
        </p:nvCxnSpPr>
        <p:spPr>
          <a:xfrm>
            <a:off x="7812266" y="3108528"/>
            <a:ext cx="729886" cy="34208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D9573341-74C3-FC46-BF40-275C048910A8}"/>
              </a:ext>
            </a:extLst>
          </p:cNvPr>
          <p:cNvSpPr txBox="1"/>
          <p:nvPr/>
        </p:nvSpPr>
        <p:spPr>
          <a:xfrm rot="20478981">
            <a:off x="7848459" y="2837266"/>
            <a:ext cx="10886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900"/>
              <a:t>Queue 0: </a:t>
            </a:r>
            <a:r>
              <a:rPr kumimoji="1" lang="en-US" altLang="zh-CN" sz="900">
                <a:solidFill>
                  <a:srgbClr val="FF0000"/>
                </a:solidFill>
              </a:rPr>
              <a:t>2,3</a:t>
            </a:r>
            <a:endParaRPr kumimoji="1" lang="zh-CN" altLang="en-US" sz="900">
              <a:solidFill>
                <a:srgbClr val="FF0000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6AB0E3E-A26D-486D-DC38-4DA05E31D2AC}"/>
              </a:ext>
            </a:extLst>
          </p:cNvPr>
          <p:cNvSpPr txBox="1"/>
          <p:nvPr/>
        </p:nvSpPr>
        <p:spPr>
          <a:xfrm rot="1672720">
            <a:off x="7806826" y="3307675"/>
            <a:ext cx="10237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900"/>
              <a:t>Queue 1: </a:t>
            </a:r>
            <a:r>
              <a:rPr kumimoji="1" lang="en-US" altLang="zh-CN" sz="900">
                <a:solidFill>
                  <a:srgbClr val="FF0000"/>
                </a:solidFill>
              </a:rPr>
              <a:t>0, 1</a:t>
            </a:r>
            <a:endParaRPr kumimoji="1" lang="zh-CN" altLang="en-US" sz="900">
              <a:solidFill>
                <a:srgbClr val="FF0000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30FB9B0-B53C-606E-6F7C-A3AA7E327010}"/>
              </a:ext>
            </a:extLst>
          </p:cNvPr>
          <p:cNvSpPr txBox="1"/>
          <p:nvPr/>
        </p:nvSpPr>
        <p:spPr>
          <a:xfrm>
            <a:off x="6308597" y="3901352"/>
            <a:ext cx="546243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Local-Only Decisions</a:t>
            </a:r>
            <a:r>
              <a:rPr lang="en-US" altLang="zh-CN" dirty="0"/>
              <a:t>: </a:t>
            </a:r>
            <a:r>
              <a:rPr lang="zh-CN" altLang="en-US" dirty="0"/>
              <a:t>Nodes assign subchunks based on their own state and neighbors’ known holdings.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Per-Neighbor Queues</a:t>
            </a:r>
            <a:r>
              <a:rPr lang="en-US" altLang="zh-CN" dirty="0"/>
              <a:t>: </a:t>
            </a:r>
            <a:r>
              <a:rPr lang="zh-CN" altLang="en-US" dirty="0"/>
              <a:t>Avoid redundant sends by tracking neighbor status and balancing load across queues.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Scope</a:t>
            </a:r>
            <a:r>
              <a:rPr lang="en-US" altLang="zh-CN" dirty="0"/>
              <a:t>: </a:t>
            </a:r>
            <a:r>
              <a:rPr lang="zh-CN" altLang="en-US" dirty="0"/>
              <a:t>Load balancing applies to inter-DC/WAN links; intra-DC uses broadcast only.</a:t>
            </a:r>
          </a:p>
        </p:txBody>
      </p:sp>
    </p:spTree>
    <p:extLst>
      <p:ext uri="{BB962C8B-B14F-4D97-AF65-F5344CB8AC3E}">
        <p14:creationId xmlns:p14="http://schemas.microsoft.com/office/powerpoint/2010/main" val="393983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/>
      <p:bldP spid="33" grpId="0" animBg="1"/>
      <p:bldP spid="34" grpId="0" animBg="1"/>
      <p:bldP spid="35" grpId="0" animBg="1"/>
      <p:bldP spid="38" grpId="0"/>
      <p:bldP spid="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3FA59-F1D4-E4F0-CCA0-86AAB00F4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BBD86F-7429-4016-50B1-34612F526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noProof="0">
                <a:latin typeface="Abel" panose="02000506030000020004" pitchFamily="2" charset="0"/>
              </a:rPr>
              <a:t>Flow Chart of the Proposed Algorithm</a:t>
            </a:r>
            <a:endParaRPr kumimoji="1" lang="en-US" noProof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69EE8F6-6E20-BC35-78AB-C30C0ADD0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SCALE-CCL: A Scalable Collective Communication Library for Wide-Area Distributed Training, Jiaheng, INET4AI ’25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B51319-F62B-B830-BB38-5260212D6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10</a:t>
            </a:fld>
            <a:endParaRPr 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29B697-5A84-8CD7-FEF1-1533950A7DBB}"/>
              </a:ext>
            </a:extLst>
          </p:cNvPr>
          <p:cNvSpPr txBox="1"/>
          <p:nvPr/>
        </p:nvSpPr>
        <p:spPr>
          <a:xfrm>
            <a:off x="1642665" y="5615300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Yes</a:t>
            </a:r>
            <a:endParaRPr kumimoji="1"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3BED7B02-22BD-EEB2-6BC6-1211B12E3007}"/>
              </a:ext>
            </a:extLst>
          </p:cNvPr>
          <p:cNvSpPr/>
          <p:nvPr/>
        </p:nvSpPr>
        <p:spPr>
          <a:xfrm>
            <a:off x="401303" y="1828787"/>
            <a:ext cx="2493818" cy="4242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</a:rPr>
              <a:t>Partition into </a:t>
            </a:r>
            <a:r>
              <a:rPr kumimoji="1" lang="en-US" altLang="zh-CN" err="1">
                <a:solidFill>
                  <a:schemeClr val="tx1"/>
                </a:solidFill>
              </a:rPr>
              <a:t>subchunks</a:t>
            </a: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4CD7657-7DE8-F9EC-7881-A1C3AD63E5E4}"/>
              </a:ext>
            </a:extLst>
          </p:cNvPr>
          <p:cNvSpPr/>
          <p:nvPr/>
        </p:nvSpPr>
        <p:spPr>
          <a:xfrm>
            <a:off x="637475" y="2589319"/>
            <a:ext cx="2010387" cy="4242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FF0000"/>
                </a:solidFill>
              </a:rPr>
              <a:t>Local load balance</a:t>
            </a:r>
            <a:endParaRPr kumimoji="1" lang="zh-CN" altLang="en-US">
              <a:solidFill>
                <a:srgbClr val="FF0000"/>
              </a:solidFill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D4FB26D9-B7EA-BC8D-5C13-4A39A177172A}"/>
              </a:ext>
            </a:extLst>
          </p:cNvPr>
          <p:cNvSpPr/>
          <p:nvPr/>
        </p:nvSpPr>
        <p:spPr>
          <a:xfrm>
            <a:off x="696727" y="3347878"/>
            <a:ext cx="1891884" cy="4242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err="1">
                <a:solidFill>
                  <a:srgbClr val="002060"/>
                </a:solidFill>
              </a:rPr>
              <a:t>Subchunk</a:t>
            </a:r>
            <a:r>
              <a:rPr kumimoji="1" lang="en-US" altLang="zh-CN">
                <a:solidFill>
                  <a:srgbClr val="002060"/>
                </a:solidFill>
              </a:rPr>
              <a:t> sorting</a:t>
            </a:r>
            <a:endParaRPr kumimoji="1" lang="zh-CN" altLang="en-US">
              <a:solidFill>
                <a:srgbClr val="002060"/>
              </a:solidFill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70881C8-0839-8D2F-2A88-B6A9953C331E}"/>
              </a:ext>
            </a:extLst>
          </p:cNvPr>
          <p:cNvGrpSpPr/>
          <p:nvPr/>
        </p:nvGrpSpPr>
        <p:grpSpPr>
          <a:xfrm>
            <a:off x="2646876" y="3412332"/>
            <a:ext cx="2848845" cy="984224"/>
            <a:chOff x="4646813" y="3802683"/>
            <a:chExt cx="3291835" cy="984224"/>
          </a:xfrm>
        </p:grpSpPr>
        <p:sp>
          <p:nvSpPr>
            <p:cNvPr id="12" name="圆角矩形 11">
              <a:extLst>
                <a:ext uri="{FF2B5EF4-FFF2-40B4-BE49-F238E27FC236}">
                  <a16:creationId xmlns:a16="http://schemas.microsoft.com/office/drawing/2014/main" id="{473B8282-7599-1983-9715-15258750F019}"/>
                </a:ext>
              </a:extLst>
            </p:cNvPr>
            <p:cNvSpPr/>
            <p:nvPr/>
          </p:nvSpPr>
          <p:spPr>
            <a:xfrm>
              <a:off x="4705003" y="3802683"/>
              <a:ext cx="3175456" cy="984224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DE96D4DD-D328-A06C-4BCE-4BB3321315D0}"/>
                </a:ext>
              </a:extLst>
            </p:cNvPr>
            <p:cNvSpPr txBox="1"/>
            <p:nvPr/>
          </p:nvSpPr>
          <p:spPr>
            <a:xfrm>
              <a:off x="4646813" y="3813442"/>
              <a:ext cx="329183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/>
                <a:t>Event handle</a:t>
              </a:r>
            </a:p>
            <a:p>
              <a:pPr algn="ctr"/>
              <a:r>
                <a:rPr kumimoji="1" lang="en-US" altLang="zh-CN"/>
                <a:t>Transmission start/complete</a:t>
              </a:r>
            </a:p>
            <a:p>
              <a:pPr algn="ctr"/>
              <a:r>
                <a:rPr kumimoji="1" lang="en-US" altLang="zh-CN"/>
                <a:t>Reception start/complete</a:t>
              </a:r>
            </a:p>
          </p:txBody>
        </p:sp>
      </p:grp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9AE435DE-0EBA-8A5F-5DA7-0A039C0D2542}"/>
              </a:ext>
            </a:extLst>
          </p:cNvPr>
          <p:cNvSpPr/>
          <p:nvPr/>
        </p:nvSpPr>
        <p:spPr>
          <a:xfrm>
            <a:off x="3437440" y="2589318"/>
            <a:ext cx="1269278" cy="4242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002060"/>
                </a:solidFill>
              </a:rPr>
              <a:t>Next event</a:t>
            </a:r>
            <a:endParaRPr kumimoji="1" lang="zh-CN" altLang="en-US">
              <a:solidFill>
                <a:srgbClr val="002060"/>
              </a:solidFill>
            </a:endParaRPr>
          </a:p>
        </p:txBody>
      </p:sp>
      <p:sp>
        <p:nvSpPr>
          <p:cNvPr id="15" name="Diamond 5">
            <a:extLst>
              <a:ext uri="{FF2B5EF4-FFF2-40B4-BE49-F238E27FC236}">
                <a16:creationId xmlns:a16="http://schemas.microsoft.com/office/drawing/2014/main" id="{2CD50B9D-0E7F-AAAF-B357-A148EF07E69C}"/>
              </a:ext>
            </a:extLst>
          </p:cNvPr>
          <p:cNvSpPr/>
          <p:nvPr/>
        </p:nvSpPr>
        <p:spPr>
          <a:xfrm>
            <a:off x="543641" y="4810853"/>
            <a:ext cx="2198053" cy="775920"/>
          </a:xfrm>
          <a:prstGeom prst="diamond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>
                <a:solidFill>
                  <a:srgbClr val="002060"/>
                </a:solidFill>
              </a:rPr>
              <a:t>Collective finished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7B7D9E1E-C471-E741-0715-77CB5F2D5A2F}"/>
              </a:ext>
            </a:extLst>
          </p:cNvPr>
          <p:cNvSpPr/>
          <p:nvPr/>
        </p:nvSpPr>
        <p:spPr>
          <a:xfrm>
            <a:off x="696727" y="4106437"/>
            <a:ext cx="1891884" cy="424279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002060"/>
                </a:solidFill>
              </a:rPr>
              <a:t>Transmission</a:t>
            </a:r>
            <a:endParaRPr kumimoji="1" lang="zh-CN" altLang="en-US">
              <a:solidFill>
                <a:srgbClr val="002060"/>
              </a:solidFill>
            </a:endParaRPr>
          </a:p>
        </p:txBody>
      </p:sp>
      <p:cxnSp>
        <p:nvCxnSpPr>
          <p:cNvPr id="17" name="Straight Arrow Connector 58">
            <a:extLst>
              <a:ext uri="{FF2B5EF4-FFF2-40B4-BE49-F238E27FC236}">
                <a16:creationId xmlns:a16="http://schemas.microsoft.com/office/drawing/2014/main" id="{75AAB9A1-6635-2D8F-B076-9C43737F99EA}"/>
              </a:ext>
            </a:extLst>
          </p:cNvPr>
          <p:cNvCxnSpPr>
            <a:cxnSpLocks/>
          </p:cNvCxnSpPr>
          <p:nvPr/>
        </p:nvCxnSpPr>
        <p:spPr>
          <a:xfrm flipH="1">
            <a:off x="1642667" y="5581317"/>
            <a:ext cx="1" cy="4588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58">
            <a:extLst>
              <a:ext uri="{FF2B5EF4-FFF2-40B4-BE49-F238E27FC236}">
                <a16:creationId xmlns:a16="http://schemas.microsoft.com/office/drawing/2014/main" id="{56BDD52F-4DE6-ADD4-71C7-10AFFB322AA2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642667" y="2250338"/>
            <a:ext cx="2" cy="338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58">
            <a:extLst>
              <a:ext uri="{FF2B5EF4-FFF2-40B4-BE49-F238E27FC236}">
                <a16:creationId xmlns:a16="http://schemas.microsoft.com/office/drawing/2014/main" id="{081BA802-1FC1-8A48-B77A-443A62A90C92}"/>
              </a:ext>
            </a:extLst>
          </p:cNvPr>
          <p:cNvCxnSpPr>
            <a:cxnSpLocks/>
          </p:cNvCxnSpPr>
          <p:nvPr/>
        </p:nvCxnSpPr>
        <p:spPr>
          <a:xfrm>
            <a:off x="1642667" y="2989522"/>
            <a:ext cx="2" cy="338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58">
            <a:extLst>
              <a:ext uri="{FF2B5EF4-FFF2-40B4-BE49-F238E27FC236}">
                <a16:creationId xmlns:a16="http://schemas.microsoft.com/office/drawing/2014/main" id="{39A1A80D-AAC3-1AEF-08B2-F0282791E008}"/>
              </a:ext>
            </a:extLst>
          </p:cNvPr>
          <p:cNvCxnSpPr>
            <a:cxnSpLocks/>
          </p:cNvCxnSpPr>
          <p:nvPr/>
        </p:nvCxnSpPr>
        <p:spPr>
          <a:xfrm>
            <a:off x="1642665" y="3759986"/>
            <a:ext cx="2" cy="338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58">
            <a:extLst>
              <a:ext uri="{FF2B5EF4-FFF2-40B4-BE49-F238E27FC236}">
                <a16:creationId xmlns:a16="http://schemas.microsoft.com/office/drawing/2014/main" id="{6D8892B1-DA21-69B7-E342-A924BDACB4C3}"/>
              </a:ext>
            </a:extLst>
          </p:cNvPr>
          <p:cNvCxnSpPr>
            <a:cxnSpLocks/>
          </p:cNvCxnSpPr>
          <p:nvPr/>
        </p:nvCxnSpPr>
        <p:spPr>
          <a:xfrm>
            <a:off x="1642665" y="4501124"/>
            <a:ext cx="2" cy="338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57">
            <a:extLst>
              <a:ext uri="{FF2B5EF4-FFF2-40B4-BE49-F238E27FC236}">
                <a16:creationId xmlns:a16="http://schemas.microsoft.com/office/drawing/2014/main" id="{863EED66-8B80-BACD-34BA-A769546B6D53}"/>
              </a:ext>
            </a:extLst>
          </p:cNvPr>
          <p:cNvCxnSpPr>
            <a:cxnSpLocks/>
            <a:stCxn id="15" idx="3"/>
            <a:endCxn id="12" idx="2"/>
          </p:cNvCxnSpPr>
          <p:nvPr/>
        </p:nvCxnSpPr>
        <p:spPr>
          <a:xfrm flipV="1">
            <a:off x="2741694" y="4396556"/>
            <a:ext cx="1329605" cy="802257"/>
          </a:xfrm>
          <a:prstGeom prst="bent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58">
            <a:extLst>
              <a:ext uri="{FF2B5EF4-FFF2-40B4-BE49-F238E27FC236}">
                <a16:creationId xmlns:a16="http://schemas.microsoft.com/office/drawing/2014/main" id="{5BD90F71-0CD7-E26A-7AA5-E9C2251487FE}"/>
              </a:ext>
            </a:extLst>
          </p:cNvPr>
          <p:cNvCxnSpPr>
            <a:cxnSpLocks/>
            <a:stCxn id="13" idx="0"/>
            <a:endCxn id="14" idx="2"/>
          </p:cNvCxnSpPr>
          <p:nvPr/>
        </p:nvCxnSpPr>
        <p:spPr>
          <a:xfrm flipV="1">
            <a:off x="4071299" y="3013597"/>
            <a:ext cx="780" cy="4094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58">
            <a:extLst>
              <a:ext uri="{FF2B5EF4-FFF2-40B4-BE49-F238E27FC236}">
                <a16:creationId xmlns:a16="http://schemas.microsoft.com/office/drawing/2014/main" id="{1CB5DEF9-859B-DB81-9875-8D92EB8B2451}"/>
              </a:ext>
            </a:extLst>
          </p:cNvPr>
          <p:cNvCxnSpPr>
            <a:cxnSpLocks/>
            <a:stCxn id="14" idx="1"/>
            <a:endCxn id="9" idx="3"/>
          </p:cNvCxnSpPr>
          <p:nvPr/>
        </p:nvCxnSpPr>
        <p:spPr>
          <a:xfrm flipH="1">
            <a:off x="2647862" y="2801458"/>
            <a:ext cx="789578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6FB7A2AF-1A2F-3091-87AD-AB31A0EDEB84}"/>
              </a:ext>
            </a:extLst>
          </p:cNvPr>
          <p:cNvSpPr txBox="1"/>
          <p:nvPr/>
        </p:nvSpPr>
        <p:spPr>
          <a:xfrm>
            <a:off x="2948656" y="4852066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No</a:t>
            </a:r>
            <a:endParaRPr kumimoji="1" lang="zh-CN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0E12F5E5-58E3-7858-FCAA-01A659EF26FE}"/>
              </a:ext>
            </a:extLst>
          </p:cNvPr>
          <p:cNvSpPr/>
          <p:nvPr/>
        </p:nvSpPr>
        <p:spPr>
          <a:xfrm>
            <a:off x="6910445" y="1687898"/>
            <a:ext cx="1430217" cy="422893"/>
          </a:xfrm>
          <a:prstGeom prst="roundRect">
            <a:avLst/>
          </a:prstGeom>
          <a:solidFill>
            <a:srgbClr val="E8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</a:t>
            </a: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Sub chunk: 0,1,2,3</a:t>
            </a:r>
            <a:r>
              <a:rPr kumimoji="1" lang="zh-CN" altLang="en-US" sz="12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8B3EE2C-2B18-7489-56AA-AD5A48E972C3}"/>
              </a:ext>
            </a:extLst>
          </p:cNvPr>
          <p:cNvSpPr/>
          <p:nvPr/>
        </p:nvSpPr>
        <p:spPr>
          <a:xfrm>
            <a:off x="9039814" y="1423780"/>
            <a:ext cx="1304905" cy="405007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Border Router 0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2BD2F136-8C9C-9E71-99A6-C7B178653862}"/>
              </a:ext>
            </a:extLst>
          </p:cNvPr>
          <p:cNvSpPr/>
          <p:nvPr/>
        </p:nvSpPr>
        <p:spPr>
          <a:xfrm>
            <a:off x="9039814" y="1916283"/>
            <a:ext cx="1304905" cy="405007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Border Router 1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DD3C5534-EC4B-7636-079D-F6F0CB2C8AA8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 flipV="1">
            <a:off x="8340662" y="1626284"/>
            <a:ext cx="699152" cy="273061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DC8012A2-525A-519F-4D66-39B039C00501}"/>
              </a:ext>
            </a:extLst>
          </p:cNvPr>
          <p:cNvCxnSpPr>
            <a:cxnSpLocks/>
            <a:stCxn id="3" idx="3"/>
            <a:endCxn id="26" idx="1"/>
          </p:cNvCxnSpPr>
          <p:nvPr/>
        </p:nvCxnSpPr>
        <p:spPr>
          <a:xfrm>
            <a:off x="8340662" y="1899345"/>
            <a:ext cx="699152" cy="21944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5E17726D-5333-8045-A674-F798E8CEAA79}"/>
              </a:ext>
            </a:extLst>
          </p:cNvPr>
          <p:cNvSpPr txBox="1"/>
          <p:nvPr/>
        </p:nvSpPr>
        <p:spPr>
          <a:xfrm rot="20334212">
            <a:off x="8292793" y="1588029"/>
            <a:ext cx="5822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00"/>
              <a:t>Queue 0</a:t>
            </a:r>
            <a:endParaRPr kumimoji="1" lang="zh-CN" altLang="en-US" sz="90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7B7AF09-B2BF-E88B-D35F-6D2F38E0FD69}"/>
              </a:ext>
            </a:extLst>
          </p:cNvPr>
          <p:cNvSpPr txBox="1"/>
          <p:nvPr/>
        </p:nvSpPr>
        <p:spPr>
          <a:xfrm rot="1243026">
            <a:off x="8290529" y="1950929"/>
            <a:ext cx="5822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00"/>
              <a:t>Queue 1</a:t>
            </a:r>
            <a:endParaRPr kumimoji="1" lang="zh-CN" altLang="en-US" sz="900"/>
          </a:p>
        </p:txBody>
      </p:sp>
      <p:sp>
        <p:nvSpPr>
          <p:cNvPr id="31" name="右箭头 30">
            <a:extLst>
              <a:ext uri="{FF2B5EF4-FFF2-40B4-BE49-F238E27FC236}">
                <a16:creationId xmlns:a16="http://schemas.microsoft.com/office/drawing/2014/main" id="{EE18C4E5-F248-C82D-8EE3-A611D6A62CCA}"/>
              </a:ext>
            </a:extLst>
          </p:cNvPr>
          <p:cNvSpPr/>
          <p:nvPr/>
        </p:nvSpPr>
        <p:spPr>
          <a:xfrm rot="5400000">
            <a:off x="7259332" y="2403879"/>
            <a:ext cx="682143" cy="1119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5D71897-F020-46DC-AF7E-026D092D6E50}"/>
              </a:ext>
            </a:extLst>
          </p:cNvPr>
          <p:cNvSpPr txBox="1"/>
          <p:nvPr/>
        </p:nvSpPr>
        <p:spPr>
          <a:xfrm>
            <a:off x="7630887" y="2308019"/>
            <a:ext cx="15233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/>
              <a:t>Local load balance</a:t>
            </a:r>
            <a:endParaRPr kumimoji="1" lang="zh-CN" altLang="en-US" sz="1400"/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6C40D864-5554-5EFA-49FE-ECA60478C876}"/>
              </a:ext>
            </a:extLst>
          </p:cNvPr>
          <p:cNvSpPr/>
          <p:nvPr/>
        </p:nvSpPr>
        <p:spPr>
          <a:xfrm>
            <a:off x="6910444" y="2816919"/>
            <a:ext cx="1406723" cy="422893"/>
          </a:xfrm>
          <a:prstGeom prst="roundRect">
            <a:avLst/>
          </a:prstGeom>
          <a:solidFill>
            <a:srgbClr val="E8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</a:t>
            </a:r>
          </a:p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Sub chunk: 0,1,2,3</a:t>
            </a:r>
            <a:r>
              <a:rPr kumimoji="1" lang="zh-CN" altLang="en-US" sz="12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DF320A18-C73A-74E7-5D52-29916BADB334}"/>
              </a:ext>
            </a:extLst>
          </p:cNvPr>
          <p:cNvSpPr/>
          <p:nvPr/>
        </p:nvSpPr>
        <p:spPr>
          <a:xfrm>
            <a:off x="9046075" y="2533970"/>
            <a:ext cx="1304905" cy="405007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Border Router 0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54367FF9-6776-20CF-3A83-901657B9F141}"/>
              </a:ext>
            </a:extLst>
          </p:cNvPr>
          <p:cNvSpPr/>
          <p:nvPr/>
        </p:nvSpPr>
        <p:spPr>
          <a:xfrm>
            <a:off x="9047053" y="3167942"/>
            <a:ext cx="1298427" cy="405007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Border Router 1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35A1441C-A7A6-EC6C-C905-C02CCF3E71D9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 flipV="1">
            <a:off x="8317167" y="2736474"/>
            <a:ext cx="728908" cy="29189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线连接符 36">
            <a:extLst>
              <a:ext uri="{FF2B5EF4-FFF2-40B4-BE49-F238E27FC236}">
                <a16:creationId xmlns:a16="http://schemas.microsoft.com/office/drawing/2014/main" id="{FB822B4E-60D4-5357-86E9-FF8FC2965A42}"/>
              </a:ext>
            </a:extLst>
          </p:cNvPr>
          <p:cNvCxnSpPr>
            <a:cxnSpLocks/>
            <a:stCxn id="33" idx="3"/>
            <a:endCxn id="35" idx="1"/>
          </p:cNvCxnSpPr>
          <p:nvPr/>
        </p:nvCxnSpPr>
        <p:spPr>
          <a:xfrm>
            <a:off x="8317167" y="3028366"/>
            <a:ext cx="729886" cy="34208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D9573341-74C3-FC46-BF40-275C048910A8}"/>
              </a:ext>
            </a:extLst>
          </p:cNvPr>
          <p:cNvSpPr txBox="1"/>
          <p:nvPr/>
        </p:nvSpPr>
        <p:spPr>
          <a:xfrm rot="20478981">
            <a:off x="8353360" y="2757104"/>
            <a:ext cx="10886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900"/>
              <a:t>Queue 0: </a:t>
            </a:r>
            <a:r>
              <a:rPr kumimoji="1" lang="en-US" altLang="zh-CN" sz="900">
                <a:solidFill>
                  <a:srgbClr val="FF0000"/>
                </a:solidFill>
              </a:rPr>
              <a:t>2,3</a:t>
            </a:r>
            <a:endParaRPr kumimoji="1" lang="zh-CN" altLang="en-US" sz="900">
              <a:solidFill>
                <a:srgbClr val="FF0000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6AB0E3E-A26D-486D-DC38-4DA05E31D2AC}"/>
              </a:ext>
            </a:extLst>
          </p:cNvPr>
          <p:cNvSpPr txBox="1"/>
          <p:nvPr/>
        </p:nvSpPr>
        <p:spPr>
          <a:xfrm rot="1672720">
            <a:off x="8311727" y="3227513"/>
            <a:ext cx="10237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900"/>
              <a:t>Queue 1: </a:t>
            </a:r>
            <a:r>
              <a:rPr kumimoji="1" lang="en-US" altLang="zh-CN" sz="900">
                <a:solidFill>
                  <a:srgbClr val="FF0000"/>
                </a:solidFill>
              </a:rPr>
              <a:t>0, 1</a:t>
            </a:r>
            <a:endParaRPr kumimoji="1" lang="zh-CN" altLang="en-US" sz="900">
              <a:solidFill>
                <a:srgbClr val="FF0000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30FB9B0-B53C-606E-6F7C-A3AA7E327010}"/>
              </a:ext>
            </a:extLst>
          </p:cNvPr>
          <p:cNvSpPr txBox="1"/>
          <p:nvPr/>
        </p:nvSpPr>
        <p:spPr>
          <a:xfrm>
            <a:off x="5477716" y="3782021"/>
            <a:ext cx="662011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Intra-DC network: broadcast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b="1" dirty="0"/>
              <a:t>GPU to border router </a:t>
            </a:r>
            <a:r>
              <a:rPr lang="en-US" altLang="zh-CN" dirty="0"/>
              <a:t>link and </a:t>
            </a:r>
            <a:r>
              <a:rPr lang="en-US" altLang="zh-CN" b="1" dirty="0"/>
              <a:t>border router to border router</a:t>
            </a:r>
            <a:r>
              <a:rPr lang="en-US" altLang="zh-CN" dirty="0"/>
              <a:t> link: load balancing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Local-Only Decisions</a:t>
            </a:r>
            <a:r>
              <a:rPr lang="en-US" altLang="zh-CN" dirty="0"/>
              <a:t>: </a:t>
            </a:r>
            <a:r>
              <a:rPr lang="zh-CN" altLang="en-US" dirty="0"/>
              <a:t>Nodes assign subchunks based on their own state and neighbors’ known holdings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Per-Neighbor Queues</a:t>
            </a:r>
            <a:r>
              <a:rPr lang="en-US" altLang="zh-CN" dirty="0"/>
              <a:t>: </a:t>
            </a:r>
            <a:r>
              <a:rPr lang="zh-CN" altLang="en-US" dirty="0"/>
              <a:t>Avoid redundant sends by tracking neighbor status and balancing load across queues</a:t>
            </a:r>
          </a:p>
        </p:txBody>
      </p:sp>
    </p:spTree>
    <p:extLst>
      <p:ext uri="{BB962C8B-B14F-4D97-AF65-F5344CB8AC3E}">
        <p14:creationId xmlns:p14="http://schemas.microsoft.com/office/powerpoint/2010/main" val="3932584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9F5CA-9568-ABB9-A000-B7FD46FA2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180097-1104-6685-3A0B-0A9547FAA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noProof="0">
                <a:latin typeface="Abel" panose="02000506030000020004" pitchFamily="2" charset="0"/>
              </a:rPr>
              <a:t>Flow Chart of the Proposed Algorithm</a:t>
            </a:r>
            <a:endParaRPr kumimoji="1" lang="en-US" noProof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BFF703-0643-75D7-0731-707123CCA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SCALE-CCL: A Scalable Collective Communication Library for Wide-Area Distributed Training, Jiaheng, INET4AI ’25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062E5CC-71B0-57FD-F8A8-77ACFBAA7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11</a:t>
            </a:fld>
            <a:endParaRPr 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DC83E4A-31D7-CD47-B7EC-7383BA28A5F6}"/>
              </a:ext>
            </a:extLst>
          </p:cNvPr>
          <p:cNvSpPr txBox="1"/>
          <p:nvPr/>
        </p:nvSpPr>
        <p:spPr>
          <a:xfrm>
            <a:off x="1616464" y="5466698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Yes</a:t>
            </a:r>
            <a:endParaRPr kumimoji="1"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7F30B783-14D6-15A5-E24D-C382309FAF6B}"/>
              </a:ext>
            </a:extLst>
          </p:cNvPr>
          <p:cNvSpPr/>
          <p:nvPr/>
        </p:nvSpPr>
        <p:spPr>
          <a:xfrm>
            <a:off x="375102" y="1680185"/>
            <a:ext cx="2493818" cy="4242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</a:rPr>
              <a:t>Partition into </a:t>
            </a:r>
            <a:r>
              <a:rPr kumimoji="1" lang="en-US" altLang="zh-CN" err="1">
                <a:solidFill>
                  <a:schemeClr val="tx1"/>
                </a:solidFill>
              </a:rPr>
              <a:t>subchunks</a:t>
            </a: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8C90D90E-4EFC-4634-5E6E-47032A3AC841}"/>
              </a:ext>
            </a:extLst>
          </p:cNvPr>
          <p:cNvSpPr/>
          <p:nvPr/>
        </p:nvSpPr>
        <p:spPr>
          <a:xfrm>
            <a:off x="611274" y="2440717"/>
            <a:ext cx="2010387" cy="4242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</a:rPr>
              <a:t>Local load balance</a:t>
            </a: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01A03F52-0B17-71A7-FE0B-6995961FBEFF}"/>
              </a:ext>
            </a:extLst>
          </p:cNvPr>
          <p:cNvSpPr/>
          <p:nvPr/>
        </p:nvSpPr>
        <p:spPr>
          <a:xfrm>
            <a:off x="670526" y="3199276"/>
            <a:ext cx="1891884" cy="4242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err="1">
                <a:solidFill>
                  <a:srgbClr val="FF0000"/>
                </a:solidFill>
              </a:rPr>
              <a:t>Subchunk</a:t>
            </a:r>
            <a:r>
              <a:rPr kumimoji="1" lang="en-US" altLang="zh-CN">
                <a:solidFill>
                  <a:srgbClr val="FF0000"/>
                </a:solidFill>
              </a:rPr>
              <a:t> sorting</a:t>
            </a:r>
            <a:endParaRPr kumimoji="1" lang="zh-CN" altLang="en-US">
              <a:solidFill>
                <a:srgbClr val="FF0000"/>
              </a:solidFill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6FCE1741-3204-59D1-AB65-CB5A2A66F861}"/>
              </a:ext>
            </a:extLst>
          </p:cNvPr>
          <p:cNvGrpSpPr/>
          <p:nvPr/>
        </p:nvGrpSpPr>
        <p:grpSpPr>
          <a:xfrm>
            <a:off x="2620675" y="3263730"/>
            <a:ext cx="2848845" cy="984224"/>
            <a:chOff x="4646813" y="3802683"/>
            <a:chExt cx="3291835" cy="984224"/>
          </a:xfrm>
        </p:grpSpPr>
        <p:sp>
          <p:nvSpPr>
            <p:cNvPr id="12" name="圆角矩形 11">
              <a:extLst>
                <a:ext uri="{FF2B5EF4-FFF2-40B4-BE49-F238E27FC236}">
                  <a16:creationId xmlns:a16="http://schemas.microsoft.com/office/drawing/2014/main" id="{387AFEE9-3D3E-C5C5-457B-E9F0152A8DA1}"/>
                </a:ext>
              </a:extLst>
            </p:cNvPr>
            <p:cNvSpPr/>
            <p:nvPr/>
          </p:nvSpPr>
          <p:spPr>
            <a:xfrm>
              <a:off x="4705003" y="3802683"/>
              <a:ext cx="3175456" cy="984224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55BC6A8-DDC1-FA6E-F8EF-B19F20CB6958}"/>
                </a:ext>
              </a:extLst>
            </p:cNvPr>
            <p:cNvSpPr txBox="1"/>
            <p:nvPr/>
          </p:nvSpPr>
          <p:spPr>
            <a:xfrm>
              <a:off x="4646813" y="3813442"/>
              <a:ext cx="329183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/>
                <a:t>Event handle</a:t>
              </a:r>
            </a:p>
            <a:p>
              <a:pPr algn="ctr"/>
              <a:r>
                <a:rPr kumimoji="1" lang="en-US" altLang="zh-CN"/>
                <a:t>Transmission start/complete</a:t>
              </a:r>
            </a:p>
            <a:p>
              <a:pPr algn="ctr"/>
              <a:r>
                <a:rPr kumimoji="1" lang="en-US" altLang="zh-CN"/>
                <a:t>Reception start/complete</a:t>
              </a:r>
            </a:p>
          </p:txBody>
        </p:sp>
      </p:grp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38C11B68-04C0-DC31-F5E3-6BF21A51AEFF}"/>
              </a:ext>
            </a:extLst>
          </p:cNvPr>
          <p:cNvSpPr/>
          <p:nvPr/>
        </p:nvSpPr>
        <p:spPr>
          <a:xfrm>
            <a:off x="3411239" y="2440716"/>
            <a:ext cx="1269278" cy="4242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002060"/>
                </a:solidFill>
              </a:rPr>
              <a:t>Next event</a:t>
            </a:r>
            <a:endParaRPr kumimoji="1" lang="zh-CN" altLang="en-US">
              <a:solidFill>
                <a:srgbClr val="002060"/>
              </a:solidFill>
            </a:endParaRPr>
          </a:p>
        </p:txBody>
      </p:sp>
      <p:sp>
        <p:nvSpPr>
          <p:cNvPr id="15" name="Diamond 5">
            <a:extLst>
              <a:ext uri="{FF2B5EF4-FFF2-40B4-BE49-F238E27FC236}">
                <a16:creationId xmlns:a16="http://schemas.microsoft.com/office/drawing/2014/main" id="{A9DF8128-9306-F18E-61DC-EAB61C06ECC9}"/>
              </a:ext>
            </a:extLst>
          </p:cNvPr>
          <p:cNvSpPr/>
          <p:nvPr/>
        </p:nvSpPr>
        <p:spPr>
          <a:xfrm>
            <a:off x="517440" y="4662251"/>
            <a:ext cx="2198053" cy="775920"/>
          </a:xfrm>
          <a:prstGeom prst="diamond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>
                <a:solidFill>
                  <a:srgbClr val="002060"/>
                </a:solidFill>
              </a:rPr>
              <a:t>Collective finished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D2808F65-81AA-9584-74BE-DC09E7DE5BE0}"/>
              </a:ext>
            </a:extLst>
          </p:cNvPr>
          <p:cNvSpPr/>
          <p:nvPr/>
        </p:nvSpPr>
        <p:spPr>
          <a:xfrm>
            <a:off x="670526" y="3957835"/>
            <a:ext cx="1891884" cy="424279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002060"/>
                </a:solidFill>
              </a:rPr>
              <a:t>Transmission</a:t>
            </a:r>
            <a:endParaRPr kumimoji="1" lang="zh-CN" altLang="en-US">
              <a:solidFill>
                <a:srgbClr val="002060"/>
              </a:solidFill>
            </a:endParaRPr>
          </a:p>
        </p:txBody>
      </p:sp>
      <p:cxnSp>
        <p:nvCxnSpPr>
          <p:cNvPr id="17" name="Straight Arrow Connector 58">
            <a:extLst>
              <a:ext uri="{FF2B5EF4-FFF2-40B4-BE49-F238E27FC236}">
                <a16:creationId xmlns:a16="http://schemas.microsoft.com/office/drawing/2014/main" id="{EDC97B6F-9D78-1964-A768-CE99B7AB05E8}"/>
              </a:ext>
            </a:extLst>
          </p:cNvPr>
          <p:cNvCxnSpPr>
            <a:cxnSpLocks/>
          </p:cNvCxnSpPr>
          <p:nvPr/>
        </p:nvCxnSpPr>
        <p:spPr>
          <a:xfrm flipH="1">
            <a:off x="1616466" y="5432715"/>
            <a:ext cx="1" cy="4588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58">
            <a:extLst>
              <a:ext uri="{FF2B5EF4-FFF2-40B4-BE49-F238E27FC236}">
                <a16:creationId xmlns:a16="http://schemas.microsoft.com/office/drawing/2014/main" id="{B67118EC-24E7-2B4F-DCFB-5A630C89D19D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616466" y="2101736"/>
            <a:ext cx="2" cy="338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58">
            <a:extLst>
              <a:ext uri="{FF2B5EF4-FFF2-40B4-BE49-F238E27FC236}">
                <a16:creationId xmlns:a16="http://schemas.microsoft.com/office/drawing/2014/main" id="{E1250744-2D81-7773-E49E-19E43F33B9ED}"/>
              </a:ext>
            </a:extLst>
          </p:cNvPr>
          <p:cNvCxnSpPr>
            <a:cxnSpLocks/>
          </p:cNvCxnSpPr>
          <p:nvPr/>
        </p:nvCxnSpPr>
        <p:spPr>
          <a:xfrm>
            <a:off x="1616466" y="2840920"/>
            <a:ext cx="2" cy="338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58">
            <a:extLst>
              <a:ext uri="{FF2B5EF4-FFF2-40B4-BE49-F238E27FC236}">
                <a16:creationId xmlns:a16="http://schemas.microsoft.com/office/drawing/2014/main" id="{31A3204A-D07A-3D75-0D85-DFA6B1C07A85}"/>
              </a:ext>
            </a:extLst>
          </p:cNvPr>
          <p:cNvCxnSpPr>
            <a:cxnSpLocks/>
          </p:cNvCxnSpPr>
          <p:nvPr/>
        </p:nvCxnSpPr>
        <p:spPr>
          <a:xfrm>
            <a:off x="1616464" y="3611384"/>
            <a:ext cx="2" cy="338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58">
            <a:extLst>
              <a:ext uri="{FF2B5EF4-FFF2-40B4-BE49-F238E27FC236}">
                <a16:creationId xmlns:a16="http://schemas.microsoft.com/office/drawing/2014/main" id="{3B4B5D15-0F2F-4C0A-4DCB-EB87AFC1F35D}"/>
              </a:ext>
            </a:extLst>
          </p:cNvPr>
          <p:cNvCxnSpPr>
            <a:cxnSpLocks/>
          </p:cNvCxnSpPr>
          <p:nvPr/>
        </p:nvCxnSpPr>
        <p:spPr>
          <a:xfrm>
            <a:off x="1616464" y="4352522"/>
            <a:ext cx="2" cy="338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57">
            <a:extLst>
              <a:ext uri="{FF2B5EF4-FFF2-40B4-BE49-F238E27FC236}">
                <a16:creationId xmlns:a16="http://schemas.microsoft.com/office/drawing/2014/main" id="{77DAE77A-40B5-D5D2-D94B-3728FEB79CAE}"/>
              </a:ext>
            </a:extLst>
          </p:cNvPr>
          <p:cNvCxnSpPr>
            <a:cxnSpLocks/>
            <a:stCxn id="15" idx="3"/>
            <a:endCxn id="12" idx="2"/>
          </p:cNvCxnSpPr>
          <p:nvPr/>
        </p:nvCxnSpPr>
        <p:spPr>
          <a:xfrm flipV="1">
            <a:off x="2715493" y="4247954"/>
            <a:ext cx="1329605" cy="802257"/>
          </a:xfrm>
          <a:prstGeom prst="bent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58">
            <a:extLst>
              <a:ext uri="{FF2B5EF4-FFF2-40B4-BE49-F238E27FC236}">
                <a16:creationId xmlns:a16="http://schemas.microsoft.com/office/drawing/2014/main" id="{54AAC049-7629-43F0-2137-2FF02EA66A34}"/>
              </a:ext>
            </a:extLst>
          </p:cNvPr>
          <p:cNvCxnSpPr>
            <a:cxnSpLocks/>
            <a:stCxn id="13" idx="0"/>
            <a:endCxn id="14" idx="2"/>
          </p:cNvCxnSpPr>
          <p:nvPr/>
        </p:nvCxnSpPr>
        <p:spPr>
          <a:xfrm flipV="1">
            <a:off x="4045098" y="2864995"/>
            <a:ext cx="780" cy="4094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58">
            <a:extLst>
              <a:ext uri="{FF2B5EF4-FFF2-40B4-BE49-F238E27FC236}">
                <a16:creationId xmlns:a16="http://schemas.microsoft.com/office/drawing/2014/main" id="{330C5B77-ACC7-506D-BEF7-EA6457FC42FD}"/>
              </a:ext>
            </a:extLst>
          </p:cNvPr>
          <p:cNvCxnSpPr>
            <a:cxnSpLocks/>
            <a:stCxn id="14" idx="1"/>
            <a:endCxn id="9" idx="3"/>
          </p:cNvCxnSpPr>
          <p:nvPr/>
        </p:nvCxnSpPr>
        <p:spPr>
          <a:xfrm flipH="1">
            <a:off x="2621661" y="2652856"/>
            <a:ext cx="789578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6EFFCBD3-4576-831D-4F62-C258D8CAFBF0}"/>
              </a:ext>
            </a:extLst>
          </p:cNvPr>
          <p:cNvSpPr txBox="1"/>
          <p:nvPr/>
        </p:nvSpPr>
        <p:spPr>
          <a:xfrm>
            <a:off x="2922455" y="4703464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No</a:t>
            </a:r>
            <a:endParaRPr kumimoji="1" lang="zh-CN" altLang="en-US"/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28490FCD-20E6-FB42-FF08-6CA0C95A5747}"/>
              </a:ext>
            </a:extLst>
          </p:cNvPr>
          <p:cNvSpPr/>
          <p:nvPr/>
        </p:nvSpPr>
        <p:spPr>
          <a:xfrm>
            <a:off x="6916195" y="1452033"/>
            <a:ext cx="1331134" cy="422893"/>
          </a:xfrm>
          <a:prstGeom prst="roundRect">
            <a:avLst/>
          </a:prstGeom>
          <a:solidFill>
            <a:srgbClr val="E8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B126DAE6-351C-2CA1-6093-3E733C1E8EC9}"/>
              </a:ext>
            </a:extLst>
          </p:cNvPr>
          <p:cNvSpPr/>
          <p:nvPr/>
        </p:nvSpPr>
        <p:spPr>
          <a:xfrm>
            <a:off x="8556090" y="1344735"/>
            <a:ext cx="612864" cy="258503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 0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E0DF3052-7536-ED5E-077C-AC5E5C4ED1D4}"/>
              </a:ext>
            </a:extLst>
          </p:cNvPr>
          <p:cNvSpPr/>
          <p:nvPr/>
        </p:nvSpPr>
        <p:spPr>
          <a:xfrm>
            <a:off x="8546606" y="1805993"/>
            <a:ext cx="612863" cy="258503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 1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cxnSp>
        <p:nvCxnSpPr>
          <p:cNvPr id="43" name="直线连接符 42">
            <a:extLst>
              <a:ext uri="{FF2B5EF4-FFF2-40B4-BE49-F238E27FC236}">
                <a16:creationId xmlns:a16="http://schemas.microsoft.com/office/drawing/2014/main" id="{445978CA-59A1-DFBA-E049-507BA4F0DFF6}"/>
              </a:ext>
            </a:extLst>
          </p:cNvPr>
          <p:cNvCxnSpPr>
            <a:cxnSpLocks/>
            <a:endCxn id="41" idx="1"/>
          </p:cNvCxnSpPr>
          <p:nvPr/>
        </p:nvCxnSpPr>
        <p:spPr>
          <a:xfrm flipV="1">
            <a:off x="8247329" y="1473987"/>
            <a:ext cx="308761" cy="414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3AF8F9AC-A8FC-E2FC-4EB3-36B6ECA16DBA}"/>
              </a:ext>
            </a:extLst>
          </p:cNvPr>
          <p:cNvCxnSpPr>
            <a:cxnSpLocks/>
            <a:endCxn id="42" idx="1"/>
          </p:cNvCxnSpPr>
          <p:nvPr/>
        </p:nvCxnSpPr>
        <p:spPr>
          <a:xfrm>
            <a:off x="8247329" y="1787059"/>
            <a:ext cx="299277" cy="14818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AF387469-800D-33E0-E6A2-911B048C4312}"/>
              </a:ext>
            </a:extLst>
          </p:cNvPr>
          <p:cNvSpPr/>
          <p:nvPr/>
        </p:nvSpPr>
        <p:spPr>
          <a:xfrm>
            <a:off x="6916195" y="2042751"/>
            <a:ext cx="1331134" cy="422893"/>
          </a:xfrm>
          <a:prstGeom prst="roundRect">
            <a:avLst/>
          </a:prstGeom>
          <a:solidFill>
            <a:srgbClr val="E8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523D70E5-25B9-992A-031C-D5009A305870}"/>
              </a:ext>
            </a:extLst>
          </p:cNvPr>
          <p:cNvSpPr/>
          <p:nvPr/>
        </p:nvSpPr>
        <p:spPr>
          <a:xfrm>
            <a:off x="8552357" y="2268128"/>
            <a:ext cx="612863" cy="258503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 2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cxnSp>
        <p:nvCxnSpPr>
          <p:cNvPr id="48" name="直线连接符 47">
            <a:extLst>
              <a:ext uri="{FF2B5EF4-FFF2-40B4-BE49-F238E27FC236}">
                <a16:creationId xmlns:a16="http://schemas.microsoft.com/office/drawing/2014/main" id="{602E4020-C9B2-6F5B-3526-CBD760C1BB01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>
            <a:off x="8247329" y="2254198"/>
            <a:ext cx="305028" cy="1431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4EE4260F-156B-5129-CCC1-B7465A85FC65}"/>
              </a:ext>
            </a:extLst>
          </p:cNvPr>
          <p:cNvSpPr txBox="1"/>
          <p:nvPr/>
        </p:nvSpPr>
        <p:spPr>
          <a:xfrm>
            <a:off x="6979674" y="1795053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/>
              <a:t>Border Router 0</a:t>
            </a:r>
            <a:endParaRPr kumimoji="1" lang="zh-CN" altLang="en-US" sz="1200" b="1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B6564B-F621-7E87-209F-BE37C64CF55F}"/>
              </a:ext>
            </a:extLst>
          </p:cNvPr>
          <p:cNvSpPr txBox="1"/>
          <p:nvPr/>
        </p:nvSpPr>
        <p:spPr>
          <a:xfrm>
            <a:off x="6979674" y="2386286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/>
              <a:t>Border Router 1</a:t>
            </a:r>
            <a:endParaRPr kumimoji="1" lang="zh-CN" altLang="en-US" sz="1200" b="1"/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4638678E-4206-D688-88C2-279C98B727C5}"/>
              </a:ext>
            </a:extLst>
          </p:cNvPr>
          <p:cNvSpPr/>
          <p:nvPr/>
        </p:nvSpPr>
        <p:spPr>
          <a:xfrm>
            <a:off x="9464420" y="1473988"/>
            <a:ext cx="855835" cy="328442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9812C781-01A8-BBC5-CDCA-8987B482229A}"/>
              </a:ext>
            </a:extLst>
          </p:cNvPr>
          <p:cNvSpPr txBox="1"/>
          <p:nvPr/>
        </p:nvSpPr>
        <p:spPr>
          <a:xfrm>
            <a:off x="9620467" y="1774263"/>
            <a:ext cx="5437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/>
              <a:t>GPU3</a:t>
            </a:r>
            <a:endParaRPr kumimoji="1" lang="zh-CN" altLang="en-US" sz="1200" b="1"/>
          </a:p>
        </p:txBody>
      </p: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109719C1-4452-07E4-74B7-65488F884694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9168954" y="1473987"/>
            <a:ext cx="295466" cy="4148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149FE443-E968-9748-6C01-84FB669D9A3E}"/>
              </a:ext>
            </a:extLst>
          </p:cNvPr>
          <p:cNvCxnSpPr>
            <a:cxnSpLocks/>
            <a:stCxn id="42" idx="3"/>
          </p:cNvCxnSpPr>
          <p:nvPr/>
        </p:nvCxnSpPr>
        <p:spPr>
          <a:xfrm flipV="1">
            <a:off x="9159469" y="1784089"/>
            <a:ext cx="310667" cy="15115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F8EAEDBC-CC01-F4A7-B4AF-E8524816FAEC}"/>
              </a:ext>
            </a:extLst>
          </p:cNvPr>
          <p:cNvSpPr txBox="1"/>
          <p:nvPr/>
        </p:nvSpPr>
        <p:spPr>
          <a:xfrm>
            <a:off x="7803887" y="1413549"/>
            <a:ext cx="5036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00">
                <a:solidFill>
                  <a:srgbClr val="FF0000"/>
                </a:solidFill>
              </a:rPr>
              <a:t>Q[0]: 1</a:t>
            </a:r>
            <a:endParaRPr kumimoji="1" lang="zh-CN" altLang="en-US" sz="900">
              <a:solidFill>
                <a:srgbClr val="FF0000"/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6918CA24-01C4-54AA-149F-FFB32D9D1222}"/>
              </a:ext>
            </a:extLst>
          </p:cNvPr>
          <p:cNvSpPr txBox="1"/>
          <p:nvPr/>
        </p:nvSpPr>
        <p:spPr>
          <a:xfrm>
            <a:off x="7716271" y="1667538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00">
                <a:solidFill>
                  <a:srgbClr val="FF0000"/>
                </a:solidFill>
              </a:rPr>
              <a:t>Q[1]: 1,2</a:t>
            </a:r>
            <a:endParaRPr kumimoji="1" lang="zh-CN" altLang="en-US" sz="900">
              <a:solidFill>
                <a:srgbClr val="FF0000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ABD26311-FF0E-9C3C-04A9-863E7FCD93B9}"/>
              </a:ext>
            </a:extLst>
          </p:cNvPr>
          <p:cNvSpPr txBox="1"/>
          <p:nvPr/>
        </p:nvSpPr>
        <p:spPr>
          <a:xfrm>
            <a:off x="9401207" y="1441189"/>
            <a:ext cx="6158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00"/>
              <a:t>Q[5]: 3, 5</a:t>
            </a:r>
            <a:endParaRPr kumimoji="1" lang="zh-CN" altLang="en-US" sz="90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3E56BDD-8B2E-9F0F-102B-F215DDF10C7D}"/>
              </a:ext>
            </a:extLst>
          </p:cNvPr>
          <p:cNvSpPr txBox="1"/>
          <p:nvPr/>
        </p:nvSpPr>
        <p:spPr>
          <a:xfrm>
            <a:off x="9407792" y="1617552"/>
            <a:ext cx="6158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00">
                <a:solidFill>
                  <a:srgbClr val="FF0000"/>
                </a:solidFill>
              </a:rPr>
              <a:t>Q[4]: 3, 6</a:t>
            </a:r>
            <a:endParaRPr kumimoji="1" lang="zh-CN" altLang="en-US" sz="900">
              <a:solidFill>
                <a:srgbClr val="FF0000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993C068A-1626-19E9-B308-7074667E6FBE}"/>
              </a:ext>
            </a:extLst>
          </p:cNvPr>
          <p:cNvSpPr txBox="1"/>
          <p:nvPr/>
        </p:nvSpPr>
        <p:spPr>
          <a:xfrm>
            <a:off x="7720582" y="2138781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00">
                <a:solidFill>
                  <a:srgbClr val="FF0000"/>
                </a:solidFill>
              </a:rPr>
              <a:t>Q[2]: 1,3</a:t>
            </a:r>
            <a:endParaRPr kumimoji="1" lang="zh-CN" altLang="en-US" sz="900">
              <a:solidFill>
                <a:srgbClr val="FF0000"/>
              </a:solidFill>
            </a:endParaRPr>
          </a:p>
        </p:txBody>
      </p:sp>
      <p:sp>
        <p:nvSpPr>
          <p:cNvPr id="60" name="圆角矩形 59">
            <a:extLst>
              <a:ext uri="{FF2B5EF4-FFF2-40B4-BE49-F238E27FC236}">
                <a16:creationId xmlns:a16="http://schemas.microsoft.com/office/drawing/2014/main" id="{21F0347B-AC4C-4A4E-6961-E0FAC98ACB70}"/>
              </a:ext>
            </a:extLst>
          </p:cNvPr>
          <p:cNvSpPr/>
          <p:nvPr/>
        </p:nvSpPr>
        <p:spPr>
          <a:xfrm>
            <a:off x="6910444" y="2920499"/>
            <a:ext cx="1331134" cy="422893"/>
          </a:xfrm>
          <a:prstGeom prst="roundRect">
            <a:avLst/>
          </a:prstGeom>
          <a:solidFill>
            <a:srgbClr val="E8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61" name="圆角矩形 60">
            <a:extLst>
              <a:ext uri="{FF2B5EF4-FFF2-40B4-BE49-F238E27FC236}">
                <a16:creationId xmlns:a16="http://schemas.microsoft.com/office/drawing/2014/main" id="{4D9FE39E-F6D1-3EE9-743C-31C990F5395A}"/>
              </a:ext>
            </a:extLst>
          </p:cNvPr>
          <p:cNvSpPr/>
          <p:nvPr/>
        </p:nvSpPr>
        <p:spPr>
          <a:xfrm>
            <a:off x="8550339" y="2813201"/>
            <a:ext cx="612864" cy="258503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 0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62" name="圆角矩形 61">
            <a:extLst>
              <a:ext uri="{FF2B5EF4-FFF2-40B4-BE49-F238E27FC236}">
                <a16:creationId xmlns:a16="http://schemas.microsoft.com/office/drawing/2014/main" id="{AE236C1A-488D-7B62-5FF7-C7427EE925B0}"/>
              </a:ext>
            </a:extLst>
          </p:cNvPr>
          <p:cNvSpPr/>
          <p:nvPr/>
        </p:nvSpPr>
        <p:spPr>
          <a:xfrm>
            <a:off x="8540855" y="3274459"/>
            <a:ext cx="612863" cy="258503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 1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5011737C-D519-24E9-0E00-75EE22D7C0CA}"/>
              </a:ext>
            </a:extLst>
          </p:cNvPr>
          <p:cNvCxnSpPr>
            <a:cxnSpLocks/>
            <a:endCxn id="61" idx="1"/>
          </p:cNvCxnSpPr>
          <p:nvPr/>
        </p:nvCxnSpPr>
        <p:spPr>
          <a:xfrm flipV="1">
            <a:off x="8241578" y="2942453"/>
            <a:ext cx="308761" cy="414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2A183A70-36E4-079B-3CE1-EBF40D4D7DF0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8241578" y="3255525"/>
            <a:ext cx="299277" cy="14818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圆角矩形 64">
            <a:extLst>
              <a:ext uri="{FF2B5EF4-FFF2-40B4-BE49-F238E27FC236}">
                <a16:creationId xmlns:a16="http://schemas.microsoft.com/office/drawing/2014/main" id="{60C2DCBF-9871-8EDC-B721-6004842BDEFD}"/>
              </a:ext>
            </a:extLst>
          </p:cNvPr>
          <p:cNvSpPr/>
          <p:nvPr/>
        </p:nvSpPr>
        <p:spPr>
          <a:xfrm>
            <a:off x="6910444" y="3550972"/>
            <a:ext cx="1331134" cy="422893"/>
          </a:xfrm>
          <a:prstGeom prst="roundRect">
            <a:avLst/>
          </a:prstGeom>
          <a:solidFill>
            <a:srgbClr val="E8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3B8C11F3-14A0-2428-CA4B-AD935EE45147}"/>
              </a:ext>
            </a:extLst>
          </p:cNvPr>
          <p:cNvSpPr/>
          <p:nvPr/>
        </p:nvSpPr>
        <p:spPr>
          <a:xfrm>
            <a:off x="8546606" y="3776349"/>
            <a:ext cx="612863" cy="258503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 2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9FE3146A-A61F-E13C-9AF9-BA51D9DAA74F}"/>
              </a:ext>
            </a:extLst>
          </p:cNvPr>
          <p:cNvCxnSpPr>
            <a:cxnSpLocks/>
            <a:stCxn id="65" idx="3"/>
            <a:endCxn id="66" idx="1"/>
          </p:cNvCxnSpPr>
          <p:nvPr/>
        </p:nvCxnSpPr>
        <p:spPr>
          <a:xfrm>
            <a:off x="8241578" y="3762419"/>
            <a:ext cx="305028" cy="1431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53E9C0B6-7BA5-2A46-0A9C-F85060737205}"/>
              </a:ext>
            </a:extLst>
          </p:cNvPr>
          <p:cNvSpPr txBox="1"/>
          <p:nvPr/>
        </p:nvSpPr>
        <p:spPr>
          <a:xfrm>
            <a:off x="6973923" y="3263519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/>
              <a:t>Border Router 0</a:t>
            </a:r>
            <a:endParaRPr kumimoji="1" lang="zh-CN" altLang="en-US" sz="1200" b="1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77C349AF-B8FD-ACA0-1684-7217DF3C8E41}"/>
              </a:ext>
            </a:extLst>
          </p:cNvPr>
          <p:cNvSpPr txBox="1"/>
          <p:nvPr/>
        </p:nvSpPr>
        <p:spPr>
          <a:xfrm>
            <a:off x="6973923" y="3894507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/>
              <a:t>Border Router 1</a:t>
            </a:r>
            <a:endParaRPr kumimoji="1" lang="zh-CN" altLang="en-US" sz="1200" b="1"/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0CA97623-85D9-DD73-5965-C024D2BE048B}"/>
              </a:ext>
            </a:extLst>
          </p:cNvPr>
          <p:cNvSpPr/>
          <p:nvPr/>
        </p:nvSpPr>
        <p:spPr>
          <a:xfrm>
            <a:off x="9458669" y="2942454"/>
            <a:ext cx="855835" cy="328442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523E9E30-2FB8-39A8-F7A6-9D256682421F}"/>
              </a:ext>
            </a:extLst>
          </p:cNvPr>
          <p:cNvSpPr txBox="1"/>
          <p:nvPr/>
        </p:nvSpPr>
        <p:spPr>
          <a:xfrm>
            <a:off x="9614716" y="3242729"/>
            <a:ext cx="5437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/>
              <a:t>GPU3</a:t>
            </a:r>
            <a:endParaRPr kumimoji="1" lang="zh-CN" altLang="en-US" sz="1200" b="1"/>
          </a:p>
        </p:txBody>
      </p:sp>
      <p:cxnSp>
        <p:nvCxnSpPr>
          <p:cNvPr id="72" name="直线连接符 71">
            <a:extLst>
              <a:ext uri="{FF2B5EF4-FFF2-40B4-BE49-F238E27FC236}">
                <a16:creationId xmlns:a16="http://schemas.microsoft.com/office/drawing/2014/main" id="{C4BADCD1-F398-5098-F963-1741972F0361}"/>
              </a:ext>
            </a:extLst>
          </p:cNvPr>
          <p:cNvCxnSpPr>
            <a:cxnSpLocks/>
            <a:stCxn id="61" idx="3"/>
          </p:cNvCxnSpPr>
          <p:nvPr/>
        </p:nvCxnSpPr>
        <p:spPr>
          <a:xfrm>
            <a:off x="9163203" y="2942453"/>
            <a:ext cx="295466" cy="4148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D2C2C56A-E1C0-9A28-AF92-CAA3A7DF851D}"/>
              </a:ext>
            </a:extLst>
          </p:cNvPr>
          <p:cNvCxnSpPr>
            <a:cxnSpLocks/>
            <a:stCxn id="62" idx="3"/>
          </p:cNvCxnSpPr>
          <p:nvPr/>
        </p:nvCxnSpPr>
        <p:spPr>
          <a:xfrm flipV="1">
            <a:off x="9153718" y="3252555"/>
            <a:ext cx="310667" cy="15115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FA0C0273-39BA-2EE2-FC7B-135682F1681D}"/>
              </a:ext>
            </a:extLst>
          </p:cNvPr>
          <p:cNvSpPr txBox="1"/>
          <p:nvPr/>
        </p:nvSpPr>
        <p:spPr>
          <a:xfrm>
            <a:off x="7801127" y="2874184"/>
            <a:ext cx="5460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900">
                <a:solidFill>
                  <a:srgbClr val="FF0000"/>
                </a:solidFill>
              </a:rPr>
              <a:t>Q[0]: 1 </a:t>
            </a:r>
            <a:endParaRPr kumimoji="1" lang="zh-CN" altLang="en-US" sz="900">
              <a:solidFill>
                <a:srgbClr val="FF0000"/>
              </a:solidFill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4BBA00E9-F4AF-C5B1-9CC2-4745E559AA0C}"/>
              </a:ext>
            </a:extLst>
          </p:cNvPr>
          <p:cNvSpPr txBox="1"/>
          <p:nvPr/>
        </p:nvSpPr>
        <p:spPr>
          <a:xfrm>
            <a:off x="7801127" y="3136004"/>
            <a:ext cx="5036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00">
                <a:solidFill>
                  <a:srgbClr val="FF0000"/>
                </a:solidFill>
              </a:rPr>
              <a:t>Q[1]: 2</a:t>
            </a:r>
            <a:endParaRPr kumimoji="1" lang="zh-CN" altLang="en-US" sz="900">
              <a:solidFill>
                <a:srgbClr val="FF0000"/>
              </a:solidFill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CD77403C-B2D5-E38A-1281-2827732D04CB}"/>
              </a:ext>
            </a:extLst>
          </p:cNvPr>
          <p:cNvSpPr txBox="1"/>
          <p:nvPr/>
        </p:nvSpPr>
        <p:spPr>
          <a:xfrm>
            <a:off x="9395456" y="2909655"/>
            <a:ext cx="6158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00"/>
              <a:t>Q[5]: 3, 5</a:t>
            </a:r>
            <a:endParaRPr kumimoji="1" lang="zh-CN" altLang="en-US" sz="90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0DDBA9F5-4FC1-D096-7805-2B8883395B4C}"/>
              </a:ext>
            </a:extLst>
          </p:cNvPr>
          <p:cNvSpPr txBox="1"/>
          <p:nvPr/>
        </p:nvSpPr>
        <p:spPr>
          <a:xfrm>
            <a:off x="9402041" y="3086018"/>
            <a:ext cx="5036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00">
                <a:solidFill>
                  <a:srgbClr val="FF0000"/>
                </a:solidFill>
              </a:rPr>
              <a:t>Q[4]: 6</a:t>
            </a:r>
            <a:endParaRPr kumimoji="1" lang="zh-CN" altLang="en-US" sz="900">
              <a:solidFill>
                <a:srgbClr val="FF0000"/>
              </a:solidFill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1B8B6A74-F0B0-EFA3-C241-0EB7F6ACA736}"/>
              </a:ext>
            </a:extLst>
          </p:cNvPr>
          <p:cNvSpPr txBox="1"/>
          <p:nvPr/>
        </p:nvSpPr>
        <p:spPr>
          <a:xfrm>
            <a:off x="7822333" y="3639520"/>
            <a:ext cx="5036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00">
                <a:solidFill>
                  <a:srgbClr val="FF0000"/>
                </a:solidFill>
              </a:rPr>
              <a:t>Q[2]: 3</a:t>
            </a:r>
            <a:endParaRPr kumimoji="1" lang="zh-CN" altLang="en-US" sz="900">
              <a:solidFill>
                <a:srgbClr val="FF0000"/>
              </a:solidFill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DB4A54CF-75CD-84A5-43EC-04E8FFAE92BB}"/>
              </a:ext>
            </a:extLst>
          </p:cNvPr>
          <p:cNvSpPr txBox="1"/>
          <p:nvPr/>
        </p:nvSpPr>
        <p:spPr>
          <a:xfrm>
            <a:off x="7599694" y="2556600"/>
            <a:ext cx="190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/>
              <a:t>(a) Before </a:t>
            </a:r>
            <a:r>
              <a:rPr kumimoji="1" lang="en-US" altLang="zh-CN" sz="1200" err="1"/>
              <a:t>subchunk</a:t>
            </a:r>
            <a:r>
              <a:rPr kumimoji="1" lang="en-US" altLang="zh-CN" sz="1200"/>
              <a:t> sorting</a:t>
            </a:r>
            <a:endParaRPr kumimoji="1" lang="zh-CN" altLang="en-US" sz="120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313DE5A4-35E4-42DE-E7CD-36BE58B28E19}"/>
              </a:ext>
            </a:extLst>
          </p:cNvPr>
          <p:cNvSpPr txBox="1"/>
          <p:nvPr/>
        </p:nvSpPr>
        <p:spPr>
          <a:xfrm>
            <a:off x="7657673" y="4098471"/>
            <a:ext cx="18116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/>
              <a:t>(b) After </a:t>
            </a:r>
            <a:r>
              <a:rPr kumimoji="1" lang="en-US" altLang="zh-CN" sz="1200" err="1"/>
              <a:t>subchunk</a:t>
            </a:r>
            <a:r>
              <a:rPr kumimoji="1" lang="en-US" altLang="zh-CN" sz="1200"/>
              <a:t> sorting</a:t>
            </a:r>
            <a:endParaRPr kumimoji="1" lang="zh-CN" altLang="en-US" sz="120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A9F2A879-8B03-BA89-3C5B-217EDFD94F6B}"/>
              </a:ext>
            </a:extLst>
          </p:cNvPr>
          <p:cNvSpPr txBox="1"/>
          <p:nvPr/>
        </p:nvSpPr>
        <p:spPr>
          <a:xfrm>
            <a:off x="5136305" y="4228357"/>
            <a:ext cx="7055695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1</a:t>
            </a:r>
            <a:r>
              <a:rPr lang="en-US" altLang="zh-CN" sz="1600" b="1" dirty="0"/>
              <a:t>.</a:t>
            </a:r>
            <a:r>
              <a:rPr lang="zh-CN" altLang="en-US" sz="1600" b="1" dirty="0"/>
              <a:t> </a:t>
            </a:r>
            <a:r>
              <a:rPr lang="en-GB" altLang="zh-CN" sz="1600" b="1" dirty="0"/>
              <a:t>Before Sorting — Redundancy Exists</a:t>
            </a:r>
            <a:endParaRPr lang="en-GB" altLang="zh-CN" sz="16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GB" altLang="zh-CN" sz="1600" dirty="0" err="1"/>
              <a:t>Subchunks</a:t>
            </a:r>
            <a:r>
              <a:rPr lang="en-GB" altLang="zh-CN" sz="1600" dirty="0"/>
              <a:t> like 1 and 3 appear in multiple queues (e.g., Q[1] of BR0 and Q[2] of BR1 both hold 1,3) → leads to redundant transmissions</a:t>
            </a:r>
          </a:p>
          <a:p>
            <a:r>
              <a:rPr lang="en-US" altLang="zh-CN" sz="1600" b="1" dirty="0"/>
              <a:t>2.</a:t>
            </a:r>
            <a:r>
              <a:rPr lang="zh-CN" altLang="en-US" sz="1600" b="1" dirty="0"/>
              <a:t> </a:t>
            </a:r>
            <a:r>
              <a:rPr lang="en-GB" altLang="zh-CN" sz="1600" b="1" dirty="0"/>
              <a:t>Sorting — Resolve Duplicates Locally</a:t>
            </a:r>
            <a:endParaRPr lang="en-GB" altLang="zh-CN" sz="16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GB" altLang="zh-CN" sz="1600" dirty="0"/>
              <a:t>For each duplicate </a:t>
            </a:r>
            <a:r>
              <a:rPr lang="en-GB" altLang="zh-CN" sz="1600" dirty="0" err="1"/>
              <a:t>subchunk</a:t>
            </a:r>
            <a:r>
              <a:rPr lang="en-GB" altLang="zh-CN" sz="1600" dirty="0"/>
              <a:t>, choose the (sender, receiver) pair with </a:t>
            </a:r>
            <a:r>
              <a:rPr lang="en-GB" altLang="zh-CN" sz="1600" b="1" dirty="0"/>
              <a:t>lowest estimated delay</a:t>
            </a:r>
            <a:r>
              <a:rPr lang="en-GB" altLang="zh-CN" sz="1600" dirty="0"/>
              <a:t>, and </a:t>
            </a:r>
            <a:r>
              <a:rPr lang="en-GB" altLang="zh-CN" sz="1600" b="1" dirty="0"/>
              <a:t>remove it from other queues</a:t>
            </a:r>
            <a:endParaRPr lang="en-GB" altLang="zh-CN" sz="1600" dirty="0"/>
          </a:p>
          <a:p>
            <a:r>
              <a:rPr lang="en-US" altLang="zh-CN" sz="1600" b="1" dirty="0"/>
              <a:t>3.</a:t>
            </a:r>
            <a:r>
              <a:rPr lang="zh-CN" altLang="en-US" sz="1600" b="1" dirty="0"/>
              <a:t> </a:t>
            </a:r>
            <a:r>
              <a:rPr lang="en-GB" altLang="zh-CN" sz="1600" b="1" dirty="0"/>
              <a:t>After Sorting — Unique Assignments</a:t>
            </a:r>
            <a:endParaRPr lang="en-GB" altLang="zh-CN" sz="16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GB" altLang="zh-CN" sz="1600" dirty="0"/>
              <a:t>Each </a:t>
            </a:r>
            <a:r>
              <a:rPr lang="en-GB" altLang="zh-CN" sz="1600" dirty="0" err="1"/>
              <a:t>subchunk</a:t>
            </a:r>
            <a:r>
              <a:rPr lang="en-GB" altLang="zh-CN" sz="1600" dirty="0"/>
              <a:t> now appears in only one queue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88298095-A154-6808-5BD6-BB241A0BF47B}"/>
              </a:ext>
            </a:extLst>
          </p:cNvPr>
          <p:cNvSpPr txBox="1"/>
          <p:nvPr/>
        </p:nvSpPr>
        <p:spPr>
          <a:xfrm>
            <a:off x="4712253" y="1494882"/>
            <a:ext cx="2227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GPU to Border Router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9454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1" grpId="0" animBg="1"/>
      <p:bldP spid="62" grpId="0" animBg="1"/>
      <p:bldP spid="65" grpId="0" animBg="1"/>
      <p:bldP spid="66" grpId="0" animBg="1"/>
      <p:bldP spid="68" grpId="0"/>
      <p:bldP spid="69" grpId="0"/>
      <p:bldP spid="70" grpId="0" animBg="1"/>
      <p:bldP spid="71" grpId="0"/>
      <p:bldP spid="74" grpId="0"/>
      <p:bldP spid="75" grpId="0"/>
      <p:bldP spid="76" grpId="0"/>
      <p:bldP spid="77" grpId="0"/>
      <p:bldP spid="78" grpId="0"/>
      <p:bldP spid="8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B0AC6-5CE1-8F66-4D3D-DE41706DD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49BABE-68C7-DD90-C5DF-E62C6B5AF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noProof="0" dirty="0"/>
              <a:t>Flow Chart of the Proposed Algorithm</a:t>
            </a:r>
            <a:endParaRPr kumimoji="1" lang="en-US" noProof="0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57D811-E885-6800-6F58-75A583347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SCALE-CCL: A Scalable Collective Communication Library for Wide-Area Distributed Training, Jiaheng, INET4AI ’25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2BEDBD2-AD6C-6CD2-98FD-7DA8A8ABD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12</a:t>
            </a:fld>
            <a:endParaRPr 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7B2141E-ECD9-B796-191A-431439753448}"/>
              </a:ext>
            </a:extLst>
          </p:cNvPr>
          <p:cNvSpPr txBox="1"/>
          <p:nvPr/>
        </p:nvSpPr>
        <p:spPr>
          <a:xfrm>
            <a:off x="1381264" y="5459037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Yes</a:t>
            </a:r>
            <a:endParaRPr kumimoji="1"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C87B7559-C158-2392-473A-415D95F64C8B}"/>
              </a:ext>
            </a:extLst>
          </p:cNvPr>
          <p:cNvSpPr/>
          <p:nvPr/>
        </p:nvSpPr>
        <p:spPr>
          <a:xfrm>
            <a:off x="139902" y="1672524"/>
            <a:ext cx="2493818" cy="4242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</a:rPr>
              <a:t>Partition into </a:t>
            </a:r>
            <a:r>
              <a:rPr kumimoji="1" lang="en-US" altLang="zh-CN" err="1">
                <a:solidFill>
                  <a:schemeClr val="tx1"/>
                </a:solidFill>
              </a:rPr>
              <a:t>subchunks</a:t>
            </a: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CF99700-444A-6E5C-9102-09E247DA2BD5}"/>
              </a:ext>
            </a:extLst>
          </p:cNvPr>
          <p:cNvSpPr/>
          <p:nvPr/>
        </p:nvSpPr>
        <p:spPr>
          <a:xfrm>
            <a:off x="376074" y="2433056"/>
            <a:ext cx="2010387" cy="4242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</a:rPr>
              <a:t>Local load balance</a:t>
            </a: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08E4E4E9-5F06-7F70-0DF6-FD5A619D87D9}"/>
              </a:ext>
            </a:extLst>
          </p:cNvPr>
          <p:cNvSpPr/>
          <p:nvPr/>
        </p:nvSpPr>
        <p:spPr>
          <a:xfrm>
            <a:off x="435326" y="3191615"/>
            <a:ext cx="1891884" cy="4242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err="1">
                <a:solidFill>
                  <a:srgbClr val="FF0000"/>
                </a:solidFill>
              </a:rPr>
              <a:t>Subchunk</a:t>
            </a:r>
            <a:r>
              <a:rPr kumimoji="1" lang="en-US" altLang="zh-CN">
                <a:solidFill>
                  <a:srgbClr val="FF0000"/>
                </a:solidFill>
              </a:rPr>
              <a:t> sorting</a:t>
            </a:r>
            <a:endParaRPr kumimoji="1" lang="zh-CN" altLang="en-US">
              <a:solidFill>
                <a:srgbClr val="FF0000"/>
              </a:solidFill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D32C9B3-42F3-8F31-4C0F-1BE1C25C567C}"/>
              </a:ext>
            </a:extLst>
          </p:cNvPr>
          <p:cNvGrpSpPr/>
          <p:nvPr/>
        </p:nvGrpSpPr>
        <p:grpSpPr>
          <a:xfrm>
            <a:off x="2385475" y="3256069"/>
            <a:ext cx="2848845" cy="984224"/>
            <a:chOff x="4646813" y="3802683"/>
            <a:chExt cx="3291835" cy="984224"/>
          </a:xfrm>
        </p:grpSpPr>
        <p:sp>
          <p:nvSpPr>
            <p:cNvPr id="12" name="圆角矩形 11">
              <a:extLst>
                <a:ext uri="{FF2B5EF4-FFF2-40B4-BE49-F238E27FC236}">
                  <a16:creationId xmlns:a16="http://schemas.microsoft.com/office/drawing/2014/main" id="{8B72C6D5-6508-1440-7FF3-E4E5024EE508}"/>
                </a:ext>
              </a:extLst>
            </p:cNvPr>
            <p:cNvSpPr/>
            <p:nvPr/>
          </p:nvSpPr>
          <p:spPr>
            <a:xfrm>
              <a:off x="4705003" y="3802683"/>
              <a:ext cx="3175456" cy="984224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321E14F-58ED-2123-276D-DA53274307B5}"/>
                </a:ext>
              </a:extLst>
            </p:cNvPr>
            <p:cNvSpPr txBox="1"/>
            <p:nvPr/>
          </p:nvSpPr>
          <p:spPr>
            <a:xfrm>
              <a:off x="4646813" y="3813442"/>
              <a:ext cx="329183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/>
                <a:t>Event handle</a:t>
              </a:r>
            </a:p>
            <a:p>
              <a:pPr algn="ctr"/>
              <a:r>
                <a:rPr kumimoji="1" lang="en-US" altLang="zh-CN"/>
                <a:t>Transmission start/complete</a:t>
              </a:r>
            </a:p>
            <a:p>
              <a:pPr algn="ctr"/>
              <a:r>
                <a:rPr kumimoji="1" lang="en-US" altLang="zh-CN"/>
                <a:t>Reception start/complete</a:t>
              </a:r>
            </a:p>
          </p:txBody>
        </p:sp>
      </p:grp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1186067F-68C9-05EB-45CB-E839B229115C}"/>
              </a:ext>
            </a:extLst>
          </p:cNvPr>
          <p:cNvSpPr/>
          <p:nvPr/>
        </p:nvSpPr>
        <p:spPr>
          <a:xfrm>
            <a:off x="3176039" y="2433055"/>
            <a:ext cx="1269278" cy="4242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002060"/>
                </a:solidFill>
              </a:rPr>
              <a:t>Next event</a:t>
            </a:r>
            <a:endParaRPr kumimoji="1" lang="zh-CN" altLang="en-US">
              <a:solidFill>
                <a:srgbClr val="002060"/>
              </a:solidFill>
            </a:endParaRPr>
          </a:p>
        </p:txBody>
      </p:sp>
      <p:sp>
        <p:nvSpPr>
          <p:cNvPr id="15" name="Diamond 5">
            <a:extLst>
              <a:ext uri="{FF2B5EF4-FFF2-40B4-BE49-F238E27FC236}">
                <a16:creationId xmlns:a16="http://schemas.microsoft.com/office/drawing/2014/main" id="{80BB8C5F-CB26-2D7E-3DF6-7F7E4610E79A}"/>
              </a:ext>
            </a:extLst>
          </p:cNvPr>
          <p:cNvSpPr/>
          <p:nvPr/>
        </p:nvSpPr>
        <p:spPr>
          <a:xfrm>
            <a:off x="282240" y="4654590"/>
            <a:ext cx="2198053" cy="775920"/>
          </a:xfrm>
          <a:prstGeom prst="diamond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>
                <a:solidFill>
                  <a:srgbClr val="002060"/>
                </a:solidFill>
              </a:rPr>
              <a:t>Collective finished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FF118DCF-600A-2CCE-FB09-98CE4B122795}"/>
              </a:ext>
            </a:extLst>
          </p:cNvPr>
          <p:cNvSpPr/>
          <p:nvPr/>
        </p:nvSpPr>
        <p:spPr>
          <a:xfrm>
            <a:off x="435326" y="3950174"/>
            <a:ext cx="1891884" cy="424279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002060"/>
                </a:solidFill>
              </a:rPr>
              <a:t>Transmission</a:t>
            </a:r>
            <a:endParaRPr kumimoji="1" lang="zh-CN" altLang="en-US">
              <a:solidFill>
                <a:srgbClr val="002060"/>
              </a:solidFill>
            </a:endParaRPr>
          </a:p>
        </p:txBody>
      </p:sp>
      <p:cxnSp>
        <p:nvCxnSpPr>
          <p:cNvPr id="17" name="Straight Arrow Connector 58">
            <a:extLst>
              <a:ext uri="{FF2B5EF4-FFF2-40B4-BE49-F238E27FC236}">
                <a16:creationId xmlns:a16="http://schemas.microsoft.com/office/drawing/2014/main" id="{3D1C3238-9E8E-3F1C-9A3E-AFC5F15D3100}"/>
              </a:ext>
            </a:extLst>
          </p:cNvPr>
          <p:cNvCxnSpPr>
            <a:cxnSpLocks/>
          </p:cNvCxnSpPr>
          <p:nvPr/>
        </p:nvCxnSpPr>
        <p:spPr>
          <a:xfrm flipH="1">
            <a:off x="1381266" y="5425054"/>
            <a:ext cx="1" cy="4588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58">
            <a:extLst>
              <a:ext uri="{FF2B5EF4-FFF2-40B4-BE49-F238E27FC236}">
                <a16:creationId xmlns:a16="http://schemas.microsoft.com/office/drawing/2014/main" id="{7B9F6FD2-9D1D-5E57-F3F8-D13C8BF429BF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381266" y="2094075"/>
            <a:ext cx="2" cy="338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58">
            <a:extLst>
              <a:ext uri="{FF2B5EF4-FFF2-40B4-BE49-F238E27FC236}">
                <a16:creationId xmlns:a16="http://schemas.microsoft.com/office/drawing/2014/main" id="{AB1BEEC4-D4B5-A4B7-0CB0-235709E4D7AC}"/>
              </a:ext>
            </a:extLst>
          </p:cNvPr>
          <p:cNvCxnSpPr>
            <a:cxnSpLocks/>
          </p:cNvCxnSpPr>
          <p:nvPr/>
        </p:nvCxnSpPr>
        <p:spPr>
          <a:xfrm>
            <a:off x="1381266" y="2833259"/>
            <a:ext cx="2" cy="338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58">
            <a:extLst>
              <a:ext uri="{FF2B5EF4-FFF2-40B4-BE49-F238E27FC236}">
                <a16:creationId xmlns:a16="http://schemas.microsoft.com/office/drawing/2014/main" id="{271AB94A-8A70-B332-1075-71D65E6E35FE}"/>
              </a:ext>
            </a:extLst>
          </p:cNvPr>
          <p:cNvCxnSpPr>
            <a:cxnSpLocks/>
          </p:cNvCxnSpPr>
          <p:nvPr/>
        </p:nvCxnSpPr>
        <p:spPr>
          <a:xfrm>
            <a:off x="1381264" y="3603723"/>
            <a:ext cx="2" cy="338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58">
            <a:extLst>
              <a:ext uri="{FF2B5EF4-FFF2-40B4-BE49-F238E27FC236}">
                <a16:creationId xmlns:a16="http://schemas.microsoft.com/office/drawing/2014/main" id="{3EC6DD23-944D-DDFB-ECA1-A17C6DEB47AE}"/>
              </a:ext>
            </a:extLst>
          </p:cNvPr>
          <p:cNvCxnSpPr>
            <a:cxnSpLocks/>
          </p:cNvCxnSpPr>
          <p:nvPr/>
        </p:nvCxnSpPr>
        <p:spPr>
          <a:xfrm>
            <a:off x="1381264" y="4344861"/>
            <a:ext cx="2" cy="338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57">
            <a:extLst>
              <a:ext uri="{FF2B5EF4-FFF2-40B4-BE49-F238E27FC236}">
                <a16:creationId xmlns:a16="http://schemas.microsoft.com/office/drawing/2014/main" id="{CB44D822-330F-F4F4-7D8A-6B606FD40D19}"/>
              </a:ext>
            </a:extLst>
          </p:cNvPr>
          <p:cNvCxnSpPr>
            <a:cxnSpLocks/>
            <a:stCxn id="15" idx="3"/>
            <a:endCxn id="12" idx="2"/>
          </p:cNvCxnSpPr>
          <p:nvPr/>
        </p:nvCxnSpPr>
        <p:spPr>
          <a:xfrm flipV="1">
            <a:off x="2480293" y="4240293"/>
            <a:ext cx="1329605" cy="802257"/>
          </a:xfrm>
          <a:prstGeom prst="bent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58">
            <a:extLst>
              <a:ext uri="{FF2B5EF4-FFF2-40B4-BE49-F238E27FC236}">
                <a16:creationId xmlns:a16="http://schemas.microsoft.com/office/drawing/2014/main" id="{2891DA4D-293E-2C31-2D9E-1EEAA9C50926}"/>
              </a:ext>
            </a:extLst>
          </p:cNvPr>
          <p:cNvCxnSpPr>
            <a:cxnSpLocks/>
            <a:stCxn id="13" idx="0"/>
            <a:endCxn id="14" idx="2"/>
          </p:cNvCxnSpPr>
          <p:nvPr/>
        </p:nvCxnSpPr>
        <p:spPr>
          <a:xfrm flipV="1">
            <a:off x="3809898" y="2857334"/>
            <a:ext cx="780" cy="4094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58">
            <a:extLst>
              <a:ext uri="{FF2B5EF4-FFF2-40B4-BE49-F238E27FC236}">
                <a16:creationId xmlns:a16="http://schemas.microsoft.com/office/drawing/2014/main" id="{74597AC5-BE8E-ECCD-4772-8F69EAD04322}"/>
              </a:ext>
            </a:extLst>
          </p:cNvPr>
          <p:cNvCxnSpPr>
            <a:cxnSpLocks/>
            <a:stCxn id="14" idx="1"/>
            <a:endCxn id="9" idx="3"/>
          </p:cNvCxnSpPr>
          <p:nvPr/>
        </p:nvCxnSpPr>
        <p:spPr>
          <a:xfrm flipH="1">
            <a:off x="2386461" y="2645195"/>
            <a:ext cx="789578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7C41E845-7BE0-7699-CB8A-452F407CDC6E}"/>
              </a:ext>
            </a:extLst>
          </p:cNvPr>
          <p:cNvSpPr txBox="1"/>
          <p:nvPr/>
        </p:nvSpPr>
        <p:spPr>
          <a:xfrm>
            <a:off x="2687255" y="4695803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No</a:t>
            </a:r>
            <a:endParaRPr kumimoji="1" lang="zh-CN" altLang="en-US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4601FD49-A91D-5FA2-DF77-B4119451B4F7}"/>
              </a:ext>
            </a:extLst>
          </p:cNvPr>
          <p:cNvSpPr txBox="1"/>
          <p:nvPr/>
        </p:nvSpPr>
        <p:spPr>
          <a:xfrm>
            <a:off x="5365150" y="1453543"/>
            <a:ext cx="1310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GPU to GPU</a:t>
            </a:r>
            <a:endParaRPr kumimoji="1" lang="zh-CN" altLang="en-US"/>
          </a:p>
        </p:txBody>
      </p:sp>
      <p:sp>
        <p:nvSpPr>
          <p:cNvPr id="84" name="圆角矩形 83">
            <a:extLst>
              <a:ext uri="{FF2B5EF4-FFF2-40B4-BE49-F238E27FC236}">
                <a16:creationId xmlns:a16="http://schemas.microsoft.com/office/drawing/2014/main" id="{F75B4CB5-2EE1-6B61-A35C-076C976DCCCD}"/>
              </a:ext>
            </a:extLst>
          </p:cNvPr>
          <p:cNvSpPr/>
          <p:nvPr/>
        </p:nvSpPr>
        <p:spPr>
          <a:xfrm>
            <a:off x="6441998" y="2672061"/>
            <a:ext cx="625064" cy="328442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 0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85" name="圆角矩形 84">
            <a:extLst>
              <a:ext uri="{FF2B5EF4-FFF2-40B4-BE49-F238E27FC236}">
                <a16:creationId xmlns:a16="http://schemas.microsoft.com/office/drawing/2014/main" id="{80C8B199-0B67-0F4F-0F93-11B4FAB64627}"/>
              </a:ext>
            </a:extLst>
          </p:cNvPr>
          <p:cNvSpPr/>
          <p:nvPr/>
        </p:nvSpPr>
        <p:spPr>
          <a:xfrm>
            <a:off x="6441998" y="1992619"/>
            <a:ext cx="625064" cy="328442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 1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86" name="圆角矩形 85">
            <a:extLst>
              <a:ext uri="{FF2B5EF4-FFF2-40B4-BE49-F238E27FC236}">
                <a16:creationId xmlns:a16="http://schemas.microsoft.com/office/drawing/2014/main" id="{28AEB49B-0C41-6E53-3AB4-CBB372EBFD77}"/>
              </a:ext>
            </a:extLst>
          </p:cNvPr>
          <p:cNvSpPr/>
          <p:nvPr/>
        </p:nvSpPr>
        <p:spPr>
          <a:xfrm>
            <a:off x="7518846" y="2672061"/>
            <a:ext cx="625064" cy="328442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 2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87" name="圆角矩形 86">
            <a:extLst>
              <a:ext uri="{FF2B5EF4-FFF2-40B4-BE49-F238E27FC236}">
                <a16:creationId xmlns:a16="http://schemas.microsoft.com/office/drawing/2014/main" id="{4765C328-431C-E3B2-2C97-C63887958731}"/>
              </a:ext>
            </a:extLst>
          </p:cNvPr>
          <p:cNvSpPr/>
          <p:nvPr/>
        </p:nvSpPr>
        <p:spPr>
          <a:xfrm>
            <a:off x="6441998" y="3351503"/>
            <a:ext cx="625064" cy="328442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 3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4766F77C-5830-F71A-B69C-B0FA2ADD08A5}"/>
              </a:ext>
            </a:extLst>
          </p:cNvPr>
          <p:cNvSpPr/>
          <p:nvPr/>
        </p:nvSpPr>
        <p:spPr>
          <a:xfrm>
            <a:off x="5365150" y="2672061"/>
            <a:ext cx="625064" cy="328442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 4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3CAC734B-D493-05AF-89FD-CDE75B42EAB7}"/>
              </a:ext>
            </a:extLst>
          </p:cNvPr>
          <p:cNvCxnSpPr>
            <a:cxnSpLocks/>
            <a:stCxn id="85" idx="2"/>
            <a:endCxn id="84" idx="0"/>
          </p:cNvCxnSpPr>
          <p:nvPr/>
        </p:nvCxnSpPr>
        <p:spPr>
          <a:xfrm>
            <a:off x="6754530" y="2321061"/>
            <a:ext cx="0" cy="3510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626EF29B-35F0-0AEC-0C54-BBFF11C45F9B}"/>
              </a:ext>
            </a:extLst>
          </p:cNvPr>
          <p:cNvCxnSpPr>
            <a:cxnSpLocks/>
          </p:cNvCxnSpPr>
          <p:nvPr/>
        </p:nvCxnSpPr>
        <p:spPr>
          <a:xfrm>
            <a:off x="6745222" y="3000503"/>
            <a:ext cx="0" cy="3510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直线连接符 92">
            <a:extLst>
              <a:ext uri="{FF2B5EF4-FFF2-40B4-BE49-F238E27FC236}">
                <a16:creationId xmlns:a16="http://schemas.microsoft.com/office/drawing/2014/main" id="{397F31FA-56DC-B37B-5918-DB81356D2937}"/>
              </a:ext>
            </a:extLst>
          </p:cNvPr>
          <p:cNvCxnSpPr>
            <a:cxnSpLocks/>
            <a:stCxn id="86" idx="1"/>
            <a:endCxn id="84" idx="3"/>
          </p:cNvCxnSpPr>
          <p:nvPr/>
        </p:nvCxnSpPr>
        <p:spPr>
          <a:xfrm flipH="1">
            <a:off x="7067062" y="2836282"/>
            <a:ext cx="45178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直线连接符 96">
            <a:extLst>
              <a:ext uri="{FF2B5EF4-FFF2-40B4-BE49-F238E27FC236}">
                <a16:creationId xmlns:a16="http://schemas.microsoft.com/office/drawing/2014/main" id="{68F14BCD-961C-7F29-9437-A4A871A6130E}"/>
              </a:ext>
            </a:extLst>
          </p:cNvPr>
          <p:cNvCxnSpPr>
            <a:cxnSpLocks/>
            <a:stCxn id="84" idx="1"/>
            <a:endCxn id="88" idx="3"/>
          </p:cNvCxnSpPr>
          <p:nvPr/>
        </p:nvCxnSpPr>
        <p:spPr>
          <a:xfrm flipH="1">
            <a:off x="5990214" y="2836282"/>
            <a:ext cx="45178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文本框 99">
            <a:extLst>
              <a:ext uri="{FF2B5EF4-FFF2-40B4-BE49-F238E27FC236}">
                <a16:creationId xmlns:a16="http://schemas.microsoft.com/office/drawing/2014/main" id="{F4AAE2AD-2810-9104-EDAE-427AF2811210}"/>
              </a:ext>
            </a:extLst>
          </p:cNvPr>
          <p:cNvSpPr txBox="1"/>
          <p:nvPr/>
        </p:nvSpPr>
        <p:spPr>
          <a:xfrm>
            <a:off x="6503810" y="1719716"/>
            <a:ext cx="4828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/>
              <a:t>[0, 1]</a:t>
            </a:r>
            <a:endParaRPr kumimoji="1" lang="zh-CN" altLang="en-US" sz="1100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E730D519-AE48-1F7F-1105-CFDC50A0F5F5}"/>
              </a:ext>
            </a:extLst>
          </p:cNvPr>
          <p:cNvSpPr txBox="1"/>
          <p:nvPr/>
        </p:nvSpPr>
        <p:spPr>
          <a:xfrm>
            <a:off x="5437471" y="2399640"/>
            <a:ext cx="4828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/>
              <a:t>[0, 2]</a:t>
            </a:r>
            <a:endParaRPr kumimoji="1" lang="zh-CN" altLang="en-US" sz="1100"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C8E461EE-E26B-5CDD-BADF-70ECAFDD1865}"/>
              </a:ext>
            </a:extLst>
          </p:cNvPr>
          <p:cNvSpPr txBox="1"/>
          <p:nvPr/>
        </p:nvSpPr>
        <p:spPr>
          <a:xfrm>
            <a:off x="6513118" y="3650241"/>
            <a:ext cx="4828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/>
              <a:t>[2, 3]</a:t>
            </a:r>
            <a:endParaRPr kumimoji="1" lang="zh-CN" altLang="en-US" sz="1100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DCA38016-207B-B78B-2EEF-1E37F78BBC25}"/>
              </a:ext>
            </a:extLst>
          </p:cNvPr>
          <p:cNvSpPr txBox="1"/>
          <p:nvPr/>
        </p:nvSpPr>
        <p:spPr>
          <a:xfrm>
            <a:off x="7589966" y="2412525"/>
            <a:ext cx="4828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/>
              <a:t>[1, 3]</a:t>
            </a:r>
            <a:endParaRPr kumimoji="1" lang="zh-CN" altLang="en-US" sz="1100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13977117-68C0-A10C-24E3-67527DE6D1F8}"/>
              </a:ext>
            </a:extLst>
          </p:cNvPr>
          <p:cNvSpPr txBox="1"/>
          <p:nvPr/>
        </p:nvSpPr>
        <p:spPr>
          <a:xfrm>
            <a:off x="5794577" y="3876715"/>
            <a:ext cx="190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/>
              <a:t>(a) Before </a:t>
            </a:r>
            <a:r>
              <a:rPr kumimoji="1" lang="en-US" altLang="zh-CN" sz="1200" err="1"/>
              <a:t>subchunk</a:t>
            </a:r>
            <a:r>
              <a:rPr kumimoji="1" lang="en-US" altLang="zh-CN" sz="1200"/>
              <a:t> sorting</a:t>
            </a:r>
            <a:endParaRPr kumimoji="1" lang="zh-CN" altLang="en-US" sz="1200"/>
          </a:p>
        </p:txBody>
      </p:sp>
      <p:sp>
        <p:nvSpPr>
          <p:cNvPr id="106" name="圆角矩形 105">
            <a:extLst>
              <a:ext uri="{FF2B5EF4-FFF2-40B4-BE49-F238E27FC236}">
                <a16:creationId xmlns:a16="http://schemas.microsoft.com/office/drawing/2014/main" id="{66AAB843-1856-47C4-91FC-49D7DD263EC8}"/>
              </a:ext>
            </a:extLst>
          </p:cNvPr>
          <p:cNvSpPr/>
          <p:nvPr/>
        </p:nvSpPr>
        <p:spPr>
          <a:xfrm>
            <a:off x="9675727" y="2672061"/>
            <a:ext cx="625064" cy="328442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 0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07" name="圆角矩形 106">
            <a:extLst>
              <a:ext uri="{FF2B5EF4-FFF2-40B4-BE49-F238E27FC236}">
                <a16:creationId xmlns:a16="http://schemas.microsoft.com/office/drawing/2014/main" id="{82EFF5DE-BFF6-A687-6244-C10D2D5F3794}"/>
              </a:ext>
            </a:extLst>
          </p:cNvPr>
          <p:cNvSpPr/>
          <p:nvPr/>
        </p:nvSpPr>
        <p:spPr>
          <a:xfrm>
            <a:off x="9675727" y="1992619"/>
            <a:ext cx="625064" cy="328442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 1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A1D0B507-B534-5C83-830D-2285B52EEC7E}"/>
              </a:ext>
            </a:extLst>
          </p:cNvPr>
          <p:cNvSpPr/>
          <p:nvPr/>
        </p:nvSpPr>
        <p:spPr>
          <a:xfrm>
            <a:off x="10752575" y="2672061"/>
            <a:ext cx="625064" cy="328442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 2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09" name="圆角矩形 108">
            <a:extLst>
              <a:ext uri="{FF2B5EF4-FFF2-40B4-BE49-F238E27FC236}">
                <a16:creationId xmlns:a16="http://schemas.microsoft.com/office/drawing/2014/main" id="{6CAD2FC4-F456-3B0E-2462-A7FD14B1420A}"/>
              </a:ext>
            </a:extLst>
          </p:cNvPr>
          <p:cNvSpPr/>
          <p:nvPr/>
        </p:nvSpPr>
        <p:spPr>
          <a:xfrm>
            <a:off x="9675727" y="3351503"/>
            <a:ext cx="625064" cy="328442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 3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10" name="圆角矩形 109">
            <a:extLst>
              <a:ext uri="{FF2B5EF4-FFF2-40B4-BE49-F238E27FC236}">
                <a16:creationId xmlns:a16="http://schemas.microsoft.com/office/drawing/2014/main" id="{5528D686-37C1-8F2F-B9EB-7F1F78C34806}"/>
              </a:ext>
            </a:extLst>
          </p:cNvPr>
          <p:cNvSpPr/>
          <p:nvPr/>
        </p:nvSpPr>
        <p:spPr>
          <a:xfrm>
            <a:off x="8598879" y="2672061"/>
            <a:ext cx="625064" cy="328442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 4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C639B767-E29E-1B22-A4C8-898E0C850F4B}"/>
              </a:ext>
            </a:extLst>
          </p:cNvPr>
          <p:cNvCxnSpPr>
            <a:cxnSpLocks/>
            <a:stCxn id="107" idx="2"/>
            <a:endCxn id="106" idx="0"/>
          </p:cNvCxnSpPr>
          <p:nvPr/>
        </p:nvCxnSpPr>
        <p:spPr>
          <a:xfrm>
            <a:off x="9988259" y="2321061"/>
            <a:ext cx="0" cy="3510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5854144D-4A93-BAED-B99A-06F17E062F3A}"/>
              </a:ext>
            </a:extLst>
          </p:cNvPr>
          <p:cNvCxnSpPr>
            <a:cxnSpLocks/>
          </p:cNvCxnSpPr>
          <p:nvPr/>
        </p:nvCxnSpPr>
        <p:spPr>
          <a:xfrm>
            <a:off x="9978951" y="3000503"/>
            <a:ext cx="0" cy="3510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1B8983A0-9E9F-150F-88AB-A3AEA88AFA75}"/>
              </a:ext>
            </a:extLst>
          </p:cNvPr>
          <p:cNvCxnSpPr>
            <a:cxnSpLocks/>
            <a:stCxn id="108" idx="1"/>
            <a:endCxn id="106" idx="3"/>
          </p:cNvCxnSpPr>
          <p:nvPr/>
        </p:nvCxnSpPr>
        <p:spPr>
          <a:xfrm flipH="1">
            <a:off x="10300791" y="2836282"/>
            <a:ext cx="45178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37459A57-16D6-159F-92EC-D58C01207B15}"/>
              </a:ext>
            </a:extLst>
          </p:cNvPr>
          <p:cNvCxnSpPr>
            <a:cxnSpLocks/>
            <a:stCxn id="106" idx="1"/>
            <a:endCxn id="110" idx="3"/>
          </p:cNvCxnSpPr>
          <p:nvPr/>
        </p:nvCxnSpPr>
        <p:spPr>
          <a:xfrm flipH="1">
            <a:off x="9223943" y="2836282"/>
            <a:ext cx="45178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文本框 114">
            <a:extLst>
              <a:ext uri="{FF2B5EF4-FFF2-40B4-BE49-F238E27FC236}">
                <a16:creationId xmlns:a16="http://schemas.microsoft.com/office/drawing/2014/main" id="{758FF050-F89D-FC99-5188-B3088EEA01C7}"/>
              </a:ext>
            </a:extLst>
          </p:cNvPr>
          <p:cNvSpPr txBox="1"/>
          <p:nvPr/>
        </p:nvSpPr>
        <p:spPr>
          <a:xfrm>
            <a:off x="9807269" y="1731009"/>
            <a:ext cx="3433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/>
              <a:t>[0]</a:t>
            </a:r>
            <a:endParaRPr kumimoji="1" lang="zh-CN" altLang="en-US" sz="110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5AB7541F-A37F-2044-721C-D4CB79B1FE5A}"/>
              </a:ext>
            </a:extLst>
          </p:cNvPr>
          <p:cNvSpPr txBox="1"/>
          <p:nvPr/>
        </p:nvSpPr>
        <p:spPr>
          <a:xfrm>
            <a:off x="8736543" y="2399640"/>
            <a:ext cx="3433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/>
              <a:t>[2]</a:t>
            </a:r>
            <a:endParaRPr kumimoji="1" lang="zh-CN" altLang="en-US" sz="1100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F3097206-ACD4-5190-CB46-FC5864B4F0C9}"/>
              </a:ext>
            </a:extLst>
          </p:cNvPr>
          <p:cNvSpPr txBox="1"/>
          <p:nvPr/>
        </p:nvSpPr>
        <p:spPr>
          <a:xfrm>
            <a:off x="9816577" y="3650241"/>
            <a:ext cx="3433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/>
              <a:t>[3]</a:t>
            </a:r>
            <a:endParaRPr kumimoji="1" lang="zh-CN" altLang="en-US" sz="1100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454DB9C2-3461-18ED-D96F-B9FED0D32E43}"/>
              </a:ext>
            </a:extLst>
          </p:cNvPr>
          <p:cNvSpPr txBox="1"/>
          <p:nvPr/>
        </p:nvSpPr>
        <p:spPr>
          <a:xfrm>
            <a:off x="10912687" y="2412525"/>
            <a:ext cx="3433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/>
              <a:t>[1]</a:t>
            </a:r>
            <a:endParaRPr kumimoji="1" lang="zh-CN" altLang="en-US" sz="1100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BB20C7D0-8141-8C31-716F-599BDE1608C1}"/>
              </a:ext>
            </a:extLst>
          </p:cNvPr>
          <p:cNvSpPr txBox="1"/>
          <p:nvPr/>
        </p:nvSpPr>
        <p:spPr>
          <a:xfrm>
            <a:off x="9028306" y="3876715"/>
            <a:ext cx="18116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/>
              <a:t>(b) After </a:t>
            </a:r>
            <a:r>
              <a:rPr kumimoji="1" lang="en-US" altLang="zh-CN" sz="1200" err="1"/>
              <a:t>subchunk</a:t>
            </a:r>
            <a:r>
              <a:rPr kumimoji="1" lang="en-US" altLang="zh-CN" sz="1200"/>
              <a:t> sorting</a:t>
            </a:r>
            <a:endParaRPr kumimoji="1" lang="zh-CN" altLang="en-US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A207E2-3F4A-F2DB-37AE-38D2D10672AB}"/>
              </a:ext>
            </a:extLst>
          </p:cNvPr>
          <p:cNvSpPr txBox="1"/>
          <p:nvPr/>
        </p:nvSpPr>
        <p:spPr>
          <a:xfrm>
            <a:off x="5365150" y="4344214"/>
            <a:ext cx="62819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○"/>
            </a:pPr>
            <a:r>
              <a:rPr lang="en-GB" altLang="zh-CN" dirty="0"/>
              <a:t>For GPU to GPU, </a:t>
            </a:r>
            <a:r>
              <a:rPr lang="en-GB" altLang="zh-CN" dirty="0" err="1"/>
              <a:t>Subchunk</a:t>
            </a:r>
            <a:r>
              <a:rPr lang="en-GB" altLang="zh-CN" dirty="0"/>
              <a:t> sorting only performs the function of preventing redundant sending</a:t>
            </a:r>
            <a:r>
              <a:rPr lang="zh-CN" altLang="en-US" dirty="0"/>
              <a:t> </a:t>
            </a:r>
            <a:r>
              <a:rPr lang="en-US" altLang="zh-CN" dirty="0"/>
              <a:t>(Sending several same </a:t>
            </a:r>
            <a:r>
              <a:rPr lang="en-US" altLang="zh-CN" dirty="0" err="1"/>
              <a:t>subchunks</a:t>
            </a:r>
            <a:r>
              <a:rPr lang="en-US" altLang="zh-CN" dirty="0"/>
              <a:t> to the same receiver)</a:t>
            </a:r>
            <a:endParaRPr lang="en-GB" altLang="zh-CN" dirty="0"/>
          </a:p>
        </p:txBody>
      </p:sp>
    </p:spTree>
    <p:extLst>
      <p:ext uri="{BB962C8B-B14F-4D97-AF65-F5344CB8AC3E}">
        <p14:creationId xmlns:p14="http://schemas.microsoft.com/office/powerpoint/2010/main" val="2351948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animBg="1"/>
      <p:bldP spid="107" grpId="0" animBg="1"/>
      <p:bldP spid="108" grpId="0" animBg="1"/>
      <p:bldP spid="109" grpId="0" animBg="1"/>
      <p:bldP spid="110" grpId="0" animBg="1"/>
      <p:bldP spid="115" grpId="0"/>
      <p:bldP spid="116" grpId="0"/>
      <p:bldP spid="117" grpId="0"/>
      <p:bldP spid="118" grpId="0"/>
      <p:bldP spid="119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05AE5-F572-ADE7-11B2-B749A2E6B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9589F7-EF31-9E78-7FFB-00843AE65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0F2C53"/>
                </a:solidFill>
                <a:latin typeface="Abel"/>
                <a:ea typeface="Abel"/>
                <a:cs typeface="Abel"/>
                <a:sym typeface="Abel"/>
              </a:rPr>
              <a:t>N</a:t>
            </a:r>
            <a:r>
              <a:rPr lang="en-US" altLang="zh-CN" sz="4000" b="1">
                <a:solidFill>
                  <a:srgbClr val="0F2C53"/>
                </a:solidFill>
                <a:latin typeface="Abel"/>
                <a:ea typeface="Abel"/>
                <a:cs typeface="Abel"/>
                <a:sym typeface="Abel"/>
              </a:rPr>
              <a:t>umerical Result: Topology</a:t>
            </a:r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2B7DB51-27E4-8ABB-C689-7BFE49AE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SCALE-CCL: A Scalable Collective Communication Library for Wide-Area Distributed Training, Jiaheng, INET4AI ’25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7345EEE-782B-D5C7-FED2-219A96F98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13</a:t>
            </a:fld>
            <a:endParaRPr 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20E05EF4-E5C6-405F-8DC8-258D09EEC6A0}"/>
              </a:ext>
            </a:extLst>
          </p:cNvPr>
          <p:cNvSpPr/>
          <p:nvPr/>
        </p:nvSpPr>
        <p:spPr>
          <a:xfrm>
            <a:off x="2054718" y="1771580"/>
            <a:ext cx="707748" cy="405007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Border Router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D7C3BFA7-D28B-C662-A1CA-43247B415874}"/>
              </a:ext>
            </a:extLst>
          </p:cNvPr>
          <p:cNvSpPr/>
          <p:nvPr/>
        </p:nvSpPr>
        <p:spPr>
          <a:xfrm>
            <a:off x="2054718" y="2751883"/>
            <a:ext cx="707748" cy="405007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Border Router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3B2D3C41-4140-F44F-B625-66C9B66BDB44}"/>
              </a:ext>
            </a:extLst>
          </p:cNvPr>
          <p:cNvSpPr/>
          <p:nvPr/>
        </p:nvSpPr>
        <p:spPr>
          <a:xfrm>
            <a:off x="3726999" y="1771579"/>
            <a:ext cx="707748" cy="405007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Border Router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A3AC1B92-C0C5-BF34-87A0-0B116396DDF4}"/>
              </a:ext>
            </a:extLst>
          </p:cNvPr>
          <p:cNvSpPr/>
          <p:nvPr/>
        </p:nvSpPr>
        <p:spPr>
          <a:xfrm>
            <a:off x="3726999" y="2751882"/>
            <a:ext cx="707748" cy="405007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Border Router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567DFFF4-48EA-1FC5-818B-44E392C3B1DA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 flipV="1">
            <a:off x="2762466" y="1974083"/>
            <a:ext cx="964533" cy="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E4FCF57F-260C-85BA-DC18-0BF7FE5D9121}"/>
              </a:ext>
            </a:extLst>
          </p:cNvPr>
          <p:cNvCxnSpPr>
            <a:cxnSpLocks/>
          </p:cNvCxnSpPr>
          <p:nvPr/>
        </p:nvCxnSpPr>
        <p:spPr>
          <a:xfrm>
            <a:off x="2762466" y="2126483"/>
            <a:ext cx="964533" cy="67412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CD4F5824-92F0-11BB-4625-8E797681BBB7}"/>
              </a:ext>
            </a:extLst>
          </p:cNvPr>
          <p:cNvCxnSpPr>
            <a:cxnSpLocks/>
          </p:cNvCxnSpPr>
          <p:nvPr/>
        </p:nvCxnSpPr>
        <p:spPr>
          <a:xfrm flipH="1">
            <a:off x="2762466" y="2152225"/>
            <a:ext cx="964533" cy="648379"/>
          </a:xfrm>
          <a:prstGeom prst="line">
            <a:avLst/>
          </a:prstGeom>
          <a:ln>
            <a:solidFill>
              <a:srgbClr val="4DA7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EF0A445B-0B44-D977-58DA-6847C3DEBDD7}"/>
              </a:ext>
            </a:extLst>
          </p:cNvPr>
          <p:cNvCxnSpPr>
            <a:cxnSpLocks/>
            <a:stCxn id="14" idx="1"/>
            <a:endCxn id="12" idx="3"/>
          </p:cNvCxnSpPr>
          <p:nvPr/>
        </p:nvCxnSpPr>
        <p:spPr>
          <a:xfrm flipH="1">
            <a:off x="2762466" y="2954386"/>
            <a:ext cx="964533" cy="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85C26A1E-F76C-D5D6-C8ED-CF725750C09D}"/>
              </a:ext>
            </a:extLst>
          </p:cNvPr>
          <p:cNvSpPr txBox="1"/>
          <p:nvPr/>
        </p:nvSpPr>
        <p:spPr>
          <a:xfrm>
            <a:off x="2967252" y="2687846"/>
            <a:ext cx="55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/>
              <a:t>WAN</a:t>
            </a:r>
            <a:endParaRPr kumimoji="1" lang="zh-CN" altLang="en-US" sz="1200" b="1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DC93B966-E8DC-343D-A4F3-C2F91551CCAE}"/>
              </a:ext>
            </a:extLst>
          </p:cNvPr>
          <p:cNvSpPr/>
          <p:nvPr/>
        </p:nvSpPr>
        <p:spPr>
          <a:xfrm>
            <a:off x="1090184" y="1519617"/>
            <a:ext cx="642551" cy="210065"/>
          </a:xfrm>
          <a:prstGeom prst="roundRect">
            <a:avLst/>
          </a:prstGeom>
          <a:solidFill>
            <a:srgbClr val="E8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</a:t>
            </a:r>
            <a:r>
              <a:rPr kumimoji="1" lang="zh-CN" altLang="en-US" sz="1200" b="1">
                <a:solidFill>
                  <a:schemeClr val="tx1"/>
                </a:solidFill>
              </a:rPr>
              <a:t> </a:t>
            </a:r>
            <a:r>
              <a:rPr kumimoji="1" lang="en-US" altLang="zh-CN" sz="1200" b="1">
                <a:solidFill>
                  <a:schemeClr val="tx1"/>
                </a:solidFill>
              </a:rPr>
              <a:t>0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836BBE79-2262-4347-B081-DED3C9FEE5A5}"/>
              </a:ext>
            </a:extLst>
          </p:cNvPr>
          <p:cNvSpPr/>
          <p:nvPr/>
        </p:nvSpPr>
        <p:spPr>
          <a:xfrm>
            <a:off x="1090184" y="2030717"/>
            <a:ext cx="642551" cy="210065"/>
          </a:xfrm>
          <a:prstGeom prst="roundRect">
            <a:avLst/>
          </a:prstGeom>
          <a:solidFill>
            <a:srgbClr val="E8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</a:t>
            </a:r>
            <a:r>
              <a:rPr kumimoji="1" lang="zh-CN" altLang="en-US" sz="1200" b="1">
                <a:solidFill>
                  <a:schemeClr val="tx1"/>
                </a:solidFill>
              </a:rPr>
              <a:t> </a:t>
            </a:r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D96E8E70-2938-52C9-6E84-CCE777F71241}"/>
              </a:ext>
            </a:extLst>
          </p:cNvPr>
          <p:cNvSpPr/>
          <p:nvPr/>
        </p:nvSpPr>
        <p:spPr>
          <a:xfrm>
            <a:off x="1090185" y="2541817"/>
            <a:ext cx="642551" cy="210065"/>
          </a:xfrm>
          <a:prstGeom prst="roundRect">
            <a:avLst/>
          </a:prstGeom>
          <a:solidFill>
            <a:srgbClr val="E8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</a:t>
            </a:r>
            <a:r>
              <a:rPr kumimoji="1" lang="zh-CN" altLang="en-US" sz="1200" b="1">
                <a:solidFill>
                  <a:schemeClr val="tx1"/>
                </a:solidFill>
              </a:rPr>
              <a:t> </a:t>
            </a:r>
            <a:r>
              <a:rPr kumimoji="1" lang="en-US" altLang="zh-CN" sz="1200" b="1">
                <a:solidFill>
                  <a:schemeClr val="tx1"/>
                </a:solidFill>
              </a:rPr>
              <a:t>2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F90047EB-74EF-4E7B-D102-BEE684B8F67A}"/>
              </a:ext>
            </a:extLst>
          </p:cNvPr>
          <p:cNvSpPr/>
          <p:nvPr/>
        </p:nvSpPr>
        <p:spPr>
          <a:xfrm>
            <a:off x="1090185" y="3062184"/>
            <a:ext cx="642551" cy="210065"/>
          </a:xfrm>
          <a:prstGeom prst="roundRect">
            <a:avLst/>
          </a:prstGeom>
          <a:solidFill>
            <a:srgbClr val="E8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</a:t>
            </a:r>
            <a:r>
              <a:rPr kumimoji="1" lang="zh-CN" altLang="en-US" sz="1200" b="1">
                <a:solidFill>
                  <a:schemeClr val="tx1"/>
                </a:solidFill>
              </a:rPr>
              <a:t> </a:t>
            </a:r>
            <a:r>
              <a:rPr kumimoji="1" lang="en-US" altLang="zh-CN" sz="1200" b="1">
                <a:solidFill>
                  <a:schemeClr val="tx1"/>
                </a:solidFill>
              </a:rPr>
              <a:t>3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AEE6D6DD-D9C1-EF0E-8B07-3177F7444C26}"/>
              </a:ext>
            </a:extLst>
          </p:cNvPr>
          <p:cNvSpPr/>
          <p:nvPr/>
        </p:nvSpPr>
        <p:spPr>
          <a:xfrm>
            <a:off x="4756728" y="1519617"/>
            <a:ext cx="642551" cy="210065"/>
          </a:xfrm>
          <a:prstGeom prst="roundRect">
            <a:avLst/>
          </a:prstGeom>
          <a:solidFill>
            <a:srgbClr val="E8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</a:t>
            </a:r>
            <a:r>
              <a:rPr kumimoji="1" lang="zh-CN" altLang="en-US" sz="1200" b="1">
                <a:solidFill>
                  <a:schemeClr val="tx1"/>
                </a:solidFill>
              </a:rPr>
              <a:t> </a:t>
            </a:r>
            <a:r>
              <a:rPr kumimoji="1" lang="en-US" altLang="zh-CN" sz="1200" b="1">
                <a:solidFill>
                  <a:schemeClr val="tx1"/>
                </a:solidFill>
              </a:rPr>
              <a:t>4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957AA0CB-AD2B-2595-4EA4-10E461779711}"/>
              </a:ext>
            </a:extLst>
          </p:cNvPr>
          <p:cNvSpPr/>
          <p:nvPr/>
        </p:nvSpPr>
        <p:spPr>
          <a:xfrm>
            <a:off x="4756728" y="2030717"/>
            <a:ext cx="642551" cy="210065"/>
          </a:xfrm>
          <a:prstGeom prst="roundRect">
            <a:avLst/>
          </a:prstGeom>
          <a:solidFill>
            <a:srgbClr val="E8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</a:t>
            </a:r>
            <a:r>
              <a:rPr kumimoji="1" lang="zh-CN" altLang="en-US" sz="1200" b="1">
                <a:solidFill>
                  <a:schemeClr val="tx1"/>
                </a:solidFill>
              </a:rPr>
              <a:t> </a:t>
            </a:r>
            <a:r>
              <a:rPr kumimoji="1" lang="en-US" altLang="zh-CN" sz="1200" b="1">
                <a:solidFill>
                  <a:schemeClr val="tx1"/>
                </a:solidFill>
              </a:rPr>
              <a:t>5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6A9B9D42-6C8D-C560-8B04-09934BDEE9F7}"/>
              </a:ext>
            </a:extLst>
          </p:cNvPr>
          <p:cNvSpPr/>
          <p:nvPr/>
        </p:nvSpPr>
        <p:spPr>
          <a:xfrm>
            <a:off x="4756729" y="2541817"/>
            <a:ext cx="642551" cy="210065"/>
          </a:xfrm>
          <a:prstGeom prst="roundRect">
            <a:avLst/>
          </a:prstGeom>
          <a:solidFill>
            <a:srgbClr val="E8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</a:t>
            </a:r>
            <a:r>
              <a:rPr kumimoji="1" lang="zh-CN" altLang="en-US" sz="1200" b="1">
                <a:solidFill>
                  <a:schemeClr val="tx1"/>
                </a:solidFill>
              </a:rPr>
              <a:t> </a:t>
            </a:r>
            <a:r>
              <a:rPr kumimoji="1" lang="en-US" altLang="zh-CN" sz="1200" b="1">
                <a:solidFill>
                  <a:schemeClr val="tx1"/>
                </a:solidFill>
              </a:rPr>
              <a:t>6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1EFB72EB-209B-4A35-630E-9CED3851AC3B}"/>
              </a:ext>
            </a:extLst>
          </p:cNvPr>
          <p:cNvSpPr/>
          <p:nvPr/>
        </p:nvSpPr>
        <p:spPr>
          <a:xfrm>
            <a:off x="4756729" y="3062184"/>
            <a:ext cx="642551" cy="210065"/>
          </a:xfrm>
          <a:prstGeom prst="roundRect">
            <a:avLst/>
          </a:prstGeom>
          <a:solidFill>
            <a:srgbClr val="E8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</a:t>
            </a:r>
            <a:r>
              <a:rPr kumimoji="1" lang="zh-CN" altLang="en-US" sz="1200" b="1">
                <a:solidFill>
                  <a:schemeClr val="tx1"/>
                </a:solidFill>
              </a:rPr>
              <a:t> </a:t>
            </a:r>
            <a:r>
              <a:rPr kumimoji="1" lang="en-US" altLang="zh-CN" sz="1200" b="1">
                <a:solidFill>
                  <a:schemeClr val="tx1"/>
                </a:solidFill>
              </a:rPr>
              <a:t>7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825F619E-27FA-022F-2C5D-5D5E04AD46F0}"/>
              </a:ext>
            </a:extLst>
          </p:cNvPr>
          <p:cNvCxnSpPr>
            <a:stCxn id="20" idx="3"/>
            <a:endCxn id="11" idx="1"/>
          </p:cNvCxnSpPr>
          <p:nvPr/>
        </p:nvCxnSpPr>
        <p:spPr>
          <a:xfrm>
            <a:off x="1732735" y="1624650"/>
            <a:ext cx="321983" cy="349434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线连接符 28">
            <a:extLst>
              <a:ext uri="{FF2B5EF4-FFF2-40B4-BE49-F238E27FC236}">
                <a16:creationId xmlns:a16="http://schemas.microsoft.com/office/drawing/2014/main" id="{8D6C0C83-5A3D-6805-52EE-A8CB7F1B106C}"/>
              </a:ext>
            </a:extLst>
          </p:cNvPr>
          <p:cNvCxnSpPr>
            <a:cxnSpLocks/>
            <a:stCxn id="20" idx="3"/>
            <a:endCxn id="12" idx="1"/>
          </p:cNvCxnSpPr>
          <p:nvPr/>
        </p:nvCxnSpPr>
        <p:spPr>
          <a:xfrm>
            <a:off x="1732735" y="1624650"/>
            <a:ext cx="321983" cy="132973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FF480B1C-A5D9-DCB7-6493-E6033B41FF4A}"/>
              </a:ext>
            </a:extLst>
          </p:cNvPr>
          <p:cNvCxnSpPr>
            <a:cxnSpLocks/>
            <a:stCxn id="21" idx="3"/>
            <a:endCxn id="11" idx="1"/>
          </p:cNvCxnSpPr>
          <p:nvPr/>
        </p:nvCxnSpPr>
        <p:spPr>
          <a:xfrm flipV="1">
            <a:off x="1732735" y="1974084"/>
            <a:ext cx="321983" cy="16166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15656380-DF63-A589-0826-9F979D029360}"/>
              </a:ext>
            </a:extLst>
          </p:cNvPr>
          <p:cNvCxnSpPr>
            <a:cxnSpLocks/>
            <a:stCxn id="21" idx="3"/>
            <a:endCxn id="12" idx="1"/>
          </p:cNvCxnSpPr>
          <p:nvPr/>
        </p:nvCxnSpPr>
        <p:spPr>
          <a:xfrm>
            <a:off x="1732735" y="2135750"/>
            <a:ext cx="321983" cy="81863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9590E2F3-4A09-35C2-DC94-B1D4DDB557EF}"/>
              </a:ext>
            </a:extLst>
          </p:cNvPr>
          <p:cNvCxnSpPr>
            <a:cxnSpLocks/>
            <a:stCxn id="22" idx="3"/>
            <a:endCxn id="11" idx="1"/>
          </p:cNvCxnSpPr>
          <p:nvPr/>
        </p:nvCxnSpPr>
        <p:spPr>
          <a:xfrm flipV="1">
            <a:off x="1732736" y="1974084"/>
            <a:ext cx="321982" cy="67276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FB7BAA0C-DB4F-1154-70D7-490D1B44AAF6}"/>
              </a:ext>
            </a:extLst>
          </p:cNvPr>
          <p:cNvCxnSpPr>
            <a:cxnSpLocks/>
            <a:stCxn id="22" idx="3"/>
            <a:endCxn id="12" idx="1"/>
          </p:cNvCxnSpPr>
          <p:nvPr/>
        </p:nvCxnSpPr>
        <p:spPr>
          <a:xfrm>
            <a:off x="1732736" y="2646850"/>
            <a:ext cx="321982" cy="30753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E540320A-47FC-D776-DA2A-2031CEA7B7FD}"/>
              </a:ext>
            </a:extLst>
          </p:cNvPr>
          <p:cNvCxnSpPr>
            <a:cxnSpLocks/>
            <a:stCxn id="23" idx="3"/>
            <a:endCxn id="11" idx="1"/>
          </p:cNvCxnSpPr>
          <p:nvPr/>
        </p:nvCxnSpPr>
        <p:spPr>
          <a:xfrm flipV="1">
            <a:off x="1732736" y="1974084"/>
            <a:ext cx="321982" cy="1193133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C4F5D4F4-BB90-8A65-B78E-4DC91E0642C5}"/>
              </a:ext>
            </a:extLst>
          </p:cNvPr>
          <p:cNvCxnSpPr>
            <a:cxnSpLocks/>
            <a:stCxn id="23" idx="3"/>
            <a:endCxn id="12" idx="1"/>
          </p:cNvCxnSpPr>
          <p:nvPr/>
        </p:nvCxnSpPr>
        <p:spPr>
          <a:xfrm flipV="1">
            <a:off x="1732736" y="2954387"/>
            <a:ext cx="321982" cy="21283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EDEEA842-C358-8041-CA6F-03B720C2B7BD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1411460" y="1729682"/>
            <a:ext cx="0" cy="30103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线连接符 36">
            <a:extLst>
              <a:ext uri="{FF2B5EF4-FFF2-40B4-BE49-F238E27FC236}">
                <a16:creationId xmlns:a16="http://schemas.microsoft.com/office/drawing/2014/main" id="{D547FC8D-6841-12E8-B299-7B03A0268837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1411460" y="2240782"/>
            <a:ext cx="1" cy="30103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线连接符 37">
            <a:extLst>
              <a:ext uri="{FF2B5EF4-FFF2-40B4-BE49-F238E27FC236}">
                <a16:creationId xmlns:a16="http://schemas.microsoft.com/office/drawing/2014/main" id="{0709F9BC-25C9-2E1D-6D4B-D3FC4C525819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>
            <a:off x="1411461" y="2751882"/>
            <a:ext cx="0" cy="31030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曲线连接符 38">
            <a:extLst>
              <a:ext uri="{FF2B5EF4-FFF2-40B4-BE49-F238E27FC236}">
                <a16:creationId xmlns:a16="http://schemas.microsoft.com/office/drawing/2014/main" id="{F327EA01-0375-E173-899F-F4A8A066EFF2}"/>
              </a:ext>
            </a:extLst>
          </p:cNvPr>
          <p:cNvCxnSpPr>
            <a:cxnSpLocks/>
            <a:stCxn id="20" idx="1"/>
            <a:endCxn id="22" idx="1"/>
          </p:cNvCxnSpPr>
          <p:nvPr/>
        </p:nvCxnSpPr>
        <p:spPr>
          <a:xfrm rot="10800000" flipH="1" flipV="1">
            <a:off x="1090183" y="1624650"/>
            <a:ext cx="1" cy="1022200"/>
          </a:xfrm>
          <a:prstGeom prst="curvedConnector3">
            <a:avLst>
              <a:gd name="adj1" fmla="val -22860000000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曲线连接符 39">
            <a:extLst>
              <a:ext uri="{FF2B5EF4-FFF2-40B4-BE49-F238E27FC236}">
                <a16:creationId xmlns:a16="http://schemas.microsoft.com/office/drawing/2014/main" id="{CB8897A3-6DB4-121A-28D7-E6BFEBDB2A5C}"/>
              </a:ext>
            </a:extLst>
          </p:cNvPr>
          <p:cNvCxnSpPr>
            <a:cxnSpLocks/>
            <a:stCxn id="21" idx="1"/>
            <a:endCxn id="23" idx="1"/>
          </p:cNvCxnSpPr>
          <p:nvPr/>
        </p:nvCxnSpPr>
        <p:spPr>
          <a:xfrm rot="10800000" flipH="1" flipV="1">
            <a:off x="1090183" y="2135749"/>
            <a:ext cx="1" cy="1031467"/>
          </a:xfrm>
          <a:prstGeom prst="curvedConnector3">
            <a:avLst>
              <a:gd name="adj1" fmla="val -22860000000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曲线连接符 40">
            <a:extLst>
              <a:ext uri="{FF2B5EF4-FFF2-40B4-BE49-F238E27FC236}">
                <a16:creationId xmlns:a16="http://schemas.microsoft.com/office/drawing/2014/main" id="{C3C0B3BB-6FA4-AF7D-BF04-32983CBD887A}"/>
              </a:ext>
            </a:extLst>
          </p:cNvPr>
          <p:cNvCxnSpPr>
            <a:cxnSpLocks/>
            <a:stCxn id="20" idx="1"/>
            <a:endCxn id="23" idx="1"/>
          </p:cNvCxnSpPr>
          <p:nvPr/>
        </p:nvCxnSpPr>
        <p:spPr>
          <a:xfrm rot="10800000" flipH="1" flipV="1">
            <a:off x="1090183" y="1624649"/>
            <a:ext cx="1" cy="1542567"/>
          </a:xfrm>
          <a:prstGeom prst="curvedConnector3">
            <a:avLst>
              <a:gd name="adj1" fmla="val -22860000000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线连接符 41">
            <a:extLst>
              <a:ext uri="{FF2B5EF4-FFF2-40B4-BE49-F238E27FC236}">
                <a16:creationId xmlns:a16="http://schemas.microsoft.com/office/drawing/2014/main" id="{E85EE880-F09D-D798-77CB-BE3E131DDF84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 flipV="1">
            <a:off x="4434747" y="1624650"/>
            <a:ext cx="321981" cy="349433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线连接符 42">
            <a:extLst>
              <a:ext uri="{FF2B5EF4-FFF2-40B4-BE49-F238E27FC236}">
                <a16:creationId xmlns:a16="http://schemas.microsoft.com/office/drawing/2014/main" id="{D7D501C9-FF1A-25E4-FA2A-7FA3DA07EC64}"/>
              </a:ext>
            </a:extLst>
          </p:cNvPr>
          <p:cNvCxnSpPr>
            <a:cxnSpLocks/>
            <a:stCxn id="14" idx="3"/>
            <a:endCxn id="24" idx="1"/>
          </p:cNvCxnSpPr>
          <p:nvPr/>
        </p:nvCxnSpPr>
        <p:spPr>
          <a:xfrm flipV="1">
            <a:off x="4434747" y="1624650"/>
            <a:ext cx="321981" cy="132973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0CD9137C-65CB-16AC-EF40-A921341DCE8A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4434747" y="1974083"/>
            <a:ext cx="321981" cy="16166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6B3565C3-D2DF-F147-7B00-B4BC02D846AE}"/>
              </a:ext>
            </a:extLst>
          </p:cNvPr>
          <p:cNvCxnSpPr>
            <a:cxnSpLocks/>
            <a:stCxn id="25" idx="1"/>
            <a:endCxn id="14" idx="3"/>
          </p:cNvCxnSpPr>
          <p:nvPr/>
        </p:nvCxnSpPr>
        <p:spPr>
          <a:xfrm flipH="1">
            <a:off x="4434747" y="2135750"/>
            <a:ext cx="321981" cy="81863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1BB5F14C-AF27-67D2-D0B3-1E4E3AA3D89D}"/>
              </a:ext>
            </a:extLst>
          </p:cNvPr>
          <p:cNvCxnSpPr>
            <a:cxnSpLocks/>
            <a:stCxn id="26" idx="1"/>
            <a:endCxn id="13" idx="3"/>
          </p:cNvCxnSpPr>
          <p:nvPr/>
        </p:nvCxnSpPr>
        <p:spPr>
          <a:xfrm flipH="1" flipV="1">
            <a:off x="4434747" y="1974083"/>
            <a:ext cx="321982" cy="67276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线连接符 46">
            <a:extLst>
              <a:ext uri="{FF2B5EF4-FFF2-40B4-BE49-F238E27FC236}">
                <a16:creationId xmlns:a16="http://schemas.microsoft.com/office/drawing/2014/main" id="{AA461315-DC0D-93C3-A0F5-A548E35F821A}"/>
              </a:ext>
            </a:extLst>
          </p:cNvPr>
          <p:cNvCxnSpPr>
            <a:cxnSpLocks/>
            <a:stCxn id="14" idx="3"/>
            <a:endCxn id="26" idx="1"/>
          </p:cNvCxnSpPr>
          <p:nvPr/>
        </p:nvCxnSpPr>
        <p:spPr>
          <a:xfrm flipV="1">
            <a:off x="4434747" y="2646850"/>
            <a:ext cx="321982" cy="30753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线连接符 47">
            <a:extLst>
              <a:ext uri="{FF2B5EF4-FFF2-40B4-BE49-F238E27FC236}">
                <a16:creationId xmlns:a16="http://schemas.microsoft.com/office/drawing/2014/main" id="{4CE2302F-98BC-7B02-3A9B-A6133DB72AAB}"/>
              </a:ext>
            </a:extLst>
          </p:cNvPr>
          <p:cNvCxnSpPr>
            <a:cxnSpLocks/>
            <a:stCxn id="14" idx="3"/>
            <a:endCxn id="27" idx="1"/>
          </p:cNvCxnSpPr>
          <p:nvPr/>
        </p:nvCxnSpPr>
        <p:spPr>
          <a:xfrm>
            <a:off x="4434747" y="2954386"/>
            <a:ext cx="321982" cy="212831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3D9656FE-36B7-0D05-2484-0A6115E00B9B}"/>
              </a:ext>
            </a:extLst>
          </p:cNvPr>
          <p:cNvCxnSpPr>
            <a:cxnSpLocks/>
            <a:stCxn id="27" idx="1"/>
            <a:endCxn id="13" idx="3"/>
          </p:cNvCxnSpPr>
          <p:nvPr/>
        </p:nvCxnSpPr>
        <p:spPr>
          <a:xfrm flipH="1" flipV="1">
            <a:off x="4434747" y="1974083"/>
            <a:ext cx="321982" cy="1193134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曲线连接符 49">
            <a:extLst>
              <a:ext uri="{FF2B5EF4-FFF2-40B4-BE49-F238E27FC236}">
                <a16:creationId xmlns:a16="http://schemas.microsoft.com/office/drawing/2014/main" id="{8C7E9F09-13DD-B476-DB3F-37D55C082234}"/>
              </a:ext>
            </a:extLst>
          </p:cNvPr>
          <p:cNvCxnSpPr>
            <a:cxnSpLocks/>
            <a:stCxn id="24" idx="3"/>
            <a:endCxn id="26" idx="3"/>
          </p:cNvCxnSpPr>
          <p:nvPr/>
        </p:nvCxnSpPr>
        <p:spPr>
          <a:xfrm>
            <a:off x="5399279" y="1624650"/>
            <a:ext cx="1" cy="1022200"/>
          </a:xfrm>
          <a:prstGeom prst="curvedConnector3">
            <a:avLst>
              <a:gd name="adj1" fmla="val 22860100000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曲线连接符 50">
            <a:extLst>
              <a:ext uri="{FF2B5EF4-FFF2-40B4-BE49-F238E27FC236}">
                <a16:creationId xmlns:a16="http://schemas.microsoft.com/office/drawing/2014/main" id="{B3796F02-4743-5481-72A0-8CF2BDAD7006}"/>
              </a:ext>
            </a:extLst>
          </p:cNvPr>
          <p:cNvCxnSpPr>
            <a:cxnSpLocks/>
            <a:stCxn id="24" idx="3"/>
            <a:endCxn id="27" idx="3"/>
          </p:cNvCxnSpPr>
          <p:nvPr/>
        </p:nvCxnSpPr>
        <p:spPr>
          <a:xfrm>
            <a:off x="5399279" y="1624650"/>
            <a:ext cx="1" cy="1542567"/>
          </a:xfrm>
          <a:prstGeom prst="curvedConnector3">
            <a:avLst>
              <a:gd name="adj1" fmla="val 22860100000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曲线连接符 51">
            <a:extLst>
              <a:ext uri="{FF2B5EF4-FFF2-40B4-BE49-F238E27FC236}">
                <a16:creationId xmlns:a16="http://schemas.microsoft.com/office/drawing/2014/main" id="{07D8C5E1-ECE2-70AF-077A-1FF3E06D12DC}"/>
              </a:ext>
            </a:extLst>
          </p:cNvPr>
          <p:cNvCxnSpPr>
            <a:cxnSpLocks/>
            <a:stCxn id="25" idx="3"/>
            <a:endCxn id="27" idx="3"/>
          </p:cNvCxnSpPr>
          <p:nvPr/>
        </p:nvCxnSpPr>
        <p:spPr>
          <a:xfrm>
            <a:off x="5399279" y="2135750"/>
            <a:ext cx="1" cy="1031467"/>
          </a:xfrm>
          <a:prstGeom prst="curvedConnector3">
            <a:avLst>
              <a:gd name="adj1" fmla="val 22860100000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1883D196-06A0-3C27-4A20-9E7BCF2663DE}"/>
              </a:ext>
            </a:extLst>
          </p:cNvPr>
          <p:cNvSpPr/>
          <p:nvPr/>
        </p:nvSpPr>
        <p:spPr>
          <a:xfrm>
            <a:off x="7359098" y="1780037"/>
            <a:ext cx="707748" cy="405007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Border Router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54" name="圆角矩形 53">
            <a:extLst>
              <a:ext uri="{FF2B5EF4-FFF2-40B4-BE49-F238E27FC236}">
                <a16:creationId xmlns:a16="http://schemas.microsoft.com/office/drawing/2014/main" id="{96E5526A-9404-8F04-D583-10D9F639C4B2}"/>
              </a:ext>
            </a:extLst>
          </p:cNvPr>
          <p:cNvSpPr/>
          <p:nvPr/>
        </p:nvSpPr>
        <p:spPr>
          <a:xfrm>
            <a:off x="7359098" y="2760340"/>
            <a:ext cx="707748" cy="405007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Border Router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B7DC8EEB-02CB-B2A3-FDFB-DC517F25D1F3}"/>
              </a:ext>
            </a:extLst>
          </p:cNvPr>
          <p:cNvSpPr/>
          <p:nvPr/>
        </p:nvSpPr>
        <p:spPr>
          <a:xfrm>
            <a:off x="9031379" y="1780036"/>
            <a:ext cx="707748" cy="405007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Border Router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56" name="圆角矩形 55">
            <a:extLst>
              <a:ext uri="{FF2B5EF4-FFF2-40B4-BE49-F238E27FC236}">
                <a16:creationId xmlns:a16="http://schemas.microsoft.com/office/drawing/2014/main" id="{BED6EE41-EB19-17DA-22EE-18A6B01BF901}"/>
              </a:ext>
            </a:extLst>
          </p:cNvPr>
          <p:cNvSpPr/>
          <p:nvPr/>
        </p:nvSpPr>
        <p:spPr>
          <a:xfrm>
            <a:off x="9031379" y="2760339"/>
            <a:ext cx="707748" cy="405007"/>
          </a:xfrm>
          <a:prstGeom prst="roundRect">
            <a:avLst/>
          </a:prstGeom>
          <a:solidFill>
            <a:srgbClr val="A3C4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Border Router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B8B6B6E6-C41E-AABC-7733-43764B20C65D}"/>
              </a:ext>
            </a:extLst>
          </p:cNvPr>
          <p:cNvCxnSpPr>
            <a:stCxn id="53" idx="3"/>
            <a:endCxn id="55" idx="1"/>
          </p:cNvCxnSpPr>
          <p:nvPr/>
        </p:nvCxnSpPr>
        <p:spPr>
          <a:xfrm flipV="1">
            <a:off x="8066846" y="1982540"/>
            <a:ext cx="964533" cy="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31C9BC0B-88E3-8494-462A-15DEA50C5F49}"/>
              </a:ext>
            </a:extLst>
          </p:cNvPr>
          <p:cNvCxnSpPr>
            <a:cxnSpLocks/>
          </p:cNvCxnSpPr>
          <p:nvPr/>
        </p:nvCxnSpPr>
        <p:spPr>
          <a:xfrm>
            <a:off x="8066846" y="2134940"/>
            <a:ext cx="964533" cy="67412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9" name="直线连接符 58">
            <a:extLst>
              <a:ext uri="{FF2B5EF4-FFF2-40B4-BE49-F238E27FC236}">
                <a16:creationId xmlns:a16="http://schemas.microsoft.com/office/drawing/2014/main" id="{94FF717E-0F0E-104D-B905-4E9316377AC9}"/>
              </a:ext>
            </a:extLst>
          </p:cNvPr>
          <p:cNvCxnSpPr>
            <a:cxnSpLocks/>
          </p:cNvCxnSpPr>
          <p:nvPr/>
        </p:nvCxnSpPr>
        <p:spPr>
          <a:xfrm flipH="1">
            <a:off x="8066846" y="2160682"/>
            <a:ext cx="964533" cy="648379"/>
          </a:xfrm>
          <a:prstGeom prst="line">
            <a:avLst/>
          </a:prstGeom>
          <a:ln>
            <a:solidFill>
              <a:srgbClr val="4DA7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线连接符 59">
            <a:extLst>
              <a:ext uri="{FF2B5EF4-FFF2-40B4-BE49-F238E27FC236}">
                <a16:creationId xmlns:a16="http://schemas.microsoft.com/office/drawing/2014/main" id="{570790D2-E95D-6150-B387-C55C332BCF7D}"/>
              </a:ext>
            </a:extLst>
          </p:cNvPr>
          <p:cNvCxnSpPr>
            <a:cxnSpLocks/>
            <a:stCxn id="56" idx="1"/>
            <a:endCxn id="54" idx="3"/>
          </p:cNvCxnSpPr>
          <p:nvPr/>
        </p:nvCxnSpPr>
        <p:spPr>
          <a:xfrm flipH="1">
            <a:off x="8066846" y="2962843"/>
            <a:ext cx="964533" cy="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EE3A45F1-571E-D005-FA9C-BB4D786318E2}"/>
              </a:ext>
            </a:extLst>
          </p:cNvPr>
          <p:cNvSpPr txBox="1"/>
          <p:nvPr/>
        </p:nvSpPr>
        <p:spPr>
          <a:xfrm>
            <a:off x="8271632" y="2696303"/>
            <a:ext cx="55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/>
              <a:t>WAN</a:t>
            </a:r>
            <a:endParaRPr kumimoji="1" lang="zh-CN" altLang="en-US" sz="1200" b="1"/>
          </a:p>
        </p:txBody>
      </p:sp>
      <p:sp>
        <p:nvSpPr>
          <p:cNvPr id="62" name="圆角矩形 61">
            <a:extLst>
              <a:ext uri="{FF2B5EF4-FFF2-40B4-BE49-F238E27FC236}">
                <a16:creationId xmlns:a16="http://schemas.microsoft.com/office/drawing/2014/main" id="{B769B524-ABB8-EB16-538F-25F065E8E332}"/>
              </a:ext>
            </a:extLst>
          </p:cNvPr>
          <p:cNvSpPr/>
          <p:nvPr/>
        </p:nvSpPr>
        <p:spPr>
          <a:xfrm>
            <a:off x="6394564" y="1528074"/>
            <a:ext cx="642551" cy="210065"/>
          </a:xfrm>
          <a:prstGeom prst="roundRect">
            <a:avLst/>
          </a:prstGeom>
          <a:solidFill>
            <a:srgbClr val="E8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</a:t>
            </a:r>
            <a:r>
              <a:rPr kumimoji="1" lang="zh-CN" altLang="en-US" sz="1200" b="1">
                <a:solidFill>
                  <a:schemeClr val="tx1"/>
                </a:solidFill>
              </a:rPr>
              <a:t> </a:t>
            </a:r>
            <a:r>
              <a:rPr kumimoji="1" lang="en-US" altLang="zh-CN" sz="1200" b="1">
                <a:solidFill>
                  <a:schemeClr val="tx1"/>
                </a:solidFill>
              </a:rPr>
              <a:t>0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3485C2FC-AF46-BAF5-80B2-A258E168807F}"/>
              </a:ext>
            </a:extLst>
          </p:cNvPr>
          <p:cNvSpPr/>
          <p:nvPr/>
        </p:nvSpPr>
        <p:spPr>
          <a:xfrm>
            <a:off x="6394564" y="2039174"/>
            <a:ext cx="642551" cy="210065"/>
          </a:xfrm>
          <a:prstGeom prst="roundRect">
            <a:avLst/>
          </a:prstGeom>
          <a:solidFill>
            <a:srgbClr val="E8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</a:t>
            </a:r>
            <a:r>
              <a:rPr kumimoji="1" lang="zh-CN" altLang="en-US" sz="1200" b="1">
                <a:solidFill>
                  <a:schemeClr val="tx1"/>
                </a:solidFill>
              </a:rPr>
              <a:t> </a:t>
            </a:r>
            <a:r>
              <a:rPr kumimoji="1" lang="en-US" altLang="zh-CN" sz="1200" b="1">
                <a:solidFill>
                  <a:schemeClr val="tx1"/>
                </a:solidFill>
              </a:rPr>
              <a:t>1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64" name="圆角矩形 63">
            <a:extLst>
              <a:ext uri="{FF2B5EF4-FFF2-40B4-BE49-F238E27FC236}">
                <a16:creationId xmlns:a16="http://schemas.microsoft.com/office/drawing/2014/main" id="{EADDB4E0-E13F-EA96-1893-1B54F91710A1}"/>
              </a:ext>
            </a:extLst>
          </p:cNvPr>
          <p:cNvSpPr/>
          <p:nvPr/>
        </p:nvSpPr>
        <p:spPr>
          <a:xfrm>
            <a:off x="6394565" y="2550274"/>
            <a:ext cx="642551" cy="210065"/>
          </a:xfrm>
          <a:prstGeom prst="roundRect">
            <a:avLst/>
          </a:prstGeom>
          <a:solidFill>
            <a:srgbClr val="E8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</a:t>
            </a:r>
            <a:r>
              <a:rPr kumimoji="1" lang="zh-CN" altLang="en-US" sz="1200" b="1">
                <a:solidFill>
                  <a:schemeClr val="tx1"/>
                </a:solidFill>
              </a:rPr>
              <a:t> </a:t>
            </a:r>
            <a:r>
              <a:rPr kumimoji="1" lang="en-US" altLang="zh-CN" sz="1200" b="1">
                <a:solidFill>
                  <a:schemeClr val="tx1"/>
                </a:solidFill>
              </a:rPr>
              <a:t>2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65" name="圆角矩形 64">
            <a:extLst>
              <a:ext uri="{FF2B5EF4-FFF2-40B4-BE49-F238E27FC236}">
                <a16:creationId xmlns:a16="http://schemas.microsoft.com/office/drawing/2014/main" id="{F334BB5F-2FB3-7017-9684-127C713F555E}"/>
              </a:ext>
            </a:extLst>
          </p:cNvPr>
          <p:cNvSpPr/>
          <p:nvPr/>
        </p:nvSpPr>
        <p:spPr>
          <a:xfrm>
            <a:off x="6394565" y="3070641"/>
            <a:ext cx="642551" cy="210065"/>
          </a:xfrm>
          <a:prstGeom prst="roundRect">
            <a:avLst/>
          </a:prstGeom>
          <a:solidFill>
            <a:srgbClr val="E8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</a:t>
            </a:r>
            <a:r>
              <a:rPr kumimoji="1" lang="zh-CN" altLang="en-US" sz="1200" b="1">
                <a:solidFill>
                  <a:schemeClr val="tx1"/>
                </a:solidFill>
              </a:rPr>
              <a:t> </a:t>
            </a:r>
            <a:r>
              <a:rPr kumimoji="1" lang="en-US" altLang="zh-CN" sz="1200" b="1">
                <a:solidFill>
                  <a:schemeClr val="tx1"/>
                </a:solidFill>
              </a:rPr>
              <a:t>3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9C1A47C2-39F2-71C9-1F42-54A7EC2A63F4}"/>
              </a:ext>
            </a:extLst>
          </p:cNvPr>
          <p:cNvSpPr/>
          <p:nvPr/>
        </p:nvSpPr>
        <p:spPr>
          <a:xfrm>
            <a:off x="10061108" y="1528074"/>
            <a:ext cx="642551" cy="210065"/>
          </a:xfrm>
          <a:prstGeom prst="roundRect">
            <a:avLst/>
          </a:prstGeom>
          <a:solidFill>
            <a:srgbClr val="E8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</a:t>
            </a:r>
            <a:r>
              <a:rPr kumimoji="1" lang="zh-CN" altLang="en-US" sz="1200" b="1">
                <a:solidFill>
                  <a:schemeClr val="tx1"/>
                </a:solidFill>
              </a:rPr>
              <a:t> </a:t>
            </a:r>
            <a:r>
              <a:rPr kumimoji="1" lang="en-US" altLang="zh-CN" sz="1200" b="1">
                <a:solidFill>
                  <a:schemeClr val="tx1"/>
                </a:solidFill>
              </a:rPr>
              <a:t>4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DD0CDE2C-0C28-CEF8-746A-12D52AF1A052}"/>
              </a:ext>
            </a:extLst>
          </p:cNvPr>
          <p:cNvSpPr/>
          <p:nvPr/>
        </p:nvSpPr>
        <p:spPr>
          <a:xfrm>
            <a:off x="10061108" y="2039174"/>
            <a:ext cx="642551" cy="210065"/>
          </a:xfrm>
          <a:prstGeom prst="roundRect">
            <a:avLst/>
          </a:prstGeom>
          <a:solidFill>
            <a:srgbClr val="E8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</a:t>
            </a:r>
            <a:r>
              <a:rPr kumimoji="1" lang="zh-CN" altLang="en-US" sz="1200" b="1">
                <a:solidFill>
                  <a:schemeClr val="tx1"/>
                </a:solidFill>
              </a:rPr>
              <a:t> </a:t>
            </a:r>
            <a:r>
              <a:rPr kumimoji="1" lang="en-US" altLang="zh-CN" sz="1200" b="1">
                <a:solidFill>
                  <a:schemeClr val="tx1"/>
                </a:solidFill>
              </a:rPr>
              <a:t>5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68" name="圆角矩形 67">
            <a:extLst>
              <a:ext uri="{FF2B5EF4-FFF2-40B4-BE49-F238E27FC236}">
                <a16:creationId xmlns:a16="http://schemas.microsoft.com/office/drawing/2014/main" id="{18FAF7E4-D2D3-1810-DD7F-23BE80BDF8FF}"/>
              </a:ext>
            </a:extLst>
          </p:cNvPr>
          <p:cNvSpPr/>
          <p:nvPr/>
        </p:nvSpPr>
        <p:spPr>
          <a:xfrm>
            <a:off x="10061109" y="2550274"/>
            <a:ext cx="642551" cy="210065"/>
          </a:xfrm>
          <a:prstGeom prst="roundRect">
            <a:avLst/>
          </a:prstGeom>
          <a:solidFill>
            <a:srgbClr val="E8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</a:t>
            </a:r>
            <a:r>
              <a:rPr kumimoji="1" lang="zh-CN" altLang="en-US" sz="1200" b="1">
                <a:solidFill>
                  <a:schemeClr val="tx1"/>
                </a:solidFill>
              </a:rPr>
              <a:t> </a:t>
            </a:r>
            <a:r>
              <a:rPr kumimoji="1" lang="en-US" altLang="zh-CN" sz="1200" b="1">
                <a:solidFill>
                  <a:schemeClr val="tx1"/>
                </a:solidFill>
              </a:rPr>
              <a:t>6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8C16BB01-DAF9-9C78-F9FB-38AE952EF4C3}"/>
              </a:ext>
            </a:extLst>
          </p:cNvPr>
          <p:cNvSpPr/>
          <p:nvPr/>
        </p:nvSpPr>
        <p:spPr>
          <a:xfrm>
            <a:off x="10061109" y="3070641"/>
            <a:ext cx="642551" cy="210065"/>
          </a:xfrm>
          <a:prstGeom prst="roundRect">
            <a:avLst/>
          </a:prstGeom>
          <a:solidFill>
            <a:srgbClr val="E8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solidFill>
                  <a:schemeClr val="tx1"/>
                </a:solidFill>
              </a:rPr>
              <a:t>GPU</a:t>
            </a:r>
            <a:r>
              <a:rPr kumimoji="1" lang="zh-CN" altLang="en-US" sz="1200" b="1">
                <a:solidFill>
                  <a:schemeClr val="tx1"/>
                </a:solidFill>
              </a:rPr>
              <a:t> </a:t>
            </a:r>
            <a:r>
              <a:rPr kumimoji="1" lang="en-US" altLang="zh-CN" sz="1200" b="1">
                <a:solidFill>
                  <a:schemeClr val="tx1"/>
                </a:solidFill>
              </a:rPr>
              <a:t>7</a:t>
            </a:r>
            <a:endParaRPr kumimoji="1" lang="zh-CN" altLang="en-US" sz="1200" b="1">
              <a:solidFill>
                <a:schemeClr val="tx1"/>
              </a:solidFill>
            </a:endParaRPr>
          </a:p>
        </p:txBody>
      </p:sp>
      <p:cxnSp>
        <p:nvCxnSpPr>
          <p:cNvPr id="70" name="直线连接符 69">
            <a:extLst>
              <a:ext uri="{FF2B5EF4-FFF2-40B4-BE49-F238E27FC236}">
                <a16:creationId xmlns:a16="http://schemas.microsoft.com/office/drawing/2014/main" id="{C44B95F5-845B-596E-3371-062EB4F81B1D}"/>
              </a:ext>
            </a:extLst>
          </p:cNvPr>
          <p:cNvCxnSpPr>
            <a:stCxn id="62" idx="3"/>
            <a:endCxn id="53" idx="1"/>
          </p:cNvCxnSpPr>
          <p:nvPr/>
        </p:nvCxnSpPr>
        <p:spPr>
          <a:xfrm>
            <a:off x="7037115" y="1633107"/>
            <a:ext cx="321983" cy="349434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直线连接符 70">
            <a:extLst>
              <a:ext uri="{FF2B5EF4-FFF2-40B4-BE49-F238E27FC236}">
                <a16:creationId xmlns:a16="http://schemas.microsoft.com/office/drawing/2014/main" id="{1DF3CE82-A8A7-2263-8E0C-225FC91BA560}"/>
              </a:ext>
            </a:extLst>
          </p:cNvPr>
          <p:cNvCxnSpPr>
            <a:cxnSpLocks/>
            <a:stCxn id="65" idx="3"/>
            <a:endCxn id="54" idx="1"/>
          </p:cNvCxnSpPr>
          <p:nvPr/>
        </p:nvCxnSpPr>
        <p:spPr>
          <a:xfrm flipV="1">
            <a:off x="7037116" y="2962844"/>
            <a:ext cx="321982" cy="21283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线连接符 71">
            <a:extLst>
              <a:ext uri="{FF2B5EF4-FFF2-40B4-BE49-F238E27FC236}">
                <a16:creationId xmlns:a16="http://schemas.microsoft.com/office/drawing/2014/main" id="{A3E46F10-8426-F776-7CD5-4B73AD98B12D}"/>
              </a:ext>
            </a:extLst>
          </p:cNvPr>
          <p:cNvCxnSpPr>
            <a:cxnSpLocks/>
            <a:stCxn id="62" idx="2"/>
            <a:endCxn id="63" idx="0"/>
          </p:cNvCxnSpPr>
          <p:nvPr/>
        </p:nvCxnSpPr>
        <p:spPr>
          <a:xfrm>
            <a:off x="6715840" y="1738139"/>
            <a:ext cx="0" cy="30103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E85D988A-BD0D-E741-7E66-CE29B5B9182D}"/>
              </a:ext>
            </a:extLst>
          </p:cNvPr>
          <p:cNvCxnSpPr>
            <a:cxnSpLocks/>
            <a:stCxn id="63" idx="2"/>
            <a:endCxn id="64" idx="0"/>
          </p:cNvCxnSpPr>
          <p:nvPr/>
        </p:nvCxnSpPr>
        <p:spPr>
          <a:xfrm>
            <a:off x="6715840" y="2249239"/>
            <a:ext cx="1" cy="30103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339AA823-BFD4-2BB8-455F-761F81147085}"/>
              </a:ext>
            </a:extLst>
          </p:cNvPr>
          <p:cNvCxnSpPr>
            <a:cxnSpLocks/>
            <a:stCxn id="64" idx="2"/>
            <a:endCxn id="65" idx="0"/>
          </p:cNvCxnSpPr>
          <p:nvPr/>
        </p:nvCxnSpPr>
        <p:spPr>
          <a:xfrm>
            <a:off x="6715841" y="2760339"/>
            <a:ext cx="0" cy="31030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AEAB9C1B-84DA-650F-0F60-8E80AD2A9458}"/>
              </a:ext>
            </a:extLst>
          </p:cNvPr>
          <p:cNvCxnSpPr>
            <a:cxnSpLocks/>
            <a:stCxn id="55" idx="3"/>
            <a:endCxn id="66" idx="1"/>
          </p:cNvCxnSpPr>
          <p:nvPr/>
        </p:nvCxnSpPr>
        <p:spPr>
          <a:xfrm flipV="1">
            <a:off x="9739127" y="1633107"/>
            <a:ext cx="321981" cy="349433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D5E42A23-110B-40A5-1A19-39F9EA3FE03E}"/>
              </a:ext>
            </a:extLst>
          </p:cNvPr>
          <p:cNvCxnSpPr>
            <a:cxnSpLocks/>
            <a:stCxn id="56" idx="3"/>
            <a:endCxn id="69" idx="1"/>
          </p:cNvCxnSpPr>
          <p:nvPr/>
        </p:nvCxnSpPr>
        <p:spPr>
          <a:xfrm>
            <a:off x="9739127" y="2962843"/>
            <a:ext cx="321982" cy="212831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线连接符 76">
            <a:extLst>
              <a:ext uri="{FF2B5EF4-FFF2-40B4-BE49-F238E27FC236}">
                <a16:creationId xmlns:a16="http://schemas.microsoft.com/office/drawing/2014/main" id="{20E8227A-DDD5-93A5-4C32-5C303486E98F}"/>
              </a:ext>
            </a:extLst>
          </p:cNvPr>
          <p:cNvCxnSpPr>
            <a:cxnSpLocks/>
            <a:stCxn id="67" idx="0"/>
            <a:endCxn id="66" idx="2"/>
          </p:cNvCxnSpPr>
          <p:nvPr/>
        </p:nvCxnSpPr>
        <p:spPr>
          <a:xfrm flipV="1">
            <a:off x="10382384" y="1738139"/>
            <a:ext cx="0" cy="30103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0F8925E3-F00B-0853-C664-8232B155C075}"/>
              </a:ext>
            </a:extLst>
          </p:cNvPr>
          <p:cNvCxnSpPr>
            <a:cxnSpLocks/>
            <a:stCxn id="68" idx="0"/>
            <a:endCxn id="67" idx="2"/>
          </p:cNvCxnSpPr>
          <p:nvPr/>
        </p:nvCxnSpPr>
        <p:spPr>
          <a:xfrm flipH="1" flipV="1">
            <a:off x="10382384" y="2249239"/>
            <a:ext cx="1" cy="30103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509669A6-EEAC-0492-C646-5C4A3C34EDBC}"/>
              </a:ext>
            </a:extLst>
          </p:cNvPr>
          <p:cNvCxnSpPr>
            <a:cxnSpLocks/>
            <a:stCxn id="69" idx="0"/>
            <a:endCxn id="68" idx="2"/>
          </p:cNvCxnSpPr>
          <p:nvPr/>
        </p:nvCxnSpPr>
        <p:spPr>
          <a:xfrm flipV="1">
            <a:off x="10382385" y="2760339"/>
            <a:ext cx="0" cy="31030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AC5C62B6-BBC1-0054-29CA-2B455A821F86}"/>
              </a:ext>
            </a:extLst>
          </p:cNvPr>
          <p:cNvSpPr txBox="1"/>
          <p:nvPr/>
        </p:nvSpPr>
        <p:spPr>
          <a:xfrm>
            <a:off x="2237025" y="3473680"/>
            <a:ext cx="2015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/>
              <a:t>Fully Connected</a:t>
            </a:r>
            <a:endParaRPr kumimoji="1" lang="zh-CN" altLang="en-US" b="1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C4076E2A-A913-A9B3-BD86-C7FA6B388DD3}"/>
              </a:ext>
            </a:extLst>
          </p:cNvPr>
          <p:cNvSpPr txBox="1"/>
          <p:nvPr/>
        </p:nvSpPr>
        <p:spPr>
          <a:xfrm>
            <a:off x="7736150" y="3555976"/>
            <a:ext cx="1748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/>
              <a:t>Min Connected</a:t>
            </a:r>
            <a:endParaRPr kumimoji="1" lang="zh-CN" altLang="en-US" b="1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0601385-016C-C558-7B12-71F56A97DE71}"/>
              </a:ext>
            </a:extLst>
          </p:cNvPr>
          <p:cNvSpPr txBox="1"/>
          <p:nvPr/>
        </p:nvSpPr>
        <p:spPr>
          <a:xfrm>
            <a:off x="746542" y="4180151"/>
            <a:ext cx="105028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altLang="zh-CN" dirty="0">
                <a:latin typeface="Arial" panose="020B0604020202020204" pitchFamily="34" charset="0"/>
                <a:cs typeface="Arial" panose="020B0604020202020204" pitchFamily="34" charset="0"/>
              </a:rPr>
              <a:t>Test topologies with different internal </a:t>
            </a:r>
            <a:r>
              <a:rPr lang="en-GB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connectivities</a:t>
            </a:r>
            <a:r>
              <a:rPr lang="en-GB" altLang="zh-CN" dirty="0">
                <a:latin typeface="Arial" panose="020B0604020202020204" pitchFamily="34" charset="0"/>
                <a:cs typeface="Arial" panose="020B0604020202020204" pitchFamily="34" charset="0"/>
              </a:rPr>
              <a:t> within the data </a:t>
            </a:r>
            <a:r>
              <a:rPr lang="en-GB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center</a:t>
            </a:r>
            <a:r>
              <a:rPr lang="en-GB" altLang="zh-CN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GB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 = number of edges in the current topology / number of edges in a fully connected graph</a:t>
            </a:r>
            <a:r>
              <a:rPr lang="en-GB" altLang="zh-CN" dirty="0">
                <a:latin typeface="Arial" panose="020B0604020202020204" pitchFamily="34" charset="0"/>
                <a:cs typeface="Arial" panose="020B0604020202020204" pitchFamily="34" charset="0"/>
              </a:rPr>
              <a:t>): randomly vary the number of internal edges in each DC, ensuring that each DC remains a connected graph</a:t>
            </a:r>
          </a:p>
          <a:p>
            <a:pPr marL="342900" indent="-342900">
              <a:buFont typeface="+mj-lt"/>
              <a:buAutoNum type="arabicPeriod"/>
            </a:pPr>
            <a:r>
              <a:rPr lang="en-GB" altLang="zh-CN" dirty="0">
                <a:latin typeface="Arial" panose="020B0604020202020204" pitchFamily="34" charset="0"/>
                <a:cs typeface="Arial" panose="020B0604020202020204" pitchFamily="34" charset="0"/>
              </a:rPr>
              <a:t>Vary the propagation delay of the links in the WAN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5B0651BF-D60C-A03D-B32C-C3F2761ECCD1}"/>
              </a:ext>
            </a:extLst>
          </p:cNvPr>
          <p:cNvSpPr txBox="1"/>
          <p:nvPr/>
        </p:nvSpPr>
        <p:spPr>
          <a:xfrm>
            <a:off x="8101289" y="1640995"/>
            <a:ext cx="964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/>
              <a:t>12.5 </a:t>
            </a:r>
            <a:r>
              <a:rPr kumimoji="1" lang="en-US" altLang="zh-CN" sz="1400" err="1"/>
              <a:t>GBps</a:t>
            </a:r>
            <a:endParaRPr kumimoji="1" lang="en-US" altLang="zh-CN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A8D8B749-3EE0-4BFA-DB03-B494A912C9B2}"/>
                  </a:ext>
                </a:extLst>
              </p:cNvPr>
              <p:cNvSpPr txBox="1"/>
              <p:nvPr/>
            </p:nvSpPr>
            <p:spPr>
              <a:xfrm>
                <a:off x="6480027" y="3501446"/>
                <a:ext cx="97054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400"/>
                  <a:t>12.5 </a:t>
                </a:r>
                <a:r>
                  <a:rPr kumimoji="1" lang="en-US" altLang="zh-CN" sz="1400" err="1"/>
                  <a:t>GBps</a:t>
                </a:r>
                <a:endParaRPr kumimoji="1" lang="en-US" altLang="zh-CN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140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=0.7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kumimoji="1" lang="zh-CN" altLang="en-US" sz="1400"/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A8D8B749-3EE0-4BFA-DB03-B494A912C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027" y="3501446"/>
                <a:ext cx="970549" cy="523220"/>
              </a:xfrm>
              <a:prstGeom prst="rect">
                <a:avLst/>
              </a:prstGeom>
              <a:blipFill>
                <a:blip r:embed="rId2"/>
                <a:stretch>
                  <a:fillRect l="-1887" t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FCA87D5D-634F-B1B8-4068-9AED1E25DC0A}"/>
              </a:ext>
            </a:extLst>
          </p:cNvPr>
          <p:cNvCxnSpPr>
            <a:cxnSpLocks/>
            <a:stCxn id="86" idx="0"/>
          </p:cNvCxnSpPr>
          <p:nvPr/>
        </p:nvCxnSpPr>
        <p:spPr>
          <a:xfrm flipV="1">
            <a:off x="6965302" y="3069258"/>
            <a:ext cx="232804" cy="432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48D9ABFD-D1C1-5670-2CED-90CC10F566E6}"/>
                  </a:ext>
                </a:extLst>
              </p:cNvPr>
              <p:cNvSpPr txBox="1"/>
              <p:nvPr/>
            </p:nvSpPr>
            <p:spPr>
              <a:xfrm>
                <a:off x="10971515" y="3202417"/>
                <a:ext cx="97054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400"/>
                  <a:t>50 </a:t>
                </a:r>
                <a:r>
                  <a:rPr kumimoji="1" lang="en-US" altLang="zh-CN" sz="1400" err="1"/>
                  <a:t>GBps</a:t>
                </a:r>
                <a:endParaRPr kumimoji="1" lang="en-US" altLang="zh-CN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140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=0.7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kumimoji="1" lang="zh-CN" altLang="en-US" sz="1400"/>
              </a:p>
            </p:txBody>
          </p:sp>
        </mc:Choice>
        <mc:Fallback xmlns="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48D9ABFD-D1C1-5670-2CED-90CC10F56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1515" y="3202417"/>
                <a:ext cx="970549" cy="523220"/>
              </a:xfrm>
              <a:prstGeom prst="rect">
                <a:avLst/>
              </a:prstGeom>
              <a:blipFill>
                <a:blip r:embed="rId3"/>
                <a:stretch>
                  <a:fillRect l="-1887" t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79776607-30F6-8C0C-A9D8-EB51334D9A16}"/>
              </a:ext>
            </a:extLst>
          </p:cNvPr>
          <p:cNvCxnSpPr>
            <a:cxnSpLocks/>
            <a:stCxn id="89" idx="0"/>
          </p:cNvCxnSpPr>
          <p:nvPr/>
        </p:nvCxnSpPr>
        <p:spPr>
          <a:xfrm flipH="1" flipV="1">
            <a:off x="10446875" y="2877119"/>
            <a:ext cx="1009915" cy="3252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804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73716-54FB-57D6-8E5F-8F76262BA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749AA0-E124-3631-64B8-194842EE8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altLang="zh-CN" b="1" dirty="0"/>
              <a:t>Numerical Result: Scalability Analysis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3B9DDB9-82BE-58AE-095A-579823533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0626" y="6356350"/>
            <a:ext cx="9094304" cy="365125"/>
          </a:xfrm>
        </p:spPr>
        <p:txBody>
          <a:bodyPr anchor="ctr">
            <a:noAutofit/>
          </a:bodyPr>
          <a:lstStyle/>
          <a:p>
            <a:r>
              <a:rPr lang="en-US" dirty="0"/>
              <a:t>SCALE-CCL: A Scalable Collective Communication Library for Wide-Area Distributed Training, Jiaheng, INET4AI ’25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F23F5D8-8558-B618-64A1-96097CE00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AFE0081-1ED4-41E0-88AB-D26DBE160EA6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A8FB2B7-FCAF-D5E4-EEBF-63F84EACC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721" y="1420898"/>
            <a:ext cx="7772400" cy="189847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EB1CC85-74DB-E027-6130-C30E0F87D45B}"/>
              </a:ext>
            </a:extLst>
          </p:cNvPr>
          <p:cNvSpPr txBox="1"/>
          <p:nvPr/>
        </p:nvSpPr>
        <p:spPr>
          <a:xfrm>
            <a:off x="838200" y="3668262"/>
            <a:ext cx="514267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altLang="zh-CN" b="1" dirty="0"/>
              <a:t>SCALE-CCL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Scheduling time stays below </a:t>
            </a:r>
            <a:r>
              <a:rPr lang="en-GB" altLang="zh-CN" b="1" dirty="0"/>
              <a:t>1 s</a:t>
            </a:r>
            <a:r>
              <a:rPr lang="en-GB" altLang="zh-CN" dirty="0"/>
              <a:t> in all cases (e.g., 1 MB: 0.04 → 0.75 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Grows </a:t>
            </a:r>
            <a:r>
              <a:rPr lang="en-GB" altLang="zh-CN" b="1" dirty="0"/>
              <a:t>smoothly and near-linearly</a:t>
            </a:r>
            <a:r>
              <a:rPr lang="en-GB" altLang="zh-CN" dirty="0"/>
              <a:t> with the number of </a:t>
            </a:r>
            <a:r>
              <a:rPr lang="en-GB" altLang="zh-CN" dirty="0" err="1"/>
              <a:t>subchunks</a:t>
            </a:r>
            <a:endParaRPr lang="en-GB" altLang="zh-CN" dirty="0"/>
          </a:p>
          <a:p>
            <a:pPr>
              <a:buNone/>
            </a:pPr>
            <a:r>
              <a:rPr lang="en-GB" altLang="zh-CN" b="1" dirty="0"/>
              <a:t>TE-CCL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At 1 </a:t>
            </a:r>
            <a:r>
              <a:rPr lang="en-GB" altLang="zh-CN" dirty="0" err="1"/>
              <a:t>subchunk</a:t>
            </a:r>
            <a:r>
              <a:rPr lang="en-GB" altLang="zh-CN" dirty="0"/>
              <a:t>, takes </a:t>
            </a:r>
            <a:r>
              <a:rPr lang="en-GB" altLang="zh-CN" b="1" dirty="0"/>
              <a:t>2–5 s</a:t>
            </a:r>
            <a:r>
              <a:rPr lang="en-GB" altLang="zh-CN" dirty="0"/>
              <a:t> depending on chunk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At 4 </a:t>
            </a:r>
            <a:r>
              <a:rPr lang="en-GB" altLang="zh-CN" dirty="0" err="1"/>
              <a:t>subchunks</a:t>
            </a:r>
            <a:r>
              <a:rPr lang="en-GB" altLang="zh-CN" dirty="0"/>
              <a:t> jumps to </a:t>
            </a:r>
            <a:r>
              <a:rPr lang="en-GB" altLang="zh-CN" b="1" dirty="0"/>
              <a:t>600–1300 s</a:t>
            </a:r>
            <a:r>
              <a:rPr lang="en-GB" altLang="zh-CN" dirty="0"/>
              <a:t>, and fails entirely at 8 </a:t>
            </a:r>
            <a:r>
              <a:rPr lang="en-GB" altLang="zh-CN" dirty="0" err="1"/>
              <a:t>subchunks</a:t>
            </a:r>
            <a:r>
              <a:rPr lang="en-GB" altLang="zh-CN" dirty="0"/>
              <a:t> (more than 1 hour)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CACF6D3-93C0-3D44-9A4F-05A276A61A00}"/>
              </a:ext>
            </a:extLst>
          </p:cNvPr>
          <p:cNvSpPr txBox="1"/>
          <p:nvPr/>
        </p:nvSpPr>
        <p:spPr>
          <a:xfrm>
            <a:off x="5980871" y="3668261"/>
            <a:ext cx="537292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altLang="zh-CN" b="1" dirty="0"/>
              <a:t>Shortest Path (SPH)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Runs in the </a:t>
            </a:r>
            <a:r>
              <a:rPr lang="en-GB" altLang="zh-CN" b="1" dirty="0"/>
              <a:t>0.3–1.0 s</a:t>
            </a:r>
            <a:r>
              <a:rPr lang="en-GB" altLang="zh-CN" dirty="0"/>
              <a:t> range across all settings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Consistently </a:t>
            </a:r>
            <a:r>
              <a:rPr lang="en-GB" altLang="zh-CN" b="1" dirty="0"/>
              <a:t>slower than SCALE-CCL</a:t>
            </a:r>
            <a:r>
              <a:rPr lang="en-GB" altLang="zh-CN" dirty="0"/>
              <a:t> (e.g., 1 MB / 8 </a:t>
            </a:r>
            <a:r>
              <a:rPr lang="en-GB" altLang="zh-CN" dirty="0" err="1"/>
              <a:t>subchunks</a:t>
            </a:r>
            <a:r>
              <a:rPr lang="en-GB" altLang="zh-CN" dirty="0"/>
              <a:t>: 0.95 s vs. 0.75 s)</a:t>
            </a:r>
          </a:p>
          <a:p>
            <a:pPr>
              <a:buNone/>
            </a:pPr>
            <a:r>
              <a:rPr lang="en-GB" altLang="zh-CN" b="1" dirty="0"/>
              <a:t>NCCL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Largely insensitive to </a:t>
            </a:r>
            <a:r>
              <a:rPr lang="en-GB" altLang="zh-CN" b="1" dirty="0"/>
              <a:t>chunk size</a:t>
            </a:r>
            <a:r>
              <a:rPr lang="en-GB" altLang="zh-CN" dirty="0"/>
              <a:t> (1–256 MB shows small variation)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Increases with </a:t>
            </a:r>
            <a:r>
              <a:rPr lang="en-GB" altLang="zh-CN" dirty="0" err="1"/>
              <a:t>subchunks</a:t>
            </a:r>
            <a:r>
              <a:rPr lang="en-GB" altLang="zh-CN" dirty="0"/>
              <a:t>: from </a:t>
            </a:r>
            <a:r>
              <a:rPr lang="en-GB" altLang="zh-CN" b="1" dirty="0"/>
              <a:t>≈0.05 s</a:t>
            </a:r>
            <a:r>
              <a:rPr lang="en-GB" altLang="zh-CN" dirty="0"/>
              <a:t> (1 </a:t>
            </a:r>
            <a:r>
              <a:rPr lang="en-GB" altLang="zh-CN" dirty="0" err="1"/>
              <a:t>subchunk</a:t>
            </a:r>
            <a:r>
              <a:rPr lang="en-GB" altLang="zh-CN" dirty="0"/>
              <a:t>) to </a:t>
            </a:r>
            <a:r>
              <a:rPr lang="en-GB" altLang="zh-CN" b="1" dirty="0"/>
              <a:t>≈0.55–0.61 s</a:t>
            </a:r>
            <a:r>
              <a:rPr lang="en-GB" altLang="zh-CN" dirty="0"/>
              <a:t> (8 </a:t>
            </a:r>
            <a:r>
              <a:rPr lang="en-GB" altLang="zh-CN" dirty="0" err="1"/>
              <a:t>subchunks</a:t>
            </a:r>
            <a:r>
              <a:rPr lang="en-GB" altLang="zh-CN" dirty="0"/>
              <a:t>)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7866D25-C84C-F3E3-F89B-B826566C5306}"/>
              </a:ext>
            </a:extLst>
          </p:cNvPr>
          <p:cNvSpPr/>
          <p:nvPr/>
        </p:nvSpPr>
        <p:spPr>
          <a:xfrm>
            <a:off x="3071605" y="2271305"/>
            <a:ext cx="1470578" cy="10480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2195020-F7D1-2EE4-4318-EFA079161E99}"/>
              </a:ext>
            </a:extLst>
          </p:cNvPr>
          <p:cNvSpPr/>
          <p:nvPr/>
        </p:nvSpPr>
        <p:spPr>
          <a:xfrm>
            <a:off x="4607200" y="2271305"/>
            <a:ext cx="1584878" cy="10480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4D12B7C9-9685-0FB6-8107-F238A903BC78}"/>
              </a:ext>
            </a:extLst>
          </p:cNvPr>
          <p:cNvSpPr/>
          <p:nvPr/>
        </p:nvSpPr>
        <p:spPr>
          <a:xfrm>
            <a:off x="5933660" y="2271304"/>
            <a:ext cx="288235" cy="102373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5B03D-EEAB-8AF1-5A10-3A74063865CC}"/>
              </a:ext>
            </a:extLst>
          </p:cNvPr>
          <p:cNvSpPr/>
          <p:nvPr/>
        </p:nvSpPr>
        <p:spPr>
          <a:xfrm>
            <a:off x="7298220" y="2236722"/>
            <a:ext cx="351599" cy="10583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053A13A-437A-CA51-46AA-63000E45E75C}"/>
              </a:ext>
            </a:extLst>
          </p:cNvPr>
          <p:cNvSpPr/>
          <p:nvPr/>
        </p:nvSpPr>
        <p:spPr>
          <a:xfrm>
            <a:off x="4163871" y="2271304"/>
            <a:ext cx="351599" cy="10237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0" name="肘形连接符 19">
            <a:extLst>
              <a:ext uri="{FF2B5EF4-FFF2-40B4-BE49-F238E27FC236}">
                <a16:creationId xmlns:a16="http://schemas.microsoft.com/office/drawing/2014/main" id="{6BC9E08E-B989-597F-A845-965F2D1EBBC8}"/>
              </a:ext>
            </a:extLst>
          </p:cNvPr>
          <p:cNvCxnSpPr>
            <a:stCxn id="18" idx="2"/>
            <a:endCxn id="17" idx="2"/>
          </p:cNvCxnSpPr>
          <p:nvPr/>
        </p:nvCxnSpPr>
        <p:spPr>
          <a:xfrm rot="16200000" flipH="1">
            <a:off x="5906845" y="1727859"/>
            <a:ext cx="12700" cy="3134349"/>
          </a:xfrm>
          <a:prstGeom prst="bentConnector3">
            <a:avLst>
              <a:gd name="adj1" fmla="val 1800000"/>
            </a:avLst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D39D8D5F-3F3E-0FFF-CEBD-82165434C096}"/>
              </a:ext>
            </a:extLst>
          </p:cNvPr>
          <p:cNvSpPr/>
          <p:nvPr/>
        </p:nvSpPr>
        <p:spPr>
          <a:xfrm>
            <a:off x="7729330" y="2271304"/>
            <a:ext cx="351599" cy="9740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B15E17F-7A82-96CF-3AC3-6BD887EF7C52}"/>
              </a:ext>
            </a:extLst>
          </p:cNvPr>
          <p:cNvSpPr/>
          <p:nvPr/>
        </p:nvSpPr>
        <p:spPr>
          <a:xfrm>
            <a:off x="9048337" y="2271303"/>
            <a:ext cx="398404" cy="9740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3DAAFB4D-14FD-4288-BAC3-36B112B09B44}"/>
              </a:ext>
            </a:extLst>
          </p:cNvPr>
          <p:cNvCxnSpPr/>
          <p:nvPr/>
        </p:nvCxnSpPr>
        <p:spPr>
          <a:xfrm>
            <a:off x="7905129" y="3368802"/>
            <a:ext cx="129447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736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67C75-77FE-3088-9AB8-693C69C3D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0F507D-C7A0-28A9-C6C1-96AD9D741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altLang="zh-CN" b="1" dirty="0"/>
              <a:t>Numerical Result: Different WAN Delay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9C8D94D-DC55-4A1A-4119-06A51B15C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3801" y="6356350"/>
            <a:ext cx="9595123" cy="365125"/>
          </a:xfrm>
        </p:spPr>
        <p:txBody>
          <a:bodyPr anchor="ctr">
            <a:normAutofit/>
          </a:bodyPr>
          <a:lstStyle/>
          <a:p>
            <a:r>
              <a:rPr lang="en-US" dirty="0"/>
              <a:t>SCALE-CCL: A Scalable Collective Communication Library for Wide-Area Distributed Training, Jiaheng, INET4AI ’25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16EC68-D711-44E4-CAA0-7796A81D3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AFE0081-1ED4-41E0-88AB-D26DBE160EA6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8B81474-550B-71AA-027D-2094192FB95F}"/>
              </a:ext>
            </a:extLst>
          </p:cNvPr>
          <p:cNvSpPr txBox="1"/>
          <p:nvPr/>
        </p:nvSpPr>
        <p:spPr>
          <a:xfrm>
            <a:off x="2679796" y="3066180"/>
            <a:ext cx="67233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GB" altLang="zh-CN" sz="1200" dirty="0"/>
              <a:t>Completion Time vs. chunk size under different WAN delay with 0.5 connectivity and 1 </a:t>
            </a:r>
            <a:r>
              <a:rPr kumimoji="1" lang="en-GB" altLang="zh-CN" sz="1200" dirty="0" err="1"/>
              <a:t>Subchunk</a:t>
            </a:r>
            <a:r>
              <a:rPr kumimoji="1" lang="en-GB" altLang="zh-CN" sz="1200" dirty="0"/>
              <a:t> per GPU</a:t>
            </a:r>
            <a:endParaRPr kumimoji="1" lang="zh-CN" altLang="en-US" sz="12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C2BBDB3-D40D-9078-56CA-AB5253E94E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801" y="1474952"/>
            <a:ext cx="10375307" cy="152765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A349DE0-12AF-75F2-9E49-429A81C24AB5}"/>
              </a:ext>
            </a:extLst>
          </p:cNvPr>
          <p:cNvSpPr txBox="1"/>
          <p:nvPr/>
        </p:nvSpPr>
        <p:spPr>
          <a:xfrm>
            <a:off x="533400" y="3329761"/>
            <a:ext cx="55626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altLang="zh-CN" b="1" dirty="0">
                <a:solidFill>
                  <a:schemeClr val="accent5"/>
                </a:solidFill>
              </a:rPr>
              <a:t>SCALE-CCL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Stays within </a:t>
            </a:r>
            <a:r>
              <a:rPr lang="en-GB" altLang="zh-CN" b="1" dirty="0"/>
              <a:t>10%</a:t>
            </a:r>
            <a:r>
              <a:rPr lang="en-GB" altLang="zh-CN" dirty="0"/>
              <a:t> of TE-CCL across all WAN delays and chunk sizes (max gap ≈ </a:t>
            </a:r>
            <a:r>
              <a:rPr lang="en-GB" altLang="zh-CN" b="1" dirty="0"/>
              <a:t>8.9%</a:t>
            </a:r>
            <a:r>
              <a:rPr lang="en-GB" altLang="zh-CN" dirty="0"/>
              <a:t>, </a:t>
            </a:r>
            <a:r>
              <a:rPr lang="en-GB" altLang="zh-CN" dirty="0" err="1"/>
              <a:t>avg</a:t>
            </a:r>
            <a:r>
              <a:rPr lang="en-GB" altLang="zh-CN" dirty="0"/>
              <a:t> ≈ </a:t>
            </a:r>
            <a:r>
              <a:rPr lang="en-GB" altLang="zh-CN" b="1" dirty="0"/>
              <a:t>3%</a:t>
            </a:r>
            <a:r>
              <a:rPr lang="en-GB" altLang="zh-C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At 250 µs and 256 MB: </a:t>
            </a:r>
            <a:r>
              <a:rPr lang="en-GB" altLang="zh-CN" b="1" dirty="0"/>
              <a:t>90,252 µs</a:t>
            </a:r>
            <a:r>
              <a:rPr lang="en-GB" altLang="zh-CN" dirty="0"/>
              <a:t>, only </a:t>
            </a:r>
            <a:r>
              <a:rPr lang="en-GB" altLang="zh-CN" b="1" dirty="0"/>
              <a:t>0.3%</a:t>
            </a:r>
            <a:r>
              <a:rPr lang="en-GB" altLang="zh-CN" dirty="0"/>
              <a:t> slower than TE-CCL (90,002 µs)</a:t>
            </a:r>
          </a:p>
          <a:p>
            <a:pPr>
              <a:buNone/>
            </a:pPr>
            <a:r>
              <a:rPr lang="en-GB" altLang="zh-CN" b="1" dirty="0">
                <a:solidFill>
                  <a:schemeClr val="accent2"/>
                </a:solidFill>
              </a:rPr>
              <a:t>TE-CCL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Achieves the </a:t>
            </a:r>
            <a:r>
              <a:rPr lang="en-GB" altLang="zh-CN" b="1" dirty="0"/>
              <a:t>lowest completion time</a:t>
            </a:r>
            <a:r>
              <a:rPr lang="en-GB" altLang="zh-CN" dirty="0"/>
              <a:t>, but only slightly better than SCALE-CCL (sub-10% gap everywhere)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Completion time increases with WAN delay similarly to SCALE-CCL, but requires much higher scheduling overhead (from Table 1)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67FDE74-18C7-D7B0-0A14-6FAC1F2F3CD3}"/>
              </a:ext>
            </a:extLst>
          </p:cNvPr>
          <p:cNvSpPr/>
          <p:nvPr/>
        </p:nvSpPr>
        <p:spPr>
          <a:xfrm rot="630586">
            <a:off x="6882714" y="2447803"/>
            <a:ext cx="211069" cy="1176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5693675-52BD-7692-2BCB-F0F42C3B814D}"/>
              </a:ext>
            </a:extLst>
          </p:cNvPr>
          <p:cNvSpPr txBox="1"/>
          <p:nvPr/>
        </p:nvSpPr>
        <p:spPr>
          <a:xfrm>
            <a:off x="6618574" y="2200002"/>
            <a:ext cx="5103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</a:rPr>
              <a:t>8.9%</a:t>
            </a:r>
            <a:endParaRPr kumimoji="1"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E3274A2-7BFC-E30C-2DA7-17F18990F8F1}"/>
              </a:ext>
            </a:extLst>
          </p:cNvPr>
          <p:cNvSpPr txBox="1"/>
          <p:nvPr/>
        </p:nvSpPr>
        <p:spPr>
          <a:xfrm>
            <a:off x="6041453" y="3329760"/>
            <a:ext cx="574277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altLang="zh-CN" b="1" dirty="0">
                <a:solidFill>
                  <a:srgbClr val="00B050"/>
                </a:solidFill>
              </a:rPr>
              <a:t>Shortest Path (SPH)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Significantly slower than WAN-aware schemes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Curves grow more steeply with WAN delay, showing poor robustness to higher propagation latency</a:t>
            </a:r>
          </a:p>
          <a:p>
            <a:pPr>
              <a:buNone/>
            </a:pPr>
            <a:r>
              <a:rPr lang="en-GB" altLang="zh-CN" b="1" dirty="0">
                <a:solidFill>
                  <a:srgbClr val="FF0000"/>
                </a:solidFill>
              </a:rPr>
              <a:t>NCCL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Also degrades under WAN delay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Lacks WAN-aware path selection, so its completion time tracks propagation delay more closely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20E9355-D74C-C9AE-DD86-04C1DE98C30F}"/>
              </a:ext>
            </a:extLst>
          </p:cNvPr>
          <p:cNvSpPr/>
          <p:nvPr/>
        </p:nvSpPr>
        <p:spPr>
          <a:xfrm rot="19816864">
            <a:off x="5688609" y="1686245"/>
            <a:ext cx="415226" cy="2604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8790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1" grpId="0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DAC36-BFCD-7421-B8E3-060A35D1E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C90CD2-0D9F-8C82-2F5A-5E9367D0F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altLang="zh-CN" b="1" dirty="0"/>
              <a:t>Numerical Result: Different </a:t>
            </a:r>
            <a:r>
              <a:rPr lang="en-US" altLang="zh-CN" b="1" dirty="0" err="1"/>
              <a:t>Subchunks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13672D-B9DF-CF3E-BA93-77630625C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7887" y="6356350"/>
            <a:ext cx="9353575" cy="365125"/>
          </a:xfrm>
        </p:spPr>
        <p:txBody>
          <a:bodyPr anchor="ctr">
            <a:normAutofit/>
          </a:bodyPr>
          <a:lstStyle/>
          <a:p>
            <a:r>
              <a:rPr lang="en-US" dirty="0"/>
              <a:t>SCALE-CCL: A Scalable Collective Communication Library for Wide-Area Distributed Training, Jiaheng, INET4AI ’25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AAD2EE8-2AB4-4454-D886-71988538F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AFE0081-1ED4-41E0-88AB-D26DBE160EA6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0FEA1EB-507F-4571-8248-D7913769ACC9}"/>
              </a:ext>
            </a:extLst>
          </p:cNvPr>
          <p:cNvSpPr txBox="1"/>
          <p:nvPr/>
        </p:nvSpPr>
        <p:spPr>
          <a:xfrm>
            <a:off x="2600756" y="3202883"/>
            <a:ext cx="73814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GB" altLang="zh-CN" sz="1200" dirty="0"/>
              <a:t> Completion Time vs. chunk size under different number of </a:t>
            </a:r>
            <a:r>
              <a:rPr kumimoji="1" lang="en-GB" altLang="zh-CN" sz="1200" dirty="0" err="1"/>
              <a:t>Subchunks</a:t>
            </a:r>
            <a:r>
              <a:rPr kumimoji="1" lang="en-GB" altLang="zh-CN" sz="1200" dirty="0"/>
              <a:t> with 100 km WAN Delay and 0.5 connectivity</a:t>
            </a:r>
            <a:endParaRPr kumimoji="1" lang="zh-CN" altLang="en-US" sz="1200" dirty="0"/>
          </a:p>
        </p:txBody>
      </p:sp>
      <p:pic>
        <p:nvPicPr>
          <p:cNvPr id="6" name="图片 5" descr="图表, 条形图&#10;&#10;AI 生成的内容可能不正确。">
            <a:extLst>
              <a:ext uri="{FF2B5EF4-FFF2-40B4-BE49-F238E27FC236}">
                <a16:creationId xmlns:a16="http://schemas.microsoft.com/office/drawing/2014/main" id="{12117D6A-48EF-8B83-8DC6-22BC6800E4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62" y="1459729"/>
            <a:ext cx="10111475" cy="174315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167871F-69BF-3BC3-678C-47AD43AA2E6D}"/>
              </a:ext>
            </a:extLst>
          </p:cNvPr>
          <p:cNvSpPr txBox="1"/>
          <p:nvPr/>
        </p:nvSpPr>
        <p:spPr>
          <a:xfrm>
            <a:off x="838200" y="3655118"/>
            <a:ext cx="549820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dirty="0">
                <a:solidFill>
                  <a:schemeClr val="accent5"/>
                </a:solidFill>
              </a:rPr>
              <a:t>SCALE-CCL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Within </a:t>
            </a:r>
            <a:r>
              <a:rPr lang="en-GB" altLang="zh-CN" b="1" dirty="0"/>
              <a:t>10–15%</a:t>
            </a:r>
            <a:r>
              <a:rPr lang="en-GB" altLang="zh-CN" dirty="0"/>
              <a:t> of TE-CCL across all chunk sizes and </a:t>
            </a:r>
            <a:r>
              <a:rPr lang="en-GB" altLang="zh-CN" dirty="0" err="1"/>
              <a:t>subchunks</a:t>
            </a:r>
            <a:endParaRPr lang="en-GB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More </a:t>
            </a:r>
            <a:r>
              <a:rPr lang="en-GB" altLang="zh-CN" dirty="0" err="1"/>
              <a:t>subchunks</a:t>
            </a:r>
            <a:r>
              <a:rPr lang="en-GB" altLang="zh-CN" dirty="0"/>
              <a:t> reduce completion time (e.g., at 16 MB &amp; 2 </a:t>
            </a:r>
            <a:r>
              <a:rPr lang="en-GB" altLang="zh-CN" dirty="0" err="1"/>
              <a:t>subchunks</a:t>
            </a:r>
            <a:r>
              <a:rPr lang="en-GB" altLang="zh-CN" dirty="0"/>
              <a:t>: </a:t>
            </a:r>
            <a:r>
              <a:rPr lang="en-GB" altLang="zh-CN" b="1" dirty="0"/>
              <a:t>5313 µs</a:t>
            </a:r>
            <a:r>
              <a:rPr lang="en-GB" altLang="zh-CN" dirty="0"/>
              <a:t>)</a:t>
            </a:r>
          </a:p>
          <a:p>
            <a:r>
              <a:rPr lang="en-GB" altLang="zh-CN" b="1" dirty="0">
                <a:solidFill>
                  <a:schemeClr val="accent2"/>
                </a:solidFill>
              </a:rPr>
              <a:t>TE-CCL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Best completion time in all settings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Also benefits from </a:t>
            </a:r>
            <a:r>
              <a:rPr lang="en-GB" altLang="zh-CN" dirty="0" err="1"/>
              <a:t>subchunking</a:t>
            </a:r>
            <a:r>
              <a:rPr lang="en-GB" altLang="zh-CN" dirty="0"/>
              <a:t> but with high synthesis cost (per Table 1)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50E2B90-E5F2-9B8A-359E-A56175504FF4}"/>
              </a:ext>
            </a:extLst>
          </p:cNvPr>
          <p:cNvSpPr txBox="1"/>
          <p:nvPr/>
        </p:nvSpPr>
        <p:spPr>
          <a:xfrm>
            <a:off x="6093854" y="3655118"/>
            <a:ext cx="58577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altLang="zh-CN" b="1" dirty="0">
                <a:solidFill>
                  <a:srgbClr val="00B050"/>
                </a:solidFill>
              </a:rPr>
              <a:t>SPH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Much slower than SCALE-CCL (e.g., 16 MB &amp; 2 </a:t>
            </a:r>
            <a:r>
              <a:rPr lang="en-GB" altLang="zh-CN" dirty="0" err="1"/>
              <a:t>subchunks</a:t>
            </a:r>
            <a:r>
              <a:rPr lang="en-GB" altLang="zh-CN" dirty="0"/>
              <a:t>: </a:t>
            </a:r>
            <a:r>
              <a:rPr lang="en-GB" altLang="zh-CN" b="1" dirty="0"/>
              <a:t>11,566 µs</a:t>
            </a:r>
            <a:r>
              <a:rPr lang="en-GB" altLang="zh-C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Improves with more </a:t>
            </a:r>
            <a:r>
              <a:rPr lang="en-GB" altLang="zh-CN" dirty="0" err="1"/>
              <a:t>subchunks</a:t>
            </a:r>
            <a:r>
              <a:rPr lang="en-GB" altLang="zh-CN" dirty="0"/>
              <a:t> but still far behind WAN-aware methods</a:t>
            </a:r>
          </a:p>
          <a:p>
            <a:pPr>
              <a:buNone/>
            </a:pPr>
            <a:r>
              <a:rPr lang="en-GB" altLang="zh-CN" b="1" dirty="0">
                <a:solidFill>
                  <a:srgbClr val="FF0000"/>
                </a:solidFill>
              </a:rPr>
              <a:t>NCCL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At 16 MB &amp; 2 </a:t>
            </a:r>
            <a:r>
              <a:rPr lang="en-GB" altLang="zh-CN" dirty="0" err="1"/>
              <a:t>subchunks</a:t>
            </a:r>
            <a:r>
              <a:rPr lang="en-GB" altLang="zh-CN" dirty="0"/>
              <a:t>: </a:t>
            </a:r>
            <a:r>
              <a:rPr lang="en-GB" altLang="zh-CN" b="1" dirty="0"/>
              <a:t>14,251 µs</a:t>
            </a:r>
            <a:r>
              <a:rPr lang="en-GB" altLang="zh-CN" dirty="0"/>
              <a:t> (≈</a:t>
            </a:r>
            <a:r>
              <a:rPr lang="en-GB" altLang="zh-CN" b="1" dirty="0"/>
              <a:t>2.7×</a:t>
            </a:r>
            <a:r>
              <a:rPr lang="en-GB" altLang="zh-CN" dirty="0"/>
              <a:t> slower than SCALE-CCL)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Weak sensitivity to </a:t>
            </a:r>
            <a:r>
              <a:rPr lang="en-GB" altLang="zh-CN" dirty="0" err="1"/>
              <a:t>subchunks</a:t>
            </a:r>
            <a:r>
              <a:rPr lang="en-GB" altLang="zh-CN" dirty="0"/>
              <a:t> for medium/large chunks due to fixed ring structure</a:t>
            </a:r>
          </a:p>
        </p:txBody>
      </p:sp>
    </p:spTree>
    <p:extLst>
      <p:ext uri="{BB962C8B-B14F-4D97-AF65-F5344CB8AC3E}">
        <p14:creationId xmlns:p14="http://schemas.microsoft.com/office/powerpoint/2010/main" val="2889666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0B485-F177-1B14-BC0A-1837AC9E5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Conclusion</a:t>
            </a:r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0FBDB-D74E-27EF-FA50-6506C8D6D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SCALE-CCL: A Scalable Collective Communication Library for Wide-Area Distributed Training, Jiaheng, INET4AI ’25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B8C03-A6C7-8F92-506E-A61AB0C9D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17</a:t>
            </a:fld>
            <a:endParaRPr 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BE5BE17-57FD-5092-4082-0EF4F3AE8DEB}"/>
              </a:ext>
            </a:extLst>
          </p:cNvPr>
          <p:cNvSpPr txBox="1"/>
          <p:nvPr/>
        </p:nvSpPr>
        <p:spPr>
          <a:xfrm>
            <a:off x="1021080" y="1859340"/>
            <a:ext cx="94030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2400" dirty="0"/>
              <a:t>We presented </a:t>
            </a:r>
            <a:r>
              <a:rPr lang="en-GB" altLang="zh-CN" sz="2400" b="1" dirty="0"/>
              <a:t>SCALE-CCL</a:t>
            </a:r>
            <a:r>
              <a:rPr lang="en-GB" altLang="zh-CN" sz="2400" dirty="0"/>
              <a:t>, a WAN-aware collective communication library that synthesizes </a:t>
            </a:r>
            <a:r>
              <a:rPr lang="en-GB" altLang="zh-CN" sz="2400" dirty="0" err="1"/>
              <a:t>AllGather</a:t>
            </a:r>
            <a:r>
              <a:rPr lang="en-GB" altLang="zh-CN" sz="2400" dirty="0"/>
              <a:t> schedules across geo-distributed </a:t>
            </a:r>
            <a:r>
              <a:rPr lang="en-GB" altLang="zh-CN" sz="2400" dirty="0" err="1"/>
              <a:t>datacenters</a:t>
            </a:r>
            <a:endParaRPr lang="en-GB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2400" dirty="0"/>
              <a:t>By combining </a:t>
            </a:r>
            <a:r>
              <a:rPr lang="en-GB" altLang="zh-CN" sz="2400" b="1" dirty="0" err="1"/>
              <a:t>subchunking</a:t>
            </a:r>
            <a:r>
              <a:rPr lang="en-GB" altLang="zh-CN" sz="2400" dirty="0"/>
              <a:t>, </a:t>
            </a:r>
            <a:r>
              <a:rPr lang="en-GB" altLang="zh-CN" sz="2400" b="1" dirty="0"/>
              <a:t>local queue–based decisions</a:t>
            </a:r>
            <a:r>
              <a:rPr lang="en-GB" altLang="zh-CN" sz="2400" dirty="0"/>
              <a:t>, and a </a:t>
            </a:r>
            <a:r>
              <a:rPr lang="en-GB" altLang="zh-CN" sz="2400" b="1" dirty="0"/>
              <a:t>lightweight event-driven scheduler</a:t>
            </a:r>
            <a:r>
              <a:rPr lang="en-GB" altLang="zh-CN" sz="2400" dirty="0"/>
              <a:t>, SCALE-CCL reacts to WAN variability while keeping schedule generation extremely fast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2400" dirty="0"/>
              <a:t>Experiments show that SCALE-CCL maintains </a:t>
            </a:r>
            <a:r>
              <a:rPr lang="en-GB" altLang="zh-CN" sz="2400" b="1" dirty="0"/>
              <a:t>near-optimal completion time</a:t>
            </a:r>
            <a:r>
              <a:rPr lang="en-GB" altLang="zh-CN" sz="2400" dirty="0"/>
              <a:t> while scaling to large topologies and high </a:t>
            </a:r>
            <a:r>
              <a:rPr lang="en-GB" altLang="zh-CN" sz="2400" dirty="0" err="1"/>
              <a:t>subchunk</a:t>
            </a:r>
            <a:r>
              <a:rPr lang="en-GB" altLang="zh-CN" sz="2400" dirty="0"/>
              <a:t> counts, making WAN-aware collective scheduling practical for modern cross-DC training</a:t>
            </a:r>
          </a:p>
        </p:txBody>
      </p:sp>
    </p:spTree>
    <p:extLst>
      <p:ext uri="{BB962C8B-B14F-4D97-AF65-F5344CB8AC3E}">
        <p14:creationId xmlns:p14="http://schemas.microsoft.com/office/powerpoint/2010/main" val="4050600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0FB35141764A047873234D3F30138EE" ma:contentTypeVersion="8" ma:contentTypeDescription="Creare un nuovo documento." ma:contentTypeScope="" ma:versionID="b4084b027217fa550fd8285d46e5146d">
  <xsd:schema xmlns:xsd="http://www.w3.org/2001/XMLSchema" xmlns:xs="http://www.w3.org/2001/XMLSchema" xmlns:p="http://schemas.microsoft.com/office/2006/metadata/properties" xmlns:ns3="58d4b70e-563b-4541-9982-67f23ee24c89" xmlns:ns4="23e2c6a5-7d3e-4882-a1c5-a8a261f1b579" targetNamespace="http://schemas.microsoft.com/office/2006/metadata/properties" ma:root="true" ma:fieldsID="8b9e989c3e187efe1e2a438b2221997a" ns3:_="" ns4:_="">
    <xsd:import namespace="58d4b70e-563b-4541-9982-67f23ee24c89"/>
    <xsd:import namespace="23e2c6a5-7d3e-4882-a1c5-a8a261f1b57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d4b70e-563b-4541-9982-67f23ee24c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e2c6a5-7d3e-4882-a1c5-a8a261f1b579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8d4b70e-563b-4541-9982-67f23ee24c89" xsi:nil="true"/>
  </documentManagement>
</p:properties>
</file>

<file path=customXml/itemProps1.xml><?xml version="1.0" encoding="utf-8"?>
<ds:datastoreItem xmlns:ds="http://schemas.openxmlformats.org/officeDocument/2006/customXml" ds:itemID="{F14FDC0C-4FCA-4800-AEEE-A24CEFB8FDD0}">
  <ds:schemaRefs>
    <ds:schemaRef ds:uri="23e2c6a5-7d3e-4882-a1c5-a8a261f1b579"/>
    <ds:schemaRef ds:uri="58d4b70e-563b-4541-9982-67f23ee24c8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3449E40-2135-4438-A5A5-29CD68B19E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52F6AD-D252-4BD4-8266-2AA6497ADE4E}">
  <ds:schemaRefs>
    <ds:schemaRef ds:uri="http://purl.org/dc/elements/1.1/"/>
    <ds:schemaRef ds:uri="http://schemas.microsoft.com/office/infopath/2007/PartnerControls"/>
    <ds:schemaRef ds:uri="http://purl.org/dc/dcmitype/"/>
    <ds:schemaRef ds:uri="http://purl.org/dc/terms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23e2c6a5-7d3e-4882-a1c5-a8a261f1b579"/>
    <ds:schemaRef ds:uri="58d4b70e-563b-4541-9982-67f23ee24c8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8568</TotalTime>
  <Words>2221</Words>
  <Application>Microsoft Macintosh PowerPoint</Application>
  <PresentationFormat>宽屏</PresentationFormat>
  <Paragraphs>374</Paragraphs>
  <Slides>17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Abel</vt:lpstr>
      <vt:lpstr>Arial</vt:lpstr>
      <vt:lpstr>Calibri</vt:lpstr>
      <vt:lpstr>Calibri Light</vt:lpstr>
      <vt:lpstr>Cambria Math</vt:lpstr>
      <vt:lpstr>Wingdings</vt:lpstr>
      <vt:lpstr>Office Theme</vt:lpstr>
      <vt:lpstr>Custom Design</vt:lpstr>
      <vt:lpstr>1_Custom Design</vt:lpstr>
      <vt:lpstr>SCALE-CCL: A Scalable Collective Communication Library  for Wide-Area Distributed Training</vt:lpstr>
      <vt:lpstr>Outline</vt:lpstr>
      <vt:lpstr>Background</vt:lpstr>
      <vt:lpstr>Motivation: Dynamic Environment</vt:lpstr>
      <vt:lpstr>System Model (Different Transmission Type)</vt:lpstr>
      <vt:lpstr>Problem Statement</vt:lpstr>
      <vt:lpstr>System Model (Abstract Topology)</vt:lpstr>
      <vt:lpstr>Flow Chart of the Proposed Algorithm</vt:lpstr>
      <vt:lpstr>Flow Chart of the Proposed Algorithm</vt:lpstr>
      <vt:lpstr>Flow Chart of the Proposed Algorithm</vt:lpstr>
      <vt:lpstr>Flow Chart of the Proposed Algorithm</vt:lpstr>
      <vt:lpstr>Flow Chart of the Proposed Algorithm</vt:lpstr>
      <vt:lpstr>Numerical Result: Topology</vt:lpstr>
      <vt:lpstr>Numerical Result: Scalability Analysis</vt:lpstr>
      <vt:lpstr>Numerical Result: Different WAN Delay</vt:lpstr>
      <vt:lpstr>Numerical Result: Different Subchunks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of Machine Learning for Design and Optimization  of Optical Networks</dc:title>
  <dc:subject/>
  <dc:creator>Mëmëdhe Ibrahimi</dc:creator>
  <cp:keywords/>
  <dc:description/>
  <cp:lastModifiedBy>Jiaheng Xiong</cp:lastModifiedBy>
  <cp:revision>6</cp:revision>
  <dcterms:created xsi:type="dcterms:W3CDTF">2023-09-07T17:16:43Z</dcterms:created>
  <dcterms:modified xsi:type="dcterms:W3CDTF">2025-11-30T05:13:04Z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0x01010060FB35141764A047873234D3F30138EE</vt:lpwstr>
  </property>
</Properties>
</file>