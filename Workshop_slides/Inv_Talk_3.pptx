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5.xml" ContentType="application/vnd.openxmlformats-officedocument.theme+xml"/>
  <Override PartName="/ppt/tags/tag1.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8.xml" ContentType="application/vnd.openxmlformats-officedocument.theme+xml"/>
  <Override PartName="/ppt/tags/tag2.xml" ContentType="application/vnd.openxmlformats-officedocument.presentationml.tags+xml"/>
  <Override PartName="/ppt/theme/theme9.xml" ContentType="application/vnd.openxmlformats-officedocument.theme+xml"/>
  <Override PartName="/ppt/slideLayouts/slideLayout16.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8" r:id="rId1"/>
    <p:sldMasterId id="2147483797" r:id="rId2"/>
    <p:sldMasterId id="2147483816" r:id="rId3"/>
    <p:sldMasterId id="2147483683" r:id="rId4"/>
    <p:sldMasterId id="2147483893" r:id="rId5"/>
    <p:sldMasterId id="2147483898" r:id="rId6"/>
    <p:sldMasterId id="2147483904" r:id="rId7"/>
    <p:sldMasterId id="2147483933" r:id="rId8"/>
    <p:sldMasterId id="2147483936" r:id="rId9"/>
    <p:sldMasterId id="2147483937" r:id="rId10"/>
  </p:sldMasterIdLst>
  <p:notesMasterIdLst>
    <p:notesMasterId r:id="rId27"/>
  </p:notesMasterIdLst>
  <p:handoutMasterIdLst>
    <p:handoutMasterId r:id="rId28"/>
  </p:handoutMasterIdLst>
  <p:sldIdLst>
    <p:sldId id="277" r:id="rId11"/>
    <p:sldId id="2147482891" r:id="rId12"/>
    <p:sldId id="2147483620" r:id="rId13"/>
    <p:sldId id="2147482893" r:id="rId14"/>
    <p:sldId id="2147482894" r:id="rId15"/>
    <p:sldId id="2147483621" r:id="rId16"/>
    <p:sldId id="2147483622" r:id="rId17"/>
    <p:sldId id="2147482895" r:id="rId18"/>
    <p:sldId id="2147482896" r:id="rId19"/>
    <p:sldId id="2147483616" r:id="rId20"/>
    <p:sldId id="2147483617" r:id="rId21"/>
    <p:sldId id="2147483618" r:id="rId22"/>
    <p:sldId id="2147483619" r:id="rId23"/>
    <p:sldId id="2147483614" r:id="rId24"/>
    <p:sldId id="2147482912" r:id="rId25"/>
    <p:sldId id="280" r:id="rId26"/>
  </p:sldIdLst>
  <p:sldSz cx="12196763" cy="6858000"/>
  <p:notesSz cx="7102475" cy="10233025"/>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772AE62F-AA53-472D-8B5D-918D61CCB3E3}">
          <p14:sldIdLst>
            <p14:sldId id="277"/>
            <p14:sldId id="2147482891"/>
            <p14:sldId id="2147483620"/>
          </p14:sldIdLst>
        </p14:section>
        <p14:section name="UB Simulation Platform" id="{26F20DBB-5A09-4C5A-95E8-57F4823B5C6F}">
          <p14:sldIdLst>
            <p14:sldId id="2147482893"/>
            <p14:sldId id="2147482894"/>
            <p14:sldId id="2147483621"/>
            <p14:sldId id="2147483622"/>
          </p14:sldIdLst>
        </p14:section>
        <p14:section name="UB Protocol Verification Platform" id="{0E892502-86D6-45C8-97E8-B62156788A06}">
          <p14:sldIdLst>
            <p14:sldId id="2147482895"/>
            <p14:sldId id="2147482896"/>
          </p14:sldIdLst>
        </p14:section>
        <p14:section name="SuperPod Networking Innovation Platform" id="{5B0CD200-9734-4924-82EF-4D2C11DFB991}">
          <p14:sldIdLst>
            <p14:sldId id="2147483616"/>
            <p14:sldId id="2147483617"/>
          </p14:sldIdLst>
        </p14:section>
        <p14:section name="Scale-up Prototype Platform" id="{3168B282-AD5C-4057-A455-0C6AA533D559}">
          <p14:sldIdLst>
            <p14:sldId id="2147483618"/>
            <p14:sldId id="2147483619"/>
          </p14:sldIdLst>
        </p14:section>
        <p14:section name="Scale-Out Prototype Platform" id="{5B362A17-728F-4E4B-845E-CAE7727F6624}">
          <p14:sldIdLst>
            <p14:sldId id="2147483614"/>
          </p14:sldIdLst>
        </p14:section>
        <p14:section name="CompuNet" id="{CDD0C712-CB1D-4538-8774-D58E4B7A90A0}">
          <p14:sldIdLst>
            <p14:sldId id="2147482912"/>
            <p14:sldId id="28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FF3D2"/>
    <a:srgbClr val="F1F1F1"/>
    <a:srgbClr val="D2E4F6"/>
    <a:srgbClr val="90BCE8"/>
    <a:srgbClr val="67A3DF"/>
    <a:srgbClr val="FFFFFF"/>
    <a:srgbClr val="000000"/>
    <a:srgbClr val="E9002F"/>
    <a:srgbClr val="595757"/>
    <a:srgbClr val="2218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83493" autoAdjust="0"/>
  </p:normalViewPr>
  <p:slideViewPr>
    <p:cSldViewPr snapToGrid="0" snapToObjects="1">
      <p:cViewPr varScale="1">
        <p:scale>
          <a:sx n="105" d="100"/>
          <a:sy n="105" d="100"/>
        </p:scale>
        <p:origin x="394" y="55"/>
      </p:cViewPr>
      <p:guideLst/>
    </p:cSldViewPr>
  </p:slideViewPr>
  <p:outlineViewPr>
    <p:cViewPr>
      <p:scale>
        <a:sx n="33" d="100"/>
        <a:sy n="33" d="100"/>
      </p:scale>
      <p:origin x="0" y="0"/>
    </p:cViewPr>
  </p:outlineViewPr>
  <p:notesTextViewPr>
    <p:cViewPr>
      <p:scale>
        <a:sx n="66" d="100"/>
        <a:sy n="66" d="100"/>
      </p:scale>
      <p:origin x="0" y="0"/>
    </p:cViewPr>
  </p:notesTextViewPr>
  <p:sorterViewPr>
    <p:cViewPr>
      <p:scale>
        <a:sx n="66" d="100"/>
        <a:sy n="66" d="100"/>
      </p:scale>
      <p:origin x="0" y="0"/>
    </p:cViewPr>
  </p:sorterViewPr>
  <p:notesViewPr>
    <p:cSldViewPr snapToGrid="0" snapToObjects="1">
      <p:cViewPr>
        <p:scale>
          <a:sx n="50" d="100"/>
          <a:sy n="50" d="100"/>
        </p:scale>
        <p:origin x="4114" y="11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 Type="http://schemas.openxmlformats.org/officeDocument/2006/relationships/slideMaster" Target="slideMasters/slideMaster3.xml"/><Relationship Id="rId21" Type="http://schemas.openxmlformats.org/officeDocument/2006/relationships/slide" Target="slides/slide11.xml"/><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handoutMaster" Target="handoutMasters/handoutMaster1.xml"/><Relationship Id="rId10" Type="http://schemas.openxmlformats.org/officeDocument/2006/relationships/slideMaster" Target="slideMasters/slideMaster10.xml"/><Relationship Id="rId19" Type="http://schemas.openxmlformats.org/officeDocument/2006/relationships/slide" Target="slides/slide9.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notesMaster" Target="notesMasters/notesMaster1.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D39E20-239B-4C78-9FC8-8EF4C333197F}" type="doc">
      <dgm:prSet loTypeId="urn:microsoft.com/office/officeart/2005/8/layout/radial6" loCatId="cycle" qsTypeId="urn:microsoft.com/office/officeart/2005/8/quickstyle/simple4" qsCatId="simple" csTypeId="urn:microsoft.com/office/officeart/2005/8/colors/accent4_2" csCatId="accent4" phldr="1"/>
      <dgm:spPr/>
      <dgm:t>
        <a:bodyPr/>
        <a:lstStyle/>
        <a:p>
          <a:endParaRPr lang="zh-CN" altLang="en-US"/>
        </a:p>
      </dgm:t>
    </dgm:pt>
    <dgm:pt modelId="{99B3BAB8-4457-497E-A7FF-51A6D4DEBE3A}">
      <dgm:prSet phldrT="[文本]" custT="1"/>
      <dgm:spPr>
        <a:xfrm>
          <a:off x="1154376" y="936914"/>
          <a:ext cx="1028104" cy="1028104"/>
        </a:xfrm>
        <a:prstGeom prst="ellipse">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gm:spPr>
      <dgm:t>
        <a:bodyPr/>
        <a:lstStyle/>
        <a:p>
          <a:pPr>
            <a:buNone/>
          </a:pPr>
          <a:r>
            <a:rPr lang="en-US" altLang="zh-CN" sz="900" b="1" dirty="0">
              <a:solidFill>
                <a:sysClr val="window" lastClr="FFFFFF"/>
              </a:solidFill>
              <a:latin typeface="微软雅黑" panose="020B0503020204020204" pitchFamily="34" charset="-122"/>
              <a:ea typeface="微软雅黑" panose="020B0503020204020204" pitchFamily="34" charset="-122"/>
              <a:cs typeface="+mn-cs"/>
            </a:rPr>
            <a:t>Huawei</a:t>
          </a:r>
          <a:endParaRPr lang="zh-CN" altLang="en-US" sz="1000" b="1" dirty="0">
            <a:solidFill>
              <a:sysClr val="window" lastClr="FFFFFF"/>
            </a:solidFill>
            <a:latin typeface="微软雅黑" panose="020B0503020204020204" pitchFamily="34" charset="-122"/>
            <a:ea typeface="微软雅黑" panose="020B0503020204020204" pitchFamily="34" charset="-122"/>
            <a:cs typeface="+mn-cs"/>
          </a:endParaRPr>
        </a:p>
      </dgm:t>
    </dgm:pt>
    <dgm:pt modelId="{6CB722C5-DB66-4102-9958-AE35D585E5F0}" type="parTrans" cxnId="{A47EF8A0-EA57-4D4E-BBF0-FC9B9C9E0C9E}">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771B5A4D-991F-4F88-9903-6131C60E7B86}" type="sibTrans" cxnId="{A47EF8A0-EA57-4D4E-BBF0-FC9B9C9E0C9E}">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AFF7DBF5-4029-46E2-A6FA-C56A1EC160E8}">
      <dgm:prSet phldrT="[文本]" custT="1"/>
      <dgm:spPr>
        <a:xfrm>
          <a:off x="1308592" y="1300"/>
          <a:ext cx="719672" cy="719672"/>
        </a:xfrm>
        <a:prstGeom prst="ellipse">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gm:spPr>
      <dgm:t>
        <a:bodyPr/>
        <a:lstStyle/>
        <a:p>
          <a:pPr>
            <a:buNone/>
          </a:pPr>
          <a:r>
            <a:rPr lang="en-US" sz="500" b="1" kern="1200" dirty="0">
              <a:solidFill>
                <a:prstClr val="white"/>
              </a:solidFill>
              <a:latin typeface="微软雅黑" panose="020B0503020204020204" pitchFamily="34" charset="-122"/>
              <a:ea typeface="微软雅黑" panose="020B0503020204020204" pitchFamily="34" charset="-122"/>
              <a:cs typeface="+mn-cs"/>
            </a:rPr>
            <a:t>Universities/Institutes</a:t>
          </a:r>
          <a:endParaRPr lang="zh-CN" altLang="en-US" sz="500" b="1" kern="1200" dirty="0">
            <a:solidFill>
              <a:prstClr val="white"/>
            </a:solidFill>
            <a:latin typeface="微软雅黑" panose="020B0503020204020204" pitchFamily="34" charset="-122"/>
            <a:ea typeface="微软雅黑" panose="020B0503020204020204" pitchFamily="34" charset="-122"/>
            <a:cs typeface="+mn-cs"/>
          </a:endParaRPr>
        </a:p>
      </dgm:t>
    </dgm:pt>
    <dgm:pt modelId="{F30F8B2D-73BA-419A-BDF7-8AC2A945607D}" type="parTrans" cxnId="{2E23620E-551F-4A4E-B084-A7235FF3B46B}">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9B608B78-F28A-4EFA-80B3-1B8FA40CD0A5}" type="sibTrans" cxnId="{2E23620E-551F-4A4E-B084-A7235FF3B46B}">
      <dgm:prSet/>
      <dgm:spPr>
        <a:xfrm>
          <a:off x="552690" y="335228"/>
          <a:ext cx="2231476" cy="2231476"/>
        </a:xfrm>
        <a:prstGeom prst="blockArc">
          <a:avLst>
            <a:gd name="adj1" fmla="val 16200000"/>
            <a:gd name="adj2" fmla="val 1800000"/>
            <a:gd name="adj3" fmla="val 4644"/>
          </a:avLst>
        </a:prstGeom>
        <a:gradFill rotWithShape="0">
          <a:gsLst>
            <a:gs pos="0">
              <a:srgbClr val="0F9ED5">
                <a:tint val="60000"/>
                <a:hueOff val="0"/>
                <a:satOff val="0"/>
                <a:lumOff val="0"/>
                <a:alphaOff val="0"/>
                <a:satMod val="103000"/>
                <a:lumMod val="102000"/>
                <a:tint val="94000"/>
              </a:srgbClr>
            </a:gs>
            <a:gs pos="50000">
              <a:srgbClr val="0F9ED5">
                <a:tint val="60000"/>
                <a:hueOff val="0"/>
                <a:satOff val="0"/>
                <a:lumOff val="0"/>
                <a:alphaOff val="0"/>
                <a:satMod val="110000"/>
                <a:lumMod val="100000"/>
                <a:shade val="100000"/>
              </a:srgbClr>
            </a:gs>
            <a:gs pos="100000">
              <a:srgbClr val="0F9ED5">
                <a:tint val="60000"/>
                <a:hueOff val="0"/>
                <a:satOff val="0"/>
                <a:lumOff val="0"/>
                <a:alphaOff val="0"/>
                <a:lumMod val="99000"/>
                <a:satMod val="120000"/>
                <a:shade val="78000"/>
              </a:srgbClr>
            </a:gs>
          </a:gsLst>
          <a:lin ang="5400000" scaled="0"/>
        </a:gradFill>
        <a:ln>
          <a:noFill/>
        </a:ln>
        <a:effectLst/>
      </dgm:spPr>
      <dgm:t>
        <a:bodyPr/>
        <a:lstStyle/>
        <a:p>
          <a:endParaRPr lang="zh-CN" altLang="en-US" sz="1400">
            <a:latin typeface="微软雅黑" panose="020B0503020204020204" pitchFamily="34" charset="-122"/>
            <a:ea typeface="微软雅黑" panose="020B0503020204020204" pitchFamily="34" charset="-122"/>
          </a:endParaRPr>
        </a:p>
      </dgm:t>
    </dgm:pt>
    <dgm:pt modelId="{B3EDE56E-8120-4875-A45B-BB928DF9F6BC}">
      <dgm:prSet phldrT="[文本]" custT="1"/>
      <dgm:spPr>
        <a:xfrm>
          <a:off x="2252412" y="1636045"/>
          <a:ext cx="719672" cy="719672"/>
        </a:xfrm>
        <a:prstGeom prst="ellipse">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gm:spPr>
      <dgm:t>
        <a:bodyPr/>
        <a:lstStyle/>
        <a:p>
          <a:pPr>
            <a:buNone/>
          </a:pPr>
          <a:r>
            <a:rPr lang="en-US" sz="500" b="1" kern="1200" dirty="0">
              <a:solidFill>
                <a:prstClr val="white"/>
              </a:solidFill>
              <a:latin typeface="微软雅黑" panose="020B0503020204020204" pitchFamily="34" charset="-122"/>
              <a:ea typeface="微软雅黑" panose="020B0503020204020204" pitchFamily="34" charset="-122"/>
              <a:cs typeface="+mn-cs"/>
            </a:rPr>
            <a:t>Partners</a:t>
          </a:r>
          <a:endParaRPr lang="zh-CN" altLang="en-US" sz="500" b="1" kern="1200" dirty="0">
            <a:solidFill>
              <a:prstClr val="white"/>
            </a:solidFill>
            <a:latin typeface="微软雅黑" panose="020B0503020204020204" pitchFamily="34" charset="-122"/>
            <a:ea typeface="微软雅黑" panose="020B0503020204020204" pitchFamily="34" charset="-122"/>
            <a:cs typeface="+mn-cs"/>
          </a:endParaRPr>
        </a:p>
      </dgm:t>
    </dgm:pt>
    <dgm:pt modelId="{61CCFEC8-506A-415B-9C8D-A6F88C84DE39}" type="parTrans" cxnId="{79A9F3B7-EDA0-47B4-BB96-E9B07F5F834D}">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00B14BAD-E023-4BE3-994E-3C8CAC21B81E}" type="sibTrans" cxnId="{79A9F3B7-EDA0-47B4-BB96-E9B07F5F834D}">
      <dgm:prSet/>
      <dgm:spPr>
        <a:xfrm>
          <a:off x="552690" y="335228"/>
          <a:ext cx="2231476" cy="2231476"/>
        </a:xfrm>
        <a:prstGeom prst="blockArc">
          <a:avLst>
            <a:gd name="adj1" fmla="val 1800000"/>
            <a:gd name="adj2" fmla="val 9000000"/>
            <a:gd name="adj3" fmla="val 4644"/>
          </a:avLst>
        </a:prstGeom>
        <a:gradFill rotWithShape="0">
          <a:gsLst>
            <a:gs pos="0">
              <a:srgbClr val="0F9ED5">
                <a:tint val="60000"/>
                <a:hueOff val="0"/>
                <a:satOff val="0"/>
                <a:lumOff val="0"/>
                <a:alphaOff val="0"/>
                <a:satMod val="103000"/>
                <a:lumMod val="102000"/>
                <a:tint val="94000"/>
              </a:srgbClr>
            </a:gs>
            <a:gs pos="50000">
              <a:srgbClr val="0F9ED5">
                <a:tint val="60000"/>
                <a:hueOff val="0"/>
                <a:satOff val="0"/>
                <a:lumOff val="0"/>
                <a:alphaOff val="0"/>
                <a:satMod val="110000"/>
                <a:lumMod val="100000"/>
                <a:shade val="100000"/>
              </a:srgbClr>
            </a:gs>
            <a:gs pos="100000">
              <a:srgbClr val="0F9ED5">
                <a:tint val="60000"/>
                <a:hueOff val="0"/>
                <a:satOff val="0"/>
                <a:lumOff val="0"/>
                <a:alphaOff val="0"/>
                <a:lumMod val="99000"/>
                <a:satMod val="120000"/>
                <a:shade val="78000"/>
              </a:srgbClr>
            </a:gs>
          </a:gsLst>
          <a:lin ang="5400000" scaled="0"/>
        </a:gradFill>
        <a:ln>
          <a:noFill/>
        </a:ln>
        <a:effectLst/>
      </dgm:spPr>
      <dgm:t>
        <a:bodyPr/>
        <a:lstStyle/>
        <a:p>
          <a:endParaRPr lang="zh-CN" altLang="en-US" sz="1400">
            <a:latin typeface="微软雅黑" panose="020B0503020204020204" pitchFamily="34" charset="-122"/>
            <a:ea typeface="微软雅黑" panose="020B0503020204020204" pitchFamily="34" charset="-122"/>
          </a:endParaRPr>
        </a:p>
      </dgm:t>
    </dgm:pt>
    <dgm:pt modelId="{E05124BA-4EC7-4FEA-BD9A-87B4C7EFED9E}">
      <dgm:prSet phldrT="[文本]" custT="1"/>
      <dgm:spPr>
        <a:xfrm>
          <a:off x="364772" y="1636045"/>
          <a:ext cx="719672" cy="719672"/>
        </a:xfrm>
        <a:prstGeom prst="ellipse">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gm:spPr>
      <dgm:t>
        <a:bodyPr/>
        <a:lstStyle/>
        <a:p>
          <a:pPr>
            <a:buNone/>
          </a:pPr>
          <a:r>
            <a:rPr lang="en-US" sz="500" b="1" dirty="0">
              <a:solidFill>
                <a:sysClr val="window" lastClr="FFFFFF"/>
              </a:solidFill>
              <a:latin typeface="微软雅黑" panose="020B0503020204020204" pitchFamily="34" charset="-122"/>
              <a:ea typeface="微软雅黑" panose="020B0503020204020204" pitchFamily="34" charset="-122"/>
              <a:cs typeface="+mn-cs"/>
            </a:rPr>
            <a:t>Academic </a:t>
          </a:r>
          <a:r>
            <a:rPr lang="en-US" sz="350" b="1" dirty="0">
              <a:solidFill>
                <a:sysClr val="window" lastClr="FFFFFF"/>
              </a:solidFill>
              <a:latin typeface="微软雅黑" panose="020B0503020204020204" pitchFamily="34" charset="-122"/>
              <a:ea typeface="微软雅黑" panose="020B0503020204020204" pitchFamily="34" charset="-122"/>
              <a:cs typeface="+mn-cs"/>
            </a:rPr>
            <a:t>organization</a:t>
          </a:r>
          <a:endParaRPr lang="zh-CN" altLang="en-US" sz="350" b="1" dirty="0">
            <a:solidFill>
              <a:sysClr val="window" lastClr="FFFFFF"/>
            </a:solidFill>
            <a:latin typeface="微软雅黑" panose="020B0503020204020204" pitchFamily="34" charset="-122"/>
            <a:ea typeface="微软雅黑" panose="020B0503020204020204" pitchFamily="34" charset="-122"/>
            <a:cs typeface="+mn-cs"/>
          </a:endParaRPr>
        </a:p>
      </dgm:t>
    </dgm:pt>
    <dgm:pt modelId="{3E20F4D5-1617-49C8-8FBB-0B52892BA335}" type="parTrans" cxnId="{E711F7C1-4A8D-4CF8-AFDC-B7885ADB5E7A}">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934E79C5-2979-4E22-AF6D-A1362840EFFC}" type="sibTrans" cxnId="{E711F7C1-4A8D-4CF8-AFDC-B7885ADB5E7A}">
      <dgm:prSet/>
      <dgm:spPr>
        <a:xfrm>
          <a:off x="552690" y="335228"/>
          <a:ext cx="2231476" cy="2231476"/>
        </a:xfrm>
        <a:prstGeom prst="blockArc">
          <a:avLst>
            <a:gd name="adj1" fmla="val 9000000"/>
            <a:gd name="adj2" fmla="val 16200000"/>
            <a:gd name="adj3" fmla="val 4644"/>
          </a:avLst>
        </a:prstGeom>
        <a:gradFill rotWithShape="0">
          <a:gsLst>
            <a:gs pos="0">
              <a:srgbClr val="0F9ED5">
                <a:tint val="60000"/>
                <a:hueOff val="0"/>
                <a:satOff val="0"/>
                <a:lumOff val="0"/>
                <a:alphaOff val="0"/>
                <a:satMod val="103000"/>
                <a:lumMod val="102000"/>
                <a:tint val="94000"/>
              </a:srgbClr>
            </a:gs>
            <a:gs pos="50000">
              <a:srgbClr val="0F9ED5">
                <a:tint val="60000"/>
                <a:hueOff val="0"/>
                <a:satOff val="0"/>
                <a:lumOff val="0"/>
                <a:alphaOff val="0"/>
                <a:satMod val="110000"/>
                <a:lumMod val="100000"/>
                <a:shade val="100000"/>
              </a:srgbClr>
            </a:gs>
            <a:gs pos="100000">
              <a:srgbClr val="0F9ED5">
                <a:tint val="60000"/>
                <a:hueOff val="0"/>
                <a:satOff val="0"/>
                <a:lumOff val="0"/>
                <a:alphaOff val="0"/>
                <a:lumMod val="99000"/>
                <a:satMod val="120000"/>
                <a:shade val="78000"/>
              </a:srgbClr>
            </a:gs>
          </a:gsLst>
          <a:lin ang="5400000" scaled="0"/>
        </a:gradFill>
        <a:ln>
          <a:noFill/>
        </a:ln>
        <a:effectLst/>
      </dgm:spPr>
      <dgm:t>
        <a:bodyPr/>
        <a:lstStyle/>
        <a:p>
          <a:endParaRPr lang="zh-CN" altLang="en-US" sz="1400">
            <a:latin typeface="微软雅黑" panose="020B0503020204020204" pitchFamily="34" charset="-122"/>
            <a:ea typeface="微软雅黑" panose="020B0503020204020204" pitchFamily="34" charset="-122"/>
          </a:endParaRPr>
        </a:p>
      </dgm:t>
    </dgm:pt>
    <dgm:pt modelId="{CC8A3985-E182-4D03-B9CA-9861394034DD}" type="pres">
      <dgm:prSet presAssocID="{C5D39E20-239B-4C78-9FC8-8EF4C333197F}" presName="Name0" presStyleCnt="0">
        <dgm:presLayoutVars>
          <dgm:chMax val="1"/>
          <dgm:dir/>
          <dgm:animLvl val="ctr"/>
          <dgm:resizeHandles val="exact"/>
        </dgm:presLayoutVars>
      </dgm:prSet>
      <dgm:spPr/>
    </dgm:pt>
    <dgm:pt modelId="{72FA0567-6603-4729-9447-7FF5F9CBD366}" type="pres">
      <dgm:prSet presAssocID="{99B3BAB8-4457-497E-A7FF-51A6D4DEBE3A}" presName="centerShape" presStyleLbl="node0" presStyleIdx="0" presStyleCnt="1"/>
      <dgm:spPr/>
    </dgm:pt>
    <dgm:pt modelId="{CA34F548-7FE7-45D7-8BDF-DF5AE67BCF91}" type="pres">
      <dgm:prSet presAssocID="{AFF7DBF5-4029-46E2-A6FA-C56A1EC160E8}" presName="node" presStyleLbl="node1" presStyleIdx="0" presStyleCnt="3">
        <dgm:presLayoutVars>
          <dgm:bulletEnabled val="1"/>
        </dgm:presLayoutVars>
      </dgm:prSet>
      <dgm:spPr/>
    </dgm:pt>
    <dgm:pt modelId="{85C43867-FC0E-4952-B915-734EB6C92DE9}" type="pres">
      <dgm:prSet presAssocID="{AFF7DBF5-4029-46E2-A6FA-C56A1EC160E8}" presName="dummy" presStyleCnt="0"/>
      <dgm:spPr/>
    </dgm:pt>
    <dgm:pt modelId="{92490942-9EC6-4450-97A2-90062963F2DE}" type="pres">
      <dgm:prSet presAssocID="{9B608B78-F28A-4EFA-80B3-1B8FA40CD0A5}" presName="sibTrans" presStyleLbl="sibTrans2D1" presStyleIdx="0" presStyleCnt="3"/>
      <dgm:spPr/>
    </dgm:pt>
    <dgm:pt modelId="{C56BDF8F-E1EB-4A5D-A937-E902C9F86E1D}" type="pres">
      <dgm:prSet presAssocID="{B3EDE56E-8120-4875-A45B-BB928DF9F6BC}" presName="node" presStyleLbl="node1" presStyleIdx="1" presStyleCnt="3">
        <dgm:presLayoutVars>
          <dgm:bulletEnabled val="1"/>
        </dgm:presLayoutVars>
      </dgm:prSet>
      <dgm:spPr/>
    </dgm:pt>
    <dgm:pt modelId="{C3A4EC40-33BE-42EF-82A0-371276DBF7E4}" type="pres">
      <dgm:prSet presAssocID="{B3EDE56E-8120-4875-A45B-BB928DF9F6BC}" presName="dummy" presStyleCnt="0"/>
      <dgm:spPr/>
    </dgm:pt>
    <dgm:pt modelId="{9CB8343D-CC90-48A7-931A-288F55E3B93E}" type="pres">
      <dgm:prSet presAssocID="{00B14BAD-E023-4BE3-994E-3C8CAC21B81E}" presName="sibTrans" presStyleLbl="sibTrans2D1" presStyleIdx="1" presStyleCnt="3"/>
      <dgm:spPr/>
    </dgm:pt>
    <dgm:pt modelId="{0C3BB8DE-2FCD-4233-8278-377B7D0D91E0}" type="pres">
      <dgm:prSet presAssocID="{E05124BA-4EC7-4FEA-BD9A-87B4C7EFED9E}" presName="node" presStyleLbl="node1" presStyleIdx="2" presStyleCnt="3">
        <dgm:presLayoutVars>
          <dgm:bulletEnabled val="1"/>
        </dgm:presLayoutVars>
      </dgm:prSet>
      <dgm:spPr/>
    </dgm:pt>
    <dgm:pt modelId="{FFC86BB8-AEF2-4377-8717-4510064AFB7C}" type="pres">
      <dgm:prSet presAssocID="{E05124BA-4EC7-4FEA-BD9A-87B4C7EFED9E}" presName="dummy" presStyleCnt="0"/>
      <dgm:spPr/>
    </dgm:pt>
    <dgm:pt modelId="{6675F9E0-D4CC-4ED1-8F47-6FD40A11B306}" type="pres">
      <dgm:prSet presAssocID="{934E79C5-2979-4E22-AF6D-A1362840EFFC}" presName="sibTrans" presStyleLbl="sibTrans2D1" presStyleIdx="2" presStyleCnt="3"/>
      <dgm:spPr/>
    </dgm:pt>
  </dgm:ptLst>
  <dgm:cxnLst>
    <dgm:cxn modelId="{3BBF3D02-FAB6-400E-B8E0-F6070FFB7B14}" type="presOf" srcId="{99B3BAB8-4457-497E-A7FF-51A6D4DEBE3A}" destId="{72FA0567-6603-4729-9447-7FF5F9CBD366}" srcOrd="0" destOrd="0" presId="urn:microsoft.com/office/officeart/2005/8/layout/radial6"/>
    <dgm:cxn modelId="{2E23620E-551F-4A4E-B084-A7235FF3B46B}" srcId="{99B3BAB8-4457-497E-A7FF-51A6D4DEBE3A}" destId="{AFF7DBF5-4029-46E2-A6FA-C56A1EC160E8}" srcOrd="0" destOrd="0" parTransId="{F30F8B2D-73BA-419A-BDF7-8AC2A945607D}" sibTransId="{9B608B78-F28A-4EFA-80B3-1B8FA40CD0A5}"/>
    <dgm:cxn modelId="{F2AE7240-7544-48B1-ACD1-65E2DB2EFC32}" type="presOf" srcId="{B3EDE56E-8120-4875-A45B-BB928DF9F6BC}" destId="{C56BDF8F-E1EB-4A5D-A937-E902C9F86E1D}" srcOrd="0" destOrd="0" presId="urn:microsoft.com/office/officeart/2005/8/layout/radial6"/>
    <dgm:cxn modelId="{0E94C943-FE19-4B4D-BAB7-0E969061738F}" type="presOf" srcId="{C5D39E20-239B-4C78-9FC8-8EF4C333197F}" destId="{CC8A3985-E182-4D03-B9CA-9861394034DD}" srcOrd="0" destOrd="0" presId="urn:microsoft.com/office/officeart/2005/8/layout/radial6"/>
    <dgm:cxn modelId="{1BEEA848-8BA3-4123-B548-7129E3CDE6EB}" type="presOf" srcId="{9B608B78-F28A-4EFA-80B3-1B8FA40CD0A5}" destId="{92490942-9EC6-4450-97A2-90062963F2DE}" srcOrd="0" destOrd="0" presId="urn:microsoft.com/office/officeart/2005/8/layout/radial6"/>
    <dgm:cxn modelId="{D33E4549-9853-450E-9DE1-839EFB4C9F06}" type="presOf" srcId="{00B14BAD-E023-4BE3-994E-3C8CAC21B81E}" destId="{9CB8343D-CC90-48A7-931A-288F55E3B93E}" srcOrd="0" destOrd="0" presId="urn:microsoft.com/office/officeart/2005/8/layout/radial6"/>
    <dgm:cxn modelId="{A9256092-905C-4CCA-B8DF-7CB17630C84F}" type="presOf" srcId="{934E79C5-2979-4E22-AF6D-A1362840EFFC}" destId="{6675F9E0-D4CC-4ED1-8F47-6FD40A11B306}" srcOrd="0" destOrd="0" presId="urn:microsoft.com/office/officeart/2005/8/layout/radial6"/>
    <dgm:cxn modelId="{8A75C89A-2594-46EF-B729-9093543E7220}" type="presOf" srcId="{E05124BA-4EC7-4FEA-BD9A-87B4C7EFED9E}" destId="{0C3BB8DE-2FCD-4233-8278-377B7D0D91E0}" srcOrd="0" destOrd="0" presId="urn:microsoft.com/office/officeart/2005/8/layout/radial6"/>
    <dgm:cxn modelId="{A47EF8A0-EA57-4D4E-BBF0-FC9B9C9E0C9E}" srcId="{C5D39E20-239B-4C78-9FC8-8EF4C333197F}" destId="{99B3BAB8-4457-497E-A7FF-51A6D4DEBE3A}" srcOrd="0" destOrd="0" parTransId="{6CB722C5-DB66-4102-9958-AE35D585E5F0}" sibTransId="{771B5A4D-991F-4F88-9903-6131C60E7B86}"/>
    <dgm:cxn modelId="{79A9F3B7-EDA0-47B4-BB96-E9B07F5F834D}" srcId="{99B3BAB8-4457-497E-A7FF-51A6D4DEBE3A}" destId="{B3EDE56E-8120-4875-A45B-BB928DF9F6BC}" srcOrd="1" destOrd="0" parTransId="{61CCFEC8-506A-415B-9C8D-A6F88C84DE39}" sibTransId="{00B14BAD-E023-4BE3-994E-3C8CAC21B81E}"/>
    <dgm:cxn modelId="{E711F7C1-4A8D-4CF8-AFDC-B7885ADB5E7A}" srcId="{99B3BAB8-4457-497E-A7FF-51A6D4DEBE3A}" destId="{E05124BA-4EC7-4FEA-BD9A-87B4C7EFED9E}" srcOrd="2" destOrd="0" parTransId="{3E20F4D5-1617-49C8-8FBB-0B52892BA335}" sibTransId="{934E79C5-2979-4E22-AF6D-A1362840EFFC}"/>
    <dgm:cxn modelId="{29E32FFF-AD0F-48F9-B7F3-2698F75C61A4}" type="presOf" srcId="{AFF7DBF5-4029-46E2-A6FA-C56A1EC160E8}" destId="{CA34F548-7FE7-45D7-8BDF-DF5AE67BCF91}" srcOrd="0" destOrd="0" presId="urn:microsoft.com/office/officeart/2005/8/layout/radial6"/>
    <dgm:cxn modelId="{B015288D-96A1-4EAA-9F96-72538159A312}" type="presParOf" srcId="{CC8A3985-E182-4D03-B9CA-9861394034DD}" destId="{72FA0567-6603-4729-9447-7FF5F9CBD366}" srcOrd="0" destOrd="0" presId="urn:microsoft.com/office/officeart/2005/8/layout/radial6"/>
    <dgm:cxn modelId="{26E961C9-93B1-40BB-AB84-A9CDBB2DCE4C}" type="presParOf" srcId="{CC8A3985-E182-4D03-B9CA-9861394034DD}" destId="{CA34F548-7FE7-45D7-8BDF-DF5AE67BCF91}" srcOrd="1" destOrd="0" presId="urn:microsoft.com/office/officeart/2005/8/layout/radial6"/>
    <dgm:cxn modelId="{12AD1F16-53E2-479A-9F14-86EA84F1AD7B}" type="presParOf" srcId="{CC8A3985-E182-4D03-B9CA-9861394034DD}" destId="{85C43867-FC0E-4952-B915-734EB6C92DE9}" srcOrd="2" destOrd="0" presId="urn:microsoft.com/office/officeart/2005/8/layout/radial6"/>
    <dgm:cxn modelId="{0A0E2490-7ACC-4B3F-8A61-B063E28A0149}" type="presParOf" srcId="{CC8A3985-E182-4D03-B9CA-9861394034DD}" destId="{92490942-9EC6-4450-97A2-90062963F2DE}" srcOrd="3" destOrd="0" presId="urn:microsoft.com/office/officeart/2005/8/layout/radial6"/>
    <dgm:cxn modelId="{E646F8E1-2E1C-4EFB-BD5A-1FE91986E743}" type="presParOf" srcId="{CC8A3985-E182-4D03-B9CA-9861394034DD}" destId="{C56BDF8F-E1EB-4A5D-A937-E902C9F86E1D}" srcOrd="4" destOrd="0" presId="urn:microsoft.com/office/officeart/2005/8/layout/radial6"/>
    <dgm:cxn modelId="{350ABDED-F509-4AE8-8779-C7AA224F61F2}" type="presParOf" srcId="{CC8A3985-E182-4D03-B9CA-9861394034DD}" destId="{C3A4EC40-33BE-42EF-82A0-371276DBF7E4}" srcOrd="5" destOrd="0" presId="urn:microsoft.com/office/officeart/2005/8/layout/radial6"/>
    <dgm:cxn modelId="{8C245238-C803-4337-AE98-E69EC55A4F59}" type="presParOf" srcId="{CC8A3985-E182-4D03-B9CA-9861394034DD}" destId="{9CB8343D-CC90-48A7-931A-288F55E3B93E}" srcOrd="6" destOrd="0" presId="urn:microsoft.com/office/officeart/2005/8/layout/radial6"/>
    <dgm:cxn modelId="{AD1D7677-9413-48F5-B866-2ECA78B65E53}" type="presParOf" srcId="{CC8A3985-E182-4D03-B9CA-9861394034DD}" destId="{0C3BB8DE-2FCD-4233-8278-377B7D0D91E0}" srcOrd="7" destOrd="0" presId="urn:microsoft.com/office/officeart/2005/8/layout/radial6"/>
    <dgm:cxn modelId="{8E03897D-2CC5-44B8-8994-8326A652117E}" type="presParOf" srcId="{CC8A3985-E182-4D03-B9CA-9861394034DD}" destId="{FFC86BB8-AEF2-4377-8717-4510064AFB7C}" srcOrd="8" destOrd="0" presId="urn:microsoft.com/office/officeart/2005/8/layout/radial6"/>
    <dgm:cxn modelId="{1436EC4A-B2AA-4129-B049-38801E3399C6}" type="presParOf" srcId="{CC8A3985-E182-4D03-B9CA-9861394034DD}" destId="{6675F9E0-D4CC-4ED1-8F47-6FD40A11B306}" srcOrd="9" destOrd="0" presId="urn:microsoft.com/office/officeart/2005/8/layout/radial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5D39E20-239B-4C78-9FC8-8EF4C333197F}" type="doc">
      <dgm:prSet loTypeId="urn:microsoft.com/office/officeart/2005/8/layout/cycle2" loCatId="cycle" qsTypeId="urn:microsoft.com/office/officeart/2005/8/quickstyle/simple4" qsCatId="simple" csTypeId="urn:microsoft.com/office/officeart/2005/8/colors/accent4_2" csCatId="accent4" phldr="1"/>
      <dgm:spPr/>
      <dgm:t>
        <a:bodyPr/>
        <a:lstStyle/>
        <a:p>
          <a:endParaRPr lang="zh-CN" altLang="en-US"/>
        </a:p>
      </dgm:t>
    </dgm:pt>
    <dgm:pt modelId="{12BC6512-518F-4752-A347-DC18DE231D87}">
      <dgm:prSet phldrT="[文本]"/>
      <dgm:spPr>
        <a:xfrm>
          <a:off x="1235028" y="143"/>
          <a:ext cx="866801" cy="866801"/>
        </a:xfrm>
        <a:prstGeom prst="ellipse">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gm:spPr>
      <dgm:t>
        <a:bodyPr/>
        <a:lstStyle/>
        <a:p>
          <a:pPr>
            <a:buNone/>
          </a:pPr>
          <a:r>
            <a:rPr lang="en-US" altLang="zh-CN" b="1" dirty="0">
              <a:solidFill>
                <a:sysClr val="window" lastClr="FFFFFF"/>
              </a:solidFill>
              <a:latin typeface="微软雅黑" panose="020B0503020204020204" pitchFamily="34" charset="-122"/>
              <a:ea typeface="微软雅黑" panose="020B0503020204020204" pitchFamily="34" charset="-122"/>
              <a:cs typeface="+mn-cs"/>
            </a:rPr>
            <a:t>Technology Innovation</a:t>
          </a:r>
          <a:endParaRPr lang="zh-CN" altLang="en-US" b="1" dirty="0">
            <a:solidFill>
              <a:sysClr val="window" lastClr="FFFFFF"/>
            </a:solidFill>
            <a:latin typeface="微软雅黑" panose="020B0503020204020204" pitchFamily="34" charset="-122"/>
            <a:ea typeface="微软雅黑" panose="020B0503020204020204" pitchFamily="34" charset="-122"/>
            <a:cs typeface="+mn-cs"/>
          </a:endParaRPr>
        </a:p>
      </dgm:t>
    </dgm:pt>
    <dgm:pt modelId="{2A1837FC-D9CF-43FA-B8AF-444F4E14A5A8}" type="sibTrans" cxnId="{869EBC95-CF27-4F97-A1C5-C3B34503B79D}">
      <dgm:prSet/>
      <dgm:spPr>
        <a:xfrm rot="2700000">
          <a:off x="2008860" y="743194"/>
          <a:ext cx="230984" cy="292545"/>
        </a:xfrm>
        <a:prstGeom prst="rightArrow">
          <a:avLst>
            <a:gd name="adj1" fmla="val 60000"/>
            <a:gd name="adj2" fmla="val 50000"/>
          </a:avLst>
        </a:prstGeom>
        <a:gradFill rotWithShape="0">
          <a:gsLst>
            <a:gs pos="0">
              <a:srgbClr val="0F9ED5">
                <a:tint val="60000"/>
                <a:hueOff val="0"/>
                <a:satOff val="0"/>
                <a:lumOff val="0"/>
                <a:alphaOff val="0"/>
                <a:satMod val="103000"/>
                <a:lumMod val="102000"/>
                <a:tint val="94000"/>
              </a:srgbClr>
            </a:gs>
            <a:gs pos="50000">
              <a:srgbClr val="0F9ED5">
                <a:tint val="60000"/>
                <a:hueOff val="0"/>
                <a:satOff val="0"/>
                <a:lumOff val="0"/>
                <a:alphaOff val="0"/>
                <a:satMod val="110000"/>
                <a:lumMod val="100000"/>
                <a:shade val="100000"/>
              </a:srgbClr>
            </a:gs>
            <a:gs pos="100000">
              <a:srgbClr val="0F9ED5">
                <a:tint val="60000"/>
                <a:hueOff val="0"/>
                <a:satOff val="0"/>
                <a:lumOff val="0"/>
                <a:alphaOff val="0"/>
                <a:lumMod val="99000"/>
                <a:satMod val="120000"/>
                <a:shade val="78000"/>
              </a:srgbClr>
            </a:gs>
          </a:gsLst>
          <a:lin ang="5400000" scaled="0"/>
        </a:gradFill>
        <a:ln>
          <a:noFill/>
        </a:ln>
        <a:effectLst/>
      </dgm:spPr>
      <dgm:t>
        <a:bodyPr/>
        <a:lstStyle/>
        <a:p>
          <a:pPr>
            <a:buNone/>
          </a:pPr>
          <a:endParaRPr lang="zh-CN" altLang="en-US" b="1">
            <a:solidFill>
              <a:sysClr val="window" lastClr="FFFFFF"/>
            </a:solidFill>
            <a:latin typeface="微软雅黑" panose="020B0503020204020204" pitchFamily="34" charset="-122"/>
            <a:ea typeface="微软雅黑" panose="020B0503020204020204" pitchFamily="34" charset="-122"/>
            <a:cs typeface="+mn-cs"/>
          </a:endParaRPr>
        </a:p>
      </dgm:t>
    </dgm:pt>
    <dgm:pt modelId="{24A65030-9952-4B37-BF49-0D72C23F290C}" type="parTrans" cxnId="{869EBC95-CF27-4F97-A1C5-C3B34503B79D}">
      <dgm:prSet/>
      <dgm:spPr/>
      <dgm:t>
        <a:bodyPr/>
        <a:lstStyle/>
        <a:p>
          <a:endParaRPr lang="zh-CN" altLang="en-US" b="1">
            <a:latin typeface="微软雅黑" panose="020B0503020204020204" pitchFamily="34" charset="-122"/>
            <a:ea typeface="微软雅黑" panose="020B0503020204020204" pitchFamily="34" charset="-122"/>
          </a:endParaRPr>
        </a:p>
      </dgm:t>
    </dgm:pt>
    <dgm:pt modelId="{9AE2540A-518C-46A0-8206-7C9CE6F0E9E3}">
      <dgm:prSet phldrT="[文本]"/>
      <dgm:spPr>
        <a:xfrm>
          <a:off x="2156121" y="921235"/>
          <a:ext cx="866801" cy="866801"/>
        </a:xfrm>
        <a:prstGeom prst="ellipse">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gm:spPr>
      <dgm:t>
        <a:bodyPr/>
        <a:lstStyle/>
        <a:p>
          <a:pPr>
            <a:buNone/>
          </a:pPr>
          <a:r>
            <a:rPr lang="en-US" altLang="zh-CN" b="1" dirty="0">
              <a:solidFill>
                <a:sysClr val="window" lastClr="FFFFFF"/>
              </a:solidFill>
              <a:latin typeface="微软雅黑" panose="020B0503020204020204" pitchFamily="34" charset="-122"/>
              <a:ea typeface="微软雅黑" panose="020B0503020204020204" pitchFamily="34" charset="-122"/>
              <a:cs typeface="+mn-cs"/>
            </a:rPr>
            <a:t>Industrial Application</a:t>
          </a:r>
          <a:endParaRPr lang="zh-CN" altLang="en-US" b="1" dirty="0">
            <a:solidFill>
              <a:sysClr val="window" lastClr="FFFFFF"/>
            </a:solidFill>
            <a:latin typeface="微软雅黑" panose="020B0503020204020204" pitchFamily="34" charset="-122"/>
            <a:ea typeface="微软雅黑" panose="020B0503020204020204" pitchFamily="34" charset="-122"/>
            <a:cs typeface="+mn-cs"/>
          </a:endParaRPr>
        </a:p>
      </dgm:t>
    </dgm:pt>
    <dgm:pt modelId="{C5C8013D-2221-4BA6-BEF6-95628A902D70}" type="parTrans" cxnId="{257FB183-6717-427E-A1A3-2C157B906C28}">
      <dgm:prSet/>
      <dgm:spPr/>
      <dgm:t>
        <a:bodyPr/>
        <a:lstStyle/>
        <a:p>
          <a:endParaRPr lang="zh-CN" altLang="en-US" b="1">
            <a:latin typeface="微软雅黑" panose="020B0503020204020204" pitchFamily="34" charset="-122"/>
            <a:ea typeface="微软雅黑" panose="020B0503020204020204" pitchFamily="34" charset="-122"/>
          </a:endParaRPr>
        </a:p>
      </dgm:t>
    </dgm:pt>
    <dgm:pt modelId="{B8962D3D-CFA2-4D56-B2C3-ACEDC712598D}" type="sibTrans" cxnId="{257FB183-6717-427E-A1A3-2C157B906C28}">
      <dgm:prSet/>
      <dgm:spPr>
        <a:xfrm rot="8100000">
          <a:off x="2018105" y="1664287"/>
          <a:ext cx="230984" cy="292545"/>
        </a:xfrm>
        <a:prstGeom prst="rightArrow">
          <a:avLst>
            <a:gd name="adj1" fmla="val 60000"/>
            <a:gd name="adj2" fmla="val 50000"/>
          </a:avLst>
        </a:prstGeom>
        <a:gradFill rotWithShape="0">
          <a:gsLst>
            <a:gs pos="0">
              <a:srgbClr val="0F9ED5">
                <a:tint val="60000"/>
                <a:hueOff val="0"/>
                <a:satOff val="0"/>
                <a:lumOff val="0"/>
                <a:alphaOff val="0"/>
                <a:satMod val="103000"/>
                <a:lumMod val="102000"/>
                <a:tint val="94000"/>
              </a:srgbClr>
            </a:gs>
            <a:gs pos="50000">
              <a:srgbClr val="0F9ED5">
                <a:tint val="60000"/>
                <a:hueOff val="0"/>
                <a:satOff val="0"/>
                <a:lumOff val="0"/>
                <a:alphaOff val="0"/>
                <a:satMod val="110000"/>
                <a:lumMod val="100000"/>
                <a:shade val="100000"/>
              </a:srgbClr>
            </a:gs>
            <a:gs pos="100000">
              <a:srgbClr val="0F9ED5">
                <a:tint val="60000"/>
                <a:hueOff val="0"/>
                <a:satOff val="0"/>
                <a:lumOff val="0"/>
                <a:alphaOff val="0"/>
                <a:lumMod val="99000"/>
                <a:satMod val="120000"/>
                <a:shade val="78000"/>
              </a:srgbClr>
            </a:gs>
          </a:gsLst>
          <a:lin ang="5400000" scaled="0"/>
        </a:gradFill>
        <a:ln>
          <a:noFill/>
        </a:ln>
        <a:effectLst/>
      </dgm:spPr>
      <dgm:t>
        <a:bodyPr/>
        <a:lstStyle/>
        <a:p>
          <a:pPr>
            <a:buNone/>
          </a:pPr>
          <a:endParaRPr lang="zh-CN" altLang="en-US" b="1">
            <a:solidFill>
              <a:sysClr val="window" lastClr="FFFFFF"/>
            </a:solidFill>
            <a:latin typeface="微软雅黑" panose="020B0503020204020204" pitchFamily="34" charset="-122"/>
            <a:ea typeface="微软雅黑" panose="020B0503020204020204" pitchFamily="34" charset="-122"/>
            <a:cs typeface="+mn-cs"/>
          </a:endParaRPr>
        </a:p>
      </dgm:t>
    </dgm:pt>
    <dgm:pt modelId="{68515524-8A14-4FE9-9E35-BE9D6BEC8C58}">
      <dgm:prSet phldrT="[文本]"/>
      <dgm:spPr>
        <a:xfrm>
          <a:off x="313935" y="921235"/>
          <a:ext cx="866801" cy="866801"/>
        </a:xfrm>
        <a:prstGeom prst="ellipse">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gm:spPr>
      <dgm:t>
        <a:bodyPr/>
        <a:lstStyle/>
        <a:p>
          <a:pPr>
            <a:buNone/>
          </a:pPr>
          <a:r>
            <a:rPr lang="en-US" b="1" i="0" dirty="0">
              <a:solidFill>
                <a:sysClr val="window" lastClr="FFFFFF"/>
              </a:solidFill>
              <a:latin typeface="微软雅黑" panose="020B0503020204020204" pitchFamily="34" charset="-122"/>
              <a:ea typeface="微软雅黑" panose="020B0503020204020204" pitchFamily="34" charset="-122"/>
              <a:cs typeface="+mn-cs"/>
            </a:rPr>
            <a:t>Academic Publication</a:t>
          </a:r>
        </a:p>
      </dgm:t>
    </dgm:pt>
    <dgm:pt modelId="{82CE65A8-070F-4443-B0E2-82DD6E441736}" type="parTrans" cxnId="{FEE612EC-D0E6-4417-B552-064CF9AAB2EB}">
      <dgm:prSet/>
      <dgm:spPr/>
      <dgm:t>
        <a:bodyPr/>
        <a:lstStyle/>
        <a:p>
          <a:endParaRPr lang="zh-CN" altLang="en-US" b="1">
            <a:latin typeface="微软雅黑" panose="020B0503020204020204" pitchFamily="34" charset="-122"/>
            <a:ea typeface="微软雅黑" panose="020B0503020204020204" pitchFamily="34" charset="-122"/>
          </a:endParaRPr>
        </a:p>
      </dgm:t>
    </dgm:pt>
    <dgm:pt modelId="{E8E94085-F4B9-4049-BFBB-F767A3554F5B}" type="sibTrans" cxnId="{FEE612EC-D0E6-4417-B552-064CF9AAB2EB}">
      <dgm:prSet/>
      <dgm:spPr>
        <a:xfrm rot="18900000">
          <a:off x="1087767" y="752440"/>
          <a:ext cx="230984" cy="292545"/>
        </a:xfrm>
        <a:prstGeom prst="rightArrow">
          <a:avLst>
            <a:gd name="adj1" fmla="val 60000"/>
            <a:gd name="adj2" fmla="val 50000"/>
          </a:avLst>
        </a:prstGeom>
        <a:gradFill rotWithShape="0">
          <a:gsLst>
            <a:gs pos="0">
              <a:srgbClr val="0F9ED5">
                <a:tint val="60000"/>
                <a:hueOff val="0"/>
                <a:satOff val="0"/>
                <a:lumOff val="0"/>
                <a:alphaOff val="0"/>
                <a:satMod val="103000"/>
                <a:lumMod val="102000"/>
                <a:tint val="94000"/>
              </a:srgbClr>
            </a:gs>
            <a:gs pos="50000">
              <a:srgbClr val="0F9ED5">
                <a:tint val="60000"/>
                <a:hueOff val="0"/>
                <a:satOff val="0"/>
                <a:lumOff val="0"/>
                <a:alphaOff val="0"/>
                <a:satMod val="110000"/>
                <a:lumMod val="100000"/>
                <a:shade val="100000"/>
              </a:srgbClr>
            </a:gs>
            <a:gs pos="100000">
              <a:srgbClr val="0F9ED5">
                <a:tint val="60000"/>
                <a:hueOff val="0"/>
                <a:satOff val="0"/>
                <a:lumOff val="0"/>
                <a:alphaOff val="0"/>
                <a:lumMod val="99000"/>
                <a:satMod val="120000"/>
                <a:shade val="78000"/>
              </a:srgbClr>
            </a:gs>
          </a:gsLst>
          <a:lin ang="5400000" scaled="0"/>
        </a:gradFill>
        <a:ln>
          <a:noFill/>
        </a:ln>
        <a:effectLst/>
      </dgm:spPr>
      <dgm:t>
        <a:bodyPr/>
        <a:lstStyle/>
        <a:p>
          <a:pPr>
            <a:buNone/>
          </a:pPr>
          <a:endParaRPr lang="zh-CN" altLang="en-US" b="1">
            <a:solidFill>
              <a:sysClr val="window" lastClr="FFFFFF"/>
            </a:solidFill>
            <a:latin typeface="微软雅黑" panose="020B0503020204020204" pitchFamily="34" charset="-122"/>
            <a:ea typeface="微软雅黑" panose="020B0503020204020204" pitchFamily="34" charset="-122"/>
            <a:cs typeface="+mn-cs"/>
          </a:endParaRPr>
        </a:p>
      </dgm:t>
    </dgm:pt>
    <dgm:pt modelId="{593FB3BE-B9F3-4B27-B19E-3B2E86338286}">
      <dgm:prSet phldrT="[文本]"/>
      <dgm:spPr>
        <a:xfrm>
          <a:off x="1235028" y="1842328"/>
          <a:ext cx="866801" cy="866801"/>
        </a:xfrm>
        <a:prstGeom prst="ellipse">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gm:spPr>
      <dgm:t>
        <a:bodyPr/>
        <a:lstStyle/>
        <a:p>
          <a:pPr>
            <a:buNone/>
          </a:pPr>
          <a:r>
            <a:rPr lang="en-US" b="1" dirty="0">
              <a:solidFill>
                <a:sysClr val="window" lastClr="FFFFFF"/>
              </a:solidFill>
              <a:latin typeface="微软雅黑" panose="020B0503020204020204" pitchFamily="34" charset="-122"/>
              <a:ea typeface="微软雅黑" panose="020B0503020204020204" pitchFamily="34" charset="-122"/>
              <a:cs typeface="+mn-cs"/>
            </a:rPr>
            <a:t>Talent Training</a:t>
          </a:r>
          <a:endParaRPr lang="zh-CN" altLang="en-US" b="1" dirty="0">
            <a:solidFill>
              <a:sysClr val="window" lastClr="FFFFFF"/>
            </a:solidFill>
            <a:latin typeface="微软雅黑" panose="020B0503020204020204" pitchFamily="34" charset="-122"/>
            <a:ea typeface="微软雅黑" panose="020B0503020204020204" pitchFamily="34" charset="-122"/>
            <a:cs typeface="+mn-cs"/>
          </a:endParaRPr>
        </a:p>
      </dgm:t>
    </dgm:pt>
    <dgm:pt modelId="{9764E454-1D33-4ABC-8CD6-0C5FB5209133}" type="parTrans" cxnId="{58EE8DE7-073D-498B-9FBE-9F3B8AD97088}">
      <dgm:prSet/>
      <dgm:spPr/>
      <dgm:t>
        <a:bodyPr/>
        <a:lstStyle/>
        <a:p>
          <a:endParaRPr lang="zh-CN" altLang="en-US" b="1">
            <a:latin typeface="微软雅黑" panose="020B0503020204020204" pitchFamily="34" charset="-122"/>
            <a:ea typeface="微软雅黑" panose="020B0503020204020204" pitchFamily="34" charset="-122"/>
          </a:endParaRPr>
        </a:p>
      </dgm:t>
    </dgm:pt>
    <dgm:pt modelId="{6A6D3E78-8FE3-4020-A4FF-E5B79A3409E4}" type="sibTrans" cxnId="{58EE8DE7-073D-498B-9FBE-9F3B8AD97088}">
      <dgm:prSet/>
      <dgm:spPr>
        <a:xfrm rot="13500000">
          <a:off x="1097012" y="1673532"/>
          <a:ext cx="230984" cy="292545"/>
        </a:xfrm>
        <a:prstGeom prst="rightArrow">
          <a:avLst>
            <a:gd name="adj1" fmla="val 60000"/>
            <a:gd name="adj2" fmla="val 50000"/>
          </a:avLst>
        </a:prstGeom>
        <a:gradFill rotWithShape="0">
          <a:gsLst>
            <a:gs pos="0">
              <a:srgbClr val="0F9ED5">
                <a:tint val="60000"/>
                <a:hueOff val="0"/>
                <a:satOff val="0"/>
                <a:lumOff val="0"/>
                <a:alphaOff val="0"/>
                <a:satMod val="103000"/>
                <a:lumMod val="102000"/>
                <a:tint val="94000"/>
              </a:srgbClr>
            </a:gs>
            <a:gs pos="50000">
              <a:srgbClr val="0F9ED5">
                <a:tint val="60000"/>
                <a:hueOff val="0"/>
                <a:satOff val="0"/>
                <a:lumOff val="0"/>
                <a:alphaOff val="0"/>
                <a:satMod val="110000"/>
                <a:lumMod val="100000"/>
                <a:shade val="100000"/>
              </a:srgbClr>
            </a:gs>
            <a:gs pos="100000">
              <a:srgbClr val="0F9ED5">
                <a:tint val="60000"/>
                <a:hueOff val="0"/>
                <a:satOff val="0"/>
                <a:lumOff val="0"/>
                <a:alphaOff val="0"/>
                <a:lumMod val="99000"/>
                <a:satMod val="120000"/>
                <a:shade val="78000"/>
              </a:srgbClr>
            </a:gs>
          </a:gsLst>
          <a:lin ang="5400000" scaled="0"/>
        </a:gradFill>
        <a:ln>
          <a:noFill/>
        </a:ln>
        <a:effectLst/>
      </dgm:spPr>
      <dgm:t>
        <a:bodyPr/>
        <a:lstStyle/>
        <a:p>
          <a:pPr>
            <a:buNone/>
          </a:pPr>
          <a:endParaRPr lang="zh-CN" altLang="en-US" b="1">
            <a:solidFill>
              <a:sysClr val="window" lastClr="FFFFFF"/>
            </a:solidFill>
            <a:latin typeface="微软雅黑" panose="020B0503020204020204" pitchFamily="34" charset="-122"/>
            <a:ea typeface="微软雅黑" panose="020B0503020204020204" pitchFamily="34" charset="-122"/>
            <a:cs typeface="+mn-cs"/>
          </a:endParaRPr>
        </a:p>
      </dgm:t>
    </dgm:pt>
    <dgm:pt modelId="{6A68960F-2371-4456-8576-37D001206DE6}" type="pres">
      <dgm:prSet presAssocID="{C5D39E20-239B-4C78-9FC8-8EF4C333197F}" presName="cycle" presStyleCnt="0">
        <dgm:presLayoutVars>
          <dgm:dir/>
          <dgm:resizeHandles val="exact"/>
        </dgm:presLayoutVars>
      </dgm:prSet>
      <dgm:spPr/>
    </dgm:pt>
    <dgm:pt modelId="{CB9CB0C3-DC44-4C5D-A155-F78D3AF8CEF9}" type="pres">
      <dgm:prSet presAssocID="{12BC6512-518F-4752-A347-DC18DE231D87}" presName="node" presStyleLbl="node1" presStyleIdx="0" presStyleCnt="4">
        <dgm:presLayoutVars>
          <dgm:bulletEnabled val="1"/>
        </dgm:presLayoutVars>
      </dgm:prSet>
      <dgm:spPr/>
    </dgm:pt>
    <dgm:pt modelId="{B90453CB-625C-43EC-9B9B-7A9EB3EF56AB}" type="pres">
      <dgm:prSet presAssocID="{2A1837FC-D9CF-43FA-B8AF-444F4E14A5A8}" presName="sibTrans" presStyleLbl="sibTrans2D1" presStyleIdx="0" presStyleCnt="4"/>
      <dgm:spPr/>
    </dgm:pt>
    <dgm:pt modelId="{4477D171-C898-4778-9C62-C565659AD576}" type="pres">
      <dgm:prSet presAssocID="{2A1837FC-D9CF-43FA-B8AF-444F4E14A5A8}" presName="connectorText" presStyleLbl="sibTrans2D1" presStyleIdx="0" presStyleCnt="4"/>
      <dgm:spPr/>
    </dgm:pt>
    <dgm:pt modelId="{DE15B17D-080C-4B1A-893C-23D8FC3AC61C}" type="pres">
      <dgm:prSet presAssocID="{9AE2540A-518C-46A0-8206-7C9CE6F0E9E3}" presName="node" presStyleLbl="node1" presStyleIdx="1" presStyleCnt="4">
        <dgm:presLayoutVars>
          <dgm:bulletEnabled val="1"/>
        </dgm:presLayoutVars>
      </dgm:prSet>
      <dgm:spPr/>
    </dgm:pt>
    <dgm:pt modelId="{6724A1D2-0BE1-483C-8D97-92158787EEE7}" type="pres">
      <dgm:prSet presAssocID="{B8962D3D-CFA2-4D56-B2C3-ACEDC712598D}" presName="sibTrans" presStyleLbl="sibTrans2D1" presStyleIdx="1" presStyleCnt="4"/>
      <dgm:spPr/>
    </dgm:pt>
    <dgm:pt modelId="{0531AE81-915C-4E26-882F-D7D6ED1C9CEB}" type="pres">
      <dgm:prSet presAssocID="{B8962D3D-CFA2-4D56-B2C3-ACEDC712598D}" presName="connectorText" presStyleLbl="sibTrans2D1" presStyleIdx="1" presStyleCnt="4"/>
      <dgm:spPr/>
    </dgm:pt>
    <dgm:pt modelId="{7A07F1FF-E52B-4F4E-8829-9F3F55B6DE59}" type="pres">
      <dgm:prSet presAssocID="{593FB3BE-B9F3-4B27-B19E-3B2E86338286}" presName="node" presStyleLbl="node1" presStyleIdx="2" presStyleCnt="4">
        <dgm:presLayoutVars>
          <dgm:bulletEnabled val="1"/>
        </dgm:presLayoutVars>
      </dgm:prSet>
      <dgm:spPr/>
    </dgm:pt>
    <dgm:pt modelId="{E8DD74E3-26BA-4550-AC8C-EC748BA4EB04}" type="pres">
      <dgm:prSet presAssocID="{6A6D3E78-8FE3-4020-A4FF-E5B79A3409E4}" presName="sibTrans" presStyleLbl="sibTrans2D1" presStyleIdx="2" presStyleCnt="4"/>
      <dgm:spPr/>
    </dgm:pt>
    <dgm:pt modelId="{C0050FCB-759E-40F5-A7E1-058542C61562}" type="pres">
      <dgm:prSet presAssocID="{6A6D3E78-8FE3-4020-A4FF-E5B79A3409E4}" presName="connectorText" presStyleLbl="sibTrans2D1" presStyleIdx="2" presStyleCnt="4"/>
      <dgm:spPr/>
    </dgm:pt>
    <dgm:pt modelId="{FC081BFA-EAC0-48B3-B8DB-1C8DFC52A896}" type="pres">
      <dgm:prSet presAssocID="{68515524-8A14-4FE9-9E35-BE9D6BEC8C58}" presName="node" presStyleLbl="node1" presStyleIdx="3" presStyleCnt="4">
        <dgm:presLayoutVars>
          <dgm:bulletEnabled val="1"/>
        </dgm:presLayoutVars>
      </dgm:prSet>
      <dgm:spPr/>
    </dgm:pt>
    <dgm:pt modelId="{A0E38953-D8A7-4F1C-84E5-D585D4D89DCA}" type="pres">
      <dgm:prSet presAssocID="{E8E94085-F4B9-4049-BFBB-F767A3554F5B}" presName="sibTrans" presStyleLbl="sibTrans2D1" presStyleIdx="3" presStyleCnt="4"/>
      <dgm:spPr/>
    </dgm:pt>
    <dgm:pt modelId="{73217789-B6F8-47D5-855C-6ACD28CFD8FC}" type="pres">
      <dgm:prSet presAssocID="{E8E94085-F4B9-4049-BFBB-F767A3554F5B}" presName="connectorText" presStyleLbl="sibTrans2D1" presStyleIdx="3" presStyleCnt="4"/>
      <dgm:spPr/>
    </dgm:pt>
  </dgm:ptLst>
  <dgm:cxnLst>
    <dgm:cxn modelId="{243E120A-5A73-4435-B307-4B162F335FDD}" type="presOf" srcId="{12BC6512-518F-4752-A347-DC18DE231D87}" destId="{CB9CB0C3-DC44-4C5D-A155-F78D3AF8CEF9}" srcOrd="0" destOrd="0" presId="urn:microsoft.com/office/officeart/2005/8/layout/cycle2"/>
    <dgm:cxn modelId="{A4E9A321-36B6-493D-8660-83F2BB9A153C}" type="presOf" srcId="{C5D39E20-239B-4C78-9FC8-8EF4C333197F}" destId="{6A68960F-2371-4456-8576-37D001206DE6}" srcOrd="0" destOrd="0" presId="urn:microsoft.com/office/officeart/2005/8/layout/cycle2"/>
    <dgm:cxn modelId="{055F202B-256E-4B82-B4E4-472CA3665698}" type="presOf" srcId="{B8962D3D-CFA2-4D56-B2C3-ACEDC712598D}" destId="{6724A1D2-0BE1-483C-8D97-92158787EEE7}" srcOrd="0" destOrd="0" presId="urn:microsoft.com/office/officeart/2005/8/layout/cycle2"/>
    <dgm:cxn modelId="{BE932D40-6EF4-49B7-92AA-A33B5831F0C4}" type="presOf" srcId="{9AE2540A-518C-46A0-8206-7C9CE6F0E9E3}" destId="{DE15B17D-080C-4B1A-893C-23D8FC3AC61C}" srcOrd="0" destOrd="0" presId="urn:microsoft.com/office/officeart/2005/8/layout/cycle2"/>
    <dgm:cxn modelId="{ED6A5563-CD56-42C2-86A9-F93907187438}" type="presOf" srcId="{E8E94085-F4B9-4049-BFBB-F767A3554F5B}" destId="{73217789-B6F8-47D5-855C-6ACD28CFD8FC}" srcOrd="1" destOrd="0" presId="urn:microsoft.com/office/officeart/2005/8/layout/cycle2"/>
    <dgm:cxn modelId="{A311BF48-3769-4FD0-BDA9-42A0394A34B3}" type="presOf" srcId="{6A6D3E78-8FE3-4020-A4FF-E5B79A3409E4}" destId="{C0050FCB-759E-40F5-A7E1-058542C61562}" srcOrd="1" destOrd="0" presId="urn:microsoft.com/office/officeart/2005/8/layout/cycle2"/>
    <dgm:cxn modelId="{CC37E969-60F2-4574-ABDA-45E141C33398}" type="presOf" srcId="{B8962D3D-CFA2-4D56-B2C3-ACEDC712598D}" destId="{0531AE81-915C-4E26-882F-D7D6ED1C9CEB}" srcOrd="1" destOrd="0" presId="urn:microsoft.com/office/officeart/2005/8/layout/cycle2"/>
    <dgm:cxn modelId="{A2EFD14D-5F6F-499F-B396-4B5812387364}" type="presOf" srcId="{593FB3BE-B9F3-4B27-B19E-3B2E86338286}" destId="{7A07F1FF-E52B-4F4E-8829-9F3F55B6DE59}" srcOrd="0" destOrd="0" presId="urn:microsoft.com/office/officeart/2005/8/layout/cycle2"/>
    <dgm:cxn modelId="{40CABE4F-DE05-4375-8275-8378BC8D0886}" type="presOf" srcId="{E8E94085-F4B9-4049-BFBB-F767A3554F5B}" destId="{A0E38953-D8A7-4F1C-84E5-D585D4D89DCA}" srcOrd="0" destOrd="0" presId="urn:microsoft.com/office/officeart/2005/8/layout/cycle2"/>
    <dgm:cxn modelId="{A221ED51-44F6-48B1-9DEA-7B96880EB0F3}" type="presOf" srcId="{68515524-8A14-4FE9-9E35-BE9D6BEC8C58}" destId="{FC081BFA-EAC0-48B3-B8DB-1C8DFC52A896}" srcOrd="0" destOrd="0" presId="urn:microsoft.com/office/officeart/2005/8/layout/cycle2"/>
    <dgm:cxn modelId="{257FB183-6717-427E-A1A3-2C157B906C28}" srcId="{C5D39E20-239B-4C78-9FC8-8EF4C333197F}" destId="{9AE2540A-518C-46A0-8206-7C9CE6F0E9E3}" srcOrd="1" destOrd="0" parTransId="{C5C8013D-2221-4BA6-BEF6-95628A902D70}" sibTransId="{B8962D3D-CFA2-4D56-B2C3-ACEDC712598D}"/>
    <dgm:cxn modelId="{869EBC95-CF27-4F97-A1C5-C3B34503B79D}" srcId="{C5D39E20-239B-4C78-9FC8-8EF4C333197F}" destId="{12BC6512-518F-4752-A347-DC18DE231D87}" srcOrd="0" destOrd="0" parTransId="{24A65030-9952-4B37-BF49-0D72C23F290C}" sibTransId="{2A1837FC-D9CF-43FA-B8AF-444F4E14A5A8}"/>
    <dgm:cxn modelId="{C4D7E1BE-5431-4C2F-A285-06E7A5116D96}" type="presOf" srcId="{6A6D3E78-8FE3-4020-A4FF-E5B79A3409E4}" destId="{E8DD74E3-26BA-4550-AC8C-EC748BA4EB04}" srcOrd="0" destOrd="0" presId="urn:microsoft.com/office/officeart/2005/8/layout/cycle2"/>
    <dgm:cxn modelId="{71032AC5-E826-4F99-A70B-E522D553262B}" type="presOf" srcId="{2A1837FC-D9CF-43FA-B8AF-444F4E14A5A8}" destId="{4477D171-C898-4778-9C62-C565659AD576}" srcOrd="1" destOrd="0" presId="urn:microsoft.com/office/officeart/2005/8/layout/cycle2"/>
    <dgm:cxn modelId="{43DE6ECD-6315-4184-A4CE-CC8848FE36AF}" type="presOf" srcId="{2A1837FC-D9CF-43FA-B8AF-444F4E14A5A8}" destId="{B90453CB-625C-43EC-9B9B-7A9EB3EF56AB}" srcOrd="0" destOrd="0" presId="urn:microsoft.com/office/officeart/2005/8/layout/cycle2"/>
    <dgm:cxn modelId="{58EE8DE7-073D-498B-9FBE-9F3B8AD97088}" srcId="{C5D39E20-239B-4C78-9FC8-8EF4C333197F}" destId="{593FB3BE-B9F3-4B27-B19E-3B2E86338286}" srcOrd="2" destOrd="0" parTransId="{9764E454-1D33-4ABC-8CD6-0C5FB5209133}" sibTransId="{6A6D3E78-8FE3-4020-A4FF-E5B79A3409E4}"/>
    <dgm:cxn modelId="{FEE612EC-D0E6-4417-B552-064CF9AAB2EB}" srcId="{C5D39E20-239B-4C78-9FC8-8EF4C333197F}" destId="{68515524-8A14-4FE9-9E35-BE9D6BEC8C58}" srcOrd="3" destOrd="0" parTransId="{82CE65A8-070F-4443-B0E2-82DD6E441736}" sibTransId="{E8E94085-F4B9-4049-BFBB-F767A3554F5B}"/>
    <dgm:cxn modelId="{00CC74A4-4598-4036-AAA5-4FB938A05F36}" type="presParOf" srcId="{6A68960F-2371-4456-8576-37D001206DE6}" destId="{CB9CB0C3-DC44-4C5D-A155-F78D3AF8CEF9}" srcOrd="0" destOrd="0" presId="urn:microsoft.com/office/officeart/2005/8/layout/cycle2"/>
    <dgm:cxn modelId="{40881471-D759-4FE8-A02D-B911BD51DA22}" type="presParOf" srcId="{6A68960F-2371-4456-8576-37D001206DE6}" destId="{B90453CB-625C-43EC-9B9B-7A9EB3EF56AB}" srcOrd="1" destOrd="0" presId="urn:microsoft.com/office/officeart/2005/8/layout/cycle2"/>
    <dgm:cxn modelId="{92D52A67-BDE1-4F93-A6F8-F049ADE1A4A4}" type="presParOf" srcId="{B90453CB-625C-43EC-9B9B-7A9EB3EF56AB}" destId="{4477D171-C898-4778-9C62-C565659AD576}" srcOrd="0" destOrd="0" presId="urn:microsoft.com/office/officeart/2005/8/layout/cycle2"/>
    <dgm:cxn modelId="{A04D87D1-C2C5-4F50-B179-915F07B6BF0C}" type="presParOf" srcId="{6A68960F-2371-4456-8576-37D001206DE6}" destId="{DE15B17D-080C-4B1A-893C-23D8FC3AC61C}" srcOrd="2" destOrd="0" presId="urn:microsoft.com/office/officeart/2005/8/layout/cycle2"/>
    <dgm:cxn modelId="{E105331B-3F16-44C6-86A0-02DC76EA4749}" type="presParOf" srcId="{6A68960F-2371-4456-8576-37D001206DE6}" destId="{6724A1D2-0BE1-483C-8D97-92158787EEE7}" srcOrd="3" destOrd="0" presId="urn:microsoft.com/office/officeart/2005/8/layout/cycle2"/>
    <dgm:cxn modelId="{AC41B205-A3DF-402B-BC5E-B77165209283}" type="presParOf" srcId="{6724A1D2-0BE1-483C-8D97-92158787EEE7}" destId="{0531AE81-915C-4E26-882F-D7D6ED1C9CEB}" srcOrd="0" destOrd="0" presId="urn:microsoft.com/office/officeart/2005/8/layout/cycle2"/>
    <dgm:cxn modelId="{A5DEC64E-D419-484A-94D3-5CD191703C0B}" type="presParOf" srcId="{6A68960F-2371-4456-8576-37D001206DE6}" destId="{7A07F1FF-E52B-4F4E-8829-9F3F55B6DE59}" srcOrd="4" destOrd="0" presId="urn:microsoft.com/office/officeart/2005/8/layout/cycle2"/>
    <dgm:cxn modelId="{7F0F988E-81AF-4BDC-9B5B-FC9887901F2D}" type="presParOf" srcId="{6A68960F-2371-4456-8576-37D001206DE6}" destId="{E8DD74E3-26BA-4550-AC8C-EC748BA4EB04}" srcOrd="5" destOrd="0" presId="urn:microsoft.com/office/officeart/2005/8/layout/cycle2"/>
    <dgm:cxn modelId="{D6DEDE4B-6934-42C1-804D-E28A559A93B8}" type="presParOf" srcId="{E8DD74E3-26BA-4550-AC8C-EC748BA4EB04}" destId="{C0050FCB-759E-40F5-A7E1-058542C61562}" srcOrd="0" destOrd="0" presId="urn:microsoft.com/office/officeart/2005/8/layout/cycle2"/>
    <dgm:cxn modelId="{F134506A-67C6-42B1-A71E-BCE23280DFD8}" type="presParOf" srcId="{6A68960F-2371-4456-8576-37D001206DE6}" destId="{FC081BFA-EAC0-48B3-B8DB-1C8DFC52A896}" srcOrd="6" destOrd="0" presId="urn:microsoft.com/office/officeart/2005/8/layout/cycle2"/>
    <dgm:cxn modelId="{62A79035-28A2-404C-9D65-A07FF2BC5CEC}" type="presParOf" srcId="{6A68960F-2371-4456-8576-37D001206DE6}" destId="{A0E38953-D8A7-4F1C-84E5-D585D4D89DCA}" srcOrd="7" destOrd="0" presId="urn:microsoft.com/office/officeart/2005/8/layout/cycle2"/>
    <dgm:cxn modelId="{CC946CB3-E4A2-466D-ABCD-CD1B67AECA98}" type="presParOf" srcId="{A0E38953-D8A7-4F1C-84E5-D585D4D89DCA}" destId="{73217789-B6F8-47D5-855C-6ACD28CFD8FC}" srcOrd="0" destOrd="0" presId="urn:microsoft.com/office/officeart/2005/8/layout/cycle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862C588-418A-4480-8BAA-1A4496A57176}" type="doc">
      <dgm:prSet loTypeId="urn:microsoft.com/office/officeart/2005/8/layout/matrix3" loCatId="matrix" qsTypeId="urn:microsoft.com/office/officeart/2005/8/quickstyle/simple4" qsCatId="simple" csTypeId="urn:microsoft.com/office/officeart/2005/8/colors/accent4_2" csCatId="accent4" phldr="1"/>
      <dgm:spPr/>
      <dgm:t>
        <a:bodyPr/>
        <a:lstStyle/>
        <a:p>
          <a:endParaRPr lang="zh-CN" altLang="en-US"/>
        </a:p>
      </dgm:t>
    </dgm:pt>
    <dgm:pt modelId="{D171EA9A-344D-466F-8854-E04186053269}">
      <dgm:prSet phldrT="[文本]" custT="1"/>
      <dgm:spPr>
        <a:xfrm>
          <a:off x="428049" y="241010"/>
          <a:ext cx="989411" cy="989411"/>
        </a:xfrm>
        <a:prstGeom prst="roundRect">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gm:spPr>
      <dgm:t>
        <a:bodyPr/>
        <a:lstStyle/>
        <a:p>
          <a:pPr>
            <a:buNone/>
          </a:pPr>
          <a:r>
            <a:rPr lang="en-US" altLang="zh-CN" sz="800" b="1" dirty="0">
              <a:solidFill>
                <a:sysClr val="window" lastClr="FFFFFF"/>
              </a:solidFill>
              <a:latin typeface="FZLanTingHeiS-R-GB" panose="02010600030101010101" charset="-122"/>
              <a:ea typeface="FZLanTingHeiS-R-GB" panose="02010600030101010101" charset="-122"/>
              <a:cs typeface="+mn-cs"/>
            </a:rPr>
            <a:t>Exchange Platform</a:t>
          </a:r>
          <a:endParaRPr lang="zh-CN" altLang="en-US" sz="800" b="1" dirty="0">
            <a:solidFill>
              <a:sysClr val="window" lastClr="FFFFFF"/>
            </a:solidFill>
            <a:latin typeface="Aptos" panose="02110004020202020204"/>
            <a:ea typeface="等线" panose="02010600030101010101" pitchFamily="2" charset="-122"/>
            <a:cs typeface="+mn-cs"/>
          </a:endParaRPr>
        </a:p>
      </dgm:t>
    </dgm:pt>
    <dgm:pt modelId="{66D8B6C3-F4EB-4E59-B769-3DFCDAA42896}" type="parTrans" cxnId="{92AD2528-F67D-478B-9683-43210EE95DFB}">
      <dgm:prSet/>
      <dgm:spPr/>
      <dgm:t>
        <a:bodyPr/>
        <a:lstStyle/>
        <a:p>
          <a:endParaRPr lang="zh-CN" altLang="en-US" sz="1050" b="1"/>
        </a:p>
      </dgm:t>
    </dgm:pt>
    <dgm:pt modelId="{D31FC57C-B31A-4D1D-9600-2658A7E96444}" type="sibTrans" cxnId="{92AD2528-F67D-478B-9683-43210EE95DFB}">
      <dgm:prSet/>
      <dgm:spPr/>
      <dgm:t>
        <a:bodyPr/>
        <a:lstStyle/>
        <a:p>
          <a:endParaRPr lang="zh-CN" altLang="en-US" sz="1050" b="1"/>
        </a:p>
      </dgm:t>
    </dgm:pt>
    <dgm:pt modelId="{03025C82-477D-45F8-9FD4-D5B7ECECCAB2}">
      <dgm:prSet phldrT="[文本]" custT="1"/>
      <dgm:spPr>
        <a:xfrm>
          <a:off x="1493569" y="241010"/>
          <a:ext cx="989411" cy="989411"/>
        </a:xfrm>
        <a:prstGeom prst="roundRect">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gm:spPr>
      <dgm:t>
        <a:bodyPr/>
        <a:lstStyle/>
        <a:p>
          <a:pPr>
            <a:buNone/>
          </a:pPr>
          <a:r>
            <a:rPr lang="en-US" altLang="zh-CN" sz="700" b="1" dirty="0">
              <a:solidFill>
                <a:sysClr val="window" lastClr="FFFFFF"/>
              </a:solidFill>
              <a:latin typeface="FZLanTingHeiS-R-GB" panose="02010600030101010101" charset="-122"/>
              <a:ea typeface="FZLanTingHeiS-R-GB" panose="02010600030101010101" charset="-122"/>
              <a:cs typeface="+mn-cs"/>
            </a:rPr>
            <a:t>Cooperation Platform</a:t>
          </a:r>
          <a:endParaRPr lang="zh-CN" altLang="en-US" sz="700" b="1" dirty="0">
            <a:solidFill>
              <a:sysClr val="window" lastClr="FFFFFF"/>
            </a:solidFill>
            <a:latin typeface="FZLanTingHeiS-R-GB" panose="02010600030101010101" charset="-122"/>
            <a:ea typeface="FZLanTingHeiS-R-GB" panose="02010600030101010101" charset="-122"/>
            <a:cs typeface="+mn-cs"/>
          </a:endParaRPr>
        </a:p>
      </dgm:t>
    </dgm:pt>
    <dgm:pt modelId="{241F724C-2756-48F7-8BD0-3FC8D3381109}" type="parTrans" cxnId="{5FFC5741-414D-48E0-B75E-F676B0839A67}">
      <dgm:prSet/>
      <dgm:spPr/>
      <dgm:t>
        <a:bodyPr/>
        <a:lstStyle/>
        <a:p>
          <a:endParaRPr lang="zh-CN" altLang="en-US" sz="1050" b="1"/>
        </a:p>
      </dgm:t>
    </dgm:pt>
    <dgm:pt modelId="{8A74C5E5-182D-4519-B510-ECCEFC693B03}" type="sibTrans" cxnId="{5FFC5741-414D-48E0-B75E-F676B0839A67}">
      <dgm:prSet/>
      <dgm:spPr/>
      <dgm:t>
        <a:bodyPr/>
        <a:lstStyle/>
        <a:p>
          <a:endParaRPr lang="zh-CN" altLang="en-US" sz="1050" b="1"/>
        </a:p>
      </dgm:t>
    </dgm:pt>
    <dgm:pt modelId="{D62DCBC0-B649-4B9C-A32B-EAF9C414DD8E}">
      <dgm:prSet phldrT="[文本]" custT="1"/>
      <dgm:spPr>
        <a:xfrm>
          <a:off x="428049" y="1306530"/>
          <a:ext cx="989411" cy="989411"/>
        </a:xfrm>
        <a:prstGeom prst="roundRect">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gm:spPr>
      <dgm:t>
        <a:bodyPr/>
        <a:lstStyle/>
        <a:p>
          <a:pPr>
            <a:buNone/>
          </a:pPr>
          <a:r>
            <a:rPr lang="en-US" altLang="zh-CN" sz="800" b="1" dirty="0">
              <a:solidFill>
                <a:sysClr val="window" lastClr="FFFFFF"/>
              </a:solidFill>
              <a:latin typeface="FZLanTingHeiS-R-GB" panose="02010600030101010101" charset="-122"/>
              <a:ea typeface="FZLanTingHeiS-R-GB" panose="02010600030101010101" charset="-122"/>
              <a:cs typeface="+mn-cs"/>
            </a:rPr>
            <a:t>Innovation Platform</a:t>
          </a:r>
          <a:endParaRPr lang="zh-CN" altLang="en-US" sz="800" b="1" dirty="0">
            <a:solidFill>
              <a:sysClr val="window" lastClr="FFFFFF"/>
            </a:solidFill>
            <a:latin typeface="FZLanTingHeiS-R-GB" panose="02010600030101010101" charset="-122"/>
            <a:ea typeface="FZLanTingHeiS-R-GB" panose="02010600030101010101" charset="-122"/>
            <a:cs typeface="+mn-cs"/>
          </a:endParaRPr>
        </a:p>
      </dgm:t>
    </dgm:pt>
    <dgm:pt modelId="{38953C70-3D18-4BE1-9746-CD42E34ABA28}" type="parTrans" cxnId="{B38D075B-D796-44D8-BA23-8FAF34344CD1}">
      <dgm:prSet/>
      <dgm:spPr/>
      <dgm:t>
        <a:bodyPr/>
        <a:lstStyle/>
        <a:p>
          <a:endParaRPr lang="zh-CN" altLang="en-US" sz="1050" b="1"/>
        </a:p>
      </dgm:t>
    </dgm:pt>
    <dgm:pt modelId="{F9E29025-66D4-4028-906D-548CAF7A79D0}" type="sibTrans" cxnId="{B38D075B-D796-44D8-BA23-8FAF34344CD1}">
      <dgm:prSet/>
      <dgm:spPr/>
      <dgm:t>
        <a:bodyPr/>
        <a:lstStyle/>
        <a:p>
          <a:endParaRPr lang="zh-CN" altLang="en-US" sz="1050" b="1"/>
        </a:p>
      </dgm:t>
    </dgm:pt>
    <dgm:pt modelId="{D5DC2AB4-A16A-4B32-A987-69B440B5DA32}">
      <dgm:prSet phldrT="[文本]" custT="1"/>
      <dgm:spPr>
        <a:xfrm>
          <a:off x="1493569" y="1306530"/>
          <a:ext cx="989411" cy="989411"/>
        </a:xfrm>
        <a:prstGeom prst="roundRect">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gm:spPr>
      <dgm:t>
        <a:bodyPr/>
        <a:lstStyle/>
        <a:p>
          <a:pPr>
            <a:buNone/>
          </a:pPr>
          <a:r>
            <a:rPr lang="en-US" altLang="zh-CN" sz="800" b="1" kern="1200" dirty="0">
              <a:solidFill>
                <a:prstClr val="white"/>
              </a:solidFill>
              <a:latin typeface="FZLanTingHeiS-R-GB" panose="02010600030101010101" charset="-122"/>
              <a:ea typeface="FZLanTingHeiS-R-GB" panose="02010600030101010101" charset="-122"/>
              <a:cs typeface="+mn-cs"/>
            </a:rPr>
            <a:t>Open</a:t>
          </a:r>
          <a:br>
            <a:rPr lang="en-US" altLang="zh-CN" sz="800" b="1" kern="1200" dirty="0">
              <a:solidFill>
                <a:prstClr val="white"/>
              </a:solidFill>
              <a:latin typeface="FZLanTingHeiS-R-GB" panose="02010600030101010101" charset="-122"/>
              <a:ea typeface="FZLanTingHeiS-R-GB" panose="02010600030101010101" charset="-122"/>
              <a:cs typeface="+mn-cs"/>
            </a:rPr>
          </a:br>
          <a:r>
            <a:rPr lang="en-US" altLang="zh-CN" sz="800" b="1" kern="1200" dirty="0">
              <a:solidFill>
                <a:prstClr val="white"/>
              </a:solidFill>
              <a:latin typeface="FZLanTingHeiS-R-GB" panose="02010600030101010101" charset="-122"/>
              <a:ea typeface="FZLanTingHeiS-R-GB" panose="02010600030101010101" charset="-122"/>
              <a:cs typeface="+mn-cs"/>
            </a:rPr>
            <a:t>E</a:t>
          </a:r>
          <a:r>
            <a:rPr lang="en-US" sz="800" b="1" kern="1200" dirty="0">
              <a:solidFill>
                <a:prstClr val="white"/>
              </a:solidFill>
              <a:latin typeface="FZLanTingHeiS-R-GB" panose="02010600030101010101" charset="-122"/>
              <a:ea typeface="FZLanTingHeiS-R-GB" panose="02010600030101010101" charset="-122"/>
              <a:cs typeface="+mn-cs"/>
            </a:rPr>
            <a:t>cology</a:t>
          </a:r>
          <a:endParaRPr lang="zh-CN" altLang="en-US" sz="800" b="1" kern="1200" dirty="0">
            <a:solidFill>
              <a:prstClr val="white"/>
            </a:solidFill>
            <a:latin typeface="FZLanTingHeiS-R-GB" panose="02010600030101010101" charset="-122"/>
            <a:ea typeface="FZLanTingHeiS-R-GB" panose="02010600030101010101" charset="-122"/>
            <a:cs typeface="+mn-cs"/>
          </a:endParaRPr>
        </a:p>
      </dgm:t>
    </dgm:pt>
    <dgm:pt modelId="{A62165F1-B659-482F-A8E9-F6D5308E6B11}" type="sibTrans" cxnId="{55E50DF5-0A0A-4DBB-A5C7-5025C6E4B321}">
      <dgm:prSet/>
      <dgm:spPr/>
      <dgm:t>
        <a:bodyPr/>
        <a:lstStyle/>
        <a:p>
          <a:endParaRPr lang="zh-CN" altLang="en-US" sz="1050" b="1"/>
        </a:p>
      </dgm:t>
    </dgm:pt>
    <dgm:pt modelId="{97A2AB13-A225-48B4-B419-33E52222BE05}" type="parTrans" cxnId="{55E50DF5-0A0A-4DBB-A5C7-5025C6E4B321}">
      <dgm:prSet/>
      <dgm:spPr/>
      <dgm:t>
        <a:bodyPr/>
        <a:lstStyle/>
        <a:p>
          <a:endParaRPr lang="zh-CN" altLang="en-US" sz="1050" b="1"/>
        </a:p>
      </dgm:t>
    </dgm:pt>
    <dgm:pt modelId="{52B96EA2-C6CC-4F40-B39E-A5FBFADE2CB4}" type="pres">
      <dgm:prSet presAssocID="{7862C588-418A-4480-8BAA-1A4496A57176}" presName="matrix" presStyleCnt="0">
        <dgm:presLayoutVars>
          <dgm:chMax val="1"/>
          <dgm:dir/>
          <dgm:resizeHandles val="exact"/>
        </dgm:presLayoutVars>
      </dgm:prSet>
      <dgm:spPr/>
    </dgm:pt>
    <dgm:pt modelId="{EAC07DE4-549A-4DB3-98F3-18B82B0155A2}" type="pres">
      <dgm:prSet presAssocID="{7862C588-418A-4480-8BAA-1A4496A57176}" presName="diamond" presStyleLbl="bgShp" presStyleIdx="0" presStyleCnt="1"/>
      <dgm:spPr>
        <a:xfrm>
          <a:off x="187038" y="0"/>
          <a:ext cx="2536953" cy="2536953"/>
        </a:xfrm>
        <a:prstGeom prst="diamond">
          <a:avLst/>
        </a:prstGeom>
        <a:solidFill>
          <a:srgbClr val="0F9ED5">
            <a:tint val="40000"/>
            <a:hueOff val="0"/>
            <a:satOff val="0"/>
            <a:lumOff val="0"/>
            <a:alphaOff val="0"/>
          </a:srgbClr>
        </a:solidFill>
        <a:ln>
          <a:noFill/>
        </a:ln>
        <a:effectLst/>
      </dgm:spPr>
    </dgm:pt>
    <dgm:pt modelId="{697FC731-FD67-4F61-81DB-779DA7782E65}" type="pres">
      <dgm:prSet presAssocID="{7862C588-418A-4480-8BAA-1A4496A57176}" presName="quad1" presStyleLbl="node1" presStyleIdx="0" presStyleCnt="4">
        <dgm:presLayoutVars>
          <dgm:chMax val="0"/>
          <dgm:chPref val="0"/>
          <dgm:bulletEnabled val="1"/>
        </dgm:presLayoutVars>
      </dgm:prSet>
      <dgm:spPr/>
    </dgm:pt>
    <dgm:pt modelId="{63F3ACB0-82F5-4AA4-AA7E-E881A938245D}" type="pres">
      <dgm:prSet presAssocID="{7862C588-418A-4480-8BAA-1A4496A57176}" presName="quad2" presStyleLbl="node1" presStyleIdx="1" presStyleCnt="4">
        <dgm:presLayoutVars>
          <dgm:chMax val="0"/>
          <dgm:chPref val="0"/>
          <dgm:bulletEnabled val="1"/>
        </dgm:presLayoutVars>
      </dgm:prSet>
      <dgm:spPr/>
    </dgm:pt>
    <dgm:pt modelId="{7775389B-8FFA-461C-B6FE-E8E1349BA4BA}" type="pres">
      <dgm:prSet presAssocID="{7862C588-418A-4480-8BAA-1A4496A57176}" presName="quad3" presStyleLbl="node1" presStyleIdx="2" presStyleCnt="4">
        <dgm:presLayoutVars>
          <dgm:chMax val="0"/>
          <dgm:chPref val="0"/>
          <dgm:bulletEnabled val="1"/>
        </dgm:presLayoutVars>
      </dgm:prSet>
      <dgm:spPr/>
    </dgm:pt>
    <dgm:pt modelId="{D4524674-4CA8-4207-8C2D-AAD18B45B44A}" type="pres">
      <dgm:prSet presAssocID="{7862C588-418A-4480-8BAA-1A4496A57176}" presName="quad4" presStyleLbl="node1" presStyleIdx="3" presStyleCnt="4">
        <dgm:presLayoutVars>
          <dgm:chMax val="0"/>
          <dgm:chPref val="0"/>
          <dgm:bulletEnabled val="1"/>
        </dgm:presLayoutVars>
      </dgm:prSet>
      <dgm:spPr/>
    </dgm:pt>
  </dgm:ptLst>
  <dgm:cxnLst>
    <dgm:cxn modelId="{70E21C0E-10D1-4293-A8D8-3DABFFD543A9}" type="presOf" srcId="{D5DC2AB4-A16A-4B32-A987-69B440B5DA32}" destId="{D4524674-4CA8-4207-8C2D-AAD18B45B44A}" srcOrd="0" destOrd="0" presId="urn:microsoft.com/office/officeart/2005/8/layout/matrix3"/>
    <dgm:cxn modelId="{FA034D1C-CE91-4AC4-9F2D-8833ACFDCE90}" type="presOf" srcId="{D62DCBC0-B649-4B9C-A32B-EAF9C414DD8E}" destId="{7775389B-8FFA-461C-B6FE-E8E1349BA4BA}" srcOrd="0" destOrd="0" presId="urn:microsoft.com/office/officeart/2005/8/layout/matrix3"/>
    <dgm:cxn modelId="{1EA11120-CF40-4133-B2D4-FCFAF1373EC3}" type="presOf" srcId="{7862C588-418A-4480-8BAA-1A4496A57176}" destId="{52B96EA2-C6CC-4F40-B39E-A5FBFADE2CB4}" srcOrd="0" destOrd="0" presId="urn:microsoft.com/office/officeart/2005/8/layout/matrix3"/>
    <dgm:cxn modelId="{92AD2528-F67D-478B-9683-43210EE95DFB}" srcId="{7862C588-418A-4480-8BAA-1A4496A57176}" destId="{D171EA9A-344D-466F-8854-E04186053269}" srcOrd="0" destOrd="0" parTransId="{66D8B6C3-F4EB-4E59-B769-3DFCDAA42896}" sibTransId="{D31FC57C-B31A-4D1D-9600-2658A7E96444}"/>
    <dgm:cxn modelId="{43D6583E-8D71-4F21-8964-7DF0BC45B00D}" type="presOf" srcId="{D171EA9A-344D-466F-8854-E04186053269}" destId="{697FC731-FD67-4F61-81DB-779DA7782E65}" srcOrd="0" destOrd="0" presId="urn:microsoft.com/office/officeart/2005/8/layout/matrix3"/>
    <dgm:cxn modelId="{B38D075B-D796-44D8-BA23-8FAF34344CD1}" srcId="{7862C588-418A-4480-8BAA-1A4496A57176}" destId="{D62DCBC0-B649-4B9C-A32B-EAF9C414DD8E}" srcOrd="2" destOrd="0" parTransId="{38953C70-3D18-4BE1-9746-CD42E34ABA28}" sibTransId="{F9E29025-66D4-4028-906D-548CAF7A79D0}"/>
    <dgm:cxn modelId="{5FFC5741-414D-48E0-B75E-F676B0839A67}" srcId="{7862C588-418A-4480-8BAA-1A4496A57176}" destId="{03025C82-477D-45F8-9FD4-D5B7ECECCAB2}" srcOrd="1" destOrd="0" parTransId="{241F724C-2756-48F7-8BD0-3FC8D3381109}" sibTransId="{8A74C5E5-182D-4519-B510-ECCEFC693B03}"/>
    <dgm:cxn modelId="{8E4F6798-4DF1-4A8F-B047-48F7554BAEC9}" type="presOf" srcId="{03025C82-477D-45F8-9FD4-D5B7ECECCAB2}" destId="{63F3ACB0-82F5-4AA4-AA7E-E881A938245D}" srcOrd="0" destOrd="0" presId="urn:microsoft.com/office/officeart/2005/8/layout/matrix3"/>
    <dgm:cxn modelId="{55E50DF5-0A0A-4DBB-A5C7-5025C6E4B321}" srcId="{7862C588-418A-4480-8BAA-1A4496A57176}" destId="{D5DC2AB4-A16A-4B32-A987-69B440B5DA32}" srcOrd="3" destOrd="0" parTransId="{97A2AB13-A225-48B4-B419-33E52222BE05}" sibTransId="{A62165F1-B659-482F-A8E9-F6D5308E6B11}"/>
    <dgm:cxn modelId="{4DB7C824-9BC0-4ED5-A70C-C17EA5E7A30F}" type="presParOf" srcId="{52B96EA2-C6CC-4F40-B39E-A5FBFADE2CB4}" destId="{EAC07DE4-549A-4DB3-98F3-18B82B0155A2}" srcOrd="0" destOrd="0" presId="urn:microsoft.com/office/officeart/2005/8/layout/matrix3"/>
    <dgm:cxn modelId="{BE6BAD5D-CE70-4F02-87E5-14CE81D28B6E}" type="presParOf" srcId="{52B96EA2-C6CC-4F40-B39E-A5FBFADE2CB4}" destId="{697FC731-FD67-4F61-81DB-779DA7782E65}" srcOrd="1" destOrd="0" presId="urn:microsoft.com/office/officeart/2005/8/layout/matrix3"/>
    <dgm:cxn modelId="{AF4C5D7C-A146-4587-8A77-46E7F1001C1A}" type="presParOf" srcId="{52B96EA2-C6CC-4F40-B39E-A5FBFADE2CB4}" destId="{63F3ACB0-82F5-4AA4-AA7E-E881A938245D}" srcOrd="2" destOrd="0" presId="urn:microsoft.com/office/officeart/2005/8/layout/matrix3"/>
    <dgm:cxn modelId="{C076FA21-01CA-436F-AC06-27AC369B72C3}" type="presParOf" srcId="{52B96EA2-C6CC-4F40-B39E-A5FBFADE2CB4}" destId="{7775389B-8FFA-461C-B6FE-E8E1349BA4BA}" srcOrd="3" destOrd="0" presId="urn:microsoft.com/office/officeart/2005/8/layout/matrix3"/>
    <dgm:cxn modelId="{C1A4A92D-AFFE-4189-945C-B6FBEC837CC0}" type="presParOf" srcId="{52B96EA2-C6CC-4F40-B39E-A5FBFADE2CB4}" destId="{D4524674-4CA8-4207-8C2D-AAD18B45B44A}" srcOrd="4" destOrd="0" presId="urn:microsoft.com/office/officeart/2005/8/layout/matrix3"/>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75F9E0-D4CC-4ED1-8F47-6FD40A11B306}">
      <dsp:nvSpPr>
        <dsp:cNvPr id="0" name=""/>
        <dsp:cNvSpPr/>
      </dsp:nvSpPr>
      <dsp:spPr>
        <a:xfrm>
          <a:off x="275836" y="259668"/>
          <a:ext cx="1726256" cy="1726256"/>
        </a:xfrm>
        <a:prstGeom prst="blockArc">
          <a:avLst>
            <a:gd name="adj1" fmla="val 9000000"/>
            <a:gd name="adj2" fmla="val 16200000"/>
            <a:gd name="adj3" fmla="val 4644"/>
          </a:avLst>
        </a:prstGeom>
        <a:gradFill rotWithShape="0">
          <a:gsLst>
            <a:gs pos="0">
              <a:srgbClr val="0F9ED5">
                <a:tint val="60000"/>
                <a:hueOff val="0"/>
                <a:satOff val="0"/>
                <a:lumOff val="0"/>
                <a:alphaOff val="0"/>
                <a:satMod val="103000"/>
                <a:lumMod val="102000"/>
                <a:tint val="94000"/>
              </a:srgbClr>
            </a:gs>
            <a:gs pos="50000">
              <a:srgbClr val="0F9ED5">
                <a:tint val="60000"/>
                <a:hueOff val="0"/>
                <a:satOff val="0"/>
                <a:lumOff val="0"/>
                <a:alphaOff val="0"/>
                <a:satMod val="110000"/>
                <a:lumMod val="100000"/>
                <a:shade val="100000"/>
              </a:srgbClr>
            </a:gs>
            <a:gs pos="100000">
              <a:srgbClr val="0F9ED5">
                <a:tint val="60000"/>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9CB8343D-CC90-48A7-931A-288F55E3B93E}">
      <dsp:nvSpPr>
        <dsp:cNvPr id="0" name=""/>
        <dsp:cNvSpPr/>
      </dsp:nvSpPr>
      <dsp:spPr>
        <a:xfrm>
          <a:off x="275836" y="259668"/>
          <a:ext cx="1726256" cy="1726256"/>
        </a:xfrm>
        <a:prstGeom prst="blockArc">
          <a:avLst>
            <a:gd name="adj1" fmla="val 1800000"/>
            <a:gd name="adj2" fmla="val 9000000"/>
            <a:gd name="adj3" fmla="val 4644"/>
          </a:avLst>
        </a:prstGeom>
        <a:gradFill rotWithShape="0">
          <a:gsLst>
            <a:gs pos="0">
              <a:srgbClr val="0F9ED5">
                <a:tint val="60000"/>
                <a:hueOff val="0"/>
                <a:satOff val="0"/>
                <a:lumOff val="0"/>
                <a:alphaOff val="0"/>
                <a:satMod val="103000"/>
                <a:lumMod val="102000"/>
                <a:tint val="94000"/>
              </a:srgbClr>
            </a:gs>
            <a:gs pos="50000">
              <a:srgbClr val="0F9ED5">
                <a:tint val="60000"/>
                <a:hueOff val="0"/>
                <a:satOff val="0"/>
                <a:lumOff val="0"/>
                <a:alphaOff val="0"/>
                <a:satMod val="110000"/>
                <a:lumMod val="100000"/>
                <a:shade val="100000"/>
              </a:srgbClr>
            </a:gs>
            <a:gs pos="100000">
              <a:srgbClr val="0F9ED5">
                <a:tint val="60000"/>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92490942-9EC6-4450-97A2-90062963F2DE}">
      <dsp:nvSpPr>
        <dsp:cNvPr id="0" name=""/>
        <dsp:cNvSpPr/>
      </dsp:nvSpPr>
      <dsp:spPr>
        <a:xfrm>
          <a:off x="275836" y="259668"/>
          <a:ext cx="1726256" cy="1726256"/>
        </a:xfrm>
        <a:prstGeom prst="blockArc">
          <a:avLst>
            <a:gd name="adj1" fmla="val 16200000"/>
            <a:gd name="adj2" fmla="val 1800000"/>
            <a:gd name="adj3" fmla="val 4644"/>
          </a:avLst>
        </a:prstGeom>
        <a:gradFill rotWithShape="0">
          <a:gsLst>
            <a:gs pos="0">
              <a:srgbClr val="0F9ED5">
                <a:tint val="60000"/>
                <a:hueOff val="0"/>
                <a:satOff val="0"/>
                <a:lumOff val="0"/>
                <a:alphaOff val="0"/>
                <a:satMod val="103000"/>
                <a:lumMod val="102000"/>
                <a:tint val="94000"/>
              </a:srgbClr>
            </a:gs>
            <a:gs pos="50000">
              <a:srgbClr val="0F9ED5">
                <a:tint val="60000"/>
                <a:hueOff val="0"/>
                <a:satOff val="0"/>
                <a:lumOff val="0"/>
                <a:alphaOff val="0"/>
                <a:satMod val="110000"/>
                <a:lumMod val="100000"/>
                <a:shade val="100000"/>
              </a:srgbClr>
            </a:gs>
            <a:gs pos="100000">
              <a:srgbClr val="0F9ED5">
                <a:tint val="60000"/>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72FA0567-6603-4729-9447-7FF5F9CBD366}">
      <dsp:nvSpPr>
        <dsp:cNvPr id="0" name=""/>
        <dsp:cNvSpPr/>
      </dsp:nvSpPr>
      <dsp:spPr>
        <a:xfrm>
          <a:off x="741327" y="725160"/>
          <a:ext cx="795273" cy="795273"/>
        </a:xfrm>
        <a:prstGeom prst="ellipse">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altLang="zh-CN" sz="900" b="1" kern="1200" dirty="0">
              <a:solidFill>
                <a:sysClr val="window" lastClr="FFFFFF"/>
              </a:solidFill>
              <a:latin typeface="微软雅黑" panose="020B0503020204020204" pitchFamily="34" charset="-122"/>
              <a:ea typeface="微软雅黑" panose="020B0503020204020204" pitchFamily="34" charset="-122"/>
              <a:cs typeface="+mn-cs"/>
            </a:rPr>
            <a:t>Huawei</a:t>
          </a:r>
          <a:endParaRPr lang="zh-CN" altLang="en-US" sz="1000" b="1" kern="1200" dirty="0">
            <a:solidFill>
              <a:sysClr val="window" lastClr="FFFFFF"/>
            </a:solidFill>
            <a:latin typeface="微软雅黑" panose="020B0503020204020204" pitchFamily="34" charset="-122"/>
            <a:ea typeface="微软雅黑" panose="020B0503020204020204" pitchFamily="34" charset="-122"/>
            <a:cs typeface="+mn-cs"/>
          </a:endParaRPr>
        </a:p>
      </dsp:txBody>
      <dsp:txXfrm>
        <a:off x="857792" y="841625"/>
        <a:ext cx="562343" cy="562343"/>
      </dsp:txXfrm>
    </dsp:sp>
    <dsp:sp modelId="{CA34F548-7FE7-45D7-8BDF-DF5AE67BCF91}">
      <dsp:nvSpPr>
        <dsp:cNvPr id="0" name=""/>
        <dsp:cNvSpPr/>
      </dsp:nvSpPr>
      <dsp:spPr>
        <a:xfrm>
          <a:off x="860618" y="1364"/>
          <a:ext cx="556691" cy="556691"/>
        </a:xfrm>
        <a:prstGeom prst="ellipse">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b="1" kern="1200" dirty="0">
              <a:solidFill>
                <a:prstClr val="white"/>
              </a:solidFill>
              <a:latin typeface="微软雅黑" panose="020B0503020204020204" pitchFamily="34" charset="-122"/>
              <a:ea typeface="微软雅黑" panose="020B0503020204020204" pitchFamily="34" charset="-122"/>
              <a:cs typeface="+mn-cs"/>
            </a:rPr>
            <a:t>Universities/Institutes</a:t>
          </a:r>
          <a:endParaRPr lang="zh-CN" altLang="en-US" sz="500" b="1" kern="1200" dirty="0">
            <a:solidFill>
              <a:prstClr val="white"/>
            </a:solidFill>
            <a:latin typeface="微软雅黑" panose="020B0503020204020204" pitchFamily="34" charset="-122"/>
            <a:ea typeface="微软雅黑" panose="020B0503020204020204" pitchFamily="34" charset="-122"/>
            <a:cs typeface="+mn-cs"/>
          </a:endParaRPr>
        </a:p>
      </dsp:txBody>
      <dsp:txXfrm>
        <a:off x="942144" y="82890"/>
        <a:ext cx="393639" cy="393639"/>
      </dsp:txXfrm>
    </dsp:sp>
    <dsp:sp modelId="{C56BDF8F-E1EB-4A5D-A937-E902C9F86E1D}">
      <dsp:nvSpPr>
        <dsp:cNvPr id="0" name=""/>
        <dsp:cNvSpPr/>
      </dsp:nvSpPr>
      <dsp:spPr>
        <a:xfrm>
          <a:off x="1590753" y="1265994"/>
          <a:ext cx="556691" cy="556691"/>
        </a:xfrm>
        <a:prstGeom prst="ellipse">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b="1" kern="1200" dirty="0">
              <a:solidFill>
                <a:prstClr val="white"/>
              </a:solidFill>
              <a:latin typeface="微软雅黑" panose="020B0503020204020204" pitchFamily="34" charset="-122"/>
              <a:ea typeface="微软雅黑" panose="020B0503020204020204" pitchFamily="34" charset="-122"/>
              <a:cs typeface="+mn-cs"/>
            </a:rPr>
            <a:t>Partners</a:t>
          </a:r>
          <a:endParaRPr lang="zh-CN" altLang="en-US" sz="500" b="1" kern="1200" dirty="0">
            <a:solidFill>
              <a:prstClr val="white"/>
            </a:solidFill>
            <a:latin typeface="微软雅黑" panose="020B0503020204020204" pitchFamily="34" charset="-122"/>
            <a:ea typeface="微软雅黑" panose="020B0503020204020204" pitchFamily="34" charset="-122"/>
            <a:cs typeface="+mn-cs"/>
          </a:endParaRPr>
        </a:p>
      </dsp:txBody>
      <dsp:txXfrm>
        <a:off x="1672279" y="1347520"/>
        <a:ext cx="393639" cy="393639"/>
      </dsp:txXfrm>
    </dsp:sp>
    <dsp:sp modelId="{0C3BB8DE-2FCD-4233-8278-377B7D0D91E0}">
      <dsp:nvSpPr>
        <dsp:cNvPr id="0" name=""/>
        <dsp:cNvSpPr/>
      </dsp:nvSpPr>
      <dsp:spPr>
        <a:xfrm>
          <a:off x="130483" y="1265994"/>
          <a:ext cx="556691" cy="556691"/>
        </a:xfrm>
        <a:prstGeom prst="ellipse">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b="1" kern="1200" dirty="0">
              <a:solidFill>
                <a:sysClr val="window" lastClr="FFFFFF"/>
              </a:solidFill>
              <a:latin typeface="微软雅黑" panose="020B0503020204020204" pitchFamily="34" charset="-122"/>
              <a:ea typeface="微软雅黑" panose="020B0503020204020204" pitchFamily="34" charset="-122"/>
              <a:cs typeface="+mn-cs"/>
            </a:rPr>
            <a:t>Academic </a:t>
          </a:r>
          <a:r>
            <a:rPr lang="en-US" sz="350" b="1" kern="1200" dirty="0">
              <a:solidFill>
                <a:sysClr val="window" lastClr="FFFFFF"/>
              </a:solidFill>
              <a:latin typeface="微软雅黑" panose="020B0503020204020204" pitchFamily="34" charset="-122"/>
              <a:ea typeface="微软雅黑" panose="020B0503020204020204" pitchFamily="34" charset="-122"/>
              <a:cs typeface="+mn-cs"/>
            </a:rPr>
            <a:t>organization</a:t>
          </a:r>
          <a:endParaRPr lang="zh-CN" altLang="en-US" sz="350" b="1" kern="1200" dirty="0">
            <a:solidFill>
              <a:sysClr val="window" lastClr="FFFFFF"/>
            </a:solidFill>
            <a:latin typeface="微软雅黑" panose="020B0503020204020204" pitchFamily="34" charset="-122"/>
            <a:ea typeface="微软雅黑" panose="020B0503020204020204" pitchFamily="34" charset="-122"/>
            <a:cs typeface="+mn-cs"/>
          </a:endParaRPr>
        </a:p>
      </dsp:txBody>
      <dsp:txXfrm>
        <a:off x="212009" y="1347520"/>
        <a:ext cx="393639" cy="3936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9CB0C3-DC44-4C5D-A155-F78D3AF8CEF9}">
      <dsp:nvSpPr>
        <dsp:cNvPr id="0" name=""/>
        <dsp:cNvSpPr/>
      </dsp:nvSpPr>
      <dsp:spPr>
        <a:xfrm>
          <a:off x="766477" y="491"/>
          <a:ext cx="639703" cy="639703"/>
        </a:xfrm>
        <a:prstGeom prst="ellipse">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altLang="zh-CN" sz="500" b="1" kern="1200" dirty="0">
              <a:solidFill>
                <a:sysClr val="window" lastClr="FFFFFF"/>
              </a:solidFill>
              <a:latin typeface="微软雅黑" panose="020B0503020204020204" pitchFamily="34" charset="-122"/>
              <a:ea typeface="微软雅黑" panose="020B0503020204020204" pitchFamily="34" charset="-122"/>
              <a:cs typeface="+mn-cs"/>
            </a:rPr>
            <a:t>Technology Innovation</a:t>
          </a:r>
          <a:endParaRPr lang="zh-CN" altLang="en-US" sz="500" b="1" kern="1200" dirty="0">
            <a:solidFill>
              <a:sysClr val="window" lastClr="FFFFFF"/>
            </a:solidFill>
            <a:latin typeface="微软雅黑" panose="020B0503020204020204" pitchFamily="34" charset="-122"/>
            <a:ea typeface="微软雅黑" panose="020B0503020204020204" pitchFamily="34" charset="-122"/>
            <a:cs typeface="+mn-cs"/>
          </a:endParaRPr>
        </a:p>
      </dsp:txBody>
      <dsp:txXfrm>
        <a:off x="860159" y="94173"/>
        <a:ext cx="452339" cy="452339"/>
      </dsp:txXfrm>
    </dsp:sp>
    <dsp:sp modelId="{B90453CB-625C-43EC-9B9B-7A9EB3EF56AB}">
      <dsp:nvSpPr>
        <dsp:cNvPr id="0" name=""/>
        <dsp:cNvSpPr/>
      </dsp:nvSpPr>
      <dsp:spPr>
        <a:xfrm rot="2700000">
          <a:off x="1337434" y="548271"/>
          <a:ext cx="169547" cy="215900"/>
        </a:xfrm>
        <a:prstGeom prst="rightArrow">
          <a:avLst>
            <a:gd name="adj1" fmla="val 60000"/>
            <a:gd name="adj2" fmla="val 50000"/>
          </a:avLst>
        </a:prstGeom>
        <a:gradFill rotWithShape="0">
          <a:gsLst>
            <a:gs pos="0">
              <a:srgbClr val="0F9ED5">
                <a:tint val="60000"/>
                <a:hueOff val="0"/>
                <a:satOff val="0"/>
                <a:lumOff val="0"/>
                <a:alphaOff val="0"/>
                <a:satMod val="103000"/>
                <a:lumMod val="102000"/>
                <a:tint val="94000"/>
              </a:srgbClr>
            </a:gs>
            <a:gs pos="50000">
              <a:srgbClr val="0F9ED5">
                <a:tint val="60000"/>
                <a:hueOff val="0"/>
                <a:satOff val="0"/>
                <a:lumOff val="0"/>
                <a:alphaOff val="0"/>
                <a:satMod val="110000"/>
                <a:lumMod val="100000"/>
                <a:shade val="100000"/>
              </a:srgbClr>
            </a:gs>
            <a:gs pos="100000">
              <a:srgbClr val="0F9ED5">
                <a:tint val="60000"/>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zh-CN" altLang="en-US" sz="400" b="1" kern="1200">
            <a:solidFill>
              <a:sysClr val="window" lastClr="FFFFFF"/>
            </a:solidFill>
            <a:latin typeface="微软雅黑" panose="020B0503020204020204" pitchFamily="34" charset="-122"/>
            <a:ea typeface="微软雅黑" panose="020B0503020204020204" pitchFamily="34" charset="-122"/>
            <a:cs typeface="+mn-cs"/>
          </a:endParaRPr>
        </a:p>
      </dsp:txBody>
      <dsp:txXfrm>
        <a:off x="1344883" y="573468"/>
        <a:ext cx="118683" cy="129540"/>
      </dsp:txXfrm>
    </dsp:sp>
    <dsp:sp modelId="{DE15B17D-080C-4B1A-893C-23D8FC3AC61C}">
      <dsp:nvSpPr>
        <dsp:cNvPr id="0" name=""/>
        <dsp:cNvSpPr/>
      </dsp:nvSpPr>
      <dsp:spPr>
        <a:xfrm>
          <a:off x="1445020" y="679034"/>
          <a:ext cx="639703" cy="639703"/>
        </a:xfrm>
        <a:prstGeom prst="ellipse">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altLang="zh-CN" sz="500" b="1" kern="1200" dirty="0">
              <a:solidFill>
                <a:sysClr val="window" lastClr="FFFFFF"/>
              </a:solidFill>
              <a:latin typeface="微软雅黑" panose="020B0503020204020204" pitchFamily="34" charset="-122"/>
              <a:ea typeface="微软雅黑" panose="020B0503020204020204" pitchFamily="34" charset="-122"/>
              <a:cs typeface="+mn-cs"/>
            </a:rPr>
            <a:t>Industrial Application</a:t>
          </a:r>
          <a:endParaRPr lang="zh-CN" altLang="en-US" sz="500" b="1" kern="1200" dirty="0">
            <a:solidFill>
              <a:sysClr val="window" lastClr="FFFFFF"/>
            </a:solidFill>
            <a:latin typeface="微软雅黑" panose="020B0503020204020204" pitchFamily="34" charset="-122"/>
            <a:ea typeface="微软雅黑" panose="020B0503020204020204" pitchFamily="34" charset="-122"/>
            <a:cs typeface="+mn-cs"/>
          </a:endParaRPr>
        </a:p>
      </dsp:txBody>
      <dsp:txXfrm>
        <a:off x="1538702" y="772716"/>
        <a:ext cx="452339" cy="452339"/>
      </dsp:txXfrm>
    </dsp:sp>
    <dsp:sp modelId="{6724A1D2-0BE1-483C-8D97-92158787EEE7}">
      <dsp:nvSpPr>
        <dsp:cNvPr id="0" name=""/>
        <dsp:cNvSpPr/>
      </dsp:nvSpPr>
      <dsp:spPr>
        <a:xfrm rot="8100000">
          <a:off x="1344220" y="1226814"/>
          <a:ext cx="169547" cy="215900"/>
        </a:xfrm>
        <a:prstGeom prst="rightArrow">
          <a:avLst>
            <a:gd name="adj1" fmla="val 60000"/>
            <a:gd name="adj2" fmla="val 50000"/>
          </a:avLst>
        </a:prstGeom>
        <a:gradFill rotWithShape="0">
          <a:gsLst>
            <a:gs pos="0">
              <a:srgbClr val="0F9ED5">
                <a:tint val="60000"/>
                <a:hueOff val="0"/>
                <a:satOff val="0"/>
                <a:lumOff val="0"/>
                <a:alphaOff val="0"/>
                <a:satMod val="103000"/>
                <a:lumMod val="102000"/>
                <a:tint val="94000"/>
              </a:srgbClr>
            </a:gs>
            <a:gs pos="50000">
              <a:srgbClr val="0F9ED5">
                <a:tint val="60000"/>
                <a:hueOff val="0"/>
                <a:satOff val="0"/>
                <a:lumOff val="0"/>
                <a:alphaOff val="0"/>
                <a:satMod val="110000"/>
                <a:lumMod val="100000"/>
                <a:shade val="100000"/>
              </a:srgbClr>
            </a:gs>
            <a:gs pos="100000">
              <a:srgbClr val="0F9ED5">
                <a:tint val="60000"/>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zh-CN" altLang="en-US" sz="400" b="1" kern="1200">
            <a:solidFill>
              <a:sysClr val="window" lastClr="FFFFFF"/>
            </a:solidFill>
            <a:latin typeface="微软雅黑" panose="020B0503020204020204" pitchFamily="34" charset="-122"/>
            <a:ea typeface="微软雅黑" panose="020B0503020204020204" pitchFamily="34" charset="-122"/>
            <a:cs typeface="+mn-cs"/>
          </a:endParaRPr>
        </a:p>
      </dsp:txBody>
      <dsp:txXfrm rot="10800000">
        <a:off x="1387635" y="1252011"/>
        <a:ext cx="118683" cy="129540"/>
      </dsp:txXfrm>
    </dsp:sp>
    <dsp:sp modelId="{7A07F1FF-E52B-4F4E-8829-9F3F55B6DE59}">
      <dsp:nvSpPr>
        <dsp:cNvPr id="0" name=""/>
        <dsp:cNvSpPr/>
      </dsp:nvSpPr>
      <dsp:spPr>
        <a:xfrm>
          <a:off x="766477" y="1357577"/>
          <a:ext cx="639703" cy="639703"/>
        </a:xfrm>
        <a:prstGeom prst="ellipse">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b="1" kern="1200" dirty="0">
              <a:solidFill>
                <a:sysClr val="window" lastClr="FFFFFF"/>
              </a:solidFill>
              <a:latin typeface="微软雅黑" panose="020B0503020204020204" pitchFamily="34" charset="-122"/>
              <a:ea typeface="微软雅黑" panose="020B0503020204020204" pitchFamily="34" charset="-122"/>
              <a:cs typeface="+mn-cs"/>
            </a:rPr>
            <a:t>Talent Training</a:t>
          </a:r>
          <a:endParaRPr lang="zh-CN" altLang="en-US" sz="500" b="1" kern="1200" dirty="0">
            <a:solidFill>
              <a:sysClr val="window" lastClr="FFFFFF"/>
            </a:solidFill>
            <a:latin typeface="微软雅黑" panose="020B0503020204020204" pitchFamily="34" charset="-122"/>
            <a:ea typeface="微软雅黑" panose="020B0503020204020204" pitchFamily="34" charset="-122"/>
            <a:cs typeface="+mn-cs"/>
          </a:endParaRPr>
        </a:p>
      </dsp:txBody>
      <dsp:txXfrm>
        <a:off x="860159" y="1451259"/>
        <a:ext cx="452339" cy="452339"/>
      </dsp:txXfrm>
    </dsp:sp>
    <dsp:sp modelId="{E8DD74E3-26BA-4550-AC8C-EC748BA4EB04}">
      <dsp:nvSpPr>
        <dsp:cNvPr id="0" name=""/>
        <dsp:cNvSpPr/>
      </dsp:nvSpPr>
      <dsp:spPr>
        <a:xfrm rot="13500000">
          <a:off x="665677" y="1233600"/>
          <a:ext cx="169547" cy="215900"/>
        </a:xfrm>
        <a:prstGeom prst="rightArrow">
          <a:avLst>
            <a:gd name="adj1" fmla="val 60000"/>
            <a:gd name="adj2" fmla="val 50000"/>
          </a:avLst>
        </a:prstGeom>
        <a:gradFill rotWithShape="0">
          <a:gsLst>
            <a:gs pos="0">
              <a:srgbClr val="0F9ED5">
                <a:tint val="60000"/>
                <a:hueOff val="0"/>
                <a:satOff val="0"/>
                <a:lumOff val="0"/>
                <a:alphaOff val="0"/>
                <a:satMod val="103000"/>
                <a:lumMod val="102000"/>
                <a:tint val="94000"/>
              </a:srgbClr>
            </a:gs>
            <a:gs pos="50000">
              <a:srgbClr val="0F9ED5">
                <a:tint val="60000"/>
                <a:hueOff val="0"/>
                <a:satOff val="0"/>
                <a:lumOff val="0"/>
                <a:alphaOff val="0"/>
                <a:satMod val="110000"/>
                <a:lumMod val="100000"/>
                <a:shade val="100000"/>
              </a:srgbClr>
            </a:gs>
            <a:gs pos="100000">
              <a:srgbClr val="0F9ED5">
                <a:tint val="60000"/>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zh-CN" altLang="en-US" sz="400" b="1" kern="1200">
            <a:solidFill>
              <a:sysClr val="window" lastClr="FFFFFF"/>
            </a:solidFill>
            <a:latin typeface="微软雅黑" panose="020B0503020204020204" pitchFamily="34" charset="-122"/>
            <a:ea typeface="微软雅黑" panose="020B0503020204020204" pitchFamily="34" charset="-122"/>
            <a:cs typeface="+mn-cs"/>
          </a:endParaRPr>
        </a:p>
      </dsp:txBody>
      <dsp:txXfrm rot="10800000">
        <a:off x="709092" y="1294763"/>
        <a:ext cx="118683" cy="129540"/>
      </dsp:txXfrm>
    </dsp:sp>
    <dsp:sp modelId="{FC081BFA-EAC0-48B3-B8DB-1C8DFC52A896}">
      <dsp:nvSpPr>
        <dsp:cNvPr id="0" name=""/>
        <dsp:cNvSpPr/>
      </dsp:nvSpPr>
      <dsp:spPr>
        <a:xfrm>
          <a:off x="87934" y="679034"/>
          <a:ext cx="639703" cy="639703"/>
        </a:xfrm>
        <a:prstGeom prst="ellipse">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b="1" i="0" kern="1200" dirty="0">
              <a:solidFill>
                <a:sysClr val="window" lastClr="FFFFFF"/>
              </a:solidFill>
              <a:latin typeface="微软雅黑" panose="020B0503020204020204" pitchFamily="34" charset="-122"/>
              <a:ea typeface="微软雅黑" panose="020B0503020204020204" pitchFamily="34" charset="-122"/>
              <a:cs typeface="+mn-cs"/>
            </a:rPr>
            <a:t>Academic Publication</a:t>
          </a:r>
        </a:p>
      </dsp:txBody>
      <dsp:txXfrm>
        <a:off x="181616" y="772716"/>
        <a:ext cx="452339" cy="452339"/>
      </dsp:txXfrm>
    </dsp:sp>
    <dsp:sp modelId="{A0E38953-D8A7-4F1C-84E5-D585D4D89DCA}">
      <dsp:nvSpPr>
        <dsp:cNvPr id="0" name=""/>
        <dsp:cNvSpPr/>
      </dsp:nvSpPr>
      <dsp:spPr>
        <a:xfrm rot="18900000">
          <a:off x="658891" y="555058"/>
          <a:ext cx="169547" cy="215900"/>
        </a:xfrm>
        <a:prstGeom prst="rightArrow">
          <a:avLst>
            <a:gd name="adj1" fmla="val 60000"/>
            <a:gd name="adj2" fmla="val 50000"/>
          </a:avLst>
        </a:prstGeom>
        <a:gradFill rotWithShape="0">
          <a:gsLst>
            <a:gs pos="0">
              <a:srgbClr val="0F9ED5">
                <a:tint val="60000"/>
                <a:hueOff val="0"/>
                <a:satOff val="0"/>
                <a:lumOff val="0"/>
                <a:alphaOff val="0"/>
                <a:satMod val="103000"/>
                <a:lumMod val="102000"/>
                <a:tint val="94000"/>
              </a:srgbClr>
            </a:gs>
            <a:gs pos="50000">
              <a:srgbClr val="0F9ED5">
                <a:tint val="60000"/>
                <a:hueOff val="0"/>
                <a:satOff val="0"/>
                <a:lumOff val="0"/>
                <a:alphaOff val="0"/>
                <a:satMod val="110000"/>
                <a:lumMod val="100000"/>
                <a:shade val="100000"/>
              </a:srgbClr>
            </a:gs>
            <a:gs pos="100000">
              <a:srgbClr val="0F9ED5">
                <a:tint val="60000"/>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zh-CN" altLang="en-US" sz="400" b="1" kern="1200">
            <a:solidFill>
              <a:sysClr val="window" lastClr="FFFFFF"/>
            </a:solidFill>
            <a:latin typeface="微软雅黑" panose="020B0503020204020204" pitchFamily="34" charset="-122"/>
            <a:ea typeface="微软雅黑" panose="020B0503020204020204" pitchFamily="34" charset="-122"/>
            <a:cs typeface="+mn-cs"/>
          </a:endParaRPr>
        </a:p>
      </dsp:txBody>
      <dsp:txXfrm>
        <a:off x="666340" y="616221"/>
        <a:ext cx="118683" cy="1295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C07DE4-549A-4DB3-98F3-18B82B0155A2}">
      <dsp:nvSpPr>
        <dsp:cNvPr id="0" name=""/>
        <dsp:cNvSpPr/>
      </dsp:nvSpPr>
      <dsp:spPr>
        <a:xfrm>
          <a:off x="13201" y="0"/>
          <a:ext cx="2000487" cy="2000487"/>
        </a:xfrm>
        <a:prstGeom prst="diamond">
          <a:avLst/>
        </a:prstGeom>
        <a:solidFill>
          <a:srgbClr val="0F9ED5">
            <a:tint val="40000"/>
            <a:hueOff val="0"/>
            <a:satOff val="0"/>
            <a:lumOff val="0"/>
            <a:alphaOff val="0"/>
          </a:srgbClr>
        </a:solidFill>
        <a:ln>
          <a:noFill/>
        </a:ln>
        <a:effectLst/>
      </dsp:spPr>
      <dsp:style>
        <a:lnRef idx="0">
          <a:scrgbClr r="0" g="0" b="0"/>
        </a:lnRef>
        <a:fillRef idx="1">
          <a:scrgbClr r="0" g="0" b="0"/>
        </a:fillRef>
        <a:effectRef idx="2">
          <a:scrgbClr r="0" g="0" b="0"/>
        </a:effectRef>
        <a:fontRef idx="minor"/>
      </dsp:style>
    </dsp:sp>
    <dsp:sp modelId="{697FC731-FD67-4F61-81DB-779DA7782E65}">
      <dsp:nvSpPr>
        <dsp:cNvPr id="0" name=""/>
        <dsp:cNvSpPr/>
      </dsp:nvSpPr>
      <dsp:spPr>
        <a:xfrm>
          <a:off x="203247" y="190046"/>
          <a:ext cx="780189" cy="780189"/>
        </a:xfrm>
        <a:prstGeom prst="roundRect">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altLang="zh-CN" sz="800" b="1" kern="1200" dirty="0">
              <a:solidFill>
                <a:sysClr val="window" lastClr="FFFFFF"/>
              </a:solidFill>
              <a:latin typeface="FZLanTingHeiS-R-GB" panose="02010600030101010101" charset="-122"/>
              <a:ea typeface="FZLanTingHeiS-R-GB" panose="02010600030101010101" charset="-122"/>
              <a:cs typeface="+mn-cs"/>
            </a:rPr>
            <a:t>Exchange Platform</a:t>
          </a:r>
          <a:endParaRPr lang="zh-CN" altLang="en-US" sz="800" b="1" kern="1200" dirty="0">
            <a:solidFill>
              <a:sysClr val="window" lastClr="FFFFFF"/>
            </a:solidFill>
            <a:latin typeface="Aptos" panose="02110004020202020204"/>
            <a:ea typeface="等线" panose="02010600030101010101" pitchFamily="2" charset="-122"/>
            <a:cs typeface="+mn-cs"/>
          </a:endParaRPr>
        </a:p>
      </dsp:txBody>
      <dsp:txXfrm>
        <a:off x="241333" y="228132"/>
        <a:ext cx="704017" cy="704017"/>
      </dsp:txXfrm>
    </dsp:sp>
    <dsp:sp modelId="{63F3ACB0-82F5-4AA4-AA7E-E881A938245D}">
      <dsp:nvSpPr>
        <dsp:cNvPr id="0" name=""/>
        <dsp:cNvSpPr/>
      </dsp:nvSpPr>
      <dsp:spPr>
        <a:xfrm>
          <a:off x="1043452" y="190046"/>
          <a:ext cx="780189" cy="780189"/>
        </a:xfrm>
        <a:prstGeom prst="roundRect">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altLang="zh-CN" sz="700" b="1" kern="1200" dirty="0">
              <a:solidFill>
                <a:sysClr val="window" lastClr="FFFFFF"/>
              </a:solidFill>
              <a:latin typeface="FZLanTingHeiS-R-GB" panose="02010600030101010101" charset="-122"/>
              <a:ea typeface="FZLanTingHeiS-R-GB" panose="02010600030101010101" charset="-122"/>
              <a:cs typeface="+mn-cs"/>
            </a:rPr>
            <a:t>Cooperation Platform</a:t>
          </a:r>
          <a:endParaRPr lang="zh-CN" altLang="en-US" sz="700" b="1" kern="1200" dirty="0">
            <a:solidFill>
              <a:sysClr val="window" lastClr="FFFFFF"/>
            </a:solidFill>
            <a:latin typeface="FZLanTingHeiS-R-GB" panose="02010600030101010101" charset="-122"/>
            <a:ea typeface="FZLanTingHeiS-R-GB" panose="02010600030101010101" charset="-122"/>
            <a:cs typeface="+mn-cs"/>
          </a:endParaRPr>
        </a:p>
      </dsp:txBody>
      <dsp:txXfrm>
        <a:off x="1081538" y="228132"/>
        <a:ext cx="704017" cy="704017"/>
      </dsp:txXfrm>
    </dsp:sp>
    <dsp:sp modelId="{7775389B-8FFA-461C-B6FE-E8E1349BA4BA}">
      <dsp:nvSpPr>
        <dsp:cNvPr id="0" name=""/>
        <dsp:cNvSpPr/>
      </dsp:nvSpPr>
      <dsp:spPr>
        <a:xfrm>
          <a:off x="203247" y="1030250"/>
          <a:ext cx="780189" cy="780189"/>
        </a:xfrm>
        <a:prstGeom prst="roundRect">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altLang="zh-CN" sz="800" b="1" kern="1200" dirty="0">
              <a:solidFill>
                <a:sysClr val="window" lastClr="FFFFFF"/>
              </a:solidFill>
              <a:latin typeface="FZLanTingHeiS-R-GB" panose="02010600030101010101" charset="-122"/>
              <a:ea typeface="FZLanTingHeiS-R-GB" panose="02010600030101010101" charset="-122"/>
              <a:cs typeface="+mn-cs"/>
            </a:rPr>
            <a:t>Innovation Platform</a:t>
          </a:r>
          <a:endParaRPr lang="zh-CN" altLang="en-US" sz="800" b="1" kern="1200" dirty="0">
            <a:solidFill>
              <a:sysClr val="window" lastClr="FFFFFF"/>
            </a:solidFill>
            <a:latin typeface="FZLanTingHeiS-R-GB" panose="02010600030101010101" charset="-122"/>
            <a:ea typeface="FZLanTingHeiS-R-GB" panose="02010600030101010101" charset="-122"/>
            <a:cs typeface="+mn-cs"/>
          </a:endParaRPr>
        </a:p>
      </dsp:txBody>
      <dsp:txXfrm>
        <a:off x="241333" y="1068336"/>
        <a:ext cx="704017" cy="704017"/>
      </dsp:txXfrm>
    </dsp:sp>
    <dsp:sp modelId="{D4524674-4CA8-4207-8C2D-AAD18B45B44A}">
      <dsp:nvSpPr>
        <dsp:cNvPr id="0" name=""/>
        <dsp:cNvSpPr/>
      </dsp:nvSpPr>
      <dsp:spPr>
        <a:xfrm>
          <a:off x="1043452" y="1030250"/>
          <a:ext cx="780189" cy="780189"/>
        </a:xfrm>
        <a:prstGeom prst="roundRect">
          <a:avLst/>
        </a:prstGeom>
        <a:gradFill rotWithShape="0">
          <a:gsLst>
            <a:gs pos="0">
              <a:srgbClr val="0F9ED5">
                <a:hueOff val="0"/>
                <a:satOff val="0"/>
                <a:lumOff val="0"/>
                <a:alphaOff val="0"/>
                <a:satMod val="103000"/>
                <a:lumMod val="102000"/>
                <a:tint val="94000"/>
              </a:srgbClr>
            </a:gs>
            <a:gs pos="50000">
              <a:srgbClr val="0F9ED5">
                <a:hueOff val="0"/>
                <a:satOff val="0"/>
                <a:lumOff val="0"/>
                <a:alphaOff val="0"/>
                <a:satMod val="110000"/>
                <a:lumMod val="100000"/>
                <a:shade val="100000"/>
              </a:srgbClr>
            </a:gs>
            <a:gs pos="100000">
              <a:srgbClr val="0F9ED5">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altLang="zh-CN" sz="800" b="1" kern="1200" dirty="0">
              <a:solidFill>
                <a:prstClr val="white"/>
              </a:solidFill>
              <a:latin typeface="FZLanTingHeiS-R-GB" panose="02010600030101010101" charset="-122"/>
              <a:ea typeface="FZLanTingHeiS-R-GB" panose="02010600030101010101" charset="-122"/>
              <a:cs typeface="+mn-cs"/>
            </a:rPr>
            <a:t>Open</a:t>
          </a:r>
          <a:br>
            <a:rPr lang="en-US" altLang="zh-CN" sz="800" b="1" kern="1200" dirty="0">
              <a:solidFill>
                <a:prstClr val="white"/>
              </a:solidFill>
              <a:latin typeface="FZLanTingHeiS-R-GB" panose="02010600030101010101" charset="-122"/>
              <a:ea typeface="FZLanTingHeiS-R-GB" panose="02010600030101010101" charset="-122"/>
              <a:cs typeface="+mn-cs"/>
            </a:rPr>
          </a:br>
          <a:r>
            <a:rPr lang="en-US" altLang="zh-CN" sz="800" b="1" kern="1200" dirty="0">
              <a:solidFill>
                <a:prstClr val="white"/>
              </a:solidFill>
              <a:latin typeface="FZLanTingHeiS-R-GB" panose="02010600030101010101" charset="-122"/>
              <a:ea typeface="FZLanTingHeiS-R-GB" panose="02010600030101010101" charset="-122"/>
              <a:cs typeface="+mn-cs"/>
            </a:rPr>
            <a:t>E</a:t>
          </a:r>
          <a:r>
            <a:rPr lang="en-US" sz="800" b="1" kern="1200" dirty="0">
              <a:solidFill>
                <a:prstClr val="white"/>
              </a:solidFill>
              <a:latin typeface="FZLanTingHeiS-R-GB" panose="02010600030101010101" charset="-122"/>
              <a:ea typeface="FZLanTingHeiS-R-GB" panose="02010600030101010101" charset="-122"/>
              <a:cs typeface="+mn-cs"/>
            </a:rPr>
            <a:t>cology</a:t>
          </a:r>
          <a:endParaRPr lang="zh-CN" altLang="en-US" sz="800" b="1" kern="1200" dirty="0">
            <a:solidFill>
              <a:prstClr val="white"/>
            </a:solidFill>
            <a:latin typeface="FZLanTingHeiS-R-GB" panose="02010600030101010101" charset="-122"/>
            <a:ea typeface="FZLanTingHeiS-R-GB" panose="02010600030101010101" charset="-122"/>
            <a:cs typeface="+mn-cs"/>
          </a:endParaRPr>
        </a:p>
      </dsp:txBody>
      <dsp:txXfrm>
        <a:off x="1081538" y="1068336"/>
        <a:ext cx="704017" cy="704017"/>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0"/>
            <a:ext cx="3077739" cy="513428"/>
          </a:xfrm>
          <a:prstGeom prst="rect">
            <a:avLst/>
          </a:prstGeom>
        </p:spPr>
        <p:txBody>
          <a:bodyPr vert="horz" lIns="99057" tIns="49528" rIns="99057" bIns="49528" rtlCol="0"/>
          <a:lstStyle>
            <a:lvl1pPr algn="l">
              <a:defRPr sz="1300"/>
            </a:lvl1pPr>
          </a:lstStyle>
          <a:p>
            <a:endParaRPr lang="en-US"/>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4023092" y="0"/>
            <a:ext cx="3077739" cy="513428"/>
          </a:xfrm>
          <a:prstGeom prst="rect">
            <a:avLst/>
          </a:prstGeom>
        </p:spPr>
        <p:txBody>
          <a:bodyPr vert="horz" lIns="99057" tIns="49528" rIns="99057" bIns="49528" rtlCol="0"/>
          <a:lstStyle>
            <a:lvl1pPr algn="r">
              <a:defRPr sz="1300"/>
            </a:lvl1pPr>
          </a:lstStyle>
          <a:p>
            <a:fld id="{E8CF71B8-DF2A-2E41-BE66-2E18A767DA8A}" type="datetimeFigureOut">
              <a:rPr lang="en-US" smtClean="0"/>
              <a:t>12/1/2025</a:t>
            </a:fld>
            <a:endParaRPr lang="en-US"/>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9719598"/>
            <a:ext cx="3077739" cy="513427"/>
          </a:xfrm>
          <a:prstGeom prst="rect">
            <a:avLst/>
          </a:prstGeom>
        </p:spPr>
        <p:txBody>
          <a:bodyPr vert="horz" lIns="99057" tIns="49528" rIns="99057" bIns="49528" rtlCol="0" anchor="b"/>
          <a:lstStyle>
            <a:lvl1pPr algn="l">
              <a:defRPr sz="1300"/>
            </a:lvl1pPr>
          </a:lstStyle>
          <a:p>
            <a:endParaRPr lang="en-US"/>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4023092" y="9719598"/>
            <a:ext cx="3077739" cy="513427"/>
          </a:xfrm>
          <a:prstGeom prst="rect">
            <a:avLst/>
          </a:prstGeom>
        </p:spPr>
        <p:txBody>
          <a:bodyPr vert="horz" lIns="99057" tIns="49528" rIns="99057" bIns="49528" rtlCol="0" anchor="b"/>
          <a:lstStyle>
            <a:lvl1pPr algn="r">
              <a:defRPr sz="1300"/>
            </a:lvl1pPr>
          </a:lstStyle>
          <a:p>
            <a:fld id="{A35F0CC5-85BE-A64A-BD47-54C66F7E93E3}" type="slidenum">
              <a:rPr lang="en-US" smtClean="0"/>
              <a:t>‹#›</a:t>
            </a:fld>
            <a:endParaRPr lang="en-US"/>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513428"/>
          </a:xfrm>
          <a:prstGeom prst="rect">
            <a:avLst/>
          </a:prstGeom>
        </p:spPr>
        <p:txBody>
          <a:bodyPr vert="horz" lIns="99057" tIns="49528" rIns="99057" bIns="49528" rtlCol="0"/>
          <a:lstStyle>
            <a:lvl1pPr algn="l">
              <a:defRPr sz="1300"/>
            </a:lvl1pPr>
          </a:lstStyle>
          <a:p>
            <a:endParaRPr lang="en-US"/>
          </a:p>
        </p:txBody>
      </p:sp>
      <p:sp>
        <p:nvSpPr>
          <p:cNvPr id="3" name="Date Placeholder 2"/>
          <p:cNvSpPr>
            <a:spLocks noGrp="1"/>
          </p:cNvSpPr>
          <p:nvPr>
            <p:ph type="dt" idx="1"/>
          </p:nvPr>
        </p:nvSpPr>
        <p:spPr>
          <a:xfrm>
            <a:off x="4023092" y="0"/>
            <a:ext cx="3077739" cy="513428"/>
          </a:xfrm>
          <a:prstGeom prst="rect">
            <a:avLst/>
          </a:prstGeom>
        </p:spPr>
        <p:txBody>
          <a:bodyPr vert="horz" lIns="99057" tIns="49528" rIns="99057" bIns="49528" rtlCol="0"/>
          <a:lstStyle>
            <a:lvl1pPr algn="r">
              <a:defRPr sz="1300"/>
            </a:lvl1pPr>
          </a:lstStyle>
          <a:p>
            <a:fld id="{0DD60A27-BF12-6744-9E93-932A0E34D8BB}" type="datetimeFigureOut">
              <a:rPr lang="en-US" smtClean="0"/>
              <a:t>12/1/2025</a:t>
            </a:fld>
            <a:endParaRPr lang="en-US"/>
          </a:p>
        </p:txBody>
      </p:sp>
      <p:sp>
        <p:nvSpPr>
          <p:cNvPr id="4" name="Slide Image Placeholder 3"/>
          <p:cNvSpPr>
            <a:spLocks noGrp="1" noRot="1" noChangeAspect="1"/>
          </p:cNvSpPr>
          <p:nvPr>
            <p:ph type="sldImg" idx="2"/>
          </p:nvPr>
        </p:nvSpPr>
        <p:spPr>
          <a:xfrm>
            <a:off x="481013" y="1279525"/>
            <a:ext cx="6140450" cy="3452813"/>
          </a:xfrm>
          <a:prstGeom prst="rect">
            <a:avLst/>
          </a:prstGeom>
          <a:noFill/>
          <a:ln w="12700">
            <a:solidFill>
              <a:prstClr val="black"/>
            </a:solidFill>
          </a:ln>
        </p:spPr>
        <p:txBody>
          <a:bodyPr vert="horz" lIns="99057" tIns="49528" rIns="99057" bIns="49528" rtlCol="0" anchor="ctr"/>
          <a:lstStyle/>
          <a:p>
            <a:endParaRPr lang="en-US"/>
          </a:p>
        </p:txBody>
      </p:sp>
      <p:sp>
        <p:nvSpPr>
          <p:cNvPr id="5" name="Notes Placeholder 4"/>
          <p:cNvSpPr>
            <a:spLocks noGrp="1"/>
          </p:cNvSpPr>
          <p:nvPr>
            <p:ph type="body" sz="quarter" idx="3"/>
          </p:nvPr>
        </p:nvSpPr>
        <p:spPr>
          <a:xfrm>
            <a:off x="710248" y="4924643"/>
            <a:ext cx="5681980" cy="4029254"/>
          </a:xfrm>
          <a:prstGeom prst="rect">
            <a:avLst/>
          </a:prstGeom>
        </p:spPr>
        <p:txBody>
          <a:bodyPr vert="horz" lIns="99057" tIns="49528" rIns="99057" bIns="49528"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19598"/>
            <a:ext cx="3077739" cy="513427"/>
          </a:xfrm>
          <a:prstGeom prst="rect">
            <a:avLst/>
          </a:prstGeom>
        </p:spPr>
        <p:txBody>
          <a:bodyPr vert="horz" lIns="99057" tIns="49528" rIns="99057" bIns="49528" rtlCol="0" anchor="b"/>
          <a:lstStyle>
            <a:lvl1pPr algn="l">
              <a:defRPr sz="1300"/>
            </a:lvl1pPr>
          </a:lstStyle>
          <a:p>
            <a:endParaRPr lang="en-US"/>
          </a:p>
        </p:txBody>
      </p:sp>
      <p:sp>
        <p:nvSpPr>
          <p:cNvPr id="7" name="Slide Number Placeholder 6"/>
          <p:cNvSpPr>
            <a:spLocks noGrp="1"/>
          </p:cNvSpPr>
          <p:nvPr>
            <p:ph type="sldNum" sz="quarter" idx="5"/>
          </p:nvPr>
        </p:nvSpPr>
        <p:spPr>
          <a:xfrm>
            <a:off x="4023092" y="9719598"/>
            <a:ext cx="3077739" cy="513427"/>
          </a:xfrm>
          <a:prstGeom prst="rect">
            <a:avLst/>
          </a:prstGeom>
        </p:spPr>
        <p:txBody>
          <a:bodyPr vert="horz" lIns="99057" tIns="49528" rIns="99057" bIns="49528" rtlCol="0" anchor="b"/>
          <a:lstStyle>
            <a:lvl1pPr algn="r">
              <a:defRPr sz="1300"/>
            </a:lvl1pPr>
          </a:lstStyle>
          <a:p>
            <a:fld id="{F07326F3-4732-B74B-9C70-D0992466E499}" type="slidenum">
              <a:rPr lang="en-US" smtClean="0"/>
              <a:t>‹#›</a:t>
            </a:fld>
            <a:endParaRPr lang="en-US"/>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0" algn="l" defTabSz="1219304" rtl="0" eaLnBrk="1" latinLnBrk="0" hangingPunct="1">
      <a:defRPr sz="1600" kern="1200">
        <a:solidFill>
          <a:schemeClr val="tx1"/>
        </a:solidFill>
        <a:latin typeface="+mn-lt"/>
        <a:ea typeface="+mn-ea"/>
        <a:cs typeface="+mn-cs"/>
      </a:defRPr>
    </a:lvl1pPr>
    <a:lvl2pPr marL="609651" algn="l" defTabSz="1219304" rtl="0" eaLnBrk="1" latinLnBrk="0" hangingPunct="1">
      <a:defRPr sz="1600" kern="1200">
        <a:solidFill>
          <a:schemeClr val="tx1"/>
        </a:solidFill>
        <a:latin typeface="+mn-lt"/>
        <a:ea typeface="+mn-ea"/>
        <a:cs typeface="+mn-cs"/>
      </a:defRPr>
    </a:lvl2pPr>
    <a:lvl3pPr marL="1219304" algn="l" defTabSz="1219304" rtl="0" eaLnBrk="1" latinLnBrk="0" hangingPunct="1">
      <a:defRPr sz="1600" kern="1200">
        <a:solidFill>
          <a:schemeClr val="tx1"/>
        </a:solidFill>
        <a:latin typeface="+mn-lt"/>
        <a:ea typeface="+mn-ea"/>
        <a:cs typeface="+mn-cs"/>
      </a:defRPr>
    </a:lvl3pPr>
    <a:lvl4pPr marL="1828957" algn="l" defTabSz="1219304" rtl="0" eaLnBrk="1" latinLnBrk="0" hangingPunct="1">
      <a:defRPr sz="1600" kern="1200">
        <a:solidFill>
          <a:schemeClr val="tx1"/>
        </a:solidFill>
        <a:latin typeface="+mn-lt"/>
        <a:ea typeface="+mn-ea"/>
        <a:cs typeface="+mn-cs"/>
      </a:defRPr>
    </a:lvl4pPr>
    <a:lvl5pPr marL="2438609" algn="l" defTabSz="1219304" rtl="0" eaLnBrk="1" latinLnBrk="0" hangingPunct="1">
      <a:defRPr sz="1600" kern="1200">
        <a:solidFill>
          <a:schemeClr val="tx1"/>
        </a:solidFill>
        <a:latin typeface="+mn-lt"/>
        <a:ea typeface="+mn-ea"/>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600" dirty="0"/>
              <a:t>Good afternoon, everyone.</a:t>
            </a:r>
          </a:p>
          <a:p>
            <a:r>
              <a:rPr lang="en-US" altLang="zh-CN" sz="1600" dirty="0"/>
              <a:t>I am </a:t>
            </a:r>
            <a:r>
              <a:rPr lang="en-US" altLang="zh-CN" sz="1600" b="1" dirty="0"/>
              <a:t>Wei </a:t>
            </a:r>
            <a:r>
              <a:rPr lang="en-US" altLang="zh-CN" sz="1600" b="1" dirty="0" err="1"/>
              <a:t>Wenjia</a:t>
            </a:r>
            <a:r>
              <a:rPr lang="en-US" altLang="zh-CN" sz="1600" dirty="0"/>
              <a:t> from the Huawei </a:t>
            </a:r>
            <a:r>
              <a:rPr lang="en-US" altLang="zh-CN" sz="1600" b="1" dirty="0"/>
              <a:t>Network Technology Laboratory</a:t>
            </a:r>
            <a:r>
              <a:rPr lang="en-US" altLang="zh-CN" sz="1600" dirty="0"/>
              <a:t>.</a:t>
            </a:r>
          </a:p>
          <a:p>
            <a:r>
              <a:rPr lang="en-US" altLang="zh-CN" sz="1600" dirty="0"/>
              <a:t>It is my great  honor   to be here today. The topic of my presentation is </a:t>
            </a:r>
            <a:r>
              <a:rPr lang="en-US" altLang="zh-CN" sz="1600" b="1" dirty="0"/>
              <a:t>'Debriefing the Open Innovation Platform for </a:t>
            </a:r>
            <a:r>
              <a:rPr lang="en-US" altLang="zh-CN" sz="1600" b="1" dirty="0" err="1"/>
              <a:t>UnifiedBus</a:t>
            </a:r>
            <a:r>
              <a:rPr lang="en-US" altLang="zh-CN" sz="1600" b="1" dirty="0"/>
              <a:t>.'</a:t>
            </a:r>
            <a:endParaRPr lang="en-US" altLang="zh-CN" sz="1600" dirty="0"/>
          </a:p>
          <a:p>
            <a:r>
              <a:rPr lang="en-US" altLang="zh-CN" sz="1600" dirty="0"/>
              <a:t>Over the next few minutes, I will walk you through our latest developments, the architecture of our platform, and how we are driving innovation in this field. Let’s get started.</a:t>
            </a:r>
          </a:p>
          <a:p>
            <a:endParaRPr lang="en-US" altLang="zh-CN" dirty="0"/>
          </a:p>
        </p:txBody>
      </p:sp>
      <p:sp>
        <p:nvSpPr>
          <p:cNvPr id="4" name="灯片编号占位符 3"/>
          <p:cNvSpPr>
            <a:spLocks noGrp="1"/>
          </p:cNvSpPr>
          <p:nvPr>
            <p:ph type="sldNum" sz="quarter" idx="5"/>
          </p:nvPr>
        </p:nvSpPr>
        <p:spPr/>
        <p:txBody>
          <a:bodyPr/>
          <a:lstStyle/>
          <a:p>
            <a:fld id="{F07326F3-4732-B74B-9C70-D0992466E499}" type="slidenum">
              <a:rPr lang="en-US" smtClean="0"/>
              <a:t>1</a:t>
            </a:fld>
            <a:endParaRPr lang="en-US"/>
          </a:p>
        </p:txBody>
      </p:sp>
    </p:spTree>
    <p:extLst>
      <p:ext uri="{BB962C8B-B14F-4D97-AF65-F5344CB8AC3E}">
        <p14:creationId xmlns:p14="http://schemas.microsoft.com/office/powerpoint/2010/main" val="1938643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First, let's look at </a:t>
            </a:r>
            <a:r>
              <a:rPr lang="en-US" altLang="zh-CN" sz="1200" b="1" i="0" kern="1200" dirty="0" err="1">
                <a:solidFill>
                  <a:schemeClr val="tx1"/>
                </a:solidFill>
                <a:effectLst/>
                <a:latin typeface="+mn-lt"/>
                <a:ea typeface="+mn-ea"/>
                <a:cs typeface="+mn-cs"/>
              </a:rPr>
              <a:t>UnifiedBus</a:t>
            </a:r>
            <a:r>
              <a:rPr lang="en-US" altLang="zh-CN" sz="1200" b="0" i="0" kern="1200" dirty="0">
                <a:solidFill>
                  <a:schemeClr val="tx1"/>
                </a:solidFill>
                <a:effectLst/>
                <a:latin typeface="+mn-lt"/>
                <a:ea typeface="+mn-ea"/>
                <a:cs typeface="+mn-cs"/>
              </a:rPr>
              <a:t>, or </a:t>
            </a:r>
            <a:r>
              <a:rPr lang="en-US" altLang="zh-CN" sz="1200" b="1" i="0" kern="1200" dirty="0">
                <a:solidFill>
                  <a:schemeClr val="tx1"/>
                </a:solidFill>
                <a:effectLst/>
                <a:latin typeface="+mn-lt"/>
                <a:ea typeface="+mn-ea"/>
                <a:cs typeface="+mn-cs"/>
              </a:rPr>
              <a:t>UB</a:t>
            </a:r>
            <a:r>
              <a:rPr lang="en-US" altLang="zh-CN" sz="1200" b="0" i="0" kern="1200" dirty="0">
                <a:solidFill>
                  <a:schemeClr val="tx1"/>
                </a:solidFill>
                <a:effectLst/>
                <a:latin typeface="+mn-lt"/>
                <a:ea typeface="+mn-ea"/>
                <a:cs typeface="+mn-cs"/>
              </a:rPr>
              <a:t>, which was proposed by Huawei. It serves as the core technology for </a:t>
            </a:r>
            <a:r>
              <a:rPr lang="en-US" altLang="zh-CN" sz="1200" b="0" i="0" kern="1200" dirty="0" err="1">
                <a:solidFill>
                  <a:schemeClr val="tx1"/>
                </a:solidFill>
                <a:effectLst/>
                <a:latin typeface="+mn-lt"/>
                <a:ea typeface="+mn-ea"/>
                <a:cs typeface="+mn-cs"/>
              </a:rPr>
              <a:t>SuperPod</a:t>
            </a:r>
            <a:r>
              <a:rPr lang="en-US" altLang="zh-CN" sz="1200" b="0" i="0" kern="1200" dirty="0">
                <a:solidFill>
                  <a:schemeClr val="tx1"/>
                </a:solidFill>
                <a:effectLst/>
                <a:latin typeface="+mn-lt"/>
                <a:ea typeface="+mn-ea"/>
                <a:cs typeface="+mn-cs"/>
              </a:rPr>
              <a:t> products, such as the </a:t>
            </a:r>
            <a:r>
              <a:rPr lang="en-US" altLang="zh-CN" sz="1200" b="1" i="0" kern="1200" dirty="0" err="1">
                <a:solidFill>
                  <a:schemeClr val="tx1"/>
                </a:solidFill>
                <a:effectLst/>
                <a:latin typeface="+mn-lt"/>
                <a:ea typeface="+mn-ea"/>
                <a:cs typeface="+mn-cs"/>
              </a:rPr>
              <a:t>CloudMatrix</a:t>
            </a:r>
            <a:r>
              <a:rPr lang="en-US" altLang="zh-CN" sz="1200" b="1" i="0" kern="1200" dirty="0">
                <a:solidFill>
                  <a:schemeClr val="tx1"/>
                </a:solidFill>
                <a:effectLst/>
                <a:latin typeface="+mn-lt"/>
                <a:ea typeface="+mn-ea"/>
                <a:cs typeface="+mn-cs"/>
              </a:rPr>
              <a:t> 384</a:t>
            </a:r>
            <a:r>
              <a:rPr lang="en-US" altLang="zh-CN" sz="1200" b="0" i="0" kern="1200" dirty="0">
                <a:solidFill>
                  <a:schemeClr val="tx1"/>
                </a:solidFill>
                <a:effectLst/>
                <a:latin typeface="+mn-lt"/>
                <a:ea typeface="+mn-ea"/>
                <a:cs typeface="+mn-cs"/>
              </a:rPr>
              <a:t>.</a:t>
            </a:r>
          </a:p>
          <a:p>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UB is an interconnect protocol designed specifically for these systems. It unifies IO, memory access, and communication into a single architecture, offering four key technical advantages:</a:t>
            </a:r>
          </a:p>
          <a:p>
            <a:endParaRPr lang="en-US" altLang="zh-CN" sz="1200" b="0" i="0" kern="1200" dirty="0">
              <a:solidFill>
                <a:schemeClr val="tx1"/>
              </a:solidFill>
              <a:effectLst/>
              <a:latin typeface="+mn-lt"/>
              <a:ea typeface="+mn-ea"/>
              <a:cs typeface="+mn-cs"/>
            </a:endParaRPr>
          </a:p>
          <a:p>
            <a:r>
              <a:rPr lang="en-US" altLang="zh-CN" sz="1200" b="1" i="0" kern="1200" dirty="0">
                <a:solidFill>
                  <a:schemeClr val="tx1"/>
                </a:solidFill>
                <a:effectLst/>
                <a:latin typeface="+mn-lt"/>
                <a:ea typeface="+mn-ea"/>
                <a:cs typeface="+mn-cs"/>
              </a:rPr>
              <a:t>First is Low Latency.</a:t>
            </a:r>
            <a:r>
              <a:rPr lang="en-US" altLang="zh-CN" sz="1200" b="0" i="0" kern="1200" dirty="0">
                <a:solidFill>
                  <a:schemeClr val="tx1"/>
                </a:solidFill>
                <a:effectLst/>
                <a:latin typeface="+mn-lt"/>
                <a:ea typeface="+mn-ea"/>
                <a:cs typeface="+mn-cs"/>
              </a:rPr>
              <a:t> The protocol allows any port to connect to any device type directly. This enables data forwarding without the overhead of protocol conversion.</a:t>
            </a:r>
          </a:p>
          <a:p>
            <a:r>
              <a:rPr lang="en-US" altLang="zh-CN" sz="1200" b="1" i="0" kern="1200" dirty="0">
                <a:solidFill>
                  <a:schemeClr val="tx1"/>
                </a:solidFill>
                <a:effectLst/>
                <a:latin typeface="+mn-lt"/>
                <a:ea typeface="+mn-ea"/>
                <a:cs typeface="+mn-cs"/>
              </a:rPr>
              <a:t>Second is High Bandwidth.</a:t>
            </a:r>
            <a:r>
              <a:rPr lang="en-US" altLang="zh-CN" sz="1200" b="0" i="0" kern="1200" dirty="0">
                <a:solidFill>
                  <a:schemeClr val="tx1"/>
                </a:solidFill>
                <a:effectLst/>
                <a:latin typeface="+mn-lt"/>
                <a:ea typeface="+mn-ea"/>
                <a:cs typeface="+mn-cs"/>
              </a:rPr>
              <a:t> In any SoC, IO channels are critical resources. UB removes protocol-specific controllers, meaning any high-speed channel can be used for </a:t>
            </a:r>
            <a:r>
              <a:rPr lang="en-US" altLang="zh-CN" sz="1200" b="1" i="0" kern="1200" dirty="0">
                <a:solidFill>
                  <a:schemeClr val="tx1"/>
                </a:solidFill>
                <a:effectLst/>
                <a:latin typeface="+mn-lt"/>
                <a:ea typeface="+mn-ea"/>
                <a:cs typeface="+mn-cs"/>
              </a:rPr>
              <a:t>multiple purposes</a:t>
            </a:r>
            <a:r>
              <a:rPr lang="en-US" altLang="zh-CN" sz="1200" b="0" i="0" kern="1200" dirty="0">
                <a:solidFill>
                  <a:schemeClr val="tx1"/>
                </a:solidFill>
                <a:effectLst/>
                <a:latin typeface="+mn-lt"/>
                <a:ea typeface="+mn-ea"/>
                <a:cs typeface="+mn-cs"/>
              </a:rPr>
              <a:t>. This maximizes resource efficiency.</a:t>
            </a:r>
          </a:p>
          <a:p>
            <a:r>
              <a:rPr lang="en-US" altLang="zh-CN" sz="1200" b="1" i="0" kern="1200" dirty="0">
                <a:solidFill>
                  <a:schemeClr val="tx1"/>
                </a:solidFill>
                <a:effectLst/>
                <a:latin typeface="+mn-lt"/>
                <a:ea typeface="+mn-ea"/>
                <a:cs typeface="+mn-cs"/>
              </a:rPr>
              <a:t>Third is a Simplified Schema.</a:t>
            </a:r>
            <a:r>
              <a:rPr lang="en-US" altLang="zh-CN" sz="1200" b="0" i="0" kern="1200" dirty="0">
                <a:solidFill>
                  <a:schemeClr val="tx1"/>
                </a:solidFill>
                <a:effectLst/>
                <a:latin typeface="+mn-lt"/>
                <a:ea typeface="+mn-ea"/>
                <a:cs typeface="+mn-cs"/>
              </a:rPr>
              <a:t> It supports </a:t>
            </a:r>
            <a:r>
              <a:rPr lang="en-US" altLang="zh-CN" sz="1200" b="1" i="0" kern="1200" dirty="0">
                <a:solidFill>
                  <a:schemeClr val="tx1"/>
                </a:solidFill>
                <a:effectLst/>
                <a:latin typeface="+mn-lt"/>
                <a:ea typeface="+mn-ea"/>
                <a:cs typeface="+mn-cs"/>
              </a:rPr>
              <a:t>Processor Direct Load/Store</a:t>
            </a:r>
            <a:r>
              <a:rPr lang="en-US" altLang="zh-CN" sz="1200" b="0" i="0" kern="1200" dirty="0">
                <a:solidFill>
                  <a:schemeClr val="tx1"/>
                </a:solidFill>
                <a:effectLst/>
                <a:latin typeface="+mn-lt"/>
                <a:ea typeface="+mn-ea"/>
                <a:cs typeface="+mn-cs"/>
              </a:rPr>
              <a:t>, alongside RDMA and </a:t>
            </a:r>
            <a:r>
              <a:rPr lang="en-US" altLang="zh-CN" sz="1200" b="0" i="0" kern="1200" dirty="0" err="1">
                <a:solidFill>
                  <a:schemeClr val="tx1"/>
                </a:solidFill>
                <a:effectLst/>
                <a:latin typeface="+mn-lt"/>
                <a:ea typeface="+mn-ea"/>
                <a:cs typeface="+mn-cs"/>
              </a:rPr>
              <a:t>uRPC</a:t>
            </a:r>
            <a:r>
              <a:rPr lang="en-US" altLang="zh-CN" sz="1200" b="0" i="0" kern="1200" dirty="0">
                <a:solidFill>
                  <a:schemeClr val="tx1"/>
                </a:solidFill>
                <a:effectLst/>
                <a:latin typeface="+mn-lt"/>
                <a:ea typeface="+mn-ea"/>
                <a:cs typeface="+mn-cs"/>
              </a:rPr>
              <a:t>. This efficiently handles both global shared memory and remote memory access.</a:t>
            </a:r>
          </a:p>
          <a:p>
            <a:r>
              <a:rPr lang="en-US" altLang="zh-CN" sz="1200" b="1" i="0" kern="1200" dirty="0">
                <a:solidFill>
                  <a:schemeClr val="tx1"/>
                </a:solidFill>
                <a:effectLst/>
                <a:latin typeface="+mn-lt"/>
                <a:ea typeface="+mn-ea"/>
                <a:cs typeface="+mn-cs"/>
              </a:rPr>
              <a:t>Finally, Compatibility.</a:t>
            </a:r>
            <a:r>
              <a:rPr lang="en-US" altLang="zh-CN" sz="1200" b="0" i="0" kern="1200" dirty="0">
                <a:solidFill>
                  <a:schemeClr val="tx1"/>
                </a:solidFill>
                <a:effectLst/>
                <a:latin typeface="+mn-lt"/>
                <a:ea typeface="+mn-ea"/>
                <a:cs typeface="+mn-cs"/>
              </a:rPr>
              <a:t> UB runs natively over Ethernet. It works with mainstream protocols without the need for further translation.</a:t>
            </a:r>
          </a:p>
          <a:p>
            <a:endParaRPr lang="en-US" altLang="zh-CN" sz="1200" b="0" i="0" kern="1200" dirty="0">
              <a:solidFill>
                <a:schemeClr val="tx1"/>
              </a:solidFill>
              <a:effectLst/>
              <a:latin typeface="+mn-lt"/>
              <a:ea typeface="+mn-ea"/>
              <a:cs typeface="+mn-cs"/>
            </a:endParaRPr>
          </a:p>
          <a:p>
            <a:r>
              <a:rPr lang="en-US" altLang="zh-CN" sz="1200" b="1" i="0" kern="1200" dirty="0">
                <a:solidFill>
                  <a:schemeClr val="tx1"/>
                </a:solidFill>
                <a:effectLst/>
                <a:latin typeface="+mn-lt"/>
                <a:ea typeface="+mn-ea"/>
                <a:cs typeface="+mn-cs"/>
              </a:rPr>
              <a:t>These features make UB a powerful architecture. Our platform is designed to enable the academic community to research and innovate on top of it.</a:t>
            </a:r>
            <a:endParaRPr lang="en-US" altLang="zh-CN" sz="1200" b="0" i="0" kern="1200" dirty="0">
              <a:solidFill>
                <a:schemeClr val="tx1"/>
              </a:solidFill>
              <a:effectLst/>
              <a:latin typeface="+mn-lt"/>
              <a:ea typeface="+mn-ea"/>
              <a:cs typeface="+mn-cs"/>
            </a:endParaRPr>
          </a:p>
          <a:p>
            <a:endParaRPr lang="en-US" altLang="zh-CN" sz="1700" b="1" dirty="0">
              <a:solidFill>
                <a:srgbClr val="282828"/>
              </a:solidFill>
              <a:latin typeface="微软雅黑"/>
              <a:ea typeface="微软雅黑"/>
            </a:endParaRPr>
          </a:p>
        </p:txBody>
      </p:sp>
      <p:sp>
        <p:nvSpPr>
          <p:cNvPr id="4" name="灯片编号占位符 3"/>
          <p:cNvSpPr>
            <a:spLocks noGrp="1"/>
          </p:cNvSpPr>
          <p:nvPr>
            <p:ph type="sldNum" sz="quarter" idx="5"/>
          </p:nvPr>
        </p:nvSpPr>
        <p:spPr/>
        <p:txBody>
          <a:bodyPr/>
          <a:lstStyle/>
          <a:p>
            <a:pPr defTabSz="990570">
              <a:defRPr/>
            </a:pPr>
            <a:fld id="{2A6D14F7-4041-4838-9480-6984A2D519D9}" type="slidenum">
              <a:rPr lang="zh-CN" altLang="en-US">
                <a:solidFill>
                  <a:prstClr val="black"/>
                </a:solidFill>
                <a:latin typeface="Calibri" panose="020F0502020204030204"/>
                <a:ea typeface="宋体" panose="02010600030101010101" pitchFamily="2" charset="-122"/>
              </a:rPr>
              <a:pPr defTabSz="990570">
                <a:defRPr/>
              </a:pPr>
              <a:t>2</a:t>
            </a:fld>
            <a:endParaRPr lang="zh-CN" altLang="en-US">
              <a:solidFill>
                <a:prstClr val="black"/>
              </a:solidFill>
              <a:latin typeface="Calibri" panose="020F0502020204030204"/>
              <a:ea typeface="宋体" panose="02010600030101010101" pitchFamily="2" charset="-122"/>
            </a:endParaRPr>
          </a:p>
        </p:txBody>
      </p:sp>
    </p:spTree>
    <p:extLst>
      <p:ext uri="{BB962C8B-B14F-4D97-AF65-F5344CB8AC3E}">
        <p14:creationId xmlns:p14="http://schemas.microsoft.com/office/powerpoint/2010/main" val="3239517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400" dirty="0"/>
              <a:t>From traditional DCNs to </a:t>
            </a:r>
            <a:r>
              <a:rPr lang="en-US" altLang="zh-CN" sz="1400" b="1" dirty="0" err="1"/>
              <a:t>SuperPods</a:t>
            </a:r>
            <a:r>
              <a:rPr lang="en-US" altLang="zh-CN" sz="1400" dirty="0"/>
              <a:t>—network technology is facing new challenges. Specifically for </a:t>
            </a:r>
            <a:r>
              <a:rPr lang="en-US" altLang="zh-CN" sz="1400" dirty="0" err="1"/>
              <a:t>SuperPods</a:t>
            </a:r>
            <a:r>
              <a:rPr lang="en-US" altLang="zh-CN" sz="1400" dirty="0"/>
              <a:t>, there is a massive new space for research in protocols, architectures, algorithms, hardware, and </a:t>
            </a:r>
            <a:r>
              <a:rPr lang="en-US" altLang="zh-CN" sz="1400" b="1" dirty="0"/>
              <a:t>communication semantics</a:t>
            </a:r>
            <a:r>
              <a:rPr lang="en-US" altLang="zh-CN" sz="1400" dirty="0"/>
              <a:t>.</a:t>
            </a:r>
          </a:p>
          <a:p>
            <a:endParaRPr lang="en-US" altLang="zh-CN" sz="1400" dirty="0"/>
          </a:p>
          <a:p>
            <a:r>
              <a:rPr lang="en-US" altLang="zh-CN" sz="1400" dirty="0"/>
              <a:t>To better support the academic community in exploring these areas, and to enable research into </a:t>
            </a:r>
            <a:r>
              <a:rPr lang="en-US" altLang="zh-CN" sz="1400" b="1" dirty="0"/>
              <a:t>UnifiedBus networks</a:t>
            </a:r>
            <a:r>
              <a:rPr lang="en-US" altLang="zh-CN" sz="1400" dirty="0"/>
              <a:t> within the </a:t>
            </a:r>
            <a:r>
              <a:rPr lang="en-US" altLang="zh-CN" sz="1400" dirty="0" err="1"/>
              <a:t>SuperPod</a:t>
            </a:r>
            <a:r>
              <a:rPr lang="en-US" altLang="zh-CN" sz="1400" dirty="0"/>
              <a:t> context, Huawei and </a:t>
            </a:r>
            <a:r>
              <a:rPr lang="en-US" altLang="zh-CN" sz="1400" b="1" dirty="0"/>
              <a:t> Academic Partners</a:t>
            </a:r>
            <a:r>
              <a:rPr lang="en-US" altLang="zh-CN" sz="1400" dirty="0"/>
              <a:t> have </a:t>
            </a:r>
            <a:r>
              <a:rPr lang="en-US" altLang="zh-CN" sz="1400" b="1" dirty="0"/>
              <a:t>Jointly </a:t>
            </a:r>
            <a:r>
              <a:rPr lang="en-US" altLang="zh-CN" sz="1400" dirty="0"/>
              <a:t>released five open innovation platforms.</a:t>
            </a:r>
          </a:p>
          <a:p>
            <a:r>
              <a:rPr lang="en-US" altLang="zh-CN" sz="1400" dirty="0"/>
              <a:t>These platforms are:</a:t>
            </a:r>
          </a:p>
          <a:p>
            <a:r>
              <a:rPr lang="en-US" altLang="zh-CN" sz="1400" dirty="0"/>
              <a:t>The </a:t>
            </a:r>
            <a:r>
              <a:rPr lang="en-US" altLang="zh-CN" sz="1400" b="1" dirty="0"/>
              <a:t>UB Simulation Platform</a:t>
            </a:r>
            <a:r>
              <a:rPr lang="en-US" altLang="zh-CN" sz="1400" dirty="0"/>
              <a:t>,</a:t>
            </a:r>
          </a:p>
          <a:p>
            <a:r>
              <a:rPr lang="en-US" altLang="zh-CN" sz="1400" dirty="0"/>
              <a:t>The </a:t>
            </a:r>
            <a:r>
              <a:rPr lang="en-US" altLang="zh-CN" sz="1400" b="1" dirty="0"/>
              <a:t>UB Protocol Verification Platform</a:t>
            </a:r>
            <a:r>
              <a:rPr lang="en-US" altLang="zh-CN" sz="1400" dirty="0"/>
              <a:t>,</a:t>
            </a:r>
          </a:p>
          <a:p>
            <a:r>
              <a:rPr lang="en-US" altLang="zh-CN" sz="1400" dirty="0"/>
              <a:t>The </a:t>
            </a:r>
            <a:r>
              <a:rPr lang="en-US" altLang="zh-CN" sz="1400" b="1" dirty="0"/>
              <a:t>Scale-Up Prototype Platform</a:t>
            </a:r>
            <a:r>
              <a:rPr lang="en-US" altLang="zh-CN" sz="1400" dirty="0"/>
              <a:t>,</a:t>
            </a:r>
          </a:p>
          <a:p>
            <a:r>
              <a:rPr lang="en-US" altLang="zh-CN" sz="1400" dirty="0"/>
              <a:t>The </a:t>
            </a:r>
            <a:r>
              <a:rPr lang="en-US" altLang="zh-CN" sz="1400" b="1" dirty="0" err="1"/>
              <a:t>SuperPod</a:t>
            </a:r>
            <a:r>
              <a:rPr lang="en-US" altLang="zh-CN" sz="1400" b="1" dirty="0"/>
              <a:t> Networking Innovation Platform</a:t>
            </a:r>
            <a:r>
              <a:rPr lang="en-US" altLang="zh-CN" sz="1400" dirty="0"/>
              <a:t>,</a:t>
            </a:r>
          </a:p>
          <a:p>
            <a:r>
              <a:rPr lang="en-US" altLang="zh-CN" sz="1400" dirty="0"/>
              <a:t>And the </a:t>
            </a:r>
            <a:r>
              <a:rPr lang="en-US" altLang="zh-CN" sz="1400" b="1" dirty="0"/>
              <a:t>Scale-Out Prototype Platform</a:t>
            </a:r>
            <a:r>
              <a:rPr lang="en-US" altLang="zh-CN" sz="1400" dirty="0"/>
              <a:t>.</a:t>
            </a:r>
          </a:p>
          <a:p>
            <a:r>
              <a:rPr lang="en-US" altLang="zh-CN" sz="1400" b="1" dirty="0"/>
              <a:t>By opening up these tools, we hope to spark innovation through collaboration, and ultimately achieve success together with the academic community.</a:t>
            </a:r>
            <a:endParaRPr lang="en-US" altLang="zh-CN" sz="1400" dirty="0"/>
          </a:p>
          <a:p>
            <a:endParaRPr lang="en-US" altLang="zh-CN" sz="1700" b="1" dirty="0">
              <a:solidFill>
                <a:srgbClr val="282828"/>
              </a:solidFill>
              <a:latin typeface="微软雅黑"/>
              <a:ea typeface="微软雅黑"/>
            </a:endParaRPr>
          </a:p>
        </p:txBody>
      </p:sp>
      <p:sp>
        <p:nvSpPr>
          <p:cNvPr id="4" name="灯片编号占位符 3"/>
          <p:cNvSpPr>
            <a:spLocks noGrp="1"/>
          </p:cNvSpPr>
          <p:nvPr>
            <p:ph type="sldNum" sz="quarter" idx="5"/>
          </p:nvPr>
        </p:nvSpPr>
        <p:spPr/>
        <p:txBody>
          <a:bodyPr/>
          <a:lstStyle/>
          <a:p>
            <a:pPr defTabSz="990570">
              <a:defRPr/>
            </a:pPr>
            <a:fld id="{2A6D14F7-4041-4838-9480-6984A2D519D9}" type="slidenum">
              <a:rPr lang="zh-CN" altLang="en-US">
                <a:solidFill>
                  <a:prstClr val="black"/>
                </a:solidFill>
                <a:latin typeface="Calibri" panose="020F0502020204030204"/>
                <a:ea typeface="宋体" panose="02010600030101010101" pitchFamily="2" charset="-122"/>
              </a:rPr>
              <a:pPr defTabSz="990570">
                <a:defRPr/>
              </a:pPr>
              <a:t>3</a:t>
            </a:fld>
            <a:endParaRPr lang="zh-CN" altLang="en-US">
              <a:solidFill>
                <a:prstClr val="black"/>
              </a:solidFill>
              <a:latin typeface="Calibri" panose="020F0502020204030204"/>
              <a:ea typeface="宋体" panose="02010600030101010101" pitchFamily="2" charset="-122"/>
            </a:endParaRPr>
          </a:p>
        </p:txBody>
      </p:sp>
    </p:spTree>
    <p:extLst>
      <p:ext uri="{BB962C8B-B14F-4D97-AF65-F5344CB8AC3E}">
        <p14:creationId xmlns:p14="http://schemas.microsoft.com/office/powerpoint/2010/main" val="22036420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t>First is the </a:t>
            </a:r>
            <a:r>
              <a:rPr lang="en-US" altLang="zh-CN" sz="1200" b="1" dirty="0"/>
              <a:t>UB Simulation Platform</a:t>
            </a:r>
            <a:r>
              <a:rPr lang="en-US" altLang="zh-CN" sz="1200" dirty="0"/>
              <a:t>. This is a network simulator compliant with the </a:t>
            </a:r>
            <a:r>
              <a:rPr lang="en-US" altLang="zh-CN" sz="1200" dirty="0" err="1"/>
              <a:t>UnifiedBus</a:t>
            </a:r>
            <a:r>
              <a:rPr lang="en-US" altLang="zh-CN" sz="1200" dirty="0"/>
              <a:t> specification.</a:t>
            </a:r>
          </a:p>
          <a:p>
            <a:endParaRPr lang="en-US" altLang="zh-CN" sz="1200" dirty="0"/>
          </a:p>
          <a:p>
            <a:r>
              <a:rPr lang="en-US" altLang="zh-CN" sz="1200" dirty="0"/>
              <a:t>It supports research into a wide range of areas. </a:t>
            </a:r>
            <a:r>
              <a:rPr lang="en-US" altLang="zh-CN" sz="1200" b="1" dirty="0"/>
              <a:t>For example, you can explore:</a:t>
            </a:r>
            <a:endParaRPr lang="en-US" altLang="zh-CN" sz="1200" dirty="0"/>
          </a:p>
          <a:p>
            <a:r>
              <a:rPr lang="en-US" altLang="zh-CN" sz="1200" b="1" dirty="0"/>
              <a:t>High-reliability, low-cost, and traffic-affinity topologies</a:t>
            </a:r>
            <a:r>
              <a:rPr lang="en-US" altLang="zh-CN" sz="1200" dirty="0"/>
              <a:t>.</a:t>
            </a:r>
          </a:p>
          <a:p>
            <a:r>
              <a:rPr lang="en-US" altLang="zh-CN" sz="1200" b="1" dirty="0"/>
              <a:t>Optimization for collective communication operations</a:t>
            </a:r>
            <a:r>
              <a:rPr lang="en-US" altLang="zh-CN" sz="1200" dirty="0"/>
              <a:t>.</a:t>
            </a:r>
          </a:p>
          <a:p>
            <a:r>
              <a:rPr lang="en-US" altLang="zh-CN" sz="1200" b="1" dirty="0"/>
              <a:t>Novel transaction ordering and reliability mechanisms</a:t>
            </a:r>
            <a:r>
              <a:rPr lang="en-US" altLang="zh-CN" sz="1200" dirty="0"/>
              <a:t>.</a:t>
            </a:r>
          </a:p>
          <a:p>
            <a:r>
              <a:rPr lang="en-US" altLang="zh-CN" sz="1200" b="1" dirty="0"/>
              <a:t>Transmission control mechanisms</a:t>
            </a:r>
            <a:r>
              <a:rPr lang="en-US" altLang="zh-CN" sz="1200" dirty="0"/>
              <a:t>, specifically for Load/Store semantics in a </a:t>
            </a:r>
            <a:r>
              <a:rPr lang="en-US" altLang="zh-CN" sz="1200" dirty="0" err="1"/>
              <a:t>SuperPod</a:t>
            </a:r>
            <a:r>
              <a:rPr lang="en-US" altLang="zh-CN" sz="1200" dirty="0"/>
              <a:t>.</a:t>
            </a:r>
          </a:p>
          <a:p>
            <a:r>
              <a:rPr lang="en-US" altLang="zh-CN" sz="1200" b="1" dirty="0"/>
              <a:t>And new algorithms</a:t>
            </a:r>
            <a:r>
              <a:rPr lang="en-US" altLang="zh-CN" sz="1200" dirty="0"/>
              <a:t>, such as adaptive routing, load balancing, congestion control, and QoS.</a:t>
            </a:r>
          </a:p>
          <a:p>
            <a:endParaRPr lang="en-US" altLang="zh-CN" sz="1200" dirty="0"/>
          </a:p>
          <a:p>
            <a:r>
              <a:rPr lang="en-US" altLang="zh-CN" sz="1200" dirty="0"/>
              <a:t>To assist with this, we provide several integrated tools:</a:t>
            </a:r>
          </a:p>
          <a:p>
            <a:r>
              <a:rPr lang="en-US" altLang="zh-CN" sz="1200" b="1" dirty="0"/>
              <a:t>Flexible topology generation</a:t>
            </a:r>
            <a:r>
              <a:rPr lang="en-US" altLang="zh-CN" sz="1200" dirty="0"/>
              <a:t>, for example, CLOS and UB Mesh.</a:t>
            </a:r>
          </a:p>
          <a:p>
            <a:r>
              <a:rPr lang="en-US" altLang="zh-CN" sz="1200" b="1" dirty="0"/>
              <a:t>Custom traffic injection</a:t>
            </a:r>
            <a:r>
              <a:rPr lang="en-US" altLang="zh-CN" sz="1200" dirty="0"/>
              <a:t>, which supports collective operations.</a:t>
            </a:r>
          </a:p>
          <a:p>
            <a:r>
              <a:rPr lang="en-US" altLang="zh-CN" sz="1200" b="1" dirty="0"/>
              <a:t>Node and link fault injection</a:t>
            </a:r>
            <a:r>
              <a:rPr lang="en-US" altLang="zh-CN" sz="1200" dirty="0"/>
              <a:t>.</a:t>
            </a:r>
          </a:p>
          <a:p>
            <a:r>
              <a:rPr lang="en-US" altLang="zh-CN" sz="1200" dirty="0"/>
              <a:t>And tools for </a:t>
            </a:r>
            <a:r>
              <a:rPr lang="en-US" altLang="zh-CN" sz="1200" b="1" dirty="0"/>
              <a:t>simulation log analysis and data visualization</a:t>
            </a:r>
            <a:r>
              <a:rPr lang="en-US" altLang="zh-CN" sz="1200" dirty="0"/>
              <a:t>.</a:t>
            </a:r>
          </a:p>
          <a:p>
            <a:r>
              <a:rPr lang="en-US" altLang="zh-CN" sz="1200" dirty="0"/>
              <a:t>The platform is based on </a:t>
            </a:r>
            <a:r>
              <a:rPr lang="en-US" altLang="zh-CN" sz="1200" b="1" dirty="0"/>
              <a:t>ns-3</a:t>
            </a:r>
            <a:r>
              <a:rPr lang="en-US" altLang="zh-CN" sz="1200" dirty="0"/>
              <a:t>, and the repository is available on </a:t>
            </a:r>
            <a:r>
              <a:rPr lang="en-US" altLang="zh-CN" sz="1200" b="1" dirty="0" err="1"/>
              <a:t>GitCode</a:t>
            </a:r>
            <a:r>
              <a:rPr lang="en-US" altLang="zh-CN" sz="1200" dirty="0"/>
              <a:t>.</a:t>
            </a:r>
          </a:p>
          <a:p>
            <a:endParaRPr lang="en-US" altLang="zh-CN" sz="1700" b="1" dirty="0">
              <a:solidFill>
                <a:srgbClr val="282828"/>
              </a:solidFill>
              <a:latin typeface="微软雅黑"/>
              <a:ea typeface="微软雅黑"/>
            </a:endParaRPr>
          </a:p>
        </p:txBody>
      </p:sp>
      <p:sp>
        <p:nvSpPr>
          <p:cNvPr id="4" name="灯片编号占位符 3"/>
          <p:cNvSpPr>
            <a:spLocks noGrp="1"/>
          </p:cNvSpPr>
          <p:nvPr>
            <p:ph type="sldNum" sz="quarter" idx="5"/>
          </p:nvPr>
        </p:nvSpPr>
        <p:spPr/>
        <p:txBody>
          <a:bodyPr/>
          <a:lstStyle/>
          <a:p>
            <a:pPr defTabSz="990570">
              <a:defRPr/>
            </a:pPr>
            <a:fld id="{2A6D14F7-4041-4838-9480-6984A2D519D9}" type="slidenum">
              <a:rPr lang="zh-CN" altLang="en-US">
                <a:solidFill>
                  <a:prstClr val="black"/>
                </a:solidFill>
                <a:latin typeface="Calibri" panose="020F0502020204030204"/>
                <a:ea typeface="宋体" panose="02010600030101010101" pitchFamily="2" charset="-122"/>
              </a:rPr>
              <a:pPr defTabSz="990570">
                <a:defRPr/>
              </a:pPr>
              <a:t>4</a:t>
            </a:fld>
            <a:endParaRPr lang="zh-CN" altLang="en-US">
              <a:solidFill>
                <a:prstClr val="black"/>
              </a:solidFill>
              <a:latin typeface="Calibri" panose="020F0502020204030204"/>
              <a:ea typeface="宋体" panose="02010600030101010101" pitchFamily="2" charset="-122"/>
            </a:endParaRPr>
          </a:p>
        </p:txBody>
      </p:sp>
    </p:spTree>
    <p:extLst>
      <p:ext uri="{BB962C8B-B14F-4D97-AF65-F5344CB8AC3E}">
        <p14:creationId xmlns:p14="http://schemas.microsoft.com/office/powerpoint/2010/main" val="276979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300" dirty="0"/>
              <a:t>Let’s look at the research areas and how we evaluate them on this platform.</a:t>
            </a:r>
          </a:p>
          <a:p>
            <a:endParaRPr lang="en-US" altLang="zh-CN" sz="1300" dirty="0"/>
          </a:p>
          <a:p>
            <a:r>
              <a:rPr lang="en-US" altLang="zh-CN" sz="1300" b="1" dirty="0"/>
              <a:t>First is the structure: Innovative Topology Architectures.</a:t>
            </a:r>
            <a:r>
              <a:rPr lang="en-US" altLang="zh-CN" sz="1300" dirty="0"/>
              <a:t> The platform allows you to quickly build different layouts and benchmark them. For example, you can build a UB Mesh or a Sparsely Connected Topology, run standard traffic patterns, and measure the trade-off between performance and cost. You can also model hybrid Electrical and Optical Topologies to check their bandwidth efficiency.</a:t>
            </a:r>
          </a:p>
          <a:p>
            <a:r>
              <a:rPr lang="en-US" altLang="zh-CN" sz="1300" b="1" dirty="0"/>
              <a:t>Second is the behavior: Innovations in Protocol Stacks and Algorithms.</a:t>
            </a:r>
            <a:r>
              <a:rPr lang="en-US" altLang="zh-CN" sz="1300" dirty="0"/>
              <a:t> Based on our framework, you can</a:t>
            </a:r>
            <a:r>
              <a:rPr lang="en-US" altLang="zh-CN" sz="1300" b="1" dirty="0"/>
              <a:t> rapidly implement</a:t>
            </a:r>
            <a:r>
              <a:rPr lang="en-US" altLang="zh-CN" sz="1300" dirty="0"/>
              <a:t> new codes and verify them against a baseline. For instance, you can refactor the Transaction Layer for Memory-Semantic scenarios and test if it reduces latency. You can design </a:t>
            </a:r>
            <a:r>
              <a:rPr lang="en-US" altLang="zh-CN" sz="1300" b="1" dirty="0"/>
              <a:t>New Collective Algorithms</a:t>
            </a:r>
            <a:r>
              <a:rPr lang="en-US" altLang="zh-CN" sz="1300" dirty="0"/>
              <a:t> and compare their completion times. It also supports comparing strategies for Traffic Control, Load Balancing, and Congestion Control. You can run dynamic routing, like Packet Spraying, and analyze the </a:t>
            </a:r>
            <a:r>
              <a:rPr lang="en-US" altLang="zh-CN" sz="1300" b="1" dirty="0"/>
              <a:t>logs </a:t>
            </a:r>
            <a:r>
              <a:rPr lang="en-US" altLang="zh-CN" sz="1300" dirty="0"/>
              <a:t>to see if it improves network utilization.</a:t>
            </a:r>
          </a:p>
          <a:p>
            <a:r>
              <a:rPr lang="en-US" altLang="zh-CN" sz="1300" b="1" dirty="0"/>
              <a:t>Finally, Simulation Framework Innovation.</a:t>
            </a:r>
            <a:r>
              <a:rPr lang="en-US" altLang="zh-CN" sz="1300" dirty="0"/>
              <a:t> This is about improving the tool itself. For example, you can research simulation acceleration techniques to speed up large-scale experiments. You can also optimize the engine to support parallel processing or more complex device models.</a:t>
            </a:r>
          </a:p>
          <a:p>
            <a:endParaRPr lang="en-US" altLang="zh-CN" sz="1300" b="1" dirty="0">
              <a:solidFill>
                <a:srgbClr val="282828"/>
              </a:solidFill>
              <a:latin typeface="微软雅黑"/>
              <a:ea typeface="微软雅黑"/>
            </a:endParaRPr>
          </a:p>
        </p:txBody>
      </p:sp>
      <p:sp>
        <p:nvSpPr>
          <p:cNvPr id="4" name="灯片编号占位符 3"/>
          <p:cNvSpPr>
            <a:spLocks noGrp="1"/>
          </p:cNvSpPr>
          <p:nvPr>
            <p:ph type="sldNum" sz="quarter" idx="5"/>
          </p:nvPr>
        </p:nvSpPr>
        <p:spPr/>
        <p:txBody>
          <a:bodyPr/>
          <a:lstStyle/>
          <a:p>
            <a:pPr defTabSz="990570">
              <a:defRPr/>
            </a:pPr>
            <a:fld id="{2A6D14F7-4041-4838-9480-6984A2D519D9}" type="slidenum">
              <a:rPr lang="zh-CN" altLang="en-US">
                <a:solidFill>
                  <a:prstClr val="black"/>
                </a:solidFill>
                <a:latin typeface="Calibri" panose="020F0502020204030204"/>
                <a:ea typeface="宋体" panose="02010600030101010101" pitchFamily="2" charset="-122"/>
              </a:rPr>
              <a:pPr defTabSz="990570">
                <a:defRPr/>
              </a:pPr>
              <a:t>5</a:t>
            </a:fld>
            <a:endParaRPr lang="zh-CN" altLang="en-US">
              <a:solidFill>
                <a:prstClr val="black"/>
              </a:solidFill>
              <a:latin typeface="Calibri" panose="020F0502020204030204"/>
              <a:ea typeface="宋体" panose="02010600030101010101" pitchFamily="2" charset="-122"/>
            </a:endParaRPr>
          </a:p>
        </p:txBody>
      </p:sp>
    </p:spTree>
    <p:extLst>
      <p:ext uri="{BB962C8B-B14F-4D97-AF65-F5344CB8AC3E}">
        <p14:creationId xmlns:p14="http://schemas.microsoft.com/office/powerpoint/2010/main" val="4266408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1F2328"/>
                </a:solidFill>
                <a:effectLst/>
                <a:latin typeface="-apple-system"/>
              </a:rPr>
              <a:t>Let's start with our first use case: </a:t>
            </a:r>
            <a:r>
              <a:rPr lang="en-US" altLang="zh-CN" b="1" i="0" dirty="0">
                <a:solidFill>
                  <a:srgbClr val="1F2328"/>
                </a:solidFill>
                <a:effectLst/>
                <a:latin typeface="-apple-system"/>
              </a:rPr>
              <a:t>Memory Semantic Innovation for </a:t>
            </a:r>
            <a:r>
              <a:rPr lang="en-US" altLang="zh-CN" b="1" i="0" dirty="0" err="1">
                <a:solidFill>
                  <a:srgbClr val="1F2328"/>
                </a:solidFill>
                <a:effectLst/>
                <a:latin typeface="-apple-system"/>
              </a:rPr>
              <a:t>SuperPods</a:t>
            </a:r>
            <a:r>
              <a:rPr lang="en-US" altLang="zh-CN" b="0" i="0" dirty="0">
                <a:solidFill>
                  <a:srgbClr val="1F2328"/>
                </a:solidFill>
                <a:effectLst/>
                <a:latin typeface="-apple-system"/>
              </a:rPr>
              <a:t>.</a:t>
            </a:r>
          </a:p>
          <a:p>
            <a:pPr algn="l"/>
            <a:r>
              <a:rPr lang="en-US" altLang="zh-CN" b="0" i="0" dirty="0">
                <a:solidFill>
                  <a:srgbClr val="1F2328"/>
                </a:solidFill>
                <a:effectLst/>
                <a:latin typeface="-apple-system"/>
              </a:rPr>
              <a:t>The platform allows you to use </a:t>
            </a:r>
            <a:r>
              <a:rPr lang="en-US" altLang="zh-CN" b="1" i="0" dirty="0">
                <a:solidFill>
                  <a:srgbClr val="1F2328"/>
                </a:solidFill>
                <a:effectLst/>
                <a:latin typeface="-apple-system"/>
              </a:rPr>
              <a:t>Load/Store interfaces</a:t>
            </a:r>
            <a:r>
              <a:rPr lang="en-US" altLang="zh-CN" b="0" i="0" dirty="0">
                <a:solidFill>
                  <a:srgbClr val="1F2328"/>
                </a:solidFill>
                <a:effectLst/>
                <a:latin typeface="-apple-system"/>
              </a:rPr>
              <a:t> to generate complex traffic patterns. This is essential for stress-testing existing technologies and identifying their limitations in terms of transmission, ordering, and reliability.</a:t>
            </a:r>
          </a:p>
          <a:p>
            <a:pPr algn="l"/>
            <a:r>
              <a:rPr lang="en-US" altLang="zh-CN" b="0" i="0" dirty="0">
                <a:solidFill>
                  <a:srgbClr val="1F2328"/>
                </a:solidFill>
                <a:effectLst/>
                <a:latin typeface="-apple-system"/>
              </a:rPr>
              <a:t>Based on this, we can explore two key areas of innovation:</a:t>
            </a:r>
          </a:p>
          <a:p>
            <a:pPr algn="l"/>
            <a:r>
              <a:rPr lang="en-US" altLang="zh-CN" b="0" i="0" dirty="0">
                <a:solidFill>
                  <a:srgbClr val="1F2328"/>
                </a:solidFill>
                <a:effectLst/>
                <a:latin typeface="-apple-system"/>
              </a:rPr>
              <a:t>First is </a:t>
            </a:r>
            <a:r>
              <a:rPr lang="en-US" altLang="zh-CN" b="1" i="0" dirty="0">
                <a:solidFill>
                  <a:srgbClr val="1F2328"/>
                </a:solidFill>
                <a:effectLst/>
                <a:latin typeface="-apple-system"/>
              </a:rPr>
              <a:t>Novel Transmission Control</a:t>
            </a:r>
            <a:r>
              <a:rPr lang="en-US" altLang="zh-CN" b="0" i="0" dirty="0">
                <a:solidFill>
                  <a:srgbClr val="1F2328"/>
                </a:solidFill>
                <a:effectLst/>
                <a:latin typeface="-apple-system"/>
              </a:rPr>
              <a:t>. In memory-semantic scenarios, we use a lightweight protocol stack that bypasses the traditional transport layer. However, as </a:t>
            </a:r>
            <a:r>
              <a:rPr lang="en-US" altLang="zh-CN" b="0" i="0" dirty="0" err="1">
                <a:solidFill>
                  <a:srgbClr val="1F2328"/>
                </a:solidFill>
                <a:effectLst/>
                <a:latin typeface="-apple-system"/>
              </a:rPr>
              <a:t>SuperPods</a:t>
            </a:r>
            <a:r>
              <a:rPr lang="en-US" altLang="zh-CN" b="0" i="0" dirty="0">
                <a:solidFill>
                  <a:srgbClr val="1F2328"/>
                </a:solidFill>
                <a:effectLst/>
                <a:latin typeface="-apple-system"/>
              </a:rPr>
              <a:t> grow larger and more complex, we need to design new, lightweight control mechanisms that can handle this scale without sacrificing performance.</a:t>
            </a:r>
          </a:p>
          <a:p>
            <a:pPr algn="l"/>
            <a:r>
              <a:rPr lang="en-US" altLang="zh-CN" b="0" i="0" dirty="0">
                <a:solidFill>
                  <a:srgbClr val="1F2328"/>
                </a:solidFill>
                <a:effectLst/>
                <a:latin typeface="-apple-system"/>
              </a:rPr>
              <a:t>Second is </a:t>
            </a:r>
            <a:r>
              <a:rPr lang="en-US" altLang="zh-CN" b="1" i="0" dirty="0">
                <a:solidFill>
                  <a:srgbClr val="1F2328"/>
                </a:solidFill>
                <a:effectLst/>
                <a:latin typeface="-apple-system"/>
              </a:rPr>
              <a:t>Transaction and Reliability Innovation</a:t>
            </a:r>
            <a:r>
              <a:rPr lang="en-US" altLang="zh-CN" b="0" i="0" dirty="0">
                <a:solidFill>
                  <a:srgbClr val="1F2328"/>
                </a:solidFill>
                <a:effectLst/>
                <a:latin typeface="-apple-system"/>
              </a:rPr>
              <a:t>. As you can see in the diagram, current ordering methods face a trade-off. 'Ordering by Initiator' introduces additional Round-Trip Time (RTT) latency, while 'Ordering by Target' reduces latency but requires significant buffering overhead. The platform enables you to design </a:t>
            </a:r>
            <a:r>
              <a:rPr lang="en-US" altLang="zh-CN" b="1" i="0" dirty="0">
                <a:solidFill>
                  <a:srgbClr val="1F2328"/>
                </a:solidFill>
                <a:effectLst/>
                <a:latin typeface="-apple-system"/>
              </a:rPr>
              <a:t>new ordering and reliability schemes</a:t>
            </a:r>
            <a:r>
              <a:rPr lang="en-US" altLang="zh-CN" b="0" i="0" dirty="0">
                <a:solidFill>
                  <a:srgbClr val="1F2328"/>
                </a:solidFill>
                <a:effectLst/>
                <a:latin typeface="-apple-system"/>
              </a:rPr>
              <a:t>. The goal is to achieve the best of both worlds: </a:t>
            </a:r>
            <a:r>
              <a:rPr lang="en-US" altLang="zh-CN" b="1" i="0" dirty="0">
                <a:solidFill>
                  <a:srgbClr val="1F2328"/>
                </a:solidFill>
                <a:effectLst/>
                <a:latin typeface="-apple-system"/>
              </a:rPr>
              <a:t>low latency and minimal buffering</a:t>
            </a:r>
            <a:r>
              <a:rPr lang="en-US" altLang="zh-CN" b="0" i="0" dirty="0">
                <a:solidFill>
                  <a:srgbClr val="1F2328"/>
                </a:solidFill>
                <a:effectLst/>
                <a:latin typeface="-apple-system"/>
              </a:rPr>
              <a:t>, ensuring high-efficiency transmission for scale-up networks.</a:t>
            </a:r>
          </a:p>
          <a:p>
            <a:endParaRPr lang="en-US" altLang="zh-CN" sz="1600" b="1" dirty="0">
              <a:solidFill>
                <a:srgbClr val="282828"/>
              </a:solidFill>
              <a:latin typeface="微软雅黑"/>
              <a:ea typeface="微软雅黑"/>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6D14F7-4041-4838-9480-6984A2D519D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142651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1F2328"/>
                </a:solidFill>
                <a:effectLst/>
                <a:latin typeface="-apple-system"/>
              </a:rPr>
              <a:t>Next, let’s look at </a:t>
            </a:r>
            <a:r>
              <a:rPr lang="en-US" altLang="zh-CN" b="1" i="0" dirty="0">
                <a:solidFill>
                  <a:srgbClr val="1F2328"/>
                </a:solidFill>
                <a:effectLst/>
                <a:latin typeface="-apple-system"/>
              </a:rPr>
              <a:t>Case 2: Network Architecture and Algorithm Innovation</a:t>
            </a:r>
            <a:r>
              <a:rPr lang="en-US" altLang="zh-CN" b="0" i="0" dirty="0">
                <a:solidFill>
                  <a:srgbClr val="1F2328"/>
                </a:solidFill>
                <a:effectLst/>
                <a:latin typeface="-apple-system"/>
              </a:rPr>
              <a:t>.</a:t>
            </a:r>
          </a:p>
          <a:p>
            <a:pPr algn="l"/>
            <a:r>
              <a:rPr lang="en-US" altLang="zh-CN" b="0" i="0" dirty="0">
                <a:solidFill>
                  <a:srgbClr val="1F2328"/>
                </a:solidFill>
                <a:effectLst/>
                <a:latin typeface="-apple-system"/>
              </a:rPr>
              <a:t>With this platform, users can build </a:t>
            </a:r>
            <a:r>
              <a:rPr lang="en-US" altLang="zh-CN" b="1" i="0" dirty="0">
                <a:solidFill>
                  <a:srgbClr val="1F2328"/>
                </a:solidFill>
                <a:effectLst/>
                <a:latin typeface="-apple-system"/>
              </a:rPr>
              <a:t>any network topology</a:t>
            </a:r>
            <a:r>
              <a:rPr lang="en-US" altLang="zh-CN" b="0" i="0" dirty="0">
                <a:solidFill>
                  <a:srgbClr val="1F2328"/>
                </a:solidFill>
                <a:effectLst/>
                <a:latin typeface="-apple-system"/>
              </a:rPr>
              <a:t> to study new architectures for AI training and inference. On top of these topologies, you can design and evaluate </a:t>
            </a:r>
            <a:r>
              <a:rPr lang="en-US" altLang="zh-CN" b="1" i="0" dirty="0">
                <a:solidFill>
                  <a:srgbClr val="1F2328"/>
                </a:solidFill>
                <a:effectLst/>
                <a:latin typeface="-apple-system"/>
              </a:rPr>
              <a:t>routing policies, collective communication algorithms, and flow control mechanisms</a:t>
            </a:r>
            <a:r>
              <a:rPr lang="en-US" altLang="zh-CN" b="0" i="0" dirty="0">
                <a:solidFill>
                  <a:srgbClr val="1F2328"/>
                </a:solidFill>
                <a:effectLst/>
                <a:latin typeface="-apple-system"/>
              </a:rPr>
              <a:t>.</a:t>
            </a:r>
          </a:p>
          <a:p>
            <a:pPr algn="l"/>
            <a:r>
              <a:rPr lang="en-US" altLang="zh-CN" b="0" i="0" dirty="0">
                <a:solidFill>
                  <a:srgbClr val="1F2328"/>
                </a:solidFill>
                <a:effectLst/>
                <a:latin typeface="-apple-system"/>
              </a:rPr>
              <a:t>For routing, the platform already supports </a:t>
            </a:r>
            <a:r>
              <a:rPr lang="en-US" altLang="zh-CN" b="1" i="0" dirty="0">
                <a:solidFill>
                  <a:srgbClr val="1F2328"/>
                </a:solidFill>
                <a:effectLst/>
                <a:latin typeface="-apple-system"/>
              </a:rPr>
              <a:t>UB protocol–defined strategies</a:t>
            </a:r>
            <a:r>
              <a:rPr lang="en-US" altLang="zh-CN" b="0" i="0" dirty="0">
                <a:solidFill>
                  <a:srgbClr val="1F2328"/>
                </a:solidFill>
                <a:effectLst/>
                <a:latin typeface="-apple-system"/>
              </a:rPr>
              <a:t>. With simple configuration, you can enable flow-based or packet-based routing, and combine shortest-path and all-path routing to form common policies such as </a:t>
            </a:r>
            <a:r>
              <a:rPr lang="en-US" altLang="zh-CN" b="1" i="0" dirty="0">
                <a:solidFill>
                  <a:srgbClr val="1F2328"/>
                </a:solidFill>
                <a:effectLst/>
                <a:latin typeface="-apple-system"/>
              </a:rPr>
              <a:t>SPF, APR, and packet spray</a:t>
            </a:r>
            <a:r>
              <a:rPr lang="en-US" altLang="zh-CN" b="0" i="0" dirty="0">
                <a:solidFill>
                  <a:srgbClr val="1F2328"/>
                </a:solidFill>
                <a:effectLst/>
                <a:latin typeface="-apple-system"/>
              </a:rPr>
              <a:t>. This makes it easy to compare how different routing strategies affect transmission performance.</a:t>
            </a:r>
          </a:p>
          <a:p>
            <a:pPr algn="l"/>
            <a:r>
              <a:rPr lang="en-US" altLang="zh-CN" b="0" i="0" dirty="0">
                <a:solidFill>
                  <a:srgbClr val="1F2328"/>
                </a:solidFill>
                <a:effectLst/>
                <a:latin typeface="-apple-system"/>
              </a:rPr>
              <a:t>Beyond built-in options, the platform also supports </a:t>
            </a:r>
            <a:r>
              <a:rPr lang="en-US" altLang="zh-CN" b="1" i="0" dirty="0">
                <a:solidFill>
                  <a:srgbClr val="1F2328"/>
                </a:solidFill>
                <a:effectLst/>
                <a:latin typeface="-apple-system"/>
              </a:rPr>
              <a:t>custom routing mechanisms</a:t>
            </a:r>
            <a:r>
              <a:rPr lang="en-US" altLang="zh-CN" b="0" i="0" dirty="0">
                <a:solidFill>
                  <a:srgbClr val="1F2328"/>
                </a:solidFill>
                <a:effectLst/>
                <a:latin typeface="-apple-system"/>
              </a:rPr>
              <a:t>. For example, based on the UB-Mesh work, users can define custom headers and routing logic to implement </a:t>
            </a:r>
            <a:r>
              <a:rPr lang="en-US" altLang="zh-CN" b="1" i="0" dirty="0">
                <a:solidFill>
                  <a:srgbClr val="1F2328"/>
                </a:solidFill>
                <a:effectLst/>
                <a:latin typeface="-apple-system"/>
              </a:rPr>
              <a:t>source routing</a:t>
            </a:r>
            <a:r>
              <a:rPr lang="en-US" altLang="zh-CN" b="0" i="0" dirty="0">
                <a:solidFill>
                  <a:srgbClr val="1F2328"/>
                </a:solidFill>
                <a:effectLst/>
                <a:latin typeface="-apple-system"/>
              </a:rPr>
              <a:t> on direct-connect topologies, and then measure the efficiency gains.</a:t>
            </a:r>
          </a:p>
          <a:p>
            <a:pPr algn="l"/>
            <a:r>
              <a:rPr lang="en-US" altLang="zh-CN" b="0" i="0" dirty="0">
                <a:solidFill>
                  <a:srgbClr val="1F2328"/>
                </a:solidFill>
                <a:effectLst/>
                <a:latin typeface="-apple-system"/>
              </a:rPr>
              <a:t>In short, the platform provides rich built-in routing strategies, and also lets users design their own mechanisms tailored to specific topologies.</a:t>
            </a:r>
          </a:p>
          <a:p>
            <a:pPr algn="l"/>
            <a:br>
              <a:rPr lang="en-US" altLang="zh-CN" sz="1600" b="1" dirty="0">
                <a:solidFill>
                  <a:srgbClr val="282828"/>
                </a:solidFill>
                <a:latin typeface="微软雅黑"/>
                <a:ea typeface="微软雅黑"/>
              </a:rPr>
            </a:br>
            <a:r>
              <a:rPr lang="en-US" altLang="zh-CN" b="0" i="0" dirty="0">
                <a:solidFill>
                  <a:srgbClr val="1F2328"/>
                </a:solidFill>
                <a:effectLst/>
                <a:latin typeface="-apple-system"/>
              </a:rPr>
              <a:t>Beyond routing, this case also focuses on </a:t>
            </a:r>
            <a:r>
              <a:rPr lang="en-US" altLang="zh-CN" b="1" i="0" dirty="0">
                <a:solidFill>
                  <a:srgbClr val="1F2328"/>
                </a:solidFill>
                <a:effectLst/>
                <a:latin typeface="-apple-system"/>
              </a:rPr>
              <a:t>collective algorithms</a:t>
            </a:r>
            <a:r>
              <a:rPr lang="en-US" altLang="zh-CN" b="0" i="0" dirty="0">
                <a:solidFill>
                  <a:srgbClr val="1F2328"/>
                </a:solidFill>
                <a:effectLst/>
                <a:latin typeface="-apple-system"/>
              </a:rPr>
              <a:t> and </a:t>
            </a:r>
            <a:r>
              <a:rPr lang="en-US" altLang="zh-CN" b="1" i="0" dirty="0">
                <a:solidFill>
                  <a:srgbClr val="1F2328"/>
                </a:solidFill>
                <a:effectLst/>
                <a:latin typeface="-apple-system"/>
              </a:rPr>
              <a:t>flow control</a:t>
            </a:r>
            <a:r>
              <a:rPr lang="en-US" altLang="zh-CN" b="0" i="0" dirty="0">
                <a:solidFill>
                  <a:srgbClr val="1F2328"/>
                </a:solidFill>
                <a:effectLst/>
                <a:latin typeface="-apple-system"/>
              </a:rPr>
              <a:t>.</a:t>
            </a:r>
          </a:p>
          <a:p>
            <a:pPr algn="l"/>
            <a:r>
              <a:rPr lang="en-US" altLang="zh-CN" b="1" i="0" dirty="0">
                <a:solidFill>
                  <a:srgbClr val="1F2328"/>
                </a:solidFill>
                <a:effectLst/>
                <a:latin typeface="-apple-system"/>
              </a:rPr>
              <a:t>Second, Collective Algorithm Innovation.</a:t>
            </a:r>
            <a:br>
              <a:rPr lang="en-US" altLang="zh-CN" b="0" i="0" dirty="0">
                <a:solidFill>
                  <a:srgbClr val="1F2328"/>
                </a:solidFill>
                <a:effectLst/>
                <a:latin typeface="-apple-system"/>
              </a:rPr>
            </a:br>
            <a:r>
              <a:rPr lang="en-US" altLang="zh-CN" b="0" i="0" dirty="0">
                <a:solidFill>
                  <a:srgbClr val="1F2328"/>
                </a:solidFill>
                <a:effectLst/>
                <a:latin typeface="-apple-system"/>
              </a:rPr>
              <a:t>The platform can generate standard collective algorithms and inject traffic in arbitrary serial or parallel patterns.</a:t>
            </a:r>
            <a:br>
              <a:rPr lang="en-US" altLang="zh-CN" b="0" i="0" dirty="0">
                <a:solidFill>
                  <a:srgbClr val="1F2328"/>
                </a:solidFill>
                <a:effectLst/>
                <a:latin typeface="-apple-system"/>
              </a:rPr>
            </a:br>
            <a:r>
              <a:rPr lang="en-US" altLang="zh-CN" b="0" i="0" dirty="0">
                <a:solidFill>
                  <a:srgbClr val="1F2328"/>
                </a:solidFill>
                <a:effectLst/>
                <a:latin typeface="-apple-system"/>
              </a:rPr>
              <a:t>On top of that, users can design and simulate </a:t>
            </a:r>
            <a:r>
              <a:rPr lang="en-US" altLang="zh-CN" b="1" i="0" dirty="0">
                <a:solidFill>
                  <a:srgbClr val="1F2328"/>
                </a:solidFill>
                <a:effectLst/>
                <a:latin typeface="-apple-system"/>
              </a:rPr>
              <a:t>custom collective algorithms</a:t>
            </a:r>
            <a:r>
              <a:rPr lang="en-US" altLang="zh-CN" b="0" i="0" dirty="0">
                <a:solidFill>
                  <a:srgbClr val="1F2328"/>
                </a:solidFill>
                <a:effectLst/>
                <a:latin typeface="-apple-system"/>
              </a:rPr>
              <a:t> that match a specific topology and traffic pattern.</a:t>
            </a:r>
            <a:br>
              <a:rPr lang="en-US" altLang="zh-CN" b="0" i="0" dirty="0">
                <a:solidFill>
                  <a:srgbClr val="1F2328"/>
                </a:solidFill>
                <a:effectLst/>
                <a:latin typeface="-apple-system"/>
              </a:rPr>
            </a:br>
            <a:r>
              <a:rPr lang="en-US" altLang="zh-CN" b="0" i="0" dirty="0">
                <a:solidFill>
                  <a:srgbClr val="1F2328"/>
                </a:solidFill>
                <a:effectLst/>
                <a:latin typeface="-apple-system"/>
              </a:rPr>
              <a:t>Using the traffic injection tools, you can generate different types of collective traffic to </a:t>
            </a:r>
            <a:r>
              <a:rPr lang="en-US" altLang="zh-CN" b="1" i="0" dirty="0">
                <a:solidFill>
                  <a:srgbClr val="1F2328"/>
                </a:solidFill>
                <a:effectLst/>
                <a:latin typeface="-apple-system"/>
              </a:rPr>
              <a:t>validate new algorithm ideas</a:t>
            </a:r>
            <a:r>
              <a:rPr lang="en-US" altLang="zh-CN" b="0" i="0" dirty="0">
                <a:solidFill>
                  <a:srgbClr val="1F2328"/>
                </a:solidFill>
                <a:effectLst/>
                <a:latin typeface="-apple-system"/>
              </a:rPr>
              <a:t>.</a:t>
            </a:r>
            <a:br>
              <a:rPr lang="en-US" altLang="zh-CN" b="0" i="0" dirty="0">
                <a:solidFill>
                  <a:srgbClr val="1F2328"/>
                </a:solidFill>
                <a:effectLst/>
                <a:latin typeface="-apple-system"/>
              </a:rPr>
            </a:br>
            <a:r>
              <a:rPr lang="en-US" altLang="zh-CN" b="0" i="0" dirty="0">
                <a:solidFill>
                  <a:srgbClr val="1F2328"/>
                </a:solidFill>
                <a:effectLst/>
                <a:latin typeface="-apple-system"/>
              </a:rPr>
              <a:t>As shown here in the UB-Mesh example, we can explore </a:t>
            </a:r>
            <a:r>
              <a:rPr lang="en-US" altLang="zh-CN" b="1" i="0" dirty="0">
                <a:solidFill>
                  <a:srgbClr val="1F2328"/>
                </a:solidFill>
                <a:effectLst/>
                <a:latin typeface="-apple-system"/>
              </a:rPr>
              <a:t>multi-ring </a:t>
            </a:r>
            <a:r>
              <a:rPr lang="en-US" altLang="zh-CN" b="1" i="0" dirty="0" err="1">
                <a:solidFill>
                  <a:srgbClr val="1F2328"/>
                </a:solidFill>
                <a:effectLst/>
                <a:latin typeface="-apple-system"/>
              </a:rPr>
              <a:t>AllReduce</a:t>
            </a:r>
            <a:r>
              <a:rPr lang="en-US" altLang="zh-CN" b="0" i="0" dirty="0">
                <a:solidFill>
                  <a:srgbClr val="1F2328"/>
                </a:solidFill>
                <a:effectLst/>
                <a:latin typeface="-apple-system"/>
              </a:rPr>
              <a:t> and multi-path or hierarchical All-to-All schemes on mesh-like topologies.</a:t>
            </a:r>
          </a:p>
          <a:p>
            <a:pPr algn="l"/>
            <a:r>
              <a:rPr lang="en-US" altLang="zh-CN" b="1" i="0" dirty="0">
                <a:solidFill>
                  <a:srgbClr val="1F2328"/>
                </a:solidFill>
                <a:effectLst/>
                <a:latin typeface="-apple-system"/>
              </a:rPr>
              <a:t>Third, Flow Control Algorithm Innovation.</a:t>
            </a:r>
            <a:br>
              <a:rPr lang="en-US" altLang="zh-CN" b="0" i="0" dirty="0">
                <a:solidFill>
                  <a:srgbClr val="1F2328"/>
                </a:solidFill>
                <a:effectLst/>
                <a:latin typeface="-apple-system"/>
              </a:rPr>
            </a:br>
            <a:r>
              <a:rPr lang="en-US" altLang="zh-CN" b="0" i="0" dirty="0">
                <a:solidFill>
                  <a:srgbClr val="1F2328"/>
                </a:solidFill>
                <a:effectLst/>
                <a:latin typeface="-apple-system"/>
              </a:rPr>
              <a:t>The platform supports </a:t>
            </a:r>
            <a:r>
              <a:rPr lang="en-US" altLang="zh-CN" b="1" i="0" dirty="0">
                <a:solidFill>
                  <a:srgbClr val="1F2328"/>
                </a:solidFill>
                <a:effectLst/>
                <a:latin typeface="-apple-system"/>
              </a:rPr>
              <a:t>CBFC, PFC, and Virtual Channels</a:t>
            </a:r>
            <a:r>
              <a:rPr lang="en-US" altLang="zh-CN" b="0" i="0" dirty="0">
                <a:solidFill>
                  <a:srgbClr val="1F2328"/>
                </a:solidFill>
                <a:effectLst/>
                <a:latin typeface="-apple-system"/>
              </a:rPr>
              <a:t>, so it can be used to verify different flow control schemes and </a:t>
            </a:r>
            <a:r>
              <a:rPr lang="en-US" altLang="zh-CN" b="1" i="0" dirty="0">
                <a:solidFill>
                  <a:srgbClr val="1F2328"/>
                </a:solidFill>
                <a:effectLst/>
                <a:latin typeface="-apple-system"/>
              </a:rPr>
              <a:t>deadlock prevention</a:t>
            </a:r>
            <a:r>
              <a:rPr lang="en-US" altLang="zh-CN" b="0" i="0" dirty="0">
                <a:solidFill>
                  <a:srgbClr val="1F2328"/>
                </a:solidFill>
                <a:effectLst/>
                <a:latin typeface="-apple-system"/>
              </a:rPr>
              <a:t> mechanisms.</a:t>
            </a:r>
            <a:br>
              <a:rPr lang="en-US" altLang="zh-CN" b="0" i="0" dirty="0">
                <a:solidFill>
                  <a:srgbClr val="1F2328"/>
                </a:solidFill>
                <a:effectLst/>
                <a:latin typeface="-apple-system"/>
              </a:rPr>
            </a:br>
            <a:r>
              <a:rPr lang="en-US" altLang="zh-CN" b="0" i="0" dirty="0">
                <a:solidFill>
                  <a:srgbClr val="1F2328"/>
                </a:solidFill>
                <a:effectLst/>
                <a:latin typeface="-apple-system"/>
              </a:rPr>
              <a:t>It also allows users to </a:t>
            </a:r>
            <a:r>
              <a:rPr lang="en-US" altLang="zh-CN" b="1" i="0" dirty="0">
                <a:solidFill>
                  <a:srgbClr val="1F2328"/>
                </a:solidFill>
                <a:effectLst/>
                <a:latin typeface="-apple-system"/>
              </a:rPr>
              <a:t>reproduce deadlocks</a:t>
            </a:r>
            <a:r>
              <a:rPr lang="en-US" altLang="zh-CN" b="0" i="0" dirty="0">
                <a:solidFill>
                  <a:srgbClr val="1F2328"/>
                </a:solidFill>
                <a:effectLst/>
                <a:latin typeface="-apple-system"/>
              </a:rPr>
              <a:t>, capture logs, and analyze the root causes.</a:t>
            </a:r>
            <a:br>
              <a:rPr lang="en-US" altLang="zh-CN" b="0" i="0" dirty="0">
                <a:solidFill>
                  <a:srgbClr val="1F2328"/>
                </a:solidFill>
                <a:effectLst/>
                <a:latin typeface="-apple-system"/>
              </a:rPr>
            </a:br>
            <a:r>
              <a:rPr lang="en-US" altLang="zh-CN" b="0" i="0" dirty="0">
                <a:solidFill>
                  <a:srgbClr val="1F2328"/>
                </a:solidFill>
                <a:effectLst/>
                <a:latin typeface="-apple-system"/>
              </a:rPr>
              <a:t>Based on these observations, you can design and evaluate </a:t>
            </a:r>
            <a:r>
              <a:rPr lang="en-US" altLang="zh-CN" b="1" i="0" dirty="0">
                <a:solidFill>
                  <a:srgbClr val="1F2328"/>
                </a:solidFill>
                <a:effectLst/>
                <a:latin typeface="-apple-system"/>
              </a:rPr>
              <a:t>deadlock resolution mechanisms</a:t>
            </a:r>
            <a:r>
              <a:rPr lang="en-US" altLang="zh-CN" b="0" i="0" dirty="0">
                <a:solidFill>
                  <a:srgbClr val="1F2328"/>
                </a:solidFill>
                <a:effectLst/>
                <a:latin typeface="-apple-system"/>
              </a:rPr>
              <a:t>, for example using Virtual Channels, and see how they behave under realistic network conditions.</a:t>
            </a:r>
          </a:p>
          <a:p>
            <a:pPr algn="l"/>
            <a:r>
              <a:rPr lang="en-US" altLang="zh-CN" b="0" i="0" dirty="0">
                <a:solidFill>
                  <a:srgbClr val="1F2328"/>
                </a:solidFill>
                <a:effectLst/>
                <a:latin typeface="-apple-system"/>
              </a:rPr>
              <a:t>With these capabilities, Case 2 provides a complete environment to co-design </a:t>
            </a:r>
            <a:r>
              <a:rPr lang="en-US" altLang="zh-CN" b="1" i="0" dirty="0">
                <a:solidFill>
                  <a:srgbClr val="1F2328"/>
                </a:solidFill>
                <a:effectLst/>
                <a:latin typeface="-apple-system"/>
              </a:rPr>
              <a:t>network architecture and algorithms</a:t>
            </a:r>
            <a:r>
              <a:rPr lang="en-US" altLang="zh-CN" b="0" i="0" dirty="0">
                <a:solidFill>
                  <a:srgbClr val="1F2328"/>
                </a:solidFill>
                <a:effectLst/>
                <a:latin typeface="-apple-system"/>
              </a:rPr>
              <a:t>—from routing, to collective communication, to flow control.</a:t>
            </a:r>
          </a:p>
          <a:p>
            <a:endParaRPr lang="en-US" altLang="zh-CN" sz="1600" b="1" dirty="0">
              <a:solidFill>
                <a:srgbClr val="282828"/>
              </a:solidFill>
              <a:latin typeface="微软雅黑"/>
              <a:ea typeface="微软雅黑"/>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6D14F7-4041-4838-9480-6984A2D519D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874531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t>This is the UB Protocol Verification Platform, a specialized tool for verifying </a:t>
            </a:r>
            <a:r>
              <a:rPr lang="en-US" altLang="zh-CN" sz="1200" dirty="0" err="1"/>
              <a:t>UnifiedBus</a:t>
            </a:r>
            <a:r>
              <a:rPr lang="en-US" altLang="zh-CN" sz="1200" dirty="0"/>
              <a:t> protocol </a:t>
            </a:r>
            <a:r>
              <a:rPr lang="en-US" altLang="zh-CN" sz="1200" dirty="0" err="1"/>
              <a:t>designings</a:t>
            </a:r>
            <a:r>
              <a:rPr lang="en-US" altLang="zh-CN" sz="1200" dirty="0"/>
              <a:t>.</a:t>
            </a:r>
          </a:p>
          <a:p>
            <a:endParaRPr lang="en-US" altLang="zh-CN" sz="1200" dirty="0"/>
          </a:p>
          <a:p>
            <a:r>
              <a:rPr lang="en-US" altLang="zh-CN" sz="1200" dirty="0"/>
              <a:t>Its primary function is to ensure reliability across four dimensions: </a:t>
            </a:r>
          </a:p>
          <a:p>
            <a:r>
              <a:rPr lang="en-US" altLang="zh-CN" sz="1200" dirty="0"/>
              <a:t>First, it verifies the logical </a:t>
            </a:r>
            <a:r>
              <a:rPr lang="en-US" altLang="zh-CN" sz="1200" b="1" dirty="0"/>
              <a:t>correctness of protocol designs</a:t>
            </a:r>
            <a:r>
              <a:rPr lang="en-US" altLang="zh-CN" sz="1200" dirty="0"/>
              <a:t> and </a:t>
            </a:r>
            <a:r>
              <a:rPr lang="en-US" altLang="zh-CN" sz="1200" b="1" dirty="0"/>
              <a:t>configurations</a:t>
            </a:r>
            <a:r>
              <a:rPr lang="en-US" altLang="zh-CN" sz="1200" dirty="0"/>
              <a:t>. </a:t>
            </a:r>
          </a:p>
          <a:p>
            <a:r>
              <a:rPr lang="en-US" altLang="zh-CN" sz="1200" dirty="0"/>
              <a:t>Second, it validates the </a:t>
            </a:r>
            <a:r>
              <a:rPr lang="en-US" altLang="zh-CN" sz="1200" b="1" dirty="0"/>
              <a:t>compatibility</a:t>
            </a:r>
            <a:r>
              <a:rPr lang="en-US" altLang="zh-CN" sz="1200" dirty="0"/>
              <a:t> of new design extensions. </a:t>
            </a:r>
          </a:p>
          <a:p>
            <a:r>
              <a:rPr lang="en-US" altLang="zh-CN" sz="1200" dirty="0"/>
              <a:t>And third, it tests the </a:t>
            </a:r>
            <a:r>
              <a:rPr lang="en-US" altLang="zh-CN" sz="1200" b="1" dirty="0"/>
              <a:t>robustness</a:t>
            </a:r>
            <a:r>
              <a:rPr lang="en-US" altLang="zh-CN" sz="1200" dirty="0"/>
              <a:t> of the control plane algorithms.</a:t>
            </a:r>
          </a:p>
          <a:p>
            <a:endParaRPr lang="en-US" altLang="zh-CN" sz="1200" dirty="0"/>
          </a:p>
          <a:p>
            <a:r>
              <a:rPr lang="en-US" altLang="zh-CN" sz="1200" dirty="0"/>
              <a:t>The workflow is automated. Developers define new protocol specifications directly in the platform, and the verifier executes checks to guarantee logical correctness. Additionally, by inputting deployment configurations, the system validates both configuration integrity and compatibility between different protocols.</a:t>
            </a:r>
          </a:p>
          <a:p>
            <a:r>
              <a:rPr lang="en-US" altLang="zh-CN" sz="1200" dirty="0"/>
              <a:t>The project is open source. You can access the source code and documentation via the </a:t>
            </a:r>
            <a:r>
              <a:rPr lang="en-US" altLang="zh-CN" sz="1200" dirty="0" err="1"/>
              <a:t>GitCode</a:t>
            </a:r>
            <a:r>
              <a:rPr lang="en-US" altLang="zh-CN" sz="1200" dirty="0"/>
              <a:t> repository listed on the screen.</a:t>
            </a:r>
          </a:p>
          <a:p>
            <a:endParaRPr lang="en-US" altLang="zh-CN" sz="1700" b="1" dirty="0">
              <a:solidFill>
                <a:srgbClr val="282828"/>
              </a:solidFill>
              <a:latin typeface="微软雅黑"/>
              <a:ea typeface="微软雅黑"/>
            </a:endParaRPr>
          </a:p>
        </p:txBody>
      </p:sp>
      <p:sp>
        <p:nvSpPr>
          <p:cNvPr id="4" name="灯片编号占位符 3"/>
          <p:cNvSpPr>
            <a:spLocks noGrp="1"/>
          </p:cNvSpPr>
          <p:nvPr>
            <p:ph type="sldNum" sz="quarter" idx="5"/>
          </p:nvPr>
        </p:nvSpPr>
        <p:spPr/>
        <p:txBody>
          <a:bodyPr/>
          <a:lstStyle/>
          <a:p>
            <a:pPr defTabSz="990570">
              <a:defRPr/>
            </a:pPr>
            <a:fld id="{2A6D14F7-4041-4838-9480-6984A2D519D9}" type="slidenum">
              <a:rPr lang="zh-CN" altLang="en-US">
                <a:solidFill>
                  <a:prstClr val="black"/>
                </a:solidFill>
                <a:latin typeface="Calibri" panose="020F0502020204030204"/>
                <a:ea typeface="宋体" panose="02010600030101010101" pitchFamily="2" charset="-122"/>
              </a:rPr>
              <a:pPr defTabSz="990570">
                <a:defRPr/>
              </a:pPr>
              <a:t>8</a:t>
            </a:fld>
            <a:endParaRPr lang="zh-CN" altLang="en-US">
              <a:solidFill>
                <a:prstClr val="black"/>
              </a:solidFill>
              <a:latin typeface="Calibri" panose="020F0502020204030204"/>
              <a:ea typeface="宋体" panose="02010600030101010101" pitchFamily="2" charset="-122"/>
            </a:endParaRPr>
          </a:p>
        </p:txBody>
      </p:sp>
    </p:spTree>
    <p:extLst>
      <p:ext uri="{BB962C8B-B14F-4D97-AF65-F5344CB8AC3E}">
        <p14:creationId xmlns:p14="http://schemas.microsoft.com/office/powerpoint/2010/main" val="948645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t>This platform supports two primary research areas: Protocol Design and Control Plane Algorithm Design.</a:t>
            </a:r>
          </a:p>
          <a:p>
            <a:endParaRPr lang="en-US" altLang="zh-CN" sz="1200" dirty="0"/>
          </a:p>
          <a:p>
            <a:r>
              <a:rPr lang="en-US" altLang="zh-CN" sz="1200" dirty="0"/>
              <a:t>For </a:t>
            </a:r>
            <a:r>
              <a:rPr lang="en-US" altLang="zh-CN" sz="1200" b="1" dirty="0"/>
              <a:t>Protocol Design</a:t>
            </a:r>
            <a:r>
              <a:rPr lang="en-US" altLang="zh-CN" sz="1200" dirty="0"/>
              <a:t>, we provide complete formal descriptions covering the full stack—from the Datalink Layer up to the Transaction Layer. </a:t>
            </a:r>
          </a:p>
          <a:p>
            <a:r>
              <a:rPr lang="en-US" altLang="zh-CN" sz="1200" dirty="0"/>
              <a:t>As shown in the table, this includes verifying critical mechanisms like credit-based flow control, routing compatibility, transport state transitions, and memory transaction deadlocks. Researchers can modify these formal descriptions to automatically verify the correctness of new protocol features.</a:t>
            </a:r>
          </a:p>
          <a:p>
            <a:r>
              <a:rPr lang="en-US" altLang="zh-CN" sz="1200" dirty="0"/>
              <a:t>For </a:t>
            </a:r>
            <a:r>
              <a:rPr lang="en-US" altLang="zh-CN" sz="1200" b="1" dirty="0"/>
              <a:t>Control Plane Algorithm Design</a:t>
            </a:r>
            <a:r>
              <a:rPr lang="en-US" altLang="zh-CN" sz="1200" dirty="0"/>
              <a:t>, the platform targets the verification of load balancing and packet reordering strategies. It validates algorithm consistency and multi-path performance under complex conditions, including different network topologies like UB-mesh and CLOS, link failure scenarios, and varying traffic characteristics.</a:t>
            </a:r>
          </a:p>
          <a:p>
            <a:endParaRPr lang="en-US" altLang="zh-CN" sz="1700" b="1" dirty="0">
              <a:solidFill>
                <a:srgbClr val="282828"/>
              </a:solidFill>
              <a:latin typeface="微软雅黑"/>
              <a:ea typeface="微软雅黑"/>
            </a:endParaRPr>
          </a:p>
        </p:txBody>
      </p:sp>
      <p:sp>
        <p:nvSpPr>
          <p:cNvPr id="4" name="灯片编号占位符 3"/>
          <p:cNvSpPr>
            <a:spLocks noGrp="1"/>
          </p:cNvSpPr>
          <p:nvPr>
            <p:ph type="sldNum" sz="quarter" idx="5"/>
          </p:nvPr>
        </p:nvSpPr>
        <p:spPr/>
        <p:txBody>
          <a:bodyPr/>
          <a:lstStyle/>
          <a:p>
            <a:pPr defTabSz="990570">
              <a:defRPr/>
            </a:pPr>
            <a:fld id="{2A6D14F7-4041-4838-9480-6984A2D519D9}" type="slidenum">
              <a:rPr lang="zh-CN" altLang="en-US">
                <a:solidFill>
                  <a:prstClr val="black"/>
                </a:solidFill>
                <a:latin typeface="Calibri" panose="020F0502020204030204"/>
                <a:ea typeface="宋体" panose="02010600030101010101" pitchFamily="2" charset="-122"/>
              </a:rPr>
              <a:pPr defTabSz="990570">
                <a:defRPr/>
              </a:pPr>
              <a:t>9</a:t>
            </a:fld>
            <a:endParaRPr lang="zh-CN" altLang="en-US">
              <a:solidFill>
                <a:prstClr val="black"/>
              </a:solidFill>
              <a:latin typeface="Calibri" panose="020F0502020204030204"/>
              <a:ea typeface="宋体" panose="02010600030101010101" pitchFamily="2" charset="-122"/>
            </a:endParaRPr>
          </a:p>
        </p:txBody>
      </p:sp>
    </p:spTree>
    <p:extLst>
      <p:ext uri="{BB962C8B-B14F-4D97-AF65-F5344CB8AC3E}">
        <p14:creationId xmlns:p14="http://schemas.microsoft.com/office/powerpoint/2010/main" val="9440823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500" dirty="0"/>
              <a:t>Next is the </a:t>
            </a:r>
            <a:r>
              <a:rPr lang="en-US" altLang="zh-CN" sz="1500" b="1" dirty="0" err="1"/>
              <a:t>SuperPod</a:t>
            </a:r>
            <a:r>
              <a:rPr lang="en-US" altLang="zh-CN" sz="1500" b="1" dirty="0"/>
              <a:t> Networking Innovation Platform</a:t>
            </a:r>
            <a:r>
              <a:rPr lang="en-US" altLang="zh-CN" sz="1500" dirty="0"/>
              <a:t>. This is a hardware-based testbed designed to build and verify new network topologies.</a:t>
            </a:r>
          </a:p>
          <a:p>
            <a:endParaRPr lang="en-US" altLang="zh-CN" sz="1500" dirty="0"/>
          </a:p>
          <a:p>
            <a:r>
              <a:rPr lang="en-US" altLang="zh-CN" sz="1500" dirty="0"/>
              <a:t>Unlike software simulators, this platform uses real </a:t>
            </a:r>
            <a:r>
              <a:rPr lang="en-US" altLang="zh-CN" sz="1500" b="1" dirty="0"/>
              <a:t>Ascend servers</a:t>
            </a:r>
            <a:r>
              <a:rPr lang="en-US" altLang="zh-CN" sz="1500" dirty="0"/>
              <a:t> and </a:t>
            </a:r>
            <a:r>
              <a:rPr lang="en-US" altLang="zh-CN" sz="1500" b="1" dirty="0"/>
              <a:t>Optical Circuit Switches (OCS)</a:t>
            </a:r>
            <a:r>
              <a:rPr lang="en-US" altLang="zh-CN" sz="1500" dirty="0"/>
              <a:t>. This allows you to construct various physical topologies—whether direct, indirect, or dynamic OCS-based designs—and get accurate, real-world performance data.</a:t>
            </a:r>
          </a:p>
          <a:p>
            <a:endParaRPr lang="en-US" altLang="zh-CN" sz="1500" dirty="0"/>
          </a:p>
          <a:p>
            <a:r>
              <a:rPr lang="en-US" altLang="zh-CN" sz="1500" dirty="0"/>
              <a:t>On top of the hardware, you can verify your control logic. The platform supports testing for </a:t>
            </a:r>
            <a:r>
              <a:rPr lang="en-US" altLang="zh-CN" sz="1500" b="1" dirty="0"/>
              <a:t>routing, load balancing, and flow control algorithms</a:t>
            </a:r>
            <a:r>
              <a:rPr lang="en-US" altLang="zh-CN" sz="1500" dirty="0"/>
              <a:t>, ensuring they work correctly on the actual network structure.</a:t>
            </a:r>
          </a:p>
          <a:p>
            <a:r>
              <a:rPr lang="en-US" altLang="zh-CN" sz="1500" dirty="0"/>
              <a:t>For access, Huawei handles the complex physical setup, and we provide you with remote access to run your experiments</a:t>
            </a:r>
          </a:p>
          <a:p>
            <a:endParaRPr lang="en-US" altLang="zh-CN" sz="1500" b="1" dirty="0">
              <a:solidFill>
                <a:srgbClr val="282828"/>
              </a:solidFill>
              <a:latin typeface="微软雅黑"/>
              <a:ea typeface="微软雅黑"/>
            </a:endParaRPr>
          </a:p>
          <a:p>
            <a:endParaRPr lang="en-US" altLang="zh-CN" sz="1500" b="1" dirty="0">
              <a:solidFill>
                <a:srgbClr val="282828"/>
              </a:solidFill>
              <a:latin typeface="微软雅黑"/>
              <a:ea typeface="微软雅黑"/>
            </a:endParaRPr>
          </a:p>
        </p:txBody>
      </p:sp>
      <p:sp>
        <p:nvSpPr>
          <p:cNvPr id="4" name="灯片编号占位符 3"/>
          <p:cNvSpPr>
            <a:spLocks noGrp="1"/>
          </p:cNvSpPr>
          <p:nvPr>
            <p:ph type="sldNum" sz="quarter" idx="5"/>
          </p:nvPr>
        </p:nvSpPr>
        <p:spPr/>
        <p:txBody>
          <a:bodyPr/>
          <a:lstStyle/>
          <a:p>
            <a:pPr defTabSz="990570">
              <a:defRPr/>
            </a:pPr>
            <a:fld id="{2A6D14F7-4041-4838-9480-6984A2D519D9}" type="slidenum">
              <a:rPr lang="zh-CN" altLang="en-US">
                <a:solidFill>
                  <a:prstClr val="black"/>
                </a:solidFill>
                <a:latin typeface="Calibri" panose="020F0502020204030204"/>
                <a:ea typeface="宋体" panose="02010600030101010101" pitchFamily="2" charset="-122"/>
              </a:rPr>
              <a:pPr defTabSz="990570">
                <a:defRPr/>
              </a:pPr>
              <a:t>10</a:t>
            </a:fld>
            <a:endParaRPr lang="zh-CN" altLang="en-US">
              <a:solidFill>
                <a:prstClr val="black"/>
              </a:solidFill>
              <a:latin typeface="Calibri" panose="020F0502020204030204"/>
              <a:ea typeface="宋体" panose="02010600030101010101" pitchFamily="2" charset="-122"/>
            </a:endParaRPr>
          </a:p>
        </p:txBody>
      </p:sp>
    </p:spTree>
    <p:extLst>
      <p:ext uri="{BB962C8B-B14F-4D97-AF65-F5344CB8AC3E}">
        <p14:creationId xmlns:p14="http://schemas.microsoft.com/office/powerpoint/2010/main" val="6174515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300" dirty="0"/>
              <a:t>This platform empowers research through two main innovation directions, supported by comprehensive data visibility.</a:t>
            </a:r>
          </a:p>
          <a:p>
            <a:endParaRPr lang="en-US" altLang="zh-CN" sz="1300" dirty="0"/>
          </a:p>
          <a:p>
            <a:r>
              <a:rPr lang="en-US" altLang="zh-CN" sz="1300" dirty="0"/>
              <a:t>First, we enable </a:t>
            </a:r>
            <a:r>
              <a:rPr lang="en-US" altLang="zh-CN" sz="1300" b="1" dirty="0"/>
              <a:t>Topology Architecture Innovation</a:t>
            </a:r>
            <a:r>
              <a:rPr lang="en-US" altLang="zh-CN" sz="1300" dirty="0"/>
              <a:t>. The platform allows for the flexible definition of custom topologies. Instead of being locked into standard designs, you can prototype and verify novel structures, such as the UB-mesh or other specialized switching topologies.</a:t>
            </a:r>
          </a:p>
          <a:p>
            <a:endParaRPr lang="en-US" altLang="zh-CN" sz="1300" dirty="0"/>
          </a:p>
          <a:p>
            <a:r>
              <a:rPr lang="en-US" altLang="zh-CN" sz="1300" dirty="0"/>
              <a:t>Second, we support </a:t>
            </a:r>
            <a:r>
              <a:rPr lang="en-US" altLang="zh-CN" sz="1300" b="1" dirty="0"/>
              <a:t>Routing and Communication Algorithm Innovation</a:t>
            </a:r>
            <a:r>
              <a:rPr lang="en-US" altLang="zh-CN" sz="1300" dirty="0"/>
              <a:t>. We enable advanced routing strategies like full-path routing. To speed up your research, we provide a toolchain that translates Python code directly into the HCCL collective communication library. This allows for agile development and rapid iteration of new algorithms.</a:t>
            </a:r>
          </a:p>
          <a:p>
            <a:endParaRPr lang="en-US" altLang="zh-CN" sz="1300" dirty="0"/>
          </a:p>
          <a:p>
            <a:r>
              <a:rPr lang="en-US" altLang="zh-CN" sz="1300" dirty="0"/>
              <a:t>To validate these innovations, the platform provides complete </a:t>
            </a:r>
            <a:r>
              <a:rPr lang="en-US" altLang="zh-CN" sz="1300" b="1" dirty="0"/>
              <a:t>Data Transparency</a:t>
            </a:r>
            <a:r>
              <a:rPr lang="en-US" altLang="zh-CN" sz="1300" dirty="0"/>
              <a:t>. You get full visibility into NPU behavior and network traffic at the packet level. This monitoring capability is essential for analyzing performance and verifying your designs.</a:t>
            </a:r>
          </a:p>
          <a:p>
            <a:endParaRPr lang="en-US" altLang="zh-CN" sz="1300" b="1" dirty="0">
              <a:solidFill>
                <a:srgbClr val="282828"/>
              </a:solidFill>
              <a:latin typeface="微软雅黑"/>
              <a:ea typeface="微软雅黑"/>
            </a:endParaRPr>
          </a:p>
        </p:txBody>
      </p:sp>
      <p:sp>
        <p:nvSpPr>
          <p:cNvPr id="4" name="灯片编号占位符 3"/>
          <p:cNvSpPr>
            <a:spLocks noGrp="1"/>
          </p:cNvSpPr>
          <p:nvPr>
            <p:ph type="sldNum" sz="quarter" idx="5"/>
          </p:nvPr>
        </p:nvSpPr>
        <p:spPr/>
        <p:txBody>
          <a:bodyPr/>
          <a:lstStyle/>
          <a:p>
            <a:pPr defTabSz="990570">
              <a:defRPr/>
            </a:pPr>
            <a:fld id="{2A6D14F7-4041-4838-9480-6984A2D519D9}" type="slidenum">
              <a:rPr lang="zh-CN" altLang="en-US">
                <a:solidFill>
                  <a:prstClr val="black"/>
                </a:solidFill>
                <a:latin typeface="Calibri" panose="020F0502020204030204"/>
                <a:ea typeface="宋体" panose="02010600030101010101" pitchFamily="2" charset="-122"/>
              </a:rPr>
              <a:pPr defTabSz="990570">
                <a:defRPr/>
              </a:pPr>
              <a:t>11</a:t>
            </a:fld>
            <a:endParaRPr lang="zh-CN" altLang="en-US">
              <a:solidFill>
                <a:prstClr val="black"/>
              </a:solidFill>
              <a:latin typeface="Calibri" panose="020F0502020204030204"/>
              <a:ea typeface="宋体" panose="02010600030101010101" pitchFamily="2" charset="-122"/>
            </a:endParaRPr>
          </a:p>
        </p:txBody>
      </p:sp>
    </p:spTree>
    <p:extLst>
      <p:ext uri="{BB962C8B-B14F-4D97-AF65-F5344CB8AC3E}">
        <p14:creationId xmlns:p14="http://schemas.microsoft.com/office/powerpoint/2010/main" val="19466176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300" dirty="0"/>
              <a:t>Let's look at our </a:t>
            </a:r>
            <a:r>
              <a:rPr lang="en-US" altLang="zh-CN" sz="1300" b="1" dirty="0"/>
              <a:t>Scale-Up Prototype Platform</a:t>
            </a:r>
            <a:r>
              <a:rPr lang="en-US" altLang="zh-CN" sz="1300" dirty="0"/>
              <a:t>. This platform is built for Hardware-Software Co-Design, specifically to drive innovation in the </a:t>
            </a:r>
            <a:r>
              <a:rPr lang="en-US" altLang="zh-CN" sz="1300" dirty="0" err="1"/>
              <a:t>UnifiedBus</a:t>
            </a:r>
            <a:r>
              <a:rPr lang="en-US" altLang="zh-CN" sz="1300" dirty="0"/>
              <a:t> interconnect architecture.</a:t>
            </a:r>
          </a:p>
          <a:p>
            <a:r>
              <a:rPr lang="en-US" altLang="zh-CN" sz="1300" dirty="0"/>
              <a:t>The core strength here is versatility. We provide a set of FPGA-based prototypes that allow you to verify different layers of the protocol stack:</a:t>
            </a:r>
          </a:p>
          <a:p>
            <a:r>
              <a:rPr lang="en-US" altLang="zh-CN" sz="1300" dirty="0"/>
              <a:t>First, for </a:t>
            </a:r>
            <a:r>
              <a:rPr lang="en-US" altLang="zh-CN" sz="1300" b="1" dirty="0"/>
              <a:t>Memory Semantics (</a:t>
            </a:r>
            <a:r>
              <a:rPr lang="en-US" altLang="zh-CN" sz="1300" b="1" dirty="0" err="1"/>
              <a:t>UB.mem</a:t>
            </a:r>
            <a:r>
              <a:rPr lang="en-US" altLang="zh-CN" sz="1300" b="1" dirty="0"/>
              <a:t>)</a:t>
            </a:r>
            <a:r>
              <a:rPr lang="en-US" altLang="zh-CN" sz="1300" dirty="0"/>
              <a:t>, we support native read/write operations and acceleration logic, both on-path and off-path.</a:t>
            </a:r>
          </a:p>
          <a:p>
            <a:r>
              <a:rPr lang="en-US" altLang="zh-CN" sz="1300" dirty="0"/>
              <a:t>Second, for </a:t>
            </a:r>
            <a:r>
              <a:rPr lang="en-US" altLang="zh-CN" sz="1300" b="1" dirty="0"/>
              <a:t>Network Transport (</a:t>
            </a:r>
            <a:r>
              <a:rPr lang="en-US" altLang="zh-CN" sz="1300" b="1" dirty="0" err="1"/>
              <a:t>UBoE</a:t>
            </a:r>
            <a:r>
              <a:rPr lang="en-US" altLang="zh-CN" sz="1300" b="1" dirty="0"/>
              <a:t>)</a:t>
            </a:r>
            <a:r>
              <a:rPr lang="en-US" altLang="zh-CN" sz="1300" dirty="0"/>
              <a:t>, we offer an FPGA-based DPU. This allows you to test the conversion between memory semantics and network transport protocols.</a:t>
            </a:r>
          </a:p>
          <a:p>
            <a:r>
              <a:rPr lang="en-US" altLang="zh-CN" sz="1300" dirty="0"/>
              <a:t>Third, we have </a:t>
            </a:r>
            <a:r>
              <a:rPr lang="en-US" altLang="zh-CN" sz="1300" b="1" dirty="0"/>
              <a:t>Storage Verification (UB-SSD)</a:t>
            </a:r>
            <a:r>
              <a:rPr lang="en-US" altLang="zh-CN" sz="1300" dirty="0"/>
              <a:t>. This enables you to experiment with Near-Data Computing and memory semantics directly on the SSD.</a:t>
            </a:r>
          </a:p>
          <a:p>
            <a:r>
              <a:rPr lang="en-US" altLang="zh-CN" sz="1300" dirty="0"/>
              <a:t>And finally, we support </a:t>
            </a:r>
            <a:r>
              <a:rPr lang="en-US" altLang="zh-CN" sz="1300" b="1" dirty="0"/>
              <a:t>Low-latency Switching</a:t>
            </a:r>
            <a:r>
              <a:rPr lang="en-US" altLang="zh-CN" sz="1300" dirty="0"/>
              <a:t>, allowing you to test packet-cell converged switching logic.</a:t>
            </a:r>
          </a:p>
          <a:p>
            <a:r>
              <a:rPr lang="en-US" altLang="zh-CN" sz="1300" dirty="0"/>
              <a:t>As with our other platforms, we handle the physical setup, and you can access these resources remotely via the Huang </a:t>
            </a:r>
            <a:r>
              <a:rPr lang="en-US" altLang="zh-CN" sz="1300" dirty="0" err="1"/>
              <a:t>Danian</a:t>
            </a:r>
            <a:r>
              <a:rPr lang="en-US" altLang="zh-CN" sz="1300" dirty="0"/>
              <a:t> platform to run your verification tasks.</a:t>
            </a:r>
          </a:p>
          <a:p>
            <a:endParaRPr lang="en-US" altLang="zh-CN" sz="1300" b="1" dirty="0">
              <a:solidFill>
                <a:srgbClr val="282828"/>
              </a:solidFill>
              <a:latin typeface="微软雅黑"/>
              <a:ea typeface="微软雅黑"/>
            </a:endParaRPr>
          </a:p>
        </p:txBody>
      </p:sp>
      <p:sp>
        <p:nvSpPr>
          <p:cNvPr id="4" name="灯片编号占位符 3"/>
          <p:cNvSpPr>
            <a:spLocks noGrp="1"/>
          </p:cNvSpPr>
          <p:nvPr>
            <p:ph type="sldNum" sz="quarter" idx="5"/>
          </p:nvPr>
        </p:nvSpPr>
        <p:spPr/>
        <p:txBody>
          <a:bodyPr/>
          <a:lstStyle/>
          <a:p>
            <a:pPr defTabSz="990570">
              <a:defRPr/>
            </a:pPr>
            <a:fld id="{2A6D14F7-4041-4838-9480-6984A2D519D9}" type="slidenum">
              <a:rPr lang="zh-CN" altLang="en-US">
                <a:solidFill>
                  <a:prstClr val="black"/>
                </a:solidFill>
                <a:latin typeface="Calibri" panose="020F0502020204030204"/>
                <a:ea typeface="宋体" panose="02010600030101010101" pitchFamily="2" charset="-122"/>
              </a:rPr>
              <a:pPr defTabSz="990570">
                <a:defRPr/>
              </a:pPr>
              <a:t>12</a:t>
            </a:fld>
            <a:endParaRPr lang="zh-CN" altLang="en-US">
              <a:solidFill>
                <a:prstClr val="black"/>
              </a:solidFill>
              <a:latin typeface="Calibri" panose="020F0502020204030204"/>
              <a:ea typeface="宋体" panose="02010600030101010101" pitchFamily="2" charset="-122"/>
            </a:endParaRPr>
          </a:p>
        </p:txBody>
      </p:sp>
    </p:spTree>
    <p:extLst>
      <p:ext uri="{BB962C8B-B14F-4D97-AF65-F5344CB8AC3E}">
        <p14:creationId xmlns:p14="http://schemas.microsoft.com/office/powerpoint/2010/main" val="27389282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300" dirty="0"/>
              <a:t>Using this prototype platform, we are currently exploring three key directions in Hardware-Software Co-Design</a:t>
            </a:r>
          </a:p>
          <a:p>
            <a:r>
              <a:rPr lang="en-US" altLang="zh-CN" sz="1300" dirty="0"/>
              <a:t>.</a:t>
            </a:r>
          </a:p>
          <a:p>
            <a:r>
              <a:rPr lang="en-US" altLang="zh-CN" sz="1300" dirty="0"/>
              <a:t>First is the </a:t>
            </a:r>
            <a:r>
              <a:rPr lang="en-US" altLang="zh-CN" sz="1300" b="1" dirty="0" err="1"/>
              <a:t>OpenCCU</a:t>
            </a:r>
            <a:r>
              <a:rPr lang="en-US" altLang="zh-CN" sz="1300" b="1" dirty="0"/>
              <a:t> Accelerator</a:t>
            </a:r>
            <a:r>
              <a:rPr lang="en-US" altLang="zh-CN" sz="1300" dirty="0"/>
              <a:t>. This is built on a RISC-V architecture. The key innovation here is that we have extended the instruction set to natively support collective communication. This allows the hardware to handle complex communication tasks much more efficiently than standard processors.</a:t>
            </a:r>
          </a:p>
          <a:p>
            <a:r>
              <a:rPr lang="en-US" altLang="zh-CN" sz="1300" dirty="0"/>
              <a:t>Second is </a:t>
            </a:r>
            <a:r>
              <a:rPr lang="en-US" altLang="zh-CN" sz="1300" b="1" dirty="0"/>
              <a:t>Compound Memory Semantics</a:t>
            </a:r>
            <a:r>
              <a:rPr lang="en-US" altLang="zh-CN" sz="1300" dirty="0"/>
              <a:t>. The goal here is efficiency. Instead of sending multiple requests, we allow a single load/store instruction to trigger complex, multi-step transactions. We also include real-time traffic monitoring to identify memory hot spots and optimize performance dynamically.</a:t>
            </a:r>
          </a:p>
          <a:p>
            <a:r>
              <a:rPr lang="en-US" altLang="zh-CN" sz="1300" dirty="0"/>
              <a:t>Third is the </a:t>
            </a:r>
            <a:r>
              <a:rPr lang="en-US" altLang="zh-CN" sz="1300" b="1" dirty="0"/>
              <a:t>Memory Semantic UB SSD</a:t>
            </a:r>
            <a:r>
              <a:rPr lang="en-US" altLang="zh-CN" sz="1300" dirty="0"/>
              <a:t>. We are transforming storage into an active computing unit. This design supports </a:t>
            </a:r>
            <a:r>
              <a:rPr lang="en-US" altLang="zh-CN" sz="1300" b="1" dirty="0"/>
              <a:t>Near-Storage Computing</a:t>
            </a:r>
            <a:r>
              <a:rPr lang="en-US" altLang="zh-CN" sz="1300" dirty="0"/>
              <a:t>, allowing the SSD to process data locally. It also enables </a:t>
            </a:r>
            <a:r>
              <a:rPr lang="en-US" altLang="zh-CN" sz="1300" b="1" dirty="0"/>
              <a:t>Direct Access</a:t>
            </a:r>
            <a:r>
              <a:rPr lang="en-US" altLang="zh-CN" sz="1300" dirty="0"/>
              <a:t>, meaning GPUs or NPUs can read and write directly to the SSD, completely bypassing the CPU to reduce latency.</a:t>
            </a:r>
          </a:p>
          <a:p>
            <a:endParaRPr lang="en-US" altLang="zh-CN" sz="1300" b="1" dirty="0">
              <a:solidFill>
                <a:srgbClr val="282828"/>
              </a:solidFill>
              <a:latin typeface="微软雅黑"/>
              <a:ea typeface="微软雅黑"/>
            </a:endParaRPr>
          </a:p>
        </p:txBody>
      </p:sp>
      <p:sp>
        <p:nvSpPr>
          <p:cNvPr id="4" name="灯片编号占位符 3"/>
          <p:cNvSpPr>
            <a:spLocks noGrp="1"/>
          </p:cNvSpPr>
          <p:nvPr>
            <p:ph type="sldNum" sz="quarter" idx="5"/>
          </p:nvPr>
        </p:nvSpPr>
        <p:spPr/>
        <p:txBody>
          <a:bodyPr/>
          <a:lstStyle/>
          <a:p>
            <a:pPr defTabSz="990570">
              <a:defRPr/>
            </a:pPr>
            <a:fld id="{2A6D14F7-4041-4838-9480-6984A2D519D9}" type="slidenum">
              <a:rPr lang="zh-CN" altLang="en-US">
                <a:solidFill>
                  <a:prstClr val="black"/>
                </a:solidFill>
                <a:latin typeface="Calibri" panose="020F0502020204030204"/>
                <a:ea typeface="宋体" panose="02010600030101010101" pitchFamily="2" charset="-122"/>
              </a:rPr>
              <a:pPr defTabSz="990570">
                <a:defRPr/>
              </a:pPr>
              <a:t>13</a:t>
            </a:fld>
            <a:endParaRPr lang="zh-CN" altLang="en-US">
              <a:solidFill>
                <a:prstClr val="black"/>
              </a:solidFill>
              <a:latin typeface="Calibri" panose="020F0502020204030204"/>
              <a:ea typeface="宋体" panose="02010600030101010101" pitchFamily="2" charset="-122"/>
            </a:endParaRPr>
          </a:p>
        </p:txBody>
      </p:sp>
    </p:spTree>
    <p:extLst>
      <p:ext uri="{BB962C8B-B14F-4D97-AF65-F5344CB8AC3E}">
        <p14:creationId xmlns:p14="http://schemas.microsoft.com/office/powerpoint/2010/main" val="6824914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en-US" sz="1300" dirty="0"/>
          </a:p>
          <a:p>
            <a:r>
              <a:rPr lang="en-US" altLang="zh-CN" sz="1300" dirty="0"/>
              <a:t>Moving on to the </a:t>
            </a:r>
            <a:r>
              <a:rPr lang="en-US" altLang="zh-CN" sz="1300" b="1" dirty="0"/>
              <a:t>Scale-Out Prototype Platform</a:t>
            </a:r>
            <a:r>
              <a:rPr lang="en-US" altLang="zh-CN" sz="1300" dirty="0"/>
              <a:t>.</a:t>
            </a:r>
          </a:p>
          <a:p>
            <a:r>
              <a:rPr lang="en-US" altLang="zh-CN" sz="1300" b="1" dirty="0"/>
              <a:t>At its core</a:t>
            </a:r>
            <a:r>
              <a:rPr lang="en-US" altLang="zh-CN" sz="1300" dirty="0"/>
              <a:t>, the platform relies on a cluster of programmable NICs and switches. We typically run a 2-layer Clos architecture, but it is flexible enough to support other common topologies as well.</a:t>
            </a:r>
          </a:p>
          <a:p>
            <a:r>
              <a:rPr lang="en-US" altLang="zh-CN" sz="1300" b="1" dirty="0"/>
              <a:t>On the protocol side</a:t>
            </a:r>
            <a:r>
              <a:rPr lang="en-US" altLang="zh-CN" sz="1300" dirty="0"/>
              <a:t>, it is fully compatible with both </a:t>
            </a:r>
            <a:r>
              <a:rPr lang="en-US" altLang="zh-CN" sz="1300" b="1" dirty="0" err="1"/>
              <a:t>UBoE</a:t>
            </a:r>
            <a:r>
              <a:rPr lang="en-US" altLang="zh-CN" sz="1300" dirty="0"/>
              <a:t> and </a:t>
            </a:r>
            <a:r>
              <a:rPr lang="en-US" altLang="zh-CN" sz="1300" b="1" dirty="0"/>
              <a:t>standard </a:t>
            </a:r>
            <a:r>
              <a:rPr lang="en-US" altLang="zh-CN" sz="1300" b="1" dirty="0" err="1"/>
              <a:t>RoCE</a:t>
            </a:r>
            <a:r>
              <a:rPr lang="en-US" altLang="zh-CN" sz="1300" dirty="0"/>
              <a:t>. It natively supports advanced transmission features like multi-pathing, packet spraying, and out-of-order reception, covering both lossless and lossy modes.</a:t>
            </a:r>
          </a:p>
          <a:p>
            <a:r>
              <a:rPr lang="en-US" altLang="zh-CN" sz="1300" b="1" dirty="0"/>
              <a:t>For innovation</a:t>
            </a:r>
            <a:r>
              <a:rPr lang="en-US" altLang="zh-CN" sz="1300" dirty="0"/>
              <a:t>, the platform is designed to support advanced protocol and algorithm research. It enables you to test </a:t>
            </a:r>
            <a:r>
              <a:rPr lang="en-US" altLang="zh-CN" sz="1300" b="1" dirty="0"/>
              <a:t>per-packet load balancing</a:t>
            </a:r>
            <a:r>
              <a:rPr lang="en-US" altLang="zh-CN" sz="1300" dirty="0"/>
              <a:t>, </a:t>
            </a:r>
            <a:r>
              <a:rPr lang="en-US" altLang="zh-CN" sz="1300" b="1" dirty="0"/>
              <a:t>multi-path transmission</a:t>
            </a:r>
            <a:r>
              <a:rPr lang="en-US" altLang="zh-CN" sz="1300" dirty="0"/>
              <a:t>, </a:t>
            </a:r>
            <a:r>
              <a:rPr lang="en-US" altLang="zh-CN" sz="1300" b="1" dirty="0"/>
              <a:t>congestion control</a:t>
            </a:r>
            <a:r>
              <a:rPr lang="en-US" altLang="zh-CN" sz="1300" dirty="0"/>
              <a:t>, </a:t>
            </a:r>
            <a:r>
              <a:rPr lang="en-US" altLang="zh-CN" sz="1300" b="1" dirty="0"/>
              <a:t>packet trimming</a:t>
            </a:r>
            <a:r>
              <a:rPr lang="en-US" altLang="zh-CN" sz="1300" dirty="0"/>
              <a:t>, and </a:t>
            </a:r>
            <a:r>
              <a:rPr lang="en-US" altLang="zh-CN" sz="1300" b="1" dirty="0"/>
              <a:t>flow control</a:t>
            </a:r>
            <a:r>
              <a:rPr lang="en-US" altLang="zh-CN" sz="1300" dirty="0"/>
              <a:t>.</a:t>
            </a:r>
          </a:p>
          <a:p>
            <a:endParaRPr lang="en-US" altLang="zh-CN" sz="1300" dirty="0"/>
          </a:p>
          <a:p>
            <a:r>
              <a:rPr lang="en-US" altLang="zh-CN" sz="1300" dirty="0"/>
              <a:t>Access is currently available via the Huawei internal network, and we are actively expanding the platform to include new NIC architectures and compute systems soon.</a:t>
            </a:r>
          </a:p>
          <a:p>
            <a:r>
              <a:rPr lang="en-US" altLang="en-US" sz="1300" dirty="0"/>
              <a:t>Traffic Generation Tool/</a:t>
            </a:r>
            <a:r>
              <a:rPr lang="zh-CN" altLang="en-US" sz="1300" dirty="0"/>
              <a:t> </a:t>
            </a:r>
            <a:r>
              <a:rPr lang="en-US" altLang="en-US" sz="1300" dirty="0"/>
              <a:t>Classic Algorithm Capability Code</a:t>
            </a:r>
            <a:endParaRPr lang="en-US" altLang="zh-CN" sz="1300" dirty="0"/>
          </a:p>
          <a:p>
            <a:r>
              <a:rPr lang="en-US" altLang="en-US" sz="1300" dirty="0"/>
              <a:t>Development Interface/ Supported Latency</a:t>
            </a:r>
          </a:p>
          <a:p>
            <a:endParaRPr lang="en-US" altLang="zh-CN" sz="1300" dirty="0"/>
          </a:p>
          <a:p>
            <a:endParaRPr lang="en-US" altLang="en-US" sz="1300" dirty="0"/>
          </a:p>
        </p:txBody>
      </p:sp>
      <p:sp>
        <p:nvSpPr>
          <p:cNvPr id="4" name="灯片编号占位符 3"/>
          <p:cNvSpPr>
            <a:spLocks noGrp="1"/>
          </p:cNvSpPr>
          <p:nvPr>
            <p:ph type="sldNum" sz="quarter" idx="5"/>
          </p:nvPr>
        </p:nvSpPr>
        <p:spPr/>
        <p:txBody>
          <a:bodyPr/>
          <a:lstStyle/>
          <a:p>
            <a:pPr defTabSz="990654">
              <a:defRPr/>
            </a:pPr>
            <a:fld id="{F07326F3-4732-B74B-9C70-D0992466E499}" type="slidenum">
              <a:rPr lang="en-US">
                <a:solidFill>
                  <a:prstClr val="black"/>
                </a:solidFill>
                <a:latin typeface="Calibri" panose="020F0502020204030204"/>
              </a:rPr>
              <a:pPr defTabSz="990654">
                <a:defRPr/>
              </a:pPr>
              <a:t>14</a:t>
            </a:fld>
            <a:endParaRPr lang="en-US">
              <a:solidFill>
                <a:prstClr val="black"/>
              </a:solidFill>
              <a:latin typeface="Calibri" panose="020F0502020204030204"/>
            </a:endParaRPr>
          </a:p>
        </p:txBody>
      </p:sp>
    </p:spTree>
    <p:extLst>
      <p:ext uri="{BB962C8B-B14F-4D97-AF65-F5344CB8AC3E}">
        <p14:creationId xmlns:p14="http://schemas.microsoft.com/office/powerpoint/2010/main" val="21965656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570">
              <a:defRPr/>
            </a:pPr>
            <a:r>
              <a:rPr lang="en-US" altLang="zh-CN" sz="1300" dirty="0"/>
              <a:t>CompuNet aims to build an open platform for exchange and innovation, driving technological progress in computing networks and supporting both academic growth and talent development. To further this mission, Huawei and leading academic institutions successfully held the 2nd CompuNet Scale-Up Summit on October 15, 2025.</a:t>
            </a:r>
            <a:br>
              <a:rPr lang="en-US" altLang="zh-CN" sz="1300" dirty="0"/>
            </a:br>
            <a:br>
              <a:rPr lang="en-US" altLang="zh-CN" sz="1300" dirty="0"/>
            </a:br>
            <a:r>
              <a:rPr lang="en-US" altLang="zh-CN" sz="1300" dirty="0"/>
              <a:t>A highlight of the summit was the official release of the CompuNet Scale-Up Network Innovation Platform—the first open platform of its kind designed for Scale-Up networks. Additionally, CompuNet initiated a collaboration with the CCF (TCDCS, TCHPC, &amp; TCI). Together, they will explore new avenues for industry-academia-research cooperation through seminars, technical competitions, and academic courses, promoting interdisciplinary innovation across the computer science landscape.</a:t>
            </a:r>
          </a:p>
          <a:p>
            <a:pPr defTabSz="990570">
              <a:defRPr/>
            </a:pPr>
            <a:endParaRPr lang="en-US" altLang="zh-CN" sz="1300" dirty="0"/>
          </a:p>
          <a:p>
            <a:pPr defTabSz="990570">
              <a:defRPr/>
            </a:pPr>
            <a:r>
              <a:rPr lang="en-US" altLang="zh-CN" sz="1300" dirty="0"/>
              <a:t>TCDCS: Technical Committee on Distributed Computing and Systems </a:t>
            </a:r>
          </a:p>
          <a:p>
            <a:pPr defTabSz="990570">
              <a:defRPr/>
            </a:pPr>
            <a:r>
              <a:rPr lang="en-US" altLang="zh-CN" sz="1300" dirty="0"/>
              <a:t>TCHPC: High Performance Computing</a:t>
            </a:r>
          </a:p>
          <a:p>
            <a:pPr defTabSz="990570">
              <a:defRPr/>
            </a:pPr>
            <a:endParaRPr lang="en-US" altLang="zh-CN" dirty="0"/>
          </a:p>
        </p:txBody>
      </p:sp>
      <p:sp>
        <p:nvSpPr>
          <p:cNvPr id="4" name="灯片编号占位符 3"/>
          <p:cNvSpPr>
            <a:spLocks noGrp="1"/>
          </p:cNvSpPr>
          <p:nvPr>
            <p:ph type="sldNum" sz="quarter" idx="5"/>
          </p:nvPr>
        </p:nvSpPr>
        <p:spPr/>
        <p:txBody>
          <a:bodyPr/>
          <a:lstStyle/>
          <a:p>
            <a:pPr defTabSz="990570">
              <a:defRPr/>
            </a:pPr>
            <a:fld id="{11D93781-6638-4997-B9D6-37433199FDCB}" type="slidenum">
              <a:rPr lang="zh-CN" altLang="en-US">
                <a:solidFill>
                  <a:prstClr val="black"/>
                </a:solidFill>
                <a:latin typeface="Calibri" panose="020F0502020204030204"/>
                <a:ea typeface="宋体" panose="02010600030101010101" pitchFamily="2" charset="-122"/>
              </a:rPr>
              <a:pPr defTabSz="990570">
                <a:defRPr/>
              </a:pPr>
              <a:t>15</a:t>
            </a:fld>
            <a:endParaRPr lang="zh-CN" altLang="en-US">
              <a:solidFill>
                <a:prstClr val="black"/>
              </a:solidFill>
              <a:latin typeface="Calibri" panose="020F0502020204030204"/>
              <a:ea typeface="宋体" panose="02010600030101010101" pitchFamily="2" charset="-122"/>
            </a:endParaRPr>
          </a:p>
        </p:txBody>
      </p:sp>
    </p:spTree>
    <p:extLst>
      <p:ext uri="{BB962C8B-B14F-4D97-AF65-F5344CB8AC3E}">
        <p14:creationId xmlns:p14="http://schemas.microsoft.com/office/powerpoint/2010/main" val="936630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1013" y="1279525"/>
            <a:ext cx="6140450" cy="34528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7326F3-4732-B74B-9C70-D0992466E499}" type="slidenum">
              <a:rPr lang="en-US" smtClean="0"/>
              <a:t>16</a:t>
            </a:fld>
            <a:endParaRPr lang="en-US"/>
          </a:p>
        </p:txBody>
      </p:sp>
    </p:spTree>
    <p:extLst>
      <p:ext uri="{BB962C8B-B14F-4D97-AF65-F5344CB8AC3E}">
        <p14:creationId xmlns:p14="http://schemas.microsoft.com/office/powerpoint/2010/main" val="13118456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emf"/><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8.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探索">
    <p:bg>
      <p:bgPr>
        <a:solidFill>
          <a:srgbClr val="FFFFFF"/>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2">
            <a:extLst>
              <a:ext uri="{28A0092B-C50C-407E-A947-70E740481C1C}">
                <a14:useLocalDpi xmlns:a14="http://schemas.microsoft.com/office/drawing/2010/main" val="0"/>
              </a:ext>
            </a:extLst>
          </a:blip>
          <a:srcRect b="18667"/>
          <a:stretch/>
        </p:blipFill>
        <p:spPr>
          <a:xfrm>
            <a:off x="0" y="0"/>
            <a:ext cx="12206140" cy="5594695"/>
          </a:xfrm>
          <a:prstGeom prst="rect">
            <a:avLst/>
          </a:prstGeom>
        </p:spPr>
      </p:pic>
      <p:sp>
        <p:nvSpPr>
          <p:cNvPr id="7" name="L 形 6"/>
          <p:cNvSpPr/>
          <p:nvPr userDrawn="1"/>
        </p:nvSpPr>
        <p:spPr>
          <a:xfrm rot="5400000">
            <a:off x="7853942" y="2130562"/>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10"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898996" y="907092"/>
            <a:ext cx="6559809" cy="690255"/>
          </a:xfrm>
          <a:prstGeom prst="rect">
            <a:avLst/>
          </a:prstGeom>
          <a:ln>
            <a:noFill/>
            <a:prstDash val="dash"/>
          </a:ln>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6" name="Text Placeholder 5">
            <a:extLst>
              <a:ext uri="{FF2B5EF4-FFF2-40B4-BE49-F238E27FC236}">
                <a16:creationId xmlns:a16="http://schemas.microsoft.com/office/drawing/2014/main" id="{2F43DA98-D48D-6947-95EF-BA3B05E68822}"/>
              </a:ext>
            </a:extLst>
          </p:cNvPr>
          <p:cNvSpPr>
            <a:spLocks noGrp="1"/>
          </p:cNvSpPr>
          <p:nvPr>
            <p:ph type="body" sz="quarter" idx="10" hasCustomPrompt="1"/>
          </p:nvPr>
        </p:nvSpPr>
        <p:spPr>
          <a:xfrm>
            <a:off x="929260" y="1949372"/>
            <a:ext cx="653584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9" name="Text Placeholder 5">
            <a:extLst>
              <a:ext uri="{FF2B5EF4-FFF2-40B4-BE49-F238E27FC236}">
                <a16:creationId xmlns:a16="http://schemas.microsoft.com/office/drawing/2014/main" id="{52F8733E-C4C9-8D4D-8DDA-CAB265AC05A0}"/>
              </a:ext>
            </a:extLst>
          </p:cNvPr>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p>
        </p:txBody>
      </p:sp>
    </p:spTree>
    <p:extLst>
      <p:ext uri="{BB962C8B-B14F-4D97-AF65-F5344CB8AC3E}">
        <p14:creationId xmlns:p14="http://schemas.microsoft.com/office/powerpoint/2010/main" val="165194953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智能">
    <p:bg>
      <p:bgPr>
        <a:solidFill>
          <a:srgbClr val="FFFFFF"/>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b="18604"/>
          <a:stretch/>
        </p:blipFill>
        <p:spPr>
          <a:xfrm>
            <a:off x="0" y="375"/>
            <a:ext cx="12197432" cy="5599236"/>
          </a:xfrm>
          <a:prstGeom prst="rect">
            <a:avLst/>
          </a:prstGeom>
        </p:spPr>
      </p:pic>
      <p:sp>
        <p:nvSpPr>
          <p:cNvPr id="8" name="Title 1">
            <a:extLst>
              <a:ext uri="{FF2B5EF4-FFF2-40B4-BE49-F238E27FC236}">
                <a16:creationId xmlns:a16="http://schemas.microsoft.com/office/drawing/2014/main" id="{62AA4863-E1EF-3342-A8CB-ECD4FD06CEB7}"/>
              </a:ext>
            </a:extLst>
          </p:cNvPr>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5" name="Text Placeholder 5">
            <a:extLst>
              <a:ext uri="{FF2B5EF4-FFF2-40B4-BE49-F238E27FC236}">
                <a16:creationId xmlns:a16="http://schemas.microsoft.com/office/drawing/2014/main" id="{195303EA-8491-464F-99A0-67F948701C12}"/>
              </a:ext>
            </a:extLst>
          </p:cNvPr>
          <p:cNvSpPr>
            <a:spLocks noGrp="1"/>
          </p:cNvSpPr>
          <p:nvPr>
            <p:ph type="body" sz="quarter" idx="10" hasCustomPrompt="1"/>
          </p:nvPr>
        </p:nvSpPr>
        <p:spPr>
          <a:xfrm>
            <a:off x="929260" y="1949372"/>
            <a:ext cx="412816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6" name="Text Placeholder 5">
            <a:extLst>
              <a:ext uri="{FF2B5EF4-FFF2-40B4-BE49-F238E27FC236}">
                <a16:creationId xmlns:a16="http://schemas.microsoft.com/office/drawing/2014/main" id="{56DBC59C-CE55-E340-A3AE-F88AAF0D7560}"/>
              </a:ext>
            </a:extLst>
          </p:cNvPr>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p>
        </p:txBody>
      </p:sp>
      <p:sp>
        <p:nvSpPr>
          <p:cNvPr id="14" name="L 形 17">
            <a:extLst>
              <a:ext uri="{FF2B5EF4-FFF2-40B4-BE49-F238E27FC236}">
                <a16:creationId xmlns:a16="http://schemas.microsoft.com/office/drawing/2014/main" id="{3049C48A-4CAE-8940-8A29-89DE0543DF4C}"/>
              </a:ext>
            </a:extLst>
          </p:cNvPr>
          <p:cNvSpPr/>
          <p:nvPr userDrawn="1"/>
        </p:nvSpPr>
        <p:spPr>
          <a:xfrm rot="5400000">
            <a:off x="5369529" y="2370740"/>
            <a:ext cx="744262" cy="762208"/>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Tree>
    <p:extLst>
      <p:ext uri="{BB962C8B-B14F-4D97-AF65-F5344CB8AC3E}">
        <p14:creationId xmlns:p14="http://schemas.microsoft.com/office/powerpoint/2010/main" val="351448738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创新">
    <p:bg>
      <p:bgPr>
        <a:solidFill>
          <a:srgbClr val="FFFFFF"/>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t="1" b="18476"/>
          <a:stretch/>
        </p:blipFill>
        <p:spPr>
          <a:xfrm>
            <a:off x="0" y="374"/>
            <a:ext cx="12197432" cy="5590529"/>
          </a:xfrm>
          <a:prstGeom prst="rect">
            <a:avLst/>
          </a:prstGeom>
        </p:spPr>
      </p:pic>
      <p:sp>
        <p:nvSpPr>
          <p:cNvPr id="9" name="L 形 8"/>
          <p:cNvSpPr/>
          <p:nvPr userDrawn="1"/>
        </p:nvSpPr>
        <p:spPr>
          <a:xfrm rot="5400000">
            <a:off x="5945516" y="2323519"/>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8" name="Title 1">
            <a:extLst>
              <a:ext uri="{FF2B5EF4-FFF2-40B4-BE49-F238E27FC236}">
                <a16:creationId xmlns:a16="http://schemas.microsoft.com/office/drawing/2014/main" id="{FB908F03-BBCC-164B-BE54-2E836D6E7C14}"/>
              </a:ext>
            </a:extLst>
          </p:cNvPr>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5" name="Text Placeholder 5">
            <a:extLst>
              <a:ext uri="{FF2B5EF4-FFF2-40B4-BE49-F238E27FC236}">
                <a16:creationId xmlns:a16="http://schemas.microsoft.com/office/drawing/2014/main" id="{A3BE9F9B-07D9-DD4C-9CEF-250804A4145A}"/>
              </a:ext>
            </a:extLst>
          </p:cNvPr>
          <p:cNvSpPr>
            <a:spLocks noGrp="1"/>
          </p:cNvSpPr>
          <p:nvPr>
            <p:ph type="body" sz="quarter" idx="10" hasCustomPrompt="1"/>
          </p:nvPr>
        </p:nvSpPr>
        <p:spPr>
          <a:xfrm>
            <a:off x="929260" y="1949372"/>
            <a:ext cx="653584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6" name="Text Placeholder 5">
            <a:extLst>
              <a:ext uri="{FF2B5EF4-FFF2-40B4-BE49-F238E27FC236}">
                <a16:creationId xmlns:a16="http://schemas.microsoft.com/office/drawing/2014/main" id="{93A299E5-0026-5A42-88AA-B3A7F29D3ABD}"/>
              </a:ext>
            </a:extLst>
          </p:cNvPr>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p>
        </p:txBody>
      </p:sp>
    </p:spTree>
    <p:extLst>
      <p:ext uri="{BB962C8B-B14F-4D97-AF65-F5344CB8AC3E}">
        <p14:creationId xmlns:p14="http://schemas.microsoft.com/office/powerpoint/2010/main" val="184266986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攀登">
    <p:bg>
      <p:bgPr>
        <a:solidFill>
          <a:srgbClr val="FFFFFF"/>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extLst>
              <a:ext uri="{28A0092B-C50C-407E-A947-70E740481C1C}">
                <a14:useLocalDpi xmlns:a14="http://schemas.microsoft.com/office/drawing/2010/main" val="0"/>
              </a:ext>
            </a:extLst>
          </a:blip>
          <a:srcRect b="17902"/>
          <a:stretch/>
        </p:blipFill>
        <p:spPr>
          <a:xfrm>
            <a:off x="0" y="-74021"/>
            <a:ext cx="12197432" cy="5668718"/>
          </a:xfrm>
          <a:prstGeom prst="rect">
            <a:avLst/>
          </a:prstGeom>
        </p:spPr>
      </p:pic>
      <p:sp>
        <p:nvSpPr>
          <p:cNvPr id="2"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8" name="L 形 7"/>
          <p:cNvSpPr/>
          <p:nvPr userDrawn="1"/>
        </p:nvSpPr>
        <p:spPr>
          <a:xfrm rot="5400000">
            <a:off x="7929967" y="165755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5" name="Text Placeholder 5">
            <a:extLst>
              <a:ext uri="{FF2B5EF4-FFF2-40B4-BE49-F238E27FC236}">
                <a16:creationId xmlns:a16="http://schemas.microsoft.com/office/drawing/2014/main" id="{6BB7B2F8-0AF7-D04F-81DD-52FDB6B7326C}"/>
              </a:ext>
            </a:extLst>
          </p:cNvPr>
          <p:cNvSpPr>
            <a:spLocks noGrp="1"/>
          </p:cNvSpPr>
          <p:nvPr>
            <p:ph type="body" sz="quarter" idx="10" hasCustomPrompt="1"/>
          </p:nvPr>
        </p:nvSpPr>
        <p:spPr>
          <a:xfrm>
            <a:off x="929260" y="1949372"/>
            <a:ext cx="653584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6" name="Text Placeholder 5">
            <a:extLst>
              <a:ext uri="{FF2B5EF4-FFF2-40B4-BE49-F238E27FC236}">
                <a16:creationId xmlns:a16="http://schemas.microsoft.com/office/drawing/2014/main" id="{462D1BCC-0781-514D-8FE8-12F4AF64BC39}"/>
              </a:ext>
            </a:extLst>
          </p:cNvPr>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p>
        </p:txBody>
      </p:sp>
    </p:spTree>
    <p:extLst>
      <p:ext uri="{BB962C8B-B14F-4D97-AF65-F5344CB8AC3E}">
        <p14:creationId xmlns:p14="http://schemas.microsoft.com/office/powerpoint/2010/main" val="537370765"/>
      </p:ext>
    </p:extLst>
  </p:cSld>
  <p:clrMapOvr>
    <a:masterClrMapping/>
  </p:clrMapOvr>
  <p:extLst>
    <p:ext uri="{DCECCB84-F9BA-43D5-87BE-67443E8EF086}">
      <p15:sldGuideLst xmlns:p15="http://schemas.microsoft.com/office/powerpoint/2012/main">
        <p15:guide id="1" orient="horz" pos="341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结束页">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960DD1-8AC3-8F46-9D2D-BF81187F43FC}"/>
              </a:ext>
            </a:extLst>
          </p:cNvPr>
          <p:cNvSpPr txBox="1"/>
          <p:nvPr userDrawn="1"/>
        </p:nvSpPr>
        <p:spPr>
          <a:xfrm>
            <a:off x="607486" y="1402064"/>
            <a:ext cx="3921034" cy="854717"/>
          </a:xfrm>
          <a:prstGeom prst="rect">
            <a:avLst/>
          </a:prstGeom>
          <a:noFill/>
        </p:spPr>
        <p:txBody>
          <a:bodyPr wrap="square" rtlCol="0">
            <a:spAutoFit/>
          </a:bodyPr>
          <a:lstStyle/>
          <a:p>
            <a:pPr algn="l"/>
            <a:r>
              <a:rPr lang="en-US" sz="4800" dirty="0">
                <a:solidFill>
                  <a:schemeClr val="tx1"/>
                </a:solidFill>
              </a:rPr>
              <a:t>Thank you.</a:t>
            </a:r>
          </a:p>
        </p:txBody>
      </p:sp>
    </p:spTree>
    <p:extLst>
      <p:ext uri="{BB962C8B-B14F-4D97-AF65-F5344CB8AC3E}">
        <p14:creationId xmlns:p14="http://schemas.microsoft.com/office/powerpoint/2010/main" val="3664786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智能">
    <p:spTree>
      <p:nvGrpSpPr>
        <p:cNvPr id="1" name=""/>
        <p:cNvGrpSpPr/>
        <p:nvPr/>
      </p:nvGrpSpPr>
      <p:grpSpPr>
        <a:xfrm>
          <a:off x="0" y="0"/>
          <a:ext cx="0" cy="0"/>
          <a:chOff x="0" y="0"/>
          <a:chExt cx="0" cy="0"/>
        </a:xfrm>
      </p:grpSpPr>
      <p:pic>
        <p:nvPicPr>
          <p:cNvPr id="14" name="图片 13"/>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 y="2"/>
            <a:ext cx="12196763" cy="5602265"/>
          </a:xfrm>
          <a:prstGeom prst="rect">
            <a:avLst/>
          </a:prstGeom>
        </p:spPr>
      </p:pic>
      <p:sp>
        <p:nvSpPr>
          <p:cNvPr id="3" name="标题 2">
            <a:extLst>
              <a:ext uri="{FF2B5EF4-FFF2-40B4-BE49-F238E27FC236}">
                <a16:creationId xmlns:a16="http://schemas.microsoft.com/office/drawing/2014/main" id="{E32726D1-A5BA-4BAD-9730-37679FE0719B}"/>
              </a:ext>
            </a:extLst>
          </p:cNvPr>
          <p:cNvSpPr>
            <a:spLocks noGrp="1"/>
          </p:cNvSpPr>
          <p:nvPr>
            <p:ph type="title"/>
          </p:nvPr>
        </p:nvSpPr>
        <p:spPr>
          <a:xfrm>
            <a:off x="934315" y="1449077"/>
            <a:ext cx="9435112" cy="539749"/>
          </a:xfrm>
        </p:spPr>
        <p:txBody>
          <a:bodyPr/>
          <a:lstStyle/>
          <a:p>
            <a:r>
              <a:rPr lang="zh-CN" altLang="en-US"/>
              <a:t>单击此处编辑母版标题样式</a:t>
            </a:r>
          </a:p>
        </p:txBody>
      </p:sp>
      <p:pic>
        <p:nvPicPr>
          <p:cNvPr id="7" name="图片 6">
            <a:extLst>
              <a:ext uri="{FF2B5EF4-FFF2-40B4-BE49-F238E27FC236}">
                <a16:creationId xmlns:a16="http://schemas.microsoft.com/office/drawing/2014/main" id="{41E6762D-A002-42F9-967E-DAE133A1D79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413535" y="6443798"/>
            <a:ext cx="1267156" cy="277200"/>
          </a:xfrm>
          <a:prstGeom prst="rect">
            <a:avLst/>
          </a:prstGeom>
        </p:spPr>
      </p:pic>
      <p:sp>
        <p:nvSpPr>
          <p:cNvPr id="9" name="TextBox 2">
            <a:extLst>
              <a:ext uri="{FF2B5EF4-FFF2-40B4-BE49-F238E27FC236}">
                <a16:creationId xmlns:a16="http://schemas.microsoft.com/office/drawing/2014/main" id="{73CA98B6-FC6E-4040-9AE8-14E08852D8D5}"/>
              </a:ext>
            </a:extLst>
          </p:cNvPr>
          <p:cNvSpPr txBox="1"/>
          <p:nvPr/>
        </p:nvSpPr>
        <p:spPr>
          <a:xfrm>
            <a:off x="1215424" y="6306796"/>
            <a:ext cx="1135222" cy="551204"/>
          </a:xfrm>
          <a:prstGeom prst="rect">
            <a:avLst/>
          </a:prstGeom>
          <a:noFill/>
        </p:spPr>
        <p:txBody>
          <a:bodyPr wrap="none" lIns="0" tIns="0" rIns="0" bIns="0" rtlCol="0" anchor="ctr">
            <a:noAutofit/>
          </a:bodyPr>
          <a:lstStyle/>
          <a:p>
            <a:pPr defTabSz="913668" fontAlgn="base">
              <a:spcBef>
                <a:spcPct val="0"/>
              </a:spcBef>
              <a:spcAft>
                <a:spcPct val="0"/>
              </a:spcAft>
            </a:pPr>
            <a:r>
              <a:rPr lang="en-US" sz="1000" dirty="0">
                <a:solidFill>
                  <a:srgbClr val="1D1D1B"/>
                </a:solidFill>
                <a:latin typeface="Calibri" pitchFamily="34" charset="0"/>
                <a:ea typeface="宋体" pitchFamily="2" charset="-122"/>
                <a:cs typeface="Arial" panose="020B0604020202020204" pitchFamily="34" charset="0"/>
              </a:rPr>
              <a:t>Huawei Confidential</a:t>
            </a:r>
          </a:p>
        </p:txBody>
      </p:sp>
      <p:pic>
        <p:nvPicPr>
          <p:cNvPr id="6" name="图片 5">
            <a:extLst>
              <a:ext uri="{FF2B5EF4-FFF2-40B4-BE49-F238E27FC236}">
                <a16:creationId xmlns:a16="http://schemas.microsoft.com/office/drawing/2014/main" id="{F11F3208-AA4E-44D5-A234-39AE5CC76F1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413535" y="6443798"/>
            <a:ext cx="1267156" cy="277200"/>
          </a:xfrm>
          <a:prstGeom prst="rect">
            <a:avLst/>
          </a:prstGeom>
        </p:spPr>
      </p:pic>
      <p:sp>
        <p:nvSpPr>
          <p:cNvPr id="8" name="TextBox 2">
            <a:extLst>
              <a:ext uri="{FF2B5EF4-FFF2-40B4-BE49-F238E27FC236}">
                <a16:creationId xmlns:a16="http://schemas.microsoft.com/office/drawing/2014/main" id="{0EF7818B-6F47-451D-B757-5106F3F75360}"/>
              </a:ext>
            </a:extLst>
          </p:cNvPr>
          <p:cNvSpPr txBox="1"/>
          <p:nvPr/>
        </p:nvSpPr>
        <p:spPr>
          <a:xfrm>
            <a:off x="1215424" y="6306796"/>
            <a:ext cx="1135222" cy="551204"/>
          </a:xfrm>
          <a:prstGeom prst="rect">
            <a:avLst/>
          </a:prstGeom>
          <a:noFill/>
        </p:spPr>
        <p:txBody>
          <a:bodyPr wrap="none" lIns="0" tIns="0" rIns="0" bIns="0" rtlCol="0" anchor="ctr">
            <a:noAutofit/>
          </a:bodyPr>
          <a:lstStyle/>
          <a:p>
            <a:pPr defTabSz="913668" fontAlgn="base">
              <a:spcBef>
                <a:spcPct val="0"/>
              </a:spcBef>
              <a:spcAft>
                <a:spcPct val="0"/>
              </a:spcAft>
            </a:pPr>
            <a:r>
              <a:rPr lang="en-US" sz="1000" dirty="0">
                <a:solidFill>
                  <a:srgbClr val="1D1D1B"/>
                </a:solidFill>
                <a:latin typeface="Calibri" pitchFamily="34" charset="0"/>
                <a:ea typeface="宋体" pitchFamily="2" charset="-122"/>
                <a:cs typeface="Arial" panose="020B0604020202020204" pitchFamily="34" charset="0"/>
              </a:rPr>
              <a:t>Huawei Confidential</a:t>
            </a:r>
          </a:p>
        </p:txBody>
      </p:sp>
    </p:spTree>
    <p:extLst>
      <p:ext uri="{BB962C8B-B14F-4D97-AF65-F5344CB8AC3E}">
        <p14:creationId xmlns:p14="http://schemas.microsoft.com/office/powerpoint/2010/main" val="2423806372"/>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2400" b="1">
                <a:latin typeface="+mn-ea"/>
                <a:ea typeface="+mn-ea"/>
              </a:defRPr>
            </a:lvl1pPr>
          </a:lstStyle>
          <a:p>
            <a:r>
              <a:rPr lang="zh-CN" altLang="en-US" dirty="0"/>
              <a:t>单击此处编辑母版标题样式</a:t>
            </a:r>
          </a:p>
        </p:txBody>
      </p:sp>
    </p:spTree>
    <p:extLst>
      <p:ext uri="{BB962C8B-B14F-4D97-AF65-F5344CB8AC3E}">
        <p14:creationId xmlns:p14="http://schemas.microsoft.com/office/powerpoint/2010/main" val="4211793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2" name="矩形 1"/>
          <p:cNvSpPr/>
          <p:nvPr/>
        </p:nvSpPr>
        <p:spPr>
          <a:xfrm>
            <a:off x="0" y="5052912"/>
            <a:ext cx="12196763" cy="18050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668" fontAlgn="base">
              <a:spcBef>
                <a:spcPct val="0"/>
              </a:spcBef>
              <a:spcAft>
                <a:spcPct val="0"/>
              </a:spcAft>
            </a:pPr>
            <a:endParaRPr lang="zh-CN" altLang="en-US" sz="1798">
              <a:solidFill>
                <a:srgbClr val="FFFFFF"/>
              </a:solidFill>
            </a:endParaRPr>
          </a:p>
        </p:txBody>
      </p:sp>
      <p:sp>
        <p:nvSpPr>
          <p:cNvPr id="8" name="Text Placeholder 1">
            <a:extLst>
              <a:ext uri="{FF2B5EF4-FFF2-40B4-BE49-F238E27FC236}">
                <a16:creationId xmlns:a16="http://schemas.microsoft.com/office/drawing/2014/main" id="{F8FC7CCD-75EB-9C44-BC7D-29679334A8CA}"/>
              </a:ext>
            </a:extLst>
          </p:cNvPr>
          <p:cNvSpPr txBox="1">
            <a:spLocks/>
          </p:cNvSpPr>
          <p:nvPr/>
        </p:nvSpPr>
        <p:spPr>
          <a:xfrm>
            <a:off x="7981435" y="2794960"/>
            <a:ext cx="322600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lnSpc>
                <a:spcPts val="1065"/>
              </a:lnSpc>
              <a:spcAft>
                <a:spcPct val="0"/>
              </a:spcAft>
            </a:pPr>
            <a:r>
              <a:rPr kumimoji="1" lang="en-US" altLang="zh-CN" sz="850" b="1" dirty="0">
                <a:solidFill>
                  <a:srgbClr val="1D1D1B"/>
                </a:solidFill>
                <a:latin typeface="Arial"/>
              </a:rPr>
              <a:t>Copyright©2018 Huawei Technologies Co., Ltd.</a:t>
            </a:r>
            <a:br>
              <a:rPr kumimoji="1" lang="en-US" altLang="zh-CN" sz="850" b="1" dirty="0">
                <a:solidFill>
                  <a:srgbClr val="1D1D1B"/>
                </a:solidFill>
                <a:latin typeface="Arial"/>
              </a:rPr>
            </a:br>
            <a:r>
              <a:rPr kumimoji="1" lang="en-US" altLang="zh-CN" sz="850" b="1" dirty="0">
                <a:solidFill>
                  <a:srgbClr val="1D1D1B"/>
                </a:solidFill>
                <a:latin typeface="Arial"/>
              </a:rPr>
              <a:t>All Rights Reserved.</a:t>
            </a:r>
            <a:br>
              <a:rPr kumimoji="1" lang="en-US" altLang="zh-CN" sz="779" dirty="0">
                <a:solidFill>
                  <a:srgbClr val="1D1D1B"/>
                </a:solidFill>
                <a:latin typeface="Arial"/>
              </a:rPr>
            </a:br>
            <a:br>
              <a:rPr kumimoji="1" lang="en-US" altLang="zh-CN" sz="779" dirty="0">
                <a:solidFill>
                  <a:srgbClr val="1D1D1B"/>
                </a:solidFill>
                <a:latin typeface="Arial"/>
              </a:rPr>
            </a:br>
            <a:r>
              <a:rPr kumimoji="1" lang="en-US" altLang="zh-CN" sz="850" dirty="0">
                <a:solidFill>
                  <a:srgbClr val="1D1D1B"/>
                </a:solidFill>
                <a:latin typeface="Arial"/>
                <a:cs typeface="Arial" panose="020B0604020202020204" pitchFamily="34" charset="0"/>
              </a:rPr>
              <a:t>The information in this document may contain predictive </a:t>
            </a:r>
            <a:br>
              <a:rPr kumimoji="1" lang="en-US" altLang="zh-CN" sz="850" dirty="0">
                <a:solidFill>
                  <a:srgbClr val="1D1D1B"/>
                </a:solidFill>
                <a:latin typeface="Arial"/>
                <a:cs typeface="Arial" panose="020B0604020202020204" pitchFamily="34" charset="0"/>
              </a:rPr>
            </a:br>
            <a:r>
              <a:rPr kumimoji="1" lang="en-US" altLang="zh-CN" sz="850" dirty="0">
                <a:solidFill>
                  <a:srgbClr val="1D1D1B"/>
                </a:solidFill>
                <a:latin typeface="Arial"/>
                <a:cs typeface="Arial" panose="020B0604020202020204" pitchFamily="34" charset="0"/>
              </a:rPr>
              <a:t>statements including, without limitation, statements regarding </a:t>
            </a:r>
            <a:br>
              <a:rPr kumimoji="1" lang="en-US" altLang="zh-CN" sz="850" dirty="0">
                <a:solidFill>
                  <a:srgbClr val="1D1D1B"/>
                </a:solidFill>
                <a:latin typeface="Arial"/>
                <a:cs typeface="Arial" panose="020B0604020202020204" pitchFamily="34" charset="0"/>
              </a:rPr>
            </a:br>
            <a:r>
              <a:rPr kumimoji="1" lang="en-US" altLang="zh-CN" sz="850" dirty="0">
                <a:solidFill>
                  <a:srgbClr val="1D1D1B"/>
                </a:solidFill>
                <a:latin typeface="Arial"/>
                <a:cs typeface="Arial" panose="020B0604020202020204" pitchFamily="34" charset="0"/>
              </a:rPr>
              <a:t>the future financial and operating results, future product </a:t>
            </a:r>
            <a:br>
              <a:rPr kumimoji="1" lang="en-US" altLang="zh-CN" sz="850" dirty="0">
                <a:solidFill>
                  <a:srgbClr val="1D1D1B"/>
                </a:solidFill>
                <a:latin typeface="Arial"/>
                <a:cs typeface="Arial" panose="020B0604020202020204" pitchFamily="34" charset="0"/>
              </a:rPr>
            </a:br>
            <a:r>
              <a:rPr kumimoji="1" lang="en-US" altLang="zh-CN" sz="850" dirty="0">
                <a:solidFill>
                  <a:srgbClr val="1D1D1B"/>
                </a:solidFill>
                <a:latin typeface="Arial"/>
                <a:cs typeface="Arial" panose="020B0604020202020204" pitchFamily="34" charset="0"/>
              </a:rPr>
              <a:t>portfolio, new technology, etc. There are a number of factors that </a:t>
            </a:r>
            <a:br>
              <a:rPr kumimoji="1" lang="en-US" altLang="zh-CN" sz="850" dirty="0">
                <a:solidFill>
                  <a:srgbClr val="1D1D1B"/>
                </a:solidFill>
                <a:latin typeface="Arial"/>
                <a:cs typeface="Arial" panose="020B0604020202020204" pitchFamily="34" charset="0"/>
              </a:rPr>
            </a:br>
            <a:r>
              <a:rPr kumimoji="1" lang="en-US" altLang="zh-CN" sz="850" dirty="0">
                <a:solidFill>
                  <a:srgbClr val="1D1D1B"/>
                </a:solidFill>
                <a:latin typeface="Arial"/>
                <a:cs typeface="Arial" panose="020B0604020202020204" pitchFamily="34" charset="0"/>
              </a:rPr>
              <a:t>could cause actual results and developments to differ materially </a:t>
            </a:r>
            <a:br>
              <a:rPr kumimoji="1" lang="en-US" altLang="zh-CN" sz="850" dirty="0">
                <a:solidFill>
                  <a:srgbClr val="1D1D1B"/>
                </a:solidFill>
                <a:latin typeface="Arial"/>
                <a:cs typeface="Arial" panose="020B0604020202020204" pitchFamily="34" charset="0"/>
              </a:rPr>
            </a:br>
            <a:r>
              <a:rPr kumimoji="1" lang="en-US" altLang="zh-CN" sz="850" dirty="0">
                <a:solidFill>
                  <a:srgbClr val="1D1D1B"/>
                </a:solidFill>
                <a:latin typeface="Arial"/>
                <a:cs typeface="Arial" panose="020B0604020202020204" pitchFamily="34" charset="0"/>
              </a:rPr>
              <a:t>from those expressed or implied in the predictive statements. </a:t>
            </a:r>
            <a:br>
              <a:rPr kumimoji="1" lang="en-US" altLang="zh-CN" sz="850" dirty="0">
                <a:solidFill>
                  <a:srgbClr val="1D1D1B"/>
                </a:solidFill>
                <a:latin typeface="Arial"/>
                <a:cs typeface="Arial" panose="020B0604020202020204" pitchFamily="34" charset="0"/>
              </a:rPr>
            </a:br>
            <a:r>
              <a:rPr kumimoji="1" lang="en-US" altLang="zh-CN" sz="850" dirty="0">
                <a:solidFill>
                  <a:srgbClr val="1D1D1B"/>
                </a:solidFill>
                <a:latin typeface="Arial"/>
                <a:cs typeface="Arial" panose="020B0604020202020204" pitchFamily="34" charset="0"/>
              </a:rPr>
              <a:t>Therefore, such information is provided for reference purpose </a:t>
            </a:r>
            <a:br>
              <a:rPr kumimoji="1" lang="en-US" altLang="zh-CN" sz="850" dirty="0">
                <a:solidFill>
                  <a:srgbClr val="1D1D1B"/>
                </a:solidFill>
                <a:latin typeface="Arial"/>
                <a:cs typeface="Arial" panose="020B0604020202020204" pitchFamily="34" charset="0"/>
              </a:rPr>
            </a:br>
            <a:r>
              <a:rPr kumimoji="1" lang="en-US" altLang="zh-CN" sz="850" dirty="0">
                <a:solidFill>
                  <a:srgbClr val="1D1D1B"/>
                </a:solidFill>
                <a:latin typeface="Arial"/>
                <a:cs typeface="Arial" panose="020B0604020202020204" pitchFamily="34" charset="0"/>
              </a:rPr>
              <a:t>only and constitutes neither an offer nor an acceptance. Huawei </a:t>
            </a:r>
            <a:br>
              <a:rPr kumimoji="1" lang="en-US" altLang="zh-CN" sz="850" dirty="0">
                <a:solidFill>
                  <a:srgbClr val="1D1D1B"/>
                </a:solidFill>
                <a:latin typeface="Arial"/>
                <a:cs typeface="Arial" panose="020B0604020202020204" pitchFamily="34" charset="0"/>
              </a:rPr>
            </a:br>
            <a:r>
              <a:rPr kumimoji="1" lang="en-US" altLang="zh-CN" sz="850" dirty="0">
                <a:solidFill>
                  <a:srgbClr val="1D1D1B"/>
                </a:solidFill>
                <a:latin typeface="Arial"/>
                <a:cs typeface="Arial" panose="020B0604020202020204" pitchFamily="34" charset="0"/>
              </a:rPr>
              <a:t>may change the information at any time without notice. </a:t>
            </a:r>
          </a:p>
          <a:p>
            <a:pPr fontAlgn="base">
              <a:lnSpc>
                <a:spcPts val="1065"/>
              </a:lnSpc>
              <a:spcAft>
                <a:spcPct val="0"/>
              </a:spcAft>
            </a:pPr>
            <a:endParaRPr kumimoji="1" lang="zh-CN" altLang="en-US" sz="779" dirty="0">
              <a:solidFill>
                <a:srgbClr val="1D1D1B"/>
              </a:solidFill>
              <a:latin typeface="Arial"/>
            </a:endParaRPr>
          </a:p>
        </p:txBody>
      </p:sp>
      <p:sp>
        <p:nvSpPr>
          <p:cNvPr id="9" name="Subtitle 6">
            <a:extLst>
              <a:ext uri="{FF2B5EF4-FFF2-40B4-BE49-F238E27FC236}">
                <a16:creationId xmlns:a16="http://schemas.microsoft.com/office/drawing/2014/main" id="{12B8F806-ABD5-064C-8793-5E22C72554FD}"/>
              </a:ext>
            </a:extLst>
          </p:cNvPr>
          <p:cNvSpPr txBox="1">
            <a:spLocks/>
          </p:cNvSpPr>
          <p:nvPr/>
        </p:nvSpPr>
        <p:spPr>
          <a:xfrm>
            <a:off x="7989358" y="1631849"/>
            <a:ext cx="3478607"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lnSpc>
                <a:spcPts val="1679"/>
              </a:lnSpc>
              <a:spcBef>
                <a:spcPts val="0"/>
              </a:spcBef>
              <a:spcAft>
                <a:spcPct val="0"/>
              </a:spcAft>
            </a:pPr>
            <a:r>
              <a:rPr kumimoji="1" lang="zh-CN" altLang="en-US" sz="1298" dirty="0">
                <a:solidFill>
                  <a:srgbClr val="1D1D1B"/>
                </a:solidFill>
                <a:latin typeface="Microsoft YaHei" charset="-122"/>
                <a:ea typeface="Microsoft YaHei" charset="-122"/>
                <a:cs typeface="Microsoft YaHei" charset="-122"/>
              </a:rPr>
              <a:t>把数字世界带入每个人、每个家庭、</a:t>
            </a:r>
            <a:br>
              <a:rPr kumimoji="1" lang="en-US" altLang="zh-CN" sz="1298" dirty="0">
                <a:solidFill>
                  <a:srgbClr val="1D1D1B"/>
                </a:solidFill>
                <a:latin typeface="Microsoft YaHei" charset="-122"/>
                <a:ea typeface="Microsoft YaHei" charset="-122"/>
                <a:cs typeface="Microsoft YaHei" charset="-122"/>
              </a:rPr>
            </a:br>
            <a:r>
              <a:rPr kumimoji="1" lang="zh-CN" altLang="en-US" sz="1298" dirty="0">
                <a:solidFill>
                  <a:srgbClr val="1D1D1B"/>
                </a:solidFill>
                <a:latin typeface="Microsoft YaHei" charset="-122"/>
                <a:ea typeface="Microsoft YaHei" charset="-122"/>
                <a:cs typeface="Microsoft YaHei" charset="-122"/>
              </a:rPr>
              <a:t>每个组织，构建万物互联的智能世界。</a:t>
            </a:r>
          </a:p>
        </p:txBody>
      </p:sp>
      <p:sp>
        <p:nvSpPr>
          <p:cNvPr id="10" name="Subtitle 6">
            <a:extLst>
              <a:ext uri="{FF2B5EF4-FFF2-40B4-BE49-F238E27FC236}">
                <a16:creationId xmlns:a16="http://schemas.microsoft.com/office/drawing/2014/main" id="{F1235B6F-D691-2C40-93D4-EC5427ADDFB0}"/>
              </a:ext>
            </a:extLst>
          </p:cNvPr>
          <p:cNvSpPr txBox="1">
            <a:spLocks/>
          </p:cNvSpPr>
          <p:nvPr/>
        </p:nvSpPr>
        <p:spPr>
          <a:xfrm>
            <a:off x="7979750" y="2106124"/>
            <a:ext cx="3482740"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base">
              <a:lnSpc>
                <a:spcPts val="1292"/>
              </a:lnSpc>
              <a:spcAft>
                <a:spcPct val="0"/>
              </a:spcAft>
            </a:pPr>
            <a:r>
              <a:rPr kumimoji="1" lang="en-US" altLang="zh-CN" sz="1200" dirty="0">
                <a:solidFill>
                  <a:srgbClr val="1D1D1B"/>
                </a:solidFill>
                <a:latin typeface="Arial"/>
                <a:cs typeface="Arial" panose="020B0604020202020204" pitchFamily="34" charset="0"/>
              </a:rPr>
              <a:t>Bring digital to every person, home, and </a:t>
            </a:r>
            <a:br>
              <a:rPr kumimoji="1" lang="en-US" altLang="zh-CN" sz="1200" dirty="0">
                <a:solidFill>
                  <a:srgbClr val="1D1D1B"/>
                </a:solidFill>
                <a:latin typeface="Arial"/>
                <a:cs typeface="Arial" panose="020B0604020202020204" pitchFamily="34" charset="0"/>
              </a:rPr>
            </a:br>
            <a:r>
              <a:rPr kumimoji="1" lang="en-US" altLang="zh-CN" sz="1200" dirty="0">
                <a:solidFill>
                  <a:srgbClr val="1D1D1B"/>
                </a:solidFill>
                <a:latin typeface="Arial"/>
                <a:cs typeface="Arial" panose="020B0604020202020204" pitchFamily="34" charset="0"/>
              </a:rPr>
              <a:t>organization for a fully connected, </a:t>
            </a:r>
            <a:br>
              <a:rPr kumimoji="1" lang="en-US" altLang="zh-CN" sz="1200" dirty="0">
                <a:solidFill>
                  <a:srgbClr val="1D1D1B"/>
                </a:solidFill>
                <a:latin typeface="Arial"/>
                <a:cs typeface="Arial" panose="020B0604020202020204" pitchFamily="34" charset="0"/>
              </a:rPr>
            </a:br>
            <a:r>
              <a:rPr kumimoji="1" lang="en-US" altLang="zh-CN" sz="1200" dirty="0">
                <a:solidFill>
                  <a:srgbClr val="1D1D1B"/>
                </a:solidFill>
                <a:latin typeface="Arial"/>
                <a:cs typeface="Arial" panose="020B0604020202020204" pitchFamily="34" charset="0"/>
              </a:rPr>
              <a:t>intelligent world.</a:t>
            </a:r>
            <a:endParaRPr kumimoji="1" lang="zh-CN" altLang="en-US" sz="1200" dirty="0">
              <a:solidFill>
                <a:srgbClr val="1D1D1B"/>
              </a:solidFill>
              <a:latin typeface="Arial"/>
              <a:ea typeface="Microsoft YaHei" charset="-122"/>
              <a:cs typeface="Microsoft YaHei" charset="-122"/>
            </a:endParaRPr>
          </a:p>
        </p:txBody>
      </p:sp>
      <p:sp>
        <p:nvSpPr>
          <p:cNvPr id="12" name="TextBox 3">
            <a:extLst>
              <a:ext uri="{FF2B5EF4-FFF2-40B4-BE49-F238E27FC236}">
                <a16:creationId xmlns:a16="http://schemas.microsoft.com/office/drawing/2014/main" id="{42AF307D-40F4-EC4C-9108-79E948007529}"/>
              </a:ext>
            </a:extLst>
          </p:cNvPr>
          <p:cNvSpPr txBox="1"/>
          <p:nvPr/>
        </p:nvSpPr>
        <p:spPr>
          <a:xfrm>
            <a:off x="607646" y="1402067"/>
            <a:ext cx="3922055" cy="854717"/>
          </a:xfrm>
          <a:prstGeom prst="rect">
            <a:avLst/>
          </a:prstGeom>
          <a:noFill/>
        </p:spPr>
        <p:txBody>
          <a:bodyPr wrap="square" rtlCol="0">
            <a:spAutoFit/>
          </a:bodyPr>
          <a:lstStyle/>
          <a:p>
            <a:pPr defTabSz="913668" fontAlgn="base">
              <a:spcBef>
                <a:spcPct val="0"/>
              </a:spcBef>
              <a:spcAft>
                <a:spcPct val="0"/>
              </a:spcAft>
            </a:pPr>
            <a:r>
              <a:rPr lang="en-US" sz="4796" dirty="0">
                <a:solidFill>
                  <a:srgbClr val="282828"/>
                </a:solidFill>
                <a:latin typeface="Calibri" pitchFamily="34" charset="0"/>
                <a:ea typeface="宋体" pitchFamily="2" charset="-122"/>
              </a:rPr>
              <a:t>Thank you.</a:t>
            </a:r>
          </a:p>
        </p:txBody>
      </p:sp>
      <p:sp>
        <p:nvSpPr>
          <p:cNvPr id="13" name="矩形 12"/>
          <p:cNvSpPr/>
          <p:nvPr/>
        </p:nvSpPr>
        <p:spPr>
          <a:xfrm>
            <a:off x="372630" y="6515947"/>
            <a:ext cx="426831" cy="2302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668" fontAlgn="base">
              <a:spcBef>
                <a:spcPct val="0"/>
              </a:spcBef>
              <a:spcAft>
                <a:spcPct val="0"/>
              </a:spcAft>
            </a:pPr>
            <a:endParaRPr lang="zh-CN" altLang="en-US" sz="1798">
              <a:solidFill>
                <a:srgbClr val="FFFFFF"/>
              </a:solidFill>
            </a:endParaRPr>
          </a:p>
        </p:txBody>
      </p:sp>
      <p:sp>
        <p:nvSpPr>
          <p:cNvPr id="14" name="矩形 13"/>
          <p:cNvSpPr/>
          <p:nvPr/>
        </p:nvSpPr>
        <p:spPr>
          <a:xfrm>
            <a:off x="10206685" y="6488855"/>
            <a:ext cx="1683612" cy="2302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668" fontAlgn="base">
              <a:spcBef>
                <a:spcPct val="0"/>
              </a:spcBef>
              <a:spcAft>
                <a:spcPct val="0"/>
              </a:spcAft>
            </a:pPr>
            <a:endParaRPr lang="zh-CN" altLang="en-US" sz="1798">
              <a:solidFill>
                <a:srgbClr val="FFFFFF"/>
              </a:solidFill>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989356" y="5251409"/>
            <a:ext cx="1872487" cy="409621"/>
          </a:xfrm>
          <a:prstGeom prst="rect">
            <a:avLst/>
          </a:prstGeom>
        </p:spPr>
      </p:pic>
    </p:spTree>
    <p:extLst>
      <p:ext uri="{BB962C8B-B14F-4D97-AF65-F5344CB8AC3E}">
        <p14:creationId xmlns:p14="http://schemas.microsoft.com/office/powerpoint/2010/main" val="12300130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cSld name="1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09991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6" descr="C:\Users\z00205060\Desktop\CP项目\规范类文件\新建文件夹\巴展视觉物料规范-18.jpg"/>
          <p:cNvPicPr>
            <a:picLocks noChangeAspect="1" noChangeArrowheads="1"/>
          </p:cNvPicPr>
          <p:nvPr userDrawn="1"/>
        </p:nvPicPr>
        <p:blipFill>
          <a:blip r:embed="rId2" cstate="print"/>
          <a:srcRect/>
          <a:stretch>
            <a:fillRect/>
          </a:stretch>
        </p:blipFill>
        <p:spPr bwMode="auto">
          <a:xfrm>
            <a:off x="0" y="0"/>
            <a:ext cx="12196763" cy="6858000"/>
          </a:xfrm>
          <a:prstGeom prst="rect">
            <a:avLst/>
          </a:prstGeom>
          <a:noFill/>
          <a:ln w="9525">
            <a:noFill/>
            <a:miter lim="800000"/>
            <a:headEnd/>
            <a:tailEnd/>
          </a:ln>
        </p:spPr>
      </p:pic>
      <p:sp>
        <p:nvSpPr>
          <p:cNvPr id="6" name="Text Box 7"/>
          <p:cNvSpPr txBox="1">
            <a:spLocks noChangeArrowheads="1"/>
          </p:cNvSpPr>
          <p:nvPr userDrawn="1"/>
        </p:nvSpPr>
        <p:spPr bwMode="auto">
          <a:xfrm>
            <a:off x="9477345" y="6286500"/>
            <a:ext cx="1399713" cy="292388"/>
          </a:xfrm>
          <a:prstGeom prst="rect">
            <a:avLst/>
          </a:prstGeom>
          <a:noFill/>
          <a:ln>
            <a:noFill/>
          </a:ln>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fontAlgn="base">
              <a:spcBef>
                <a:spcPct val="0"/>
              </a:spcBef>
              <a:spcAft>
                <a:spcPct val="0"/>
              </a:spcAft>
              <a:defRPr/>
            </a:pPr>
            <a:r>
              <a:rPr lang="en-US" altLang="zh-CN" sz="1300" dirty="0">
                <a:solidFill>
                  <a:srgbClr val="000000">
                    <a:lumMod val="65000"/>
                    <a:lumOff val="35000"/>
                  </a:srgbClr>
                </a:solidFill>
                <a:latin typeface="FrutigerNext LT Light" pitchFamily="34" charset="0"/>
                <a:ea typeface="MS PGothic" pitchFamily="34" charset="-128"/>
              </a:rPr>
              <a:t>www.huawei.com</a:t>
            </a:r>
          </a:p>
        </p:txBody>
      </p:sp>
      <p:sp>
        <p:nvSpPr>
          <p:cNvPr id="7" name="Text Box 5"/>
          <p:cNvSpPr txBox="1">
            <a:spLocks noChangeArrowheads="1"/>
          </p:cNvSpPr>
          <p:nvPr userDrawn="1"/>
        </p:nvSpPr>
        <p:spPr bwMode="auto">
          <a:xfrm>
            <a:off x="5469310" y="6324600"/>
            <a:ext cx="2563241" cy="215444"/>
          </a:xfrm>
          <a:prstGeom prst="rect">
            <a:avLst/>
          </a:prstGeom>
          <a:noFill/>
          <a:ln>
            <a:noFill/>
          </a:ln>
        </p:spPr>
        <p:txBody>
          <a:bodyPr wrap="none" lIns="0" tIns="0" bIns="0">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fontAlgn="base">
              <a:spcBef>
                <a:spcPct val="0"/>
              </a:spcBef>
              <a:spcAft>
                <a:spcPct val="0"/>
              </a:spcAft>
              <a:defRPr/>
            </a:pPr>
            <a:r>
              <a:rPr lang="en-US" altLang="zh-CN" sz="1400" dirty="0">
                <a:solidFill>
                  <a:srgbClr val="000000">
                    <a:lumMod val="65000"/>
                    <a:lumOff val="35000"/>
                  </a:srgbClr>
                </a:solidFill>
                <a:latin typeface="FrutigerNext LT Light" pitchFamily="34" charset="0"/>
                <a:ea typeface="MS PGothic" pitchFamily="34" charset="-128"/>
              </a:rPr>
              <a:t>HUAWEI TECHNOLOGIES CO., LTD.</a:t>
            </a:r>
          </a:p>
        </p:txBody>
      </p:sp>
      <p:sp>
        <p:nvSpPr>
          <p:cNvPr id="8" name="Text Box 22"/>
          <p:cNvSpPr txBox="1">
            <a:spLocks noChangeArrowheads="1"/>
          </p:cNvSpPr>
          <p:nvPr/>
        </p:nvSpPr>
        <p:spPr bwMode="auto">
          <a:xfrm>
            <a:off x="9643731" y="3830638"/>
            <a:ext cx="1213008" cy="222250"/>
          </a:xfrm>
          <a:prstGeom prst="rect">
            <a:avLst/>
          </a:prstGeom>
          <a:noFill/>
          <a:ln w="9525">
            <a:noFill/>
            <a:miter lim="800000"/>
            <a:headEnd/>
            <a:tailEnd/>
          </a:ln>
        </p:spPr>
        <p:txBody>
          <a:bodyPr wrap="none" lIns="67162" tIns="33582" rIns="67162" bIns="33582">
            <a:spAutoFit/>
          </a:bodyPr>
          <a:lstStyle/>
          <a:p>
            <a:pPr defTabSz="672898" eaLnBrk="0" fontAlgn="base" hangingPunct="0">
              <a:spcBef>
                <a:spcPct val="0"/>
              </a:spcBef>
              <a:spcAft>
                <a:spcPct val="0"/>
              </a:spcAft>
              <a:defRPr/>
            </a:pPr>
            <a:r>
              <a:rPr lang="en-US" altLang="zh-CN" sz="1000" b="1">
                <a:solidFill>
                  <a:srgbClr val="FFFFFF"/>
                </a:solidFill>
                <a:latin typeface="Trebuchet MS" pitchFamily="34" charset="0"/>
                <a:ea typeface="MS PGothic" pitchFamily="34" charset="-128"/>
              </a:rPr>
              <a:t>www.huawei.com</a:t>
            </a:r>
          </a:p>
        </p:txBody>
      </p:sp>
      <p:sp>
        <p:nvSpPr>
          <p:cNvPr id="44047" name="Rectangle 15"/>
          <p:cNvSpPr>
            <a:spLocks noGrp="1" noChangeArrowheads="1"/>
          </p:cNvSpPr>
          <p:nvPr>
            <p:ph type="ctrTitle" sz="quarter"/>
          </p:nvPr>
        </p:nvSpPr>
        <p:spPr>
          <a:xfrm>
            <a:off x="697006" y="2061167"/>
            <a:ext cx="4969273" cy="1944957"/>
          </a:xfrm>
        </p:spPr>
        <p:txBody>
          <a:bodyPr anchor="t"/>
          <a:lstStyle>
            <a:lvl1pPr>
              <a:lnSpc>
                <a:spcPct val="140000"/>
              </a:lnSpc>
              <a:spcAft>
                <a:spcPts val="0"/>
              </a:spcAft>
              <a:defRPr sz="3399">
                <a:solidFill>
                  <a:schemeClr val="tx2"/>
                </a:solidFill>
              </a:defRPr>
            </a:lvl1pPr>
          </a:lstStyle>
          <a:p>
            <a:r>
              <a:rPr lang="zh-CN" altLang="en-US" dirty="0"/>
              <a:t>单击此处编辑母版标题样式</a:t>
            </a:r>
          </a:p>
        </p:txBody>
      </p:sp>
      <p:sp>
        <p:nvSpPr>
          <p:cNvPr id="44048" name="Rectangle 16"/>
          <p:cNvSpPr>
            <a:spLocks noGrp="1" noChangeArrowheads="1"/>
          </p:cNvSpPr>
          <p:nvPr>
            <p:ph type="subTitle" sz="quarter" idx="1"/>
          </p:nvPr>
        </p:nvSpPr>
        <p:spPr>
          <a:xfrm>
            <a:off x="696022" y="4651376"/>
            <a:ext cx="4970255" cy="577851"/>
          </a:xfrm>
        </p:spPr>
        <p:txBody>
          <a:bodyPr/>
          <a:lstStyle>
            <a:lvl1pPr marL="0" indent="0">
              <a:spcAft>
                <a:spcPts val="0"/>
              </a:spcAft>
              <a:buFont typeface="Wingdings" pitchFamily="2" charset="2"/>
              <a:buNone/>
              <a:defRPr sz="1999" b="0">
                <a:ea typeface="黑体" pitchFamily="2" charset="-122"/>
              </a:defRPr>
            </a:lvl1pPr>
          </a:lstStyle>
          <a:p>
            <a:r>
              <a:rPr lang="zh-CN" altLang="en-US" dirty="0"/>
              <a:t>单击此处编辑母版副标题样式</a:t>
            </a:r>
          </a:p>
        </p:txBody>
      </p:sp>
      <p:pic>
        <p:nvPicPr>
          <p:cNvPr id="2" name="图片 1">
            <a:extLst>
              <a:ext uri="{FF2B5EF4-FFF2-40B4-BE49-F238E27FC236}">
                <a16:creationId xmlns:a16="http://schemas.microsoft.com/office/drawing/2014/main" id="{A1A00ED2-634C-4E90-BCB5-0A9EDD663E60}"/>
              </a:ext>
            </a:extLst>
          </p:cNvPr>
          <p:cNvPicPr>
            <a:picLocks noChangeAspect="1"/>
          </p:cNvPicPr>
          <p:nvPr userDrawn="1"/>
        </p:nvPicPr>
        <p:blipFill>
          <a:blip r:embed="rId3"/>
          <a:stretch>
            <a:fillRect/>
          </a:stretch>
        </p:blipFill>
        <p:spPr>
          <a:xfrm>
            <a:off x="518363" y="5606552"/>
            <a:ext cx="1049383" cy="1049383"/>
          </a:xfrm>
          <a:prstGeom prst="rect">
            <a:avLst/>
          </a:prstGeom>
        </p:spPr>
      </p:pic>
    </p:spTree>
    <p:extLst>
      <p:ext uri="{BB962C8B-B14F-4D97-AF65-F5344CB8AC3E}">
        <p14:creationId xmlns:p14="http://schemas.microsoft.com/office/powerpoint/2010/main" val="2759733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76338" y="80628"/>
            <a:ext cx="11093306" cy="539750"/>
          </a:xfrm>
        </p:spPr>
        <p:txBody>
          <a:bodyPr/>
          <a:lstStyle>
            <a:lvl1pPr>
              <a:defRPr sz="2799" b="1">
                <a:latin typeface="+mn-ea"/>
                <a:ea typeface="+mn-ea"/>
              </a:defRPr>
            </a:lvl1p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Rectangle 10"/>
          <p:cNvSpPr txBox="1">
            <a:spLocks noChangeArrowheads="1"/>
          </p:cNvSpPr>
          <p:nvPr userDrawn="1"/>
        </p:nvSpPr>
        <p:spPr>
          <a:xfrm>
            <a:off x="5731228" y="6596399"/>
            <a:ext cx="734307" cy="228385"/>
          </a:xfrm>
          <a:prstGeom prst="rect">
            <a:avLst/>
          </a:prstGeom>
          <a:ln/>
        </p:spPr>
        <p:txBody>
          <a:bodyPr anchor="ctr" anchorCtr="0"/>
          <a:lstStyle>
            <a:defPPr>
              <a:defRPr lang="en-US"/>
            </a:defPPr>
            <a:lvl1pPr algn="l" rtl="0" eaLnBrk="0" fontAlgn="base" hangingPunct="0">
              <a:spcBef>
                <a:spcPct val="0"/>
              </a:spcBef>
              <a:spcAft>
                <a:spcPct val="0"/>
              </a:spcAft>
              <a:defRPr b="1" kern="1200">
                <a:solidFill>
                  <a:schemeClr val="tx1"/>
                </a:solidFill>
                <a:latin typeface="Trebuchet MS" pitchFamily="34" charset="0"/>
                <a:ea typeface="宋体" pitchFamily="2" charset="-122"/>
                <a:cs typeface="+mn-cs"/>
              </a:defRPr>
            </a:lvl1pPr>
            <a:lvl2pPr marL="382588" indent="74613" algn="l" rtl="0" eaLnBrk="0" fontAlgn="base" hangingPunct="0">
              <a:spcBef>
                <a:spcPct val="0"/>
              </a:spcBef>
              <a:spcAft>
                <a:spcPct val="0"/>
              </a:spcAft>
              <a:defRPr b="1" kern="1200">
                <a:solidFill>
                  <a:schemeClr val="tx1"/>
                </a:solidFill>
                <a:latin typeface="Trebuchet MS" pitchFamily="34" charset="0"/>
                <a:ea typeface="宋体" pitchFamily="2" charset="-122"/>
                <a:cs typeface="+mn-cs"/>
              </a:defRPr>
            </a:lvl2pPr>
            <a:lvl3pPr marL="766763" indent="147638" algn="l" rtl="0" eaLnBrk="0" fontAlgn="base" hangingPunct="0">
              <a:spcBef>
                <a:spcPct val="0"/>
              </a:spcBef>
              <a:spcAft>
                <a:spcPct val="0"/>
              </a:spcAft>
              <a:defRPr b="1" kern="1200">
                <a:solidFill>
                  <a:schemeClr val="tx1"/>
                </a:solidFill>
                <a:latin typeface="Trebuchet MS" pitchFamily="34" charset="0"/>
                <a:ea typeface="宋体" pitchFamily="2" charset="-122"/>
                <a:cs typeface="+mn-cs"/>
              </a:defRPr>
            </a:lvl3pPr>
            <a:lvl4pPr marL="1150938" indent="220663" algn="l" rtl="0" eaLnBrk="0" fontAlgn="base" hangingPunct="0">
              <a:spcBef>
                <a:spcPct val="0"/>
              </a:spcBef>
              <a:spcAft>
                <a:spcPct val="0"/>
              </a:spcAft>
              <a:defRPr b="1" kern="1200">
                <a:solidFill>
                  <a:schemeClr val="tx1"/>
                </a:solidFill>
                <a:latin typeface="Trebuchet MS" pitchFamily="34" charset="0"/>
                <a:ea typeface="宋体" pitchFamily="2" charset="-122"/>
                <a:cs typeface="+mn-cs"/>
              </a:defRPr>
            </a:lvl4pPr>
            <a:lvl5pPr marL="1535113" indent="293688" algn="l" rtl="0" eaLnBrk="0" fontAlgn="base" hangingPunct="0">
              <a:spcBef>
                <a:spcPct val="0"/>
              </a:spcBef>
              <a:spcAft>
                <a:spcPct val="0"/>
              </a:spcAft>
              <a:defRPr b="1" kern="1200">
                <a:solidFill>
                  <a:schemeClr val="tx1"/>
                </a:solidFill>
                <a:latin typeface="Trebuchet MS" pitchFamily="34" charset="0"/>
                <a:ea typeface="宋体" pitchFamily="2" charset="-122"/>
                <a:cs typeface="+mn-cs"/>
              </a:defRPr>
            </a:lvl5pPr>
            <a:lvl6pPr marL="2286000" algn="l" defTabSz="914400" rtl="0" eaLnBrk="1" latinLnBrk="0" hangingPunct="1">
              <a:defRPr b="1" kern="1200">
                <a:solidFill>
                  <a:schemeClr val="tx1"/>
                </a:solidFill>
                <a:latin typeface="Trebuchet MS" pitchFamily="34" charset="0"/>
                <a:ea typeface="宋体" pitchFamily="2" charset="-122"/>
                <a:cs typeface="+mn-cs"/>
              </a:defRPr>
            </a:lvl6pPr>
            <a:lvl7pPr marL="2743200" algn="l" defTabSz="914400" rtl="0" eaLnBrk="1" latinLnBrk="0" hangingPunct="1">
              <a:defRPr b="1" kern="1200">
                <a:solidFill>
                  <a:schemeClr val="tx1"/>
                </a:solidFill>
                <a:latin typeface="Trebuchet MS" pitchFamily="34" charset="0"/>
                <a:ea typeface="宋体" pitchFamily="2" charset="-122"/>
                <a:cs typeface="+mn-cs"/>
              </a:defRPr>
            </a:lvl7pPr>
            <a:lvl8pPr marL="3200400" algn="l" defTabSz="914400" rtl="0" eaLnBrk="1" latinLnBrk="0" hangingPunct="1">
              <a:defRPr b="1" kern="1200">
                <a:solidFill>
                  <a:schemeClr val="tx1"/>
                </a:solidFill>
                <a:latin typeface="Trebuchet MS" pitchFamily="34" charset="0"/>
                <a:ea typeface="宋体" pitchFamily="2" charset="-122"/>
                <a:cs typeface="+mn-cs"/>
              </a:defRPr>
            </a:lvl8pPr>
            <a:lvl9pPr marL="3657600" algn="l" defTabSz="914400" rtl="0" eaLnBrk="1" latinLnBrk="0" hangingPunct="1">
              <a:defRPr b="1" kern="1200">
                <a:solidFill>
                  <a:schemeClr val="tx1"/>
                </a:solidFill>
                <a:latin typeface="Trebuchet MS" pitchFamily="34" charset="0"/>
                <a:ea typeface="宋体" pitchFamily="2" charset="-122"/>
                <a:cs typeface="+mn-cs"/>
              </a:defRPr>
            </a:lvl9pPr>
          </a:lstStyle>
          <a:p>
            <a:pPr algn="ctr">
              <a:defRPr/>
            </a:pPr>
            <a:fld id="{F656415E-0955-4337-85FD-5C6FB3EE58B8}" type="slidenum">
              <a:rPr lang="zh-CN" altLang="en-US" sz="1000" b="0" smtClean="0">
                <a:solidFill>
                  <a:srgbClr val="FFFFFF">
                    <a:lumMod val="50000"/>
                  </a:srgbClr>
                </a:solidFill>
                <a:latin typeface="+mn-ea"/>
                <a:ea typeface="+mn-ea"/>
              </a:rPr>
              <a:pPr algn="ctr">
                <a:defRPr/>
              </a:pPr>
              <a:t>‹#›</a:t>
            </a:fld>
            <a:endParaRPr lang="en-GB" altLang="zh-CN" sz="1000" b="0" dirty="0">
              <a:solidFill>
                <a:srgbClr val="FFFFFF">
                  <a:lumMod val="50000"/>
                </a:srgbClr>
              </a:solidFill>
              <a:latin typeface="+mn-ea"/>
              <a:ea typeface="+mn-ea"/>
            </a:endParaRPr>
          </a:p>
        </p:txBody>
      </p:sp>
    </p:spTree>
    <p:extLst>
      <p:ext uri="{BB962C8B-B14F-4D97-AF65-F5344CB8AC3E}">
        <p14:creationId xmlns:p14="http://schemas.microsoft.com/office/powerpoint/2010/main" val="41867833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hank You_1">
    <p:spTree>
      <p:nvGrpSpPr>
        <p:cNvPr id="1" name=""/>
        <p:cNvGrpSpPr/>
        <p:nvPr/>
      </p:nvGrpSpPr>
      <p:grpSpPr>
        <a:xfrm>
          <a:off x="0" y="0"/>
          <a:ext cx="0" cy="0"/>
          <a:chOff x="0" y="0"/>
          <a:chExt cx="0" cy="0"/>
        </a:xfrm>
      </p:grpSpPr>
      <p:pic>
        <p:nvPicPr>
          <p:cNvPr id="8" name="图片 154"/>
          <p:cNvPicPr>
            <a:picLocks noChangeAspect="1"/>
          </p:cNvPicPr>
          <p:nvPr/>
        </p:nvPicPr>
        <p:blipFill>
          <a:blip r:embed="rId2" cstate="print"/>
          <a:stretch>
            <a:fillRect/>
          </a:stretch>
        </p:blipFill>
        <p:spPr>
          <a:xfrm>
            <a:off x="0" y="3069053"/>
            <a:ext cx="12196763" cy="2962761"/>
          </a:xfrm>
          <a:prstGeom prst="rect">
            <a:avLst/>
          </a:prstGeom>
        </p:spPr>
      </p:pic>
      <p:sp>
        <p:nvSpPr>
          <p:cNvPr id="2" name="Text Box 16"/>
          <p:cNvSpPr txBox="1">
            <a:spLocks noChangeArrowheads="1"/>
          </p:cNvSpPr>
          <p:nvPr/>
        </p:nvSpPr>
        <p:spPr bwMode="auto">
          <a:xfrm>
            <a:off x="4433522" y="2061375"/>
            <a:ext cx="4031638" cy="1015242"/>
          </a:xfrm>
          <a:prstGeom prst="rect">
            <a:avLst/>
          </a:prstGeom>
          <a:noFill/>
          <a:ln w="9525">
            <a:noFill/>
            <a:miter lim="800000"/>
            <a:headEnd/>
            <a:tailEnd/>
          </a:ln>
        </p:spPr>
        <p:txBody>
          <a:bodyPr wrap="none" lIns="91314" tIns="45658" rIns="91314" bIns="45658">
            <a:spAutoFit/>
          </a:bodyPr>
          <a:lstStyle/>
          <a:p>
            <a:pPr eaLnBrk="0" fontAlgn="base" hangingPunct="0">
              <a:spcBef>
                <a:spcPct val="0"/>
              </a:spcBef>
              <a:spcAft>
                <a:spcPct val="0"/>
              </a:spcAft>
            </a:pPr>
            <a:r>
              <a:rPr lang="en-US" altLang="zh-CN" sz="5996" b="1" dirty="0">
                <a:solidFill>
                  <a:srgbClr val="C00000"/>
                </a:solidFill>
                <a:ea typeface="MS PGothic" pitchFamily="34" charset="-128"/>
                <a:cs typeface="Calibri" pitchFamily="34" charset="0"/>
              </a:rPr>
              <a:t>Thank you</a:t>
            </a:r>
          </a:p>
        </p:txBody>
      </p:sp>
      <p:sp>
        <p:nvSpPr>
          <p:cNvPr id="3" name="Text Box 17"/>
          <p:cNvSpPr txBox="1">
            <a:spLocks noChangeArrowheads="1"/>
          </p:cNvSpPr>
          <p:nvPr/>
        </p:nvSpPr>
        <p:spPr bwMode="auto">
          <a:xfrm>
            <a:off x="5343089" y="3245648"/>
            <a:ext cx="1777834" cy="323064"/>
          </a:xfrm>
          <a:prstGeom prst="rect">
            <a:avLst/>
          </a:prstGeom>
          <a:noFill/>
          <a:ln w="9525">
            <a:noFill/>
            <a:miter lim="800000"/>
            <a:headEnd/>
            <a:tailEnd/>
          </a:ln>
        </p:spPr>
        <p:txBody>
          <a:bodyPr wrap="none" lIns="91314" tIns="45658" rIns="91314" bIns="45658">
            <a:spAutoFit/>
          </a:bodyPr>
          <a:lstStyle/>
          <a:p>
            <a:pPr eaLnBrk="0" fontAlgn="base" hangingPunct="0">
              <a:spcBef>
                <a:spcPct val="0"/>
              </a:spcBef>
              <a:spcAft>
                <a:spcPct val="0"/>
              </a:spcAft>
            </a:pPr>
            <a:r>
              <a:rPr lang="en-US" altLang="zh-CN" sz="1500" b="1" dirty="0">
                <a:solidFill>
                  <a:srgbClr val="000000">
                    <a:lumMod val="75000"/>
                    <a:lumOff val="25000"/>
                  </a:srgbClr>
                </a:solidFill>
                <a:ea typeface="MS PGothic" pitchFamily="34" charset="-128"/>
                <a:cs typeface="Calibri" pitchFamily="34" charset="0"/>
              </a:rPr>
              <a:t>www.huawei.com</a:t>
            </a:r>
          </a:p>
        </p:txBody>
      </p:sp>
      <p:sp>
        <p:nvSpPr>
          <p:cNvPr id="4" name="TextBox 3"/>
          <p:cNvSpPr txBox="1"/>
          <p:nvPr/>
        </p:nvSpPr>
        <p:spPr>
          <a:xfrm>
            <a:off x="1624235" y="4562482"/>
            <a:ext cx="9183294" cy="1371776"/>
          </a:xfrm>
          <a:prstGeom prst="rect">
            <a:avLst/>
          </a:prstGeom>
          <a:noFill/>
        </p:spPr>
        <p:txBody>
          <a:bodyPr wrap="square" lIns="91314" tIns="45658" rIns="91314" bIns="45658" rtlCol="0">
            <a:spAutoFit/>
          </a:bodyPr>
          <a:lstStyle/>
          <a:p>
            <a:pPr algn="just" eaLnBrk="0" hangingPunct="0">
              <a:spcAft>
                <a:spcPts val="600"/>
              </a:spcAft>
              <a:defRPr/>
            </a:pPr>
            <a:r>
              <a:rPr lang="en-US" altLang="zh-CN" sz="1400" b="1" dirty="0">
                <a:solidFill>
                  <a:srgbClr val="000000">
                    <a:lumMod val="75000"/>
                    <a:lumOff val="25000"/>
                  </a:srgbClr>
                </a:solidFill>
                <a:ea typeface="宋体" charset="-122"/>
                <a:cs typeface="Calibri" pitchFamily="34" charset="0"/>
              </a:rPr>
              <a:t>Copyright©2021 Huawei Technologies Co., Ltd. All Rights Reserved.</a:t>
            </a:r>
            <a:endParaRPr lang="zh-CN" altLang="zh-CN" sz="1400" b="1" dirty="0">
              <a:solidFill>
                <a:srgbClr val="000000">
                  <a:lumMod val="75000"/>
                  <a:lumOff val="25000"/>
                </a:srgbClr>
              </a:solidFill>
              <a:ea typeface="宋体" charset="-122"/>
              <a:cs typeface="Calibri" pitchFamily="34" charset="0"/>
            </a:endParaRPr>
          </a:p>
          <a:p>
            <a:pPr algn="just" eaLnBrk="0" hangingPunct="0">
              <a:defRPr/>
            </a:pPr>
            <a:r>
              <a:rPr lang="en-US" altLang="zh-CN" sz="1300" b="1" dirty="0">
                <a:solidFill>
                  <a:srgbClr val="000000">
                    <a:lumMod val="75000"/>
                    <a:lumOff val="25000"/>
                  </a:srgbClr>
                </a:solidFill>
                <a:ea typeface="宋体" charset="-122"/>
                <a:cs typeface="Calibri" pitchFamily="34" charset="0"/>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lang="zh-CN" altLang="zh-CN" sz="1300" b="1" dirty="0">
              <a:solidFill>
                <a:srgbClr val="000000">
                  <a:lumMod val="75000"/>
                  <a:lumOff val="25000"/>
                </a:srgbClr>
              </a:solidFill>
              <a:ea typeface="宋体" charset="-122"/>
              <a:cs typeface="Calibri" pitchFamily="34" charset="0"/>
            </a:endParaRPr>
          </a:p>
        </p:txBody>
      </p:sp>
      <p:sp>
        <p:nvSpPr>
          <p:cNvPr id="5" name="Text Box 5"/>
          <p:cNvSpPr txBox="1">
            <a:spLocks noChangeArrowheads="1"/>
          </p:cNvSpPr>
          <p:nvPr userDrawn="1"/>
        </p:nvSpPr>
        <p:spPr bwMode="auto">
          <a:xfrm>
            <a:off x="4431916" y="6478588"/>
            <a:ext cx="3144781" cy="215394"/>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91314" bIns="0">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defRPr/>
            </a:pPr>
            <a:r>
              <a:rPr lang="en-US" altLang="zh-CN" sz="1400" b="1" kern="0" dirty="0">
                <a:solidFill>
                  <a:srgbClr val="000000">
                    <a:lumMod val="65000"/>
                    <a:lumOff val="35000"/>
                  </a:srgbClr>
                </a:solidFill>
                <a:latin typeface="Arial"/>
                <a:ea typeface="MS PGothic" pitchFamily="34" charset="-128"/>
                <a:cs typeface="Calibri" pitchFamily="34" charset="0"/>
              </a:rPr>
              <a:t>HUAWEI TECHNOLOGIES CO., LTD.</a:t>
            </a:r>
          </a:p>
        </p:txBody>
      </p:sp>
      <p:pic>
        <p:nvPicPr>
          <p:cNvPr id="9" name="Picture 87" descr="图片3副本"/>
          <p:cNvPicPr>
            <a:picLocks noChangeAspect="1" noChangeArrowheads="1"/>
          </p:cNvPicPr>
          <p:nvPr userDrawn="1"/>
        </p:nvPicPr>
        <p:blipFill>
          <a:blip r:embed="rId3" cstate="print"/>
          <a:srcRect/>
          <a:stretch>
            <a:fillRect/>
          </a:stretch>
        </p:blipFill>
        <p:spPr bwMode="auto">
          <a:xfrm>
            <a:off x="10239380" y="6364154"/>
            <a:ext cx="1295569" cy="307975"/>
          </a:xfrm>
          <a:prstGeom prst="rect">
            <a:avLst/>
          </a:prstGeom>
          <a:noFill/>
          <a:ln w="9525">
            <a:noFill/>
            <a:miter lim="800000"/>
            <a:headEnd/>
            <a:tailEnd/>
          </a:ln>
        </p:spPr>
      </p:pic>
    </p:spTree>
    <p:extLst>
      <p:ext uri="{BB962C8B-B14F-4D97-AF65-F5344CB8AC3E}">
        <p14:creationId xmlns:p14="http://schemas.microsoft.com/office/powerpoint/2010/main" val="846080437"/>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
      <p:transition advClick="0" advTm="800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76338" y="80628"/>
            <a:ext cx="11093306" cy="539750"/>
          </a:xfrm>
        </p:spPr>
        <p:txBody>
          <a:bodyPr/>
          <a:lstStyle>
            <a:lvl1pPr>
              <a:defRPr sz="2799" b="1">
                <a:latin typeface="+mn-ea"/>
                <a:ea typeface="+mn-ea"/>
              </a:defRPr>
            </a:lvl1pPr>
          </a:lstStyle>
          <a:p>
            <a:r>
              <a:rPr lang="zh-CN" altLang="en-US" dirty="0"/>
              <a:t>单击此处编辑母版标题样式</a:t>
            </a:r>
          </a:p>
        </p:txBody>
      </p:sp>
    </p:spTree>
    <p:extLst>
      <p:ext uri="{BB962C8B-B14F-4D97-AF65-F5344CB8AC3E}">
        <p14:creationId xmlns:p14="http://schemas.microsoft.com/office/powerpoint/2010/main" val="39492180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wrap="square"/>
          <a:lstStyle>
            <a:lvl1pPr>
              <a:defRPr sz="2400" b="1">
                <a:latin typeface="+mn-ea"/>
                <a:ea typeface="+mn-ea"/>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5286982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2" name="矩形 1"/>
          <p:cNvSpPr/>
          <p:nvPr/>
        </p:nvSpPr>
        <p:spPr>
          <a:xfrm>
            <a:off x="0" y="5052912"/>
            <a:ext cx="12196763" cy="18050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668" fontAlgn="base">
              <a:spcBef>
                <a:spcPct val="0"/>
              </a:spcBef>
              <a:spcAft>
                <a:spcPct val="0"/>
              </a:spcAft>
            </a:pPr>
            <a:endParaRPr lang="zh-CN" altLang="en-US" sz="1798">
              <a:solidFill>
                <a:srgbClr val="FFFFFF"/>
              </a:solidFill>
            </a:endParaRPr>
          </a:p>
        </p:txBody>
      </p:sp>
      <p:sp>
        <p:nvSpPr>
          <p:cNvPr id="8" name="Text Placeholder 1">
            <a:extLst>
              <a:ext uri="{FF2B5EF4-FFF2-40B4-BE49-F238E27FC236}">
                <a16:creationId xmlns:a16="http://schemas.microsoft.com/office/drawing/2014/main" id="{F8FC7CCD-75EB-9C44-BC7D-29679334A8CA}"/>
              </a:ext>
            </a:extLst>
          </p:cNvPr>
          <p:cNvSpPr txBox="1">
            <a:spLocks/>
          </p:cNvSpPr>
          <p:nvPr/>
        </p:nvSpPr>
        <p:spPr>
          <a:xfrm>
            <a:off x="7981435" y="2794960"/>
            <a:ext cx="322600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lnSpc>
                <a:spcPts val="1065"/>
              </a:lnSpc>
              <a:spcAft>
                <a:spcPct val="0"/>
              </a:spcAft>
            </a:pPr>
            <a:r>
              <a:rPr kumimoji="1" lang="en-US" altLang="zh-CN" sz="850" b="1" dirty="0">
                <a:solidFill>
                  <a:srgbClr val="1D1D1B"/>
                </a:solidFill>
                <a:latin typeface="Arial"/>
              </a:rPr>
              <a:t>Copyright©2018 Huawei Technologies Co., Ltd.</a:t>
            </a:r>
            <a:br>
              <a:rPr kumimoji="1" lang="en-US" altLang="zh-CN" sz="850" b="1" dirty="0">
                <a:solidFill>
                  <a:srgbClr val="1D1D1B"/>
                </a:solidFill>
                <a:latin typeface="Arial"/>
              </a:rPr>
            </a:br>
            <a:r>
              <a:rPr kumimoji="1" lang="en-US" altLang="zh-CN" sz="850" b="1" dirty="0">
                <a:solidFill>
                  <a:srgbClr val="1D1D1B"/>
                </a:solidFill>
                <a:latin typeface="Arial"/>
              </a:rPr>
              <a:t>All Rights Reserved.</a:t>
            </a:r>
            <a:br>
              <a:rPr kumimoji="1" lang="en-US" altLang="zh-CN" sz="779" dirty="0">
                <a:solidFill>
                  <a:srgbClr val="1D1D1B"/>
                </a:solidFill>
                <a:latin typeface="Arial"/>
              </a:rPr>
            </a:br>
            <a:br>
              <a:rPr kumimoji="1" lang="en-US" altLang="zh-CN" sz="779" dirty="0">
                <a:solidFill>
                  <a:srgbClr val="1D1D1B"/>
                </a:solidFill>
                <a:latin typeface="Arial"/>
              </a:rPr>
            </a:br>
            <a:r>
              <a:rPr kumimoji="1" lang="en-US" altLang="zh-CN" sz="850" dirty="0">
                <a:solidFill>
                  <a:srgbClr val="1D1D1B"/>
                </a:solidFill>
                <a:latin typeface="Arial"/>
                <a:cs typeface="Arial" panose="020B0604020202020204" pitchFamily="34" charset="0"/>
              </a:rPr>
              <a:t>The information in this document may contain predictive </a:t>
            </a:r>
            <a:br>
              <a:rPr kumimoji="1" lang="en-US" altLang="zh-CN" sz="850" dirty="0">
                <a:solidFill>
                  <a:srgbClr val="1D1D1B"/>
                </a:solidFill>
                <a:latin typeface="Arial"/>
                <a:cs typeface="Arial" panose="020B0604020202020204" pitchFamily="34" charset="0"/>
              </a:rPr>
            </a:br>
            <a:r>
              <a:rPr kumimoji="1" lang="en-US" altLang="zh-CN" sz="850" dirty="0">
                <a:solidFill>
                  <a:srgbClr val="1D1D1B"/>
                </a:solidFill>
                <a:latin typeface="Arial"/>
                <a:cs typeface="Arial" panose="020B0604020202020204" pitchFamily="34" charset="0"/>
              </a:rPr>
              <a:t>statements including, without limitation, statements regarding </a:t>
            </a:r>
            <a:br>
              <a:rPr kumimoji="1" lang="en-US" altLang="zh-CN" sz="850" dirty="0">
                <a:solidFill>
                  <a:srgbClr val="1D1D1B"/>
                </a:solidFill>
                <a:latin typeface="Arial"/>
                <a:cs typeface="Arial" panose="020B0604020202020204" pitchFamily="34" charset="0"/>
              </a:rPr>
            </a:br>
            <a:r>
              <a:rPr kumimoji="1" lang="en-US" altLang="zh-CN" sz="850" dirty="0">
                <a:solidFill>
                  <a:srgbClr val="1D1D1B"/>
                </a:solidFill>
                <a:latin typeface="Arial"/>
                <a:cs typeface="Arial" panose="020B0604020202020204" pitchFamily="34" charset="0"/>
              </a:rPr>
              <a:t>the future financial and operating results, future product </a:t>
            </a:r>
            <a:br>
              <a:rPr kumimoji="1" lang="en-US" altLang="zh-CN" sz="850" dirty="0">
                <a:solidFill>
                  <a:srgbClr val="1D1D1B"/>
                </a:solidFill>
                <a:latin typeface="Arial"/>
                <a:cs typeface="Arial" panose="020B0604020202020204" pitchFamily="34" charset="0"/>
              </a:rPr>
            </a:br>
            <a:r>
              <a:rPr kumimoji="1" lang="en-US" altLang="zh-CN" sz="850" dirty="0">
                <a:solidFill>
                  <a:srgbClr val="1D1D1B"/>
                </a:solidFill>
                <a:latin typeface="Arial"/>
                <a:cs typeface="Arial" panose="020B0604020202020204" pitchFamily="34" charset="0"/>
              </a:rPr>
              <a:t>portfolio, new technology, etc. There are a number of factors that </a:t>
            </a:r>
            <a:br>
              <a:rPr kumimoji="1" lang="en-US" altLang="zh-CN" sz="850" dirty="0">
                <a:solidFill>
                  <a:srgbClr val="1D1D1B"/>
                </a:solidFill>
                <a:latin typeface="Arial"/>
                <a:cs typeface="Arial" panose="020B0604020202020204" pitchFamily="34" charset="0"/>
              </a:rPr>
            </a:br>
            <a:r>
              <a:rPr kumimoji="1" lang="en-US" altLang="zh-CN" sz="850" dirty="0">
                <a:solidFill>
                  <a:srgbClr val="1D1D1B"/>
                </a:solidFill>
                <a:latin typeface="Arial"/>
                <a:cs typeface="Arial" panose="020B0604020202020204" pitchFamily="34" charset="0"/>
              </a:rPr>
              <a:t>could cause actual results and developments to differ materially </a:t>
            </a:r>
            <a:br>
              <a:rPr kumimoji="1" lang="en-US" altLang="zh-CN" sz="850" dirty="0">
                <a:solidFill>
                  <a:srgbClr val="1D1D1B"/>
                </a:solidFill>
                <a:latin typeface="Arial"/>
                <a:cs typeface="Arial" panose="020B0604020202020204" pitchFamily="34" charset="0"/>
              </a:rPr>
            </a:br>
            <a:r>
              <a:rPr kumimoji="1" lang="en-US" altLang="zh-CN" sz="850" dirty="0">
                <a:solidFill>
                  <a:srgbClr val="1D1D1B"/>
                </a:solidFill>
                <a:latin typeface="Arial"/>
                <a:cs typeface="Arial" panose="020B0604020202020204" pitchFamily="34" charset="0"/>
              </a:rPr>
              <a:t>from those expressed or implied in the predictive statements. </a:t>
            </a:r>
            <a:br>
              <a:rPr kumimoji="1" lang="en-US" altLang="zh-CN" sz="850" dirty="0">
                <a:solidFill>
                  <a:srgbClr val="1D1D1B"/>
                </a:solidFill>
                <a:latin typeface="Arial"/>
                <a:cs typeface="Arial" panose="020B0604020202020204" pitchFamily="34" charset="0"/>
              </a:rPr>
            </a:br>
            <a:r>
              <a:rPr kumimoji="1" lang="en-US" altLang="zh-CN" sz="850" dirty="0">
                <a:solidFill>
                  <a:srgbClr val="1D1D1B"/>
                </a:solidFill>
                <a:latin typeface="Arial"/>
                <a:cs typeface="Arial" panose="020B0604020202020204" pitchFamily="34" charset="0"/>
              </a:rPr>
              <a:t>Therefore, such information is provided for reference purpose </a:t>
            </a:r>
            <a:br>
              <a:rPr kumimoji="1" lang="en-US" altLang="zh-CN" sz="850" dirty="0">
                <a:solidFill>
                  <a:srgbClr val="1D1D1B"/>
                </a:solidFill>
                <a:latin typeface="Arial"/>
                <a:cs typeface="Arial" panose="020B0604020202020204" pitchFamily="34" charset="0"/>
              </a:rPr>
            </a:br>
            <a:r>
              <a:rPr kumimoji="1" lang="en-US" altLang="zh-CN" sz="850" dirty="0">
                <a:solidFill>
                  <a:srgbClr val="1D1D1B"/>
                </a:solidFill>
                <a:latin typeface="Arial"/>
                <a:cs typeface="Arial" panose="020B0604020202020204" pitchFamily="34" charset="0"/>
              </a:rPr>
              <a:t>only and constitutes neither an offer nor an acceptance. Huawei </a:t>
            </a:r>
            <a:br>
              <a:rPr kumimoji="1" lang="en-US" altLang="zh-CN" sz="850" dirty="0">
                <a:solidFill>
                  <a:srgbClr val="1D1D1B"/>
                </a:solidFill>
                <a:latin typeface="Arial"/>
                <a:cs typeface="Arial" panose="020B0604020202020204" pitchFamily="34" charset="0"/>
              </a:rPr>
            </a:br>
            <a:r>
              <a:rPr kumimoji="1" lang="en-US" altLang="zh-CN" sz="850" dirty="0">
                <a:solidFill>
                  <a:srgbClr val="1D1D1B"/>
                </a:solidFill>
                <a:latin typeface="Arial"/>
                <a:cs typeface="Arial" panose="020B0604020202020204" pitchFamily="34" charset="0"/>
              </a:rPr>
              <a:t>may change the information at any time without notice. </a:t>
            </a:r>
          </a:p>
          <a:p>
            <a:pPr fontAlgn="base">
              <a:lnSpc>
                <a:spcPts val="1065"/>
              </a:lnSpc>
              <a:spcAft>
                <a:spcPct val="0"/>
              </a:spcAft>
            </a:pPr>
            <a:endParaRPr kumimoji="1" lang="zh-CN" altLang="en-US" sz="779" dirty="0">
              <a:solidFill>
                <a:srgbClr val="1D1D1B"/>
              </a:solidFill>
              <a:latin typeface="Arial"/>
            </a:endParaRPr>
          </a:p>
        </p:txBody>
      </p:sp>
      <p:sp>
        <p:nvSpPr>
          <p:cNvPr id="9" name="Subtitle 6">
            <a:extLst>
              <a:ext uri="{FF2B5EF4-FFF2-40B4-BE49-F238E27FC236}">
                <a16:creationId xmlns:a16="http://schemas.microsoft.com/office/drawing/2014/main" id="{12B8F806-ABD5-064C-8793-5E22C72554FD}"/>
              </a:ext>
            </a:extLst>
          </p:cNvPr>
          <p:cNvSpPr txBox="1">
            <a:spLocks/>
          </p:cNvSpPr>
          <p:nvPr/>
        </p:nvSpPr>
        <p:spPr>
          <a:xfrm>
            <a:off x="7989358" y="1631849"/>
            <a:ext cx="3478607"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lnSpc>
                <a:spcPts val="1679"/>
              </a:lnSpc>
              <a:spcBef>
                <a:spcPts val="0"/>
              </a:spcBef>
              <a:spcAft>
                <a:spcPct val="0"/>
              </a:spcAft>
            </a:pPr>
            <a:r>
              <a:rPr kumimoji="1" lang="zh-CN" altLang="en-US" sz="1298" dirty="0">
                <a:solidFill>
                  <a:srgbClr val="1D1D1B"/>
                </a:solidFill>
                <a:latin typeface="Microsoft YaHei" charset="-122"/>
                <a:ea typeface="Microsoft YaHei" charset="-122"/>
                <a:cs typeface="Microsoft YaHei" charset="-122"/>
              </a:rPr>
              <a:t>把数字世界带入每个人、每个家庭、</a:t>
            </a:r>
            <a:br>
              <a:rPr kumimoji="1" lang="en-US" altLang="zh-CN" sz="1298" dirty="0">
                <a:solidFill>
                  <a:srgbClr val="1D1D1B"/>
                </a:solidFill>
                <a:latin typeface="Microsoft YaHei" charset="-122"/>
                <a:ea typeface="Microsoft YaHei" charset="-122"/>
                <a:cs typeface="Microsoft YaHei" charset="-122"/>
              </a:rPr>
            </a:br>
            <a:r>
              <a:rPr kumimoji="1" lang="zh-CN" altLang="en-US" sz="1298" dirty="0">
                <a:solidFill>
                  <a:srgbClr val="1D1D1B"/>
                </a:solidFill>
                <a:latin typeface="Microsoft YaHei" charset="-122"/>
                <a:ea typeface="Microsoft YaHei" charset="-122"/>
                <a:cs typeface="Microsoft YaHei" charset="-122"/>
              </a:rPr>
              <a:t>每个组织，构建万物互联的智能世界。</a:t>
            </a:r>
          </a:p>
        </p:txBody>
      </p:sp>
      <p:sp>
        <p:nvSpPr>
          <p:cNvPr id="10" name="Subtitle 6">
            <a:extLst>
              <a:ext uri="{FF2B5EF4-FFF2-40B4-BE49-F238E27FC236}">
                <a16:creationId xmlns:a16="http://schemas.microsoft.com/office/drawing/2014/main" id="{F1235B6F-D691-2C40-93D4-EC5427ADDFB0}"/>
              </a:ext>
            </a:extLst>
          </p:cNvPr>
          <p:cNvSpPr txBox="1">
            <a:spLocks/>
          </p:cNvSpPr>
          <p:nvPr/>
        </p:nvSpPr>
        <p:spPr>
          <a:xfrm>
            <a:off x="7979750" y="2106124"/>
            <a:ext cx="3482740"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base">
              <a:lnSpc>
                <a:spcPts val="1292"/>
              </a:lnSpc>
              <a:spcAft>
                <a:spcPct val="0"/>
              </a:spcAft>
            </a:pPr>
            <a:r>
              <a:rPr kumimoji="1" lang="en-US" altLang="zh-CN" sz="1200" dirty="0">
                <a:solidFill>
                  <a:srgbClr val="1D1D1B"/>
                </a:solidFill>
                <a:latin typeface="Arial"/>
                <a:cs typeface="Arial" panose="020B0604020202020204" pitchFamily="34" charset="0"/>
              </a:rPr>
              <a:t>Bring digital to every person, home, and </a:t>
            </a:r>
            <a:br>
              <a:rPr kumimoji="1" lang="en-US" altLang="zh-CN" sz="1200" dirty="0">
                <a:solidFill>
                  <a:srgbClr val="1D1D1B"/>
                </a:solidFill>
                <a:latin typeface="Arial"/>
                <a:cs typeface="Arial" panose="020B0604020202020204" pitchFamily="34" charset="0"/>
              </a:rPr>
            </a:br>
            <a:r>
              <a:rPr kumimoji="1" lang="en-US" altLang="zh-CN" sz="1200" dirty="0">
                <a:solidFill>
                  <a:srgbClr val="1D1D1B"/>
                </a:solidFill>
                <a:latin typeface="Arial"/>
                <a:cs typeface="Arial" panose="020B0604020202020204" pitchFamily="34" charset="0"/>
              </a:rPr>
              <a:t>organization for a fully connected, </a:t>
            </a:r>
            <a:br>
              <a:rPr kumimoji="1" lang="en-US" altLang="zh-CN" sz="1200" dirty="0">
                <a:solidFill>
                  <a:srgbClr val="1D1D1B"/>
                </a:solidFill>
                <a:latin typeface="Arial"/>
                <a:cs typeface="Arial" panose="020B0604020202020204" pitchFamily="34" charset="0"/>
              </a:rPr>
            </a:br>
            <a:r>
              <a:rPr kumimoji="1" lang="en-US" altLang="zh-CN" sz="1200" dirty="0">
                <a:solidFill>
                  <a:srgbClr val="1D1D1B"/>
                </a:solidFill>
                <a:latin typeface="Arial"/>
                <a:cs typeface="Arial" panose="020B0604020202020204" pitchFamily="34" charset="0"/>
              </a:rPr>
              <a:t>intelligent world.</a:t>
            </a:r>
            <a:endParaRPr kumimoji="1" lang="zh-CN" altLang="en-US" sz="1200" dirty="0">
              <a:solidFill>
                <a:srgbClr val="1D1D1B"/>
              </a:solidFill>
              <a:latin typeface="Arial"/>
              <a:ea typeface="Microsoft YaHei" charset="-122"/>
              <a:cs typeface="Microsoft YaHei" charset="-122"/>
            </a:endParaRPr>
          </a:p>
        </p:txBody>
      </p:sp>
      <p:sp>
        <p:nvSpPr>
          <p:cNvPr id="12" name="TextBox 3">
            <a:extLst>
              <a:ext uri="{FF2B5EF4-FFF2-40B4-BE49-F238E27FC236}">
                <a16:creationId xmlns:a16="http://schemas.microsoft.com/office/drawing/2014/main" id="{42AF307D-40F4-EC4C-9108-79E948007529}"/>
              </a:ext>
            </a:extLst>
          </p:cNvPr>
          <p:cNvSpPr txBox="1"/>
          <p:nvPr/>
        </p:nvSpPr>
        <p:spPr>
          <a:xfrm>
            <a:off x="607646" y="1402067"/>
            <a:ext cx="3922055" cy="854717"/>
          </a:xfrm>
          <a:prstGeom prst="rect">
            <a:avLst/>
          </a:prstGeom>
          <a:noFill/>
        </p:spPr>
        <p:txBody>
          <a:bodyPr wrap="square" rtlCol="0">
            <a:spAutoFit/>
          </a:bodyPr>
          <a:lstStyle/>
          <a:p>
            <a:pPr defTabSz="913668" fontAlgn="base">
              <a:spcBef>
                <a:spcPct val="0"/>
              </a:spcBef>
              <a:spcAft>
                <a:spcPct val="0"/>
              </a:spcAft>
            </a:pPr>
            <a:r>
              <a:rPr lang="en-US" sz="4796" dirty="0">
                <a:solidFill>
                  <a:srgbClr val="282828"/>
                </a:solidFill>
                <a:latin typeface="Calibri" pitchFamily="34" charset="0"/>
                <a:ea typeface="宋体" pitchFamily="2" charset="-122"/>
              </a:rPr>
              <a:t>Thank you.</a:t>
            </a:r>
          </a:p>
        </p:txBody>
      </p:sp>
      <p:sp>
        <p:nvSpPr>
          <p:cNvPr id="13" name="矩形 12"/>
          <p:cNvSpPr/>
          <p:nvPr/>
        </p:nvSpPr>
        <p:spPr>
          <a:xfrm>
            <a:off x="372630" y="6515947"/>
            <a:ext cx="426831" cy="2302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668" fontAlgn="base">
              <a:spcBef>
                <a:spcPct val="0"/>
              </a:spcBef>
              <a:spcAft>
                <a:spcPct val="0"/>
              </a:spcAft>
            </a:pPr>
            <a:endParaRPr lang="zh-CN" altLang="en-US" sz="1798">
              <a:solidFill>
                <a:srgbClr val="FFFFFF"/>
              </a:solidFill>
            </a:endParaRPr>
          </a:p>
        </p:txBody>
      </p:sp>
      <p:sp>
        <p:nvSpPr>
          <p:cNvPr id="14" name="矩形 13"/>
          <p:cNvSpPr/>
          <p:nvPr/>
        </p:nvSpPr>
        <p:spPr>
          <a:xfrm>
            <a:off x="10206685" y="6488855"/>
            <a:ext cx="1683612" cy="2302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668" fontAlgn="base">
              <a:spcBef>
                <a:spcPct val="0"/>
              </a:spcBef>
              <a:spcAft>
                <a:spcPct val="0"/>
              </a:spcAft>
            </a:pPr>
            <a:endParaRPr lang="zh-CN" altLang="en-US" sz="1798">
              <a:solidFill>
                <a:srgbClr val="FFFFFF"/>
              </a:solidFill>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989356" y="5251409"/>
            <a:ext cx="1872487" cy="409621"/>
          </a:xfrm>
          <a:prstGeom prst="rect">
            <a:avLst/>
          </a:prstGeom>
        </p:spPr>
      </p:pic>
    </p:spTree>
    <p:extLst>
      <p:ext uri="{BB962C8B-B14F-4D97-AF65-F5344CB8AC3E}">
        <p14:creationId xmlns:p14="http://schemas.microsoft.com/office/powerpoint/2010/main" val="1753498895"/>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Microsoft YaHei" panose="020B0503020204020204" pitchFamily="34" charset="-122"/>
                <a:ea typeface="Microsoft YaHei" panose="020B0503020204020204" pitchFamily="34" charset="-122"/>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zh-CN" altLang="en-US" dirty="0"/>
              <a:t>单击此处添加标题</a:t>
            </a:r>
            <a:endParaRPr lang="en-US" dirty="0"/>
          </a:p>
        </p:txBody>
      </p:sp>
      <p:sp>
        <p:nvSpPr>
          <p:cNvPr id="5" name="Content Placeholder 2">
            <a:extLst>
              <a:ext uri="{FF2B5EF4-FFF2-40B4-BE49-F238E27FC236}">
                <a16:creationId xmlns:a16="http://schemas.microsoft.com/office/drawing/2014/main" id="{CA8B3F0C-616F-224A-B32F-9F9BF5EEE1BC}"/>
              </a:ext>
            </a:extLst>
          </p:cNvPr>
          <p:cNvSpPr>
            <a:spLocks noGrp="1"/>
          </p:cNvSpPr>
          <p:nvPr>
            <p:ph idx="12" hasCustomPrompt="1"/>
          </p:nvPr>
        </p:nvSpPr>
        <p:spPr>
          <a:xfrm>
            <a:off x="726021" y="1512875"/>
            <a:ext cx="10733557" cy="4690459"/>
          </a:xfrm>
          <a:prstGeom prst="rect">
            <a:avLst/>
          </a:prstGeom>
        </p:spPr>
        <p:txBody>
          <a:bodyPr lIns="0" tIns="0" rIns="0" bIns="0"/>
          <a:lstStyle>
            <a:lvl1pPr marL="179388" marR="0" indent="-168275" algn="l" defTabSz="1187798"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8088" algn="ctr"/>
              </a:tabLst>
              <a:defRPr sz="18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329026" marR="0" indent="-168275" algn="l" defTabSz="1187798" rtl="0" eaLnBrk="1" fontAlgn="auto" latinLnBrk="0" hangingPunct="1">
              <a:lnSpc>
                <a:spcPct val="100000"/>
              </a:lnSpc>
              <a:spcBef>
                <a:spcPts val="0"/>
              </a:spcBef>
              <a:spcAft>
                <a:spcPts val="600"/>
              </a:spcAft>
              <a:buClr>
                <a:schemeClr val="tx1"/>
              </a:buClr>
              <a:buSzTx/>
              <a:buFont typeface=".AppleSystemUIFont"/>
              <a:buChar char="&gt;"/>
              <a:tabLst>
                <a:tab pos="1208088" algn="ctr"/>
              </a:tabLst>
              <a:defRPr sz="1600" baseline="0">
                <a:latin typeface="Microsoft YaHei" panose="020B0503020204020204" pitchFamily="34" charset="-122"/>
                <a:ea typeface="Microsoft YaHei" panose="020B0503020204020204" pitchFamily="34" charset="-122"/>
              </a:defRPr>
            </a:lvl2pPr>
            <a:lvl3pPr marL="1098575" marR="0" indent="-168275" algn="l" defTabSz="1187798" rtl="0" eaLnBrk="1" fontAlgn="auto" latinLnBrk="0" hangingPunct="1">
              <a:lnSpc>
                <a:spcPct val="100000"/>
              </a:lnSpc>
              <a:spcBef>
                <a:spcPts val="0"/>
              </a:spcBef>
              <a:spcAft>
                <a:spcPts val="600"/>
              </a:spcAft>
              <a:buClr>
                <a:schemeClr val="tx1"/>
              </a:buClr>
              <a:buSzTx/>
              <a:buFont typeface=".AppleSystemUIFont"/>
              <a:buChar char="-"/>
              <a:tabLst>
                <a:tab pos="1208088" algn="ctr"/>
              </a:tabLst>
              <a:defRPr sz="1299" baseline="0">
                <a:latin typeface="Microsoft YaHei" panose="020B0503020204020204" pitchFamily="34" charset="-122"/>
                <a:ea typeface="Microsoft YaHei" panose="020B0503020204020204" pitchFamily="34" charset="-122"/>
              </a:defRPr>
            </a:lvl3pPr>
            <a:lvl4pPr marL="525850" indent="-171159">
              <a:buFont typeface="Arial" panose="020B0604020202020204" pitchFamily="34" charset="0"/>
              <a:buChar char="•"/>
              <a:tabLst>
                <a:tab pos="1208420" algn="ctr"/>
              </a:tabLst>
              <a:defRPr sz="1299" baseline="0"/>
            </a:lvl4pPr>
            <a:lvl5pPr marL="525850" indent="-171159">
              <a:buFont typeface="Arial" panose="020B0604020202020204" pitchFamily="34" charset="0"/>
              <a:buChar char="•"/>
              <a:tabLst>
                <a:tab pos="1208420" algn="ctr"/>
              </a:tabLst>
              <a:defRPr sz="1299" baseline="0"/>
            </a:lvl5pPr>
          </a:lstStyle>
          <a:p>
            <a:pPr lvl="0"/>
            <a:r>
              <a:rPr lang="zh-CN" altLang="en-US" dirty="0"/>
              <a:t>单击此处添加文本</a:t>
            </a:r>
            <a:endParaRPr lang="en-US" dirty="0"/>
          </a:p>
          <a:p>
            <a:pPr marL="329026" marR="0" lvl="1"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zh-CN" altLang="en-US" dirty="0"/>
              <a:t>单击此处添加文本</a:t>
            </a:r>
            <a:endParaRPr lang="en-US" dirty="0"/>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zh-CN" altLang="en-US" dirty="0"/>
              <a:t>单击此处添加文本</a:t>
            </a:r>
            <a:endParaRPr lang="en-US" dirty="0"/>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endParaRPr lang="en-US" altLang="zh-CN" dirty="0"/>
          </a:p>
        </p:txBody>
      </p:sp>
    </p:spTree>
    <p:extLst>
      <p:ext uri="{BB962C8B-B14F-4D97-AF65-F5344CB8AC3E}">
        <p14:creationId xmlns:p14="http://schemas.microsoft.com/office/powerpoint/2010/main" val="300072070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tif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8.xml"/><Relationship Id="rId7" Type="http://schemas.openxmlformats.org/officeDocument/2006/relationships/tags" Target="../tags/tag1.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vmlDrawing" Target="../drawings/vmlDrawing1.vml"/><Relationship Id="rId5" Type="http://schemas.openxmlformats.org/officeDocument/2006/relationships/theme" Target="../theme/theme5.xml"/><Relationship Id="rId10" Type="http://schemas.openxmlformats.org/officeDocument/2006/relationships/image" Target="../media/image9.png"/><Relationship Id="rId4" Type="http://schemas.openxmlformats.org/officeDocument/2006/relationships/slideLayout" Target="../slideLayouts/slideLayout9.xml"/><Relationship Id="rId9" Type="http://schemas.openxmlformats.org/officeDocument/2006/relationships/image" Target="../media/image8.emf"/></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5" Type="http://schemas.openxmlformats.org/officeDocument/2006/relationships/theme" Target="../theme/theme6.xml"/><Relationship Id="rId4" Type="http://schemas.openxmlformats.org/officeDocument/2006/relationships/slideLayout" Target="../slideLayouts/slideLayout13.xml"/></Relationships>
</file>

<file path=ppt/slideMasters/_rels/slideMaster7.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heme" Target="../theme/theme8.xml"/><Relationship Id="rId7" Type="http://schemas.openxmlformats.org/officeDocument/2006/relationships/image" Target="../media/image8.emf"/><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oleObject" Target="../embeddings/oleObject2.bin"/><Relationship Id="rId5" Type="http://schemas.openxmlformats.org/officeDocument/2006/relationships/tags" Target="../tags/tag2.xml"/><Relationship Id="rId4" Type="http://schemas.openxmlformats.org/officeDocument/2006/relationships/vmlDrawing" Target="../drawings/vmlDrawing2.vml"/></Relationships>
</file>

<file path=ppt/slideMasters/_rels/slideMaster9.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9181AA-8E93-7743-ADEB-8A06A0DFC13A}"/>
              </a:ext>
            </a:extLst>
          </p:cNvPr>
          <p:cNvSpPr/>
          <p:nvPr userDrawn="1"/>
        </p:nvSpPr>
        <p:spPr>
          <a:xfrm>
            <a:off x="0" y="5590903"/>
            <a:ext cx="12196763" cy="126709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5" name="Picture 4">
            <a:extLst>
              <a:ext uri="{FF2B5EF4-FFF2-40B4-BE49-F238E27FC236}">
                <a16:creationId xmlns:a16="http://schemas.microsoft.com/office/drawing/2014/main" id="{E6E8B5C1-4D37-8442-902D-D86F9BBDE27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208751" y="5970991"/>
            <a:ext cx="2260800" cy="489278"/>
          </a:xfrm>
          <a:prstGeom prst="rect">
            <a:avLst/>
          </a:prstGeom>
        </p:spPr>
      </p:pic>
    </p:spTree>
    <p:extLst>
      <p:ext uri="{BB962C8B-B14F-4D97-AF65-F5344CB8AC3E}">
        <p14:creationId xmlns:p14="http://schemas.microsoft.com/office/powerpoint/2010/main" val="4087104836"/>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92" r:id="rId3"/>
    <p:sldLayoutId id="2147483824" r:id="rId4"/>
  </p:sldLayoutIdLst>
  <p:hf hdr="0" ftr="0" dt="0"/>
  <p:txStyles>
    <p:titleStyle>
      <a:lvl1pPr algn="l" defTabSz="914400" rtl="0" eaLnBrk="1" latinLnBrk="0" hangingPunct="1">
        <a:lnSpc>
          <a:spcPts val="3440"/>
        </a:lnSpc>
        <a:spcBef>
          <a:spcPct val="0"/>
        </a:spcBef>
        <a:buNone/>
        <a:defRPr sz="32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0" indent="0" algn="l" defTabSz="914400" rtl="0" eaLnBrk="1" latinLnBrk="0" hangingPunct="1">
        <a:lnSpc>
          <a:spcPct val="100000"/>
        </a:lnSpc>
        <a:spcBef>
          <a:spcPts val="0"/>
        </a:spcBef>
        <a:buFontTx/>
        <a:buNone/>
        <a:defRPr sz="1000" kern="1200">
          <a:solidFill>
            <a:srgbClr val="1D1D1B"/>
          </a:solidFill>
          <a:latin typeface="Arial" panose="020B0604020202020204" pitchFamily="34" charset="0"/>
          <a:ea typeface="Microsoft YaHei" panose="020B0503020204020204" pitchFamily="34"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1239436"/>
      </p:ext>
    </p:extLst>
  </p:cSld>
  <p:clrMap bg1="lt1" tx1="dk1" bg2="lt2" tx2="dk2" accent1="accent1" accent2="accent2" accent3="accent3" accent4="accent4" accent5="accent5" accent6="accent6" hlink="hlink" folHlink="folHlink"/>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467"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131" y="6402806"/>
            <a:ext cx="499729" cy="138499"/>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0" y="2625389"/>
            <a:ext cx="1967973" cy="4233515"/>
            <a:chOff x="5343885" y="-48857"/>
            <a:chExt cx="327131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0/0/0</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extLst>
      <p:ext uri="{BB962C8B-B14F-4D97-AF65-F5344CB8AC3E}">
        <p14:creationId xmlns:p14="http://schemas.microsoft.com/office/powerpoint/2010/main" val="99056531"/>
      </p:ext>
    </p:extLst>
  </p:cSld>
  <p:clrMap bg1="lt1" tx1="dk1" bg2="lt2" tx2="dk2" accent1="accent1" accent2="accent2" accent3="accent3" accent4="accent4" accent5="accent5" accent6="accent6" hlink="hlink" folHlink="folHlink"/>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8969" y="1467870"/>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5"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Copyright©2018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79" dirty="0">
                <a:solidFill>
                  <a:srgbClr val="1D1D1B"/>
                </a:solidFill>
                <a:latin typeface="+mn-lt"/>
              </a:rPr>
            </a:b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6"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8" name="Picture 7">
            <a:extLst>
              <a:ext uri="{FF2B5EF4-FFF2-40B4-BE49-F238E27FC236}">
                <a16:creationId xmlns:a16="http://schemas.microsoft.com/office/drawing/2014/main" id="{BA792140-33FB-E045-9071-EE8DB65F2A1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3676" y="5237566"/>
            <a:ext cx="1875600" cy="405914"/>
          </a:xfrm>
          <a:prstGeom prst="rect">
            <a:avLst/>
          </a:prstGeom>
        </p:spPr>
      </p:pic>
    </p:spTree>
    <p:extLst>
      <p:ext uri="{BB962C8B-B14F-4D97-AF65-F5344CB8AC3E}">
        <p14:creationId xmlns:p14="http://schemas.microsoft.com/office/powerpoint/2010/main" val="2848406896"/>
      </p:ext>
    </p:extLst>
  </p:cSld>
  <p:clrMap bg1="lt1" tx1="dk1" bg2="lt2" tx2="dk2" accent1="accent1" accent2="accent2" accent3="accent3" accent4="accent4" accent5="accent5" accent6="accent6" hlink="hlink" folHlink="folHlink"/>
  <p:sldLayoutIdLst>
    <p:sldLayoutId id="2147483686" r:id="rId1"/>
  </p:sldLayoutIdLst>
  <p:hf hdr="0" ftr="0" dt="0"/>
  <p:txStyles>
    <p:titleStyle>
      <a:lvl1pPr algn="l" defTabSz="1187798" rtl="0" eaLnBrk="1" latinLnBrk="0" hangingPunct="1">
        <a:lnSpc>
          <a:spcPct val="90000"/>
        </a:lnSpc>
        <a:spcBef>
          <a:spcPct val="0"/>
        </a:spcBef>
        <a:buNone/>
        <a:defRPr sz="5000" b="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p:titleStyle>
    <p:bodyStyle>
      <a:lvl1pPr marL="0" indent="0" algn="l" defTabSz="1187798" rtl="0" eaLnBrk="1" latinLnBrk="0" hangingPunct="1">
        <a:lnSpc>
          <a:spcPct val="90000"/>
        </a:lnSpc>
        <a:spcBef>
          <a:spcPts val="1299"/>
        </a:spcBef>
        <a:buFont typeface="Arial" panose="020B0604020202020204" pitchFamily="34" charset="0"/>
        <a:buNone/>
        <a:defRPr sz="1819" kern="1200">
          <a:solidFill>
            <a:srgbClr val="FFFFFF"/>
          </a:solidFill>
          <a:latin typeface="Microsoft YaHei" panose="020B0503020204020204" pitchFamily="34" charset="-122"/>
          <a:ea typeface="Microsoft YaHei" panose="020B0503020204020204" pitchFamily="34" charset="-122"/>
          <a:cs typeface="+mn-cs"/>
        </a:defRPr>
      </a:lvl1pPr>
      <a:lvl2pPr marL="593900" indent="0" algn="l" defTabSz="1187798" rtl="0" eaLnBrk="1" latinLnBrk="0" hangingPunct="1">
        <a:lnSpc>
          <a:spcPct val="90000"/>
        </a:lnSpc>
        <a:spcBef>
          <a:spcPts val="650"/>
        </a:spcBef>
        <a:buFont typeface="Arial" panose="020B0604020202020204" pitchFamily="34" charset="0"/>
        <a:buNone/>
        <a:defRPr sz="3118" kern="1200">
          <a:solidFill>
            <a:schemeClr val="tx1"/>
          </a:solidFill>
          <a:latin typeface="+mn-lt"/>
          <a:ea typeface="+mn-ea"/>
          <a:cs typeface="+mn-cs"/>
        </a:defRPr>
      </a:lvl2pPr>
      <a:lvl3pPr marL="1187798" indent="0" algn="l" defTabSz="1187798" rtl="0" eaLnBrk="1" latinLnBrk="0" hangingPunct="1">
        <a:lnSpc>
          <a:spcPct val="90000"/>
        </a:lnSpc>
        <a:spcBef>
          <a:spcPts val="650"/>
        </a:spcBef>
        <a:buFont typeface="Arial" panose="020B0604020202020204" pitchFamily="34" charset="0"/>
        <a:buNone/>
        <a:defRPr sz="2598" kern="1200">
          <a:solidFill>
            <a:schemeClr val="tx1"/>
          </a:solidFill>
          <a:latin typeface="+mn-lt"/>
          <a:ea typeface="+mn-ea"/>
          <a:cs typeface="+mn-cs"/>
        </a:defRPr>
      </a:lvl3pPr>
      <a:lvl4pPr marL="1781699" indent="0" algn="l" defTabSz="1187798" rtl="0" eaLnBrk="1" latinLnBrk="0" hangingPunct="1">
        <a:lnSpc>
          <a:spcPct val="90000"/>
        </a:lnSpc>
        <a:spcBef>
          <a:spcPts val="650"/>
        </a:spcBef>
        <a:buFont typeface="Arial" panose="020B0604020202020204" pitchFamily="34" charset="0"/>
        <a:buNone/>
        <a:defRPr sz="2338" kern="1200">
          <a:solidFill>
            <a:schemeClr val="tx1"/>
          </a:solidFill>
          <a:latin typeface="+mn-lt"/>
          <a:ea typeface="+mn-ea"/>
          <a:cs typeface="+mn-cs"/>
        </a:defRPr>
      </a:lvl4pPr>
      <a:lvl5pPr marL="2375598" indent="0" algn="l" defTabSz="1187798" rtl="0" eaLnBrk="1" latinLnBrk="0" hangingPunct="1">
        <a:lnSpc>
          <a:spcPct val="90000"/>
        </a:lnSpc>
        <a:spcBef>
          <a:spcPts val="650"/>
        </a:spcBef>
        <a:buFont typeface="Arial" panose="020B0604020202020204" pitchFamily="34" charset="0"/>
        <a:buNone/>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对象 4" hidden="1"/>
          <p:cNvGraphicFramePr>
            <a:graphicFrameLocks noChangeAspect="1"/>
          </p:cNvGraphicFramePr>
          <p:nvPr>
            <p:custDataLst>
              <p:tags r:id="rId7"/>
            </p:custDataLst>
          </p:nvPr>
        </p:nvGraphicFramePr>
        <p:xfrm>
          <a:off x="1591" y="1588"/>
          <a:ext cx="1588" cy="1588"/>
        </p:xfrm>
        <a:graphic>
          <a:graphicData uri="http://schemas.openxmlformats.org/presentationml/2006/ole">
            <mc:AlternateContent xmlns:mc="http://schemas.openxmlformats.org/markup-compatibility/2006">
              <mc:Choice xmlns:v="urn:schemas-microsoft-com:vml" Requires="v">
                <p:oleObj spid="_x0000_s1300" name="think-cell 幻灯片" r:id="rId8" imgW="592" imgH="591" progId="TCLayout.ActiveDocument.1">
                  <p:embed/>
                </p:oleObj>
              </mc:Choice>
              <mc:Fallback>
                <p:oleObj name="think-cell 幻灯片" r:id="rId8" imgW="592" imgH="591" progId="TCLayout.ActiveDocument.1">
                  <p:embed/>
                  <p:pic>
                    <p:nvPicPr>
                      <p:cNvPr id="5" name="对象 4" hidden="1"/>
                      <p:cNvPicPr/>
                      <p:nvPr/>
                    </p:nvPicPr>
                    <p:blipFill>
                      <a:blip r:embed="rId9"/>
                      <a:stretch>
                        <a:fillRect/>
                      </a:stretch>
                    </p:blipFill>
                    <p:spPr>
                      <a:xfrm>
                        <a:off x="1591" y="1588"/>
                        <a:ext cx="1588" cy="1588"/>
                      </a:xfrm>
                      <a:prstGeom prst="rect">
                        <a:avLst/>
                      </a:prstGeom>
                    </p:spPr>
                  </p:pic>
                </p:oleObj>
              </mc:Fallback>
            </mc:AlternateContent>
          </a:graphicData>
        </a:graphic>
      </p:graphicFrame>
      <p:sp>
        <p:nvSpPr>
          <p:cNvPr id="2" name="标题占位符 1"/>
          <p:cNvSpPr>
            <a:spLocks noGrp="1"/>
          </p:cNvSpPr>
          <p:nvPr>
            <p:ph type="title"/>
          </p:nvPr>
        </p:nvSpPr>
        <p:spPr>
          <a:xfrm>
            <a:off x="516140" y="260357"/>
            <a:ext cx="11164484" cy="539749"/>
          </a:xfrm>
          <a:prstGeom prst="rect">
            <a:avLst/>
          </a:prstGeom>
        </p:spPr>
        <p:txBody>
          <a:bodyPr vert="horz" wrap="none" lIns="0" tIns="0" rIns="0" bIns="0" rtlCol="0" anchor="ctr">
            <a:noAutofit/>
          </a:bodyPr>
          <a:lstStyle/>
          <a:p>
            <a:r>
              <a:rPr lang="zh-CN" altLang="en-US" dirty="0"/>
              <a:t>单击此处编辑母版标题样式</a:t>
            </a:r>
          </a:p>
        </p:txBody>
      </p:sp>
      <p:sp>
        <p:nvSpPr>
          <p:cNvPr id="9" name="TextBox 2">
            <a:extLst>
              <a:ext uri="{FF2B5EF4-FFF2-40B4-BE49-F238E27FC236}">
                <a16:creationId xmlns:a16="http://schemas.microsoft.com/office/drawing/2014/main" id="{6785A3D6-1271-D247-9E96-1B376F4BE7BE}"/>
              </a:ext>
            </a:extLst>
          </p:cNvPr>
          <p:cNvSpPr txBox="1"/>
          <p:nvPr/>
        </p:nvSpPr>
        <p:spPr>
          <a:xfrm>
            <a:off x="1215424" y="6306796"/>
            <a:ext cx="1135222" cy="551204"/>
          </a:xfrm>
          <a:prstGeom prst="rect">
            <a:avLst/>
          </a:prstGeom>
          <a:noFill/>
        </p:spPr>
        <p:txBody>
          <a:bodyPr wrap="none" lIns="0" tIns="0" rIns="0" bIns="0" rtlCol="0" anchor="ctr">
            <a:noAutofit/>
          </a:bodyPr>
          <a:lstStyle/>
          <a:p>
            <a:pPr defTabSz="913668" fontAlgn="base">
              <a:spcBef>
                <a:spcPct val="0"/>
              </a:spcBef>
              <a:spcAft>
                <a:spcPct val="0"/>
              </a:spcAft>
            </a:pPr>
            <a:r>
              <a:rPr lang="en-US" sz="1000" dirty="0">
                <a:solidFill>
                  <a:srgbClr val="1D1D1B"/>
                </a:solidFill>
                <a:latin typeface="Calibri" pitchFamily="34" charset="0"/>
                <a:ea typeface="宋体" pitchFamily="2" charset="-122"/>
                <a:cs typeface="Arial" panose="020B0604020202020204" pitchFamily="34" charset="0"/>
              </a:rPr>
              <a:t>Huawei Confidential</a:t>
            </a:r>
          </a:p>
        </p:txBody>
      </p:sp>
      <p:sp>
        <p:nvSpPr>
          <p:cNvPr id="11" name="TextBox 3">
            <a:extLst>
              <a:ext uri="{FF2B5EF4-FFF2-40B4-BE49-F238E27FC236}">
                <a16:creationId xmlns:a16="http://schemas.microsoft.com/office/drawing/2014/main" id="{EABEE2EE-BF4D-7A4A-B3C6-9E47668CCD98}"/>
              </a:ext>
            </a:extLst>
          </p:cNvPr>
          <p:cNvSpPr txBox="1"/>
          <p:nvPr/>
        </p:nvSpPr>
        <p:spPr>
          <a:xfrm>
            <a:off x="516074" y="6306796"/>
            <a:ext cx="142125" cy="551204"/>
          </a:xfrm>
          <a:prstGeom prst="rect">
            <a:avLst/>
          </a:prstGeom>
          <a:noFill/>
        </p:spPr>
        <p:txBody>
          <a:bodyPr wrap="none" lIns="0" tIns="0" rIns="0" bIns="0" rtlCol="0" anchor="ctr">
            <a:noAutofit/>
          </a:bodyPr>
          <a:lstStyle/>
          <a:p>
            <a:pPr defTabSz="890137" fontAlgn="base">
              <a:spcBef>
                <a:spcPct val="0"/>
              </a:spcBef>
              <a:spcAft>
                <a:spcPct val="0"/>
              </a:spcAft>
              <a:defRPr/>
            </a:pPr>
            <a:fld id="{C3837181-38C6-AD4F-B8BA-B444770388BB}" type="slidenum">
              <a:rPr lang="en-US" sz="974" smtClean="0">
                <a:solidFill>
                  <a:srgbClr val="1D1D1B"/>
                </a:solidFill>
                <a:latin typeface="Calibri" pitchFamily="34" charset="0"/>
                <a:ea typeface="宋体" pitchFamily="2" charset="-122"/>
                <a:cs typeface="Arial" panose="020B0604020202020204" pitchFamily="34" charset="0"/>
              </a:rPr>
              <a:pPr defTabSz="890137" fontAlgn="base">
                <a:spcBef>
                  <a:spcPct val="0"/>
                </a:spcBef>
                <a:spcAft>
                  <a:spcPct val="0"/>
                </a:spcAft>
                <a:defRPr/>
              </a:pPr>
              <a:t>‹#›</a:t>
            </a:fld>
            <a:endParaRPr lang="en-US" sz="974" dirty="0">
              <a:solidFill>
                <a:srgbClr val="1D1D1B"/>
              </a:solidFill>
              <a:latin typeface="Calibri" pitchFamily="34" charset="0"/>
              <a:ea typeface="宋体" pitchFamily="2" charset="-122"/>
              <a:cs typeface="Arial" panose="020B0604020202020204" pitchFamily="34" charset="0"/>
            </a:endParaRPr>
          </a:p>
        </p:txBody>
      </p:sp>
      <p:pic>
        <p:nvPicPr>
          <p:cNvPr id="4" name="图片 3"/>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0413535" y="6443798"/>
            <a:ext cx="1267156" cy="277200"/>
          </a:xfrm>
          <a:prstGeom prst="rect">
            <a:avLst/>
          </a:prstGeom>
        </p:spPr>
      </p:pic>
    </p:spTree>
    <p:extLst>
      <p:ext uri="{BB962C8B-B14F-4D97-AF65-F5344CB8AC3E}">
        <p14:creationId xmlns:p14="http://schemas.microsoft.com/office/powerpoint/2010/main" val="4129874479"/>
      </p:ext>
    </p:extLst>
  </p:cSld>
  <p:clrMap bg1="lt1" tx1="dk1" bg2="lt2" tx2="dk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Lst>
  <p:txStyles>
    <p:titleStyle>
      <a:lvl1pPr algn="l" defTabSz="913759" rtl="0" eaLnBrk="1" latinLnBrk="0" hangingPunct="1">
        <a:lnSpc>
          <a:spcPct val="100000"/>
        </a:lnSpc>
        <a:spcBef>
          <a:spcPct val="0"/>
        </a:spcBef>
        <a:buNone/>
        <a:defRPr sz="2400" b="1" kern="1200">
          <a:solidFill>
            <a:schemeClr val="tx2"/>
          </a:solidFill>
          <a:latin typeface="+mn-ea"/>
          <a:ea typeface="+mn-ea"/>
          <a:cs typeface="+mj-cs"/>
        </a:defRPr>
      </a:lvl1pPr>
    </p:titleStyle>
    <p:bodyStyle>
      <a:lvl1pPr marL="268074" indent="-268074" algn="l" defTabSz="913759" rtl="0" eaLnBrk="1" latinLnBrk="0" hangingPunct="1">
        <a:lnSpc>
          <a:spcPct val="130000"/>
        </a:lnSpc>
        <a:spcBef>
          <a:spcPts val="0"/>
        </a:spcBef>
        <a:spcAft>
          <a:spcPts val="400"/>
        </a:spcAft>
        <a:buClr>
          <a:schemeClr val="tx1">
            <a:lumMod val="50000"/>
            <a:lumOff val="50000"/>
          </a:schemeClr>
        </a:buClr>
        <a:buSzPct val="100000"/>
        <a:buFont typeface="Wingdings 2" panose="05020102010507070707" pitchFamily="18" charset="2"/>
        <a:buChar char="¡"/>
        <a:defRPr sz="1798" kern="1200">
          <a:solidFill>
            <a:schemeClr val="tx1"/>
          </a:solidFill>
          <a:latin typeface="+mn-lt"/>
          <a:ea typeface="+mn-ea"/>
          <a:cs typeface="+mn-cs"/>
        </a:defRPr>
      </a:lvl1pPr>
      <a:lvl2pPr marL="444144" indent="-176073" algn="l" defTabSz="913759" rtl="0" eaLnBrk="1" latinLnBrk="0" hangingPunct="1">
        <a:lnSpc>
          <a:spcPct val="130000"/>
        </a:lnSpc>
        <a:spcBef>
          <a:spcPts val="0"/>
        </a:spcBef>
        <a:spcAft>
          <a:spcPts val="400"/>
        </a:spcAft>
        <a:buClr>
          <a:schemeClr val="tx1">
            <a:lumMod val="50000"/>
            <a:lumOff val="50000"/>
          </a:schemeClr>
        </a:buClr>
        <a:buFont typeface="微软雅黑" panose="020B0503020204020204" pitchFamily="34" charset="-122"/>
        <a:buChar char="›"/>
        <a:defRPr sz="1598" kern="1200">
          <a:solidFill>
            <a:schemeClr val="tx1"/>
          </a:solidFill>
          <a:latin typeface="+mn-lt"/>
          <a:ea typeface="+mn-ea"/>
          <a:cs typeface="+mn-cs"/>
        </a:defRPr>
      </a:lvl2pPr>
      <a:lvl3pPr marL="628148" indent="-184002" algn="l" defTabSz="913759" rtl="0" eaLnBrk="1" latinLnBrk="0" hangingPunct="1">
        <a:lnSpc>
          <a:spcPct val="130000"/>
        </a:lnSpc>
        <a:spcBef>
          <a:spcPts val="0"/>
        </a:spcBef>
        <a:spcAft>
          <a:spcPts val="400"/>
        </a:spcAft>
        <a:buClr>
          <a:schemeClr val="tx1">
            <a:lumMod val="50000"/>
            <a:lumOff val="50000"/>
          </a:schemeClr>
        </a:buClr>
        <a:buFont typeface="FrutigerNext LT Regular" panose="020B0503040504020204" pitchFamily="34" charset="0"/>
        <a:buChar char="»"/>
        <a:defRPr sz="1398" kern="1200">
          <a:solidFill>
            <a:schemeClr val="tx1"/>
          </a:solidFill>
          <a:latin typeface="+mn-lt"/>
          <a:ea typeface="+mn-ea"/>
          <a:cs typeface="+mn-cs"/>
        </a:defRPr>
      </a:lvl3pPr>
      <a:lvl4pPr marL="1599080" indent="-228441" algn="l" defTabSz="913759" rtl="0" eaLnBrk="1" latinLnBrk="0" hangingPunct="1">
        <a:lnSpc>
          <a:spcPct val="130000"/>
        </a:lnSpc>
        <a:spcBef>
          <a:spcPts val="500"/>
        </a:spcBef>
        <a:spcAft>
          <a:spcPts val="300"/>
        </a:spcAft>
        <a:buFont typeface="Wingdings" panose="05000000000000000000" pitchFamily="2" charset="2"/>
        <a:buChar char="n"/>
        <a:defRPr sz="1798" kern="1200">
          <a:solidFill>
            <a:schemeClr val="tx1">
              <a:lumMod val="75000"/>
              <a:lumOff val="25000"/>
            </a:schemeClr>
          </a:solidFill>
          <a:latin typeface="+mn-lt"/>
          <a:ea typeface="+mn-ea"/>
          <a:cs typeface="+mn-cs"/>
        </a:defRPr>
      </a:lvl4pPr>
      <a:lvl5pPr marL="2055960" indent="-228441" algn="l" defTabSz="913759" rtl="0" eaLnBrk="1" latinLnBrk="0" hangingPunct="1">
        <a:lnSpc>
          <a:spcPct val="130000"/>
        </a:lnSpc>
        <a:spcBef>
          <a:spcPts val="500"/>
        </a:spcBef>
        <a:spcAft>
          <a:spcPts val="300"/>
        </a:spcAft>
        <a:buFont typeface="Wingdings" panose="05000000000000000000" pitchFamily="2" charset="2"/>
        <a:buChar char="n"/>
        <a:defRPr sz="1798" kern="1200">
          <a:solidFill>
            <a:schemeClr val="tx1">
              <a:lumMod val="75000"/>
              <a:lumOff val="25000"/>
            </a:schemeClr>
          </a:solidFill>
          <a:latin typeface="+mn-lt"/>
          <a:ea typeface="+mn-ea"/>
          <a:cs typeface="+mn-cs"/>
        </a:defRPr>
      </a:lvl5pPr>
      <a:lvl6pPr marL="2512839"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0"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zh-CN"/>
      </a:defPPr>
      <a:lvl1pPr marL="0" algn="l" defTabSz="913759" rtl="0" eaLnBrk="1" latinLnBrk="0" hangingPunct="1">
        <a:defRPr sz="1798" kern="1200">
          <a:solidFill>
            <a:schemeClr val="tx1"/>
          </a:solidFill>
          <a:latin typeface="+mn-lt"/>
          <a:ea typeface="+mn-ea"/>
          <a:cs typeface="+mn-cs"/>
        </a:defRPr>
      </a:lvl1pPr>
      <a:lvl2pPr marL="456880" algn="l" defTabSz="913759" rtl="0" eaLnBrk="1" latinLnBrk="0" hangingPunct="1">
        <a:defRPr sz="1798" kern="1200">
          <a:solidFill>
            <a:schemeClr val="tx1"/>
          </a:solidFill>
          <a:latin typeface="+mn-lt"/>
          <a:ea typeface="+mn-ea"/>
          <a:cs typeface="+mn-cs"/>
        </a:defRPr>
      </a:lvl2pPr>
      <a:lvl3pPr marL="913759" algn="l" defTabSz="913759" rtl="0" eaLnBrk="1" latinLnBrk="0" hangingPunct="1">
        <a:defRPr sz="1798" kern="1200">
          <a:solidFill>
            <a:schemeClr val="tx1"/>
          </a:solidFill>
          <a:latin typeface="+mn-lt"/>
          <a:ea typeface="+mn-ea"/>
          <a:cs typeface="+mn-cs"/>
        </a:defRPr>
      </a:lvl3pPr>
      <a:lvl4pPr marL="1370640" algn="l" defTabSz="913759" rtl="0" eaLnBrk="1" latinLnBrk="0" hangingPunct="1">
        <a:defRPr sz="1798" kern="1200">
          <a:solidFill>
            <a:schemeClr val="tx1"/>
          </a:solidFill>
          <a:latin typeface="+mn-lt"/>
          <a:ea typeface="+mn-ea"/>
          <a:cs typeface="+mn-cs"/>
        </a:defRPr>
      </a:lvl4pPr>
      <a:lvl5pPr marL="1827520" algn="l" defTabSz="913759" rtl="0" eaLnBrk="1" latinLnBrk="0" hangingPunct="1">
        <a:defRPr sz="1798" kern="1200">
          <a:solidFill>
            <a:schemeClr val="tx1"/>
          </a:solidFill>
          <a:latin typeface="+mn-lt"/>
          <a:ea typeface="+mn-ea"/>
          <a:cs typeface="+mn-cs"/>
        </a:defRPr>
      </a:lvl5pPr>
      <a:lvl6pPr marL="2284401" algn="l" defTabSz="913759" rtl="0" eaLnBrk="1" latinLnBrk="0" hangingPunct="1">
        <a:defRPr sz="1798" kern="1200">
          <a:solidFill>
            <a:schemeClr val="tx1"/>
          </a:solidFill>
          <a:latin typeface="+mn-lt"/>
          <a:ea typeface="+mn-ea"/>
          <a:cs typeface="+mn-cs"/>
        </a:defRPr>
      </a:lvl6pPr>
      <a:lvl7pPr marL="2741280" algn="l" defTabSz="913759" rtl="0" eaLnBrk="1" latinLnBrk="0" hangingPunct="1">
        <a:defRPr sz="1798" kern="1200">
          <a:solidFill>
            <a:schemeClr val="tx1"/>
          </a:solidFill>
          <a:latin typeface="+mn-lt"/>
          <a:ea typeface="+mn-ea"/>
          <a:cs typeface="+mn-cs"/>
        </a:defRPr>
      </a:lvl7pPr>
      <a:lvl8pPr marL="3198160" algn="l" defTabSz="913759" rtl="0" eaLnBrk="1" latinLnBrk="0" hangingPunct="1">
        <a:defRPr sz="1798" kern="1200">
          <a:solidFill>
            <a:schemeClr val="tx1"/>
          </a:solidFill>
          <a:latin typeface="+mn-lt"/>
          <a:ea typeface="+mn-ea"/>
          <a:cs typeface="+mn-cs"/>
        </a:defRPr>
      </a:lvl8pPr>
      <a:lvl9pPr marL="3655040" algn="l" defTabSz="913759"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3"/>
          <p:cNvSpPr>
            <a:spLocks noGrp="1" noChangeArrowheads="1"/>
          </p:cNvSpPr>
          <p:nvPr>
            <p:ph type="title"/>
          </p:nvPr>
        </p:nvSpPr>
        <p:spPr bwMode="auto">
          <a:xfrm>
            <a:off x="576338" y="260350"/>
            <a:ext cx="11093306" cy="53975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pPr lvl="0"/>
            <a:r>
              <a:rPr lang="zh-CN" altLang="en-US"/>
              <a:t>单击此处编辑母版标题样式</a:t>
            </a:r>
          </a:p>
        </p:txBody>
      </p:sp>
      <p:sp>
        <p:nvSpPr>
          <p:cNvPr id="1027" name="Rectangle 68"/>
          <p:cNvSpPr>
            <a:spLocks noGrp="1" noChangeArrowheads="1"/>
          </p:cNvSpPr>
          <p:nvPr>
            <p:ph type="body" idx="1"/>
          </p:nvPr>
        </p:nvSpPr>
        <p:spPr bwMode="auto">
          <a:xfrm>
            <a:off x="576338" y="908052"/>
            <a:ext cx="11093306" cy="54006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p:txBody>
      </p:sp>
    </p:spTree>
    <p:extLst>
      <p:ext uri="{BB962C8B-B14F-4D97-AF65-F5344CB8AC3E}">
        <p14:creationId xmlns:p14="http://schemas.microsoft.com/office/powerpoint/2010/main" val="842199783"/>
      </p:ext>
    </p:extLst>
  </p:cSld>
  <p:clrMap bg1="lt1" tx1="dk1" bg2="lt2" tx2="dk2" accent1="accent1" accent2="accent2" accent3="accent3" accent4="accent4" accent5="accent5" accent6="accent6" hlink="hlink" folHlink="folHlink"/>
  <p:sldLayoutIdLst>
    <p:sldLayoutId id="2147483899" r:id="rId1"/>
    <p:sldLayoutId id="2147483900" r:id="rId2"/>
    <p:sldLayoutId id="2147483901" r:id="rId3"/>
    <p:sldLayoutId id="2147483902" r:id="rId4"/>
  </p:sldLayoutIdLst>
  <p:hf hdr="0" ftr="0" dt="0"/>
  <p:txStyles>
    <p:titleStyle>
      <a:lvl1pPr algn="l" defTabSz="672898" rtl="0" eaLnBrk="0" fontAlgn="base" hangingPunct="0">
        <a:spcBef>
          <a:spcPct val="0"/>
        </a:spcBef>
        <a:spcAft>
          <a:spcPct val="0"/>
        </a:spcAft>
        <a:defRPr sz="2799" b="1">
          <a:solidFill>
            <a:srgbClr val="990000"/>
          </a:solidFill>
          <a:latin typeface="+mn-ea"/>
          <a:ea typeface="+mn-ea"/>
          <a:cs typeface="+mj-cs"/>
        </a:defRPr>
      </a:lvl1pPr>
      <a:lvl2pPr algn="l" defTabSz="672898" rtl="0" eaLnBrk="0" fontAlgn="base" hangingPunct="0">
        <a:spcBef>
          <a:spcPct val="0"/>
        </a:spcBef>
        <a:spcAft>
          <a:spcPct val="0"/>
        </a:spcAft>
        <a:defRPr sz="2799">
          <a:solidFill>
            <a:srgbClr val="990000"/>
          </a:solidFill>
          <a:latin typeface="Arial" pitchFamily="34" charset="0"/>
          <a:ea typeface="黑体" pitchFamily="2" charset="-122"/>
        </a:defRPr>
      </a:lvl2pPr>
      <a:lvl3pPr algn="l" defTabSz="672898" rtl="0" eaLnBrk="0" fontAlgn="base" hangingPunct="0">
        <a:spcBef>
          <a:spcPct val="0"/>
        </a:spcBef>
        <a:spcAft>
          <a:spcPct val="0"/>
        </a:spcAft>
        <a:defRPr sz="2799">
          <a:solidFill>
            <a:srgbClr val="990000"/>
          </a:solidFill>
          <a:latin typeface="Arial" pitchFamily="34" charset="0"/>
          <a:ea typeface="黑体" pitchFamily="2" charset="-122"/>
        </a:defRPr>
      </a:lvl3pPr>
      <a:lvl4pPr algn="l" defTabSz="672898" rtl="0" eaLnBrk="0" fontAlgn="base" hangingPunct="0">
        <a:spcBef>
          <a:spcPct val="0"/>
        </a:spcBef>
        <a:spcAft>
          <a:spcPct val="0"/>
        </a:spcAft>
        <a:defRPr sz="2799">
          <a:solidFill>
            <a:srgbClr val="990000"/>
          </a:solidFill>
          <a:latin typeface="Arial" pitchFamily="34" charset="0"/>
          <a:ea typeface="黑体" pitchFamily="2" charset="-122"/>
        </a:defRPr>
      </a:lvl4pPr>
      <a:lvl5pPr algn="l" defTabSz="672898" rtl="0" eaLnBrk="0" fontAlgn="base" hangingPunct="0">
        <a:spcBef>
          <a:spcPct val="0"/>
        </a:spcBef>
        <a:spcAft>
          <a:spcPct val="0"/>
        </a:spcAft>
        <a:defRPr sz="2799">
          <a:solidFill>
            <a:srgbClr val="990000"/>
          </a:solidFill>
          <a:latin typeface="Arial" pitchFamily="34" charset="0"/>
          <a:ea typeface="黑体" pitchFamily="2" charset="-122"/>
        </a:defRPr>
      </a:lvl5pPr>
      <a:lvl6pPr marL="383796" algn="l" defTabSz="672975" rtl="0" eaLnBrk="1" fontAlgn="base" hangingPunct="1">
        <a:spcBef>
          <a:spcPct val="0"/>
        </a:spcBef>
        <a:spcAft>
          <a:spcPct val="0"/>
        </a:spcAft>
        <a:defRPr sz="2899">
          <a:solidFill>
            <a:srgbClr val="990000"/>
          </a:solidFill>
          <a:latin typeface="Trebuchet MS" pitchFamily="34" charset="0"/>
          <a:ea typeface="黑体" pitchFamily="2" charset="-122"/>
        </a:defRPr>
      </a:lvl6pPr>
      <a:lvl7pPr marL="767592" algn="l" defTabSz="672975" rtl="0" eaLnBrk="1" fontAlgn="base" hangingPunct="1">
        <a:spcBef>
          <a:spcPct val="0"/>
        </a:spcBef>
        <a:spcAft>
          <a:spcPct val="0"/>
        </a:spcAft>
        <a:defRPr sz="2899">
          <a:solidFill>
            <a:srgbClr val="990000"/>
          </a:solidFill>
          <a:latin typeface="Trebuchet MS" pitchFamily="34" charset="0"/>
          <a:ea typeface="黑体" pitchFamily="2" charset="-122"/>
        </a:defRPr>
      </a:lvl7pPr>
      <a:lvl8pPr marL="1151387" algn="l" defTabSz="672975" rtl="0" eaLnBrk="1" fontAlgn="base" hangingPunct="1">
        <a:spcBef>
          <a:spcPct val="0"/>
        </a:spcBef>
        <a:spcAft>
          <a:spcPct val="0"/>
        </a:spcAft>
        <a:defRPr sz="2899">
          <a:solidFill>
            <a:srgbClr val="990000"/>
          </a:solidFill>
          <a:latin typeface="Trebuchet MS" pitchFamily="34" charset="0"/>
          <a:ea typeface="黑体" pitchFamily="2" charset="-122"/>
        </a:defRPr>
      </a:lvl8pPr>
      <a:lvl9pPr marL="1535182" algn="l" defTabSz="672975" rtl="0" eaLnBrk="1" fontAlgn="base" hangingPunct="1">
        <a:spcBef>
          <a:spcPct val="0"/>
        </a:spcBef>
        <a:spcAft>
          <a:spcPct val="0"/>
        </a:spcAft>
        <a:defRPr sz="2899">
          <a:solidFill>
            <a:srgbClr val="990000"/>
          </a:solidFill>
          <a:latin typeface="Trebuchet MS" pitchFamily="34" charset="0"/>
          <a:ea typeface="黑体" pitchFamily="2" charset="-122"/>
        </a:defRPr>
      </a:lvl9pPr>
    </p:titleStyle>
    <p:bodyStyle>
      <a:lvl1pPr marL="223771" indent="-223771" algn="l" defTabSz="672898" rtl="0" eaLnBrk="0" fontAlgn="base" hangingPunct="0">
        <a:lnSpc>
          <a:spcPct val="140000"/>
        </a:lnSpc>
        <a:spcBef>
          <a:spcPct val="0"/>
        </a:spcBef>
        <a:spcAft>
          <a:spcPct val="20000"/>
        </a:spcAft>
        <a:buClr>
          <a:srgbClr val="595959"/>
        </a:buClr>
        <a:buSzPct val="100000"/>
        <a:buFont typeface="微软雅黑" pitchFamily="34" charset="-122"/>
        <a:buChar char="›"/>
        <a:defRPr b="1">
          <a:solidFill>
            <a:schemeClr val="tx1"/>
          </a:solidFill>
          <a:latin typeface="+mn-lt"/>
          <a:ea typeface="+mn-ea"/>
          <a:cs typeface="+mn-cs"/>
        </a:defRPr>
      </a:lvl1pPr>
      <a:lvl2pPr marL="455476" indent="-231705" algn="l" defTabSz="672898" rtl="0" eaLnBrk="0" fontAlgn="base" hangingPunct="0">
        <a:lnSpc>
          <a:spcPct val="140000"/>
        </a:lnSpc>
        <a:spcBef>
          <a:spcPct val="0"/>
        </a:spcBef>
        <a:spcAft>
          <a:spcPct val="20000"/>
        </a:spcAft>
        <a:buClr>
          <a:srgbClr val="595959"/>
        </a:buClr>
        <a:buSzPct val="100000"/>
        <a:buFont typeface="FrutigerNext LT Regular" pitchFamily="34" charset="0"/>
        <a:buChar char="»"/>
        <a:defRPr sz="1600">
          <a:solidFill>
            <a:schemeClr val="tx1"/>
          </a:solidFill>
          <a:latin typeface="+mn-lt"/>
          <a:ea typeface="+mn-ea"/>
        </a:defRPr>
      </a:lvl2pPr>
      <a:lvl3pPr marL="679246" indent="-223771" algn="l" defTabSz="672898" rtl="0" eaLnBrk="0" fontAlgn="base" hangingPunct="0">
        <a:lnSpc>
          <a:spcPct val="140000"/>
        </a:lnSpc>
        <a:spcBef>
          <a:spcPct val="0"/>
        </a:spcBef>
        <a:spcAft>
          <a:spcPct val="20000"/>
        </a:spcAft>
        <a:buClr>
          <a:srgbClr val="595959"/>
        </a:buClr>
        <a:buSzPct val="80000"/>
        <a:buFont typeface="FrutigerNext LT Regular" pitchFamily="34" charset="0"/>
        <a:buChar char="–"/>
        <a:defRPr sz="1400">
          <a:solidFill>
            <a:schemeClr val="tx1"/>
          </a:solidFill>
          <a:latin typeface="+mn-lt"/>
          <a:ea typeface="+mn-ea"/>
        </a:defRPr>
      </a:lvl3pPr>
      <a:lvl4pPr marL="1175985" indent="-166638" algn="l" defTabSz="672898" rtl="0" eaLnBrk="0" fontAlgn="base" hangingPunct="0">
        <a:lnSpc>
          <a:spcPct val="140000"/>
        </a:lnSpc>
        <a:spcBef>
          <a:spcPct val="0"/>
        </a:spcBef>
        <a:spcAft>
          <a:spcPct val="20000"/>
        </a:spcAft>
        <a:buClr>
          <a:schemeClr val="bg2"/>
        </a:buClr>
        <a:buSzPct val="60000"/>
        <a:buChar char="–"/>
        <a:defRPr sz="1200">
          <a:solidFill>
            <a:schemeClr val="tx1"/>
          </a:solidFill>
          <a:latin typeface="+mn-lt"/>
          <a:ea typeface="+mn-ea"/>
        </a:defRPr>
      </a:lvl4pPr>
      <a:lvl5pPr marL="1512434" indent="-166638" algn="l" defTabSz="672898" rtl="0" eaLnBrk="0" fontAlgn="base" hangingPunct="0">
        <a:lnSpc>
          <a:spcPct val="140000"/>
        </a:lnSpc>
        <a:spcBef>
          <a:spcPct val="0"/>
        </a:spcBef>
        <a:spcAft>
          <a:spcPct val="20000"/>
        </a:spcAft>
        <a:buClr>
          <a:schemeClr val="bg2"/>
        </a:buClr>
        <a:buSzPct val="60000"/>
        <a:buFont typeface="Trebuchet MS" pitchFamily="34" charset="0"/>
        <a:buChar char="~"/>
        <a:defRPr sz="1000">
          <a:solidFill>
            <a:schemeClr val="tx1"/>
          </a:solidFill>
          <a:latin typeface="+mn-lt"/>
          <a:ea typeface="+mn-ea"/>
        </a:defRPr>
      </a:lvl5pPr>
      <a:lvl6pPr marL="1896324" indent="-167911" algn="l" defTabSz="672975" rtl="0" eaLnBrk="1" fontAlgn="base" hangingPunct="1">
        <a:lnSpc>
          <a:spcPct val="140000"/>
        </a:lnSpc>
        <a:spcBef>
          <a:spcPct val="0"/>
        </a:spcBef>
        <a:spcAft>
          <a:spcPct val="20000"/>
        </a:spcAft>
        <a:buClr>
          <a:schemeClr val="bg2"/>
        </a:buClr>
        <a:buSzPct val="60000"/>
        <a:buFont typeface="Trebuchet MS" pitchFamily="34" charset="0"/>
        <a:buChar char="~"/>
        <a:defRPr sz="1000">
          <a:solidFill>
            <a:schemeClr val="tx1"/>
          </a:solidFill>
          <a:latin typeface="+mn-lt"/>
          <a:ea typeface="+mn-ea"/>
        </a:defRPr>
      </a:lvl6pPr>
      <a:lvl7pPr marL="2280120" indent="-167911" algn="l" defTabSz="672975" rtl="0" eaLnBrk="1" fontAlgn="base" hangingPunct="1">
        <a:lnSpc>
          <a:spcPct val="140000"/>
        </a:lnSpc>
        <a:spcBef>
          <a:spcPct val="0"/>
        </a:spcBef>
        <a:spcAft>
          <a:spcPct val="20000"/>
        </a:spcAft>
        <a:buClr>
          <a:schemeClr val="bg2"/>
        </a:buClr>
        <a:buSzPct val="60000"/>
        <a:buFont typeface="Trebuchet MS" pitchFamily="34" charset="0"/>
        <a:buChar char="~"/>
        <a:defRPr sz="1000">
          <a:solidFill>
            <a:schemeClr val="tx1"/>
          </a:solidFill>
          <a:latin typeface="+mn-lt"/>
          <a:ea typeface="+mn-ea"/>
        </a:defRPr>
      </a:lvl7pPr>
      <a:lvl8pPr marL="2663916" indent="-167911" algn="l" defTabSz="672975" rtl="0" eaLnBrk="1" fontAlgn="base" hangingPunct="1">
        <a:lnSpc>
          <a:spcPct val="140000"/>
        </a:lnSpc>
        <a:spcBef>
          <a:spcPct val="0"/>
        </a:spcBef>
        <a:spcAft>
          <a:spcPct val="20000"/>
        </a:spcAft>
        <a:buClr>
          <a:schemeClr val="bg2"/>
        </a:buClr>
        <a:buSzPct val="60000"/>
        <a:buFont typeface="Trebuchet MS" pitchFamily="34" charset="0"/>
        <a:buChar char="~"/>
        <a:defRPr sz="1000">
          <a:solidFill>
            <a:schemeClr val="tx1"/>
          </a:solidFill>
          <a:latin typeface="+mn-lt"/>
          <a:ea typeface="+mn-ea"/>
        </a:defRPr>
      </a:lvl8pPr>
      <a:lvl9pPr marL="3047711" indent="-167911" algn="l" defTabSz="672975" rtl="0" eaLnBrk="1" fontAlgn="base" hangingPunct="1">
        <a:lnSpc>
          <a:spcPct val="140000"/>
        </a:lnSpc>
        <a:spcBef>
          <a:spcPct val="0"/>
        </a:spcBef>
        <a:spcAft>
          <a:spcPct val="20000"/>
        </a:spcAft>
        <a:buClr>
          <a:schemeClr val="bg2"/>
        </a:buClr>
        <a:buSzPct val="60000"/>
        <a:buFont typeface="Trebuchet MS" pitchFamily="34" charset="0"/>
        <a:buChar char="~"/>
        <a:defRPr sz="1000">
          <a:solidFill>
            <a:schemeClr val="tx1"/>
          </a:solidFill>
          <a:latin typeface="+mn-lt"/>
          <a:ea typeface="+mn-ea"/>
        </a:defRPr>
      </a:lvl9pPr>
    </p:bodyStyle>
    <p:otherStyle>
      <a:defPPr>
        <a:defRPr lang="zh-CN"/>
      </a:defPPr>
      <a:lvl1pPr marL="0" algn="l" defTabSz="767592" rtl="0" eaLnBrk="1" latinLnBrk="0" hangingPunct="1">
        <a:defRPr sz="1500" kern="1200">
          <a:solidFill>
            <a:schemeClr val="tx1"/>
          </a:solidFill>
          <a:latin typeface="+mn-lt"/>
          <a:ea typeface="+mn-ea"/>
          <a:cs typeface="+mn-cs"/>
        </a:defRPr>
      </a:lvl1pPr>
      <a:lvl2pPr marL="383796" algn="l" defTabSz="767592" rtl="0" eaLnBrk="1" latinLnBrk="0" hangingPunct="1">
        <a:defRPr sz="1500" kern="1200">
          <a:solidFill>
            <a:schemeClr val="tx1"/>
          </a:solidFill>
          <a:latin typeface="+mn-lt"/>
          <a:ea typeface="+mn-ea"/>
          <a:cs typeface="+mn-cs"/>
        </a:defRPr>
      </a:lvl2pPr>
      <a:lvl3pPr marL="767592" algn="l" defTabSz="767592" rtl="0" eaLnBrk="1" latinLnBrk="0" hangingPunct="1">
        <a:defRPr sz="1500" kern="1200">
          <a:solidFill>
            <a:schemeClr val="tx1"/>
          </a:solidFill>
          <a:latin typeface="+mn-lt"/>
          <a:ea typeface="+mn-ea"/>
          <a:cs typeface="+mn-cs"/>
        </a:defRPr>
      </a:lvl3pPr>
      <a:lvl4pPr marL="1151387" algn="l" defTabSz="767592" rtl="0" eaLnBrk="1" latinLnBrk="0" hangingPunct="1">
        <a:defRPr sz="1500" kern="1200">
          <a:solidFill>
            <a:schemeClr val="tx1"/>
          </a:solidFill>
          <a:latin typeface="+mn-lt"/>
          <a:ea typeface="+mn-ea"/>
          <a:cs typeface="+mn-cs"/>
        </a:defRPr>
      </a:lvl4pPr>
      <a:lvl5pPr marL="1535182" algn="l" defTabSz="767592" rtl="0" eaLnBrk="1" latinLnBrk="0" hangingPunct="1">
        <a:defRPr sz="1500" kern="1200">
          <a:solidFill>
            <a:schemeClr val="tx1"/>
          </a:solidFill>
          <a:latin typeface="+mn-lt"/>
          <a:ea typeface="+mn-ea"/>
          <a:cs typeface="+mn-cs"/>
        </a:defRPr>
      </a:lvl5pPr>
      <a:lvl6pPr marL="1918978" algn="l" defTabSz="767592" rtl="0" eaLnBrk="1" latinLnBrk="0" hangingPunct="1">
        <a:defRPr sz="1500" kern="1200">
          <a:solidFill>
            <a:schemeClr val="tx1"/>
          </a:solidFill>
          <a:latin typeface="+mn-lt"/>
          <a:ea typeface="+mn-ea"/>
          <a:cs typeface="+mn-cs"/>
        </a:defRPr>
      </a:lvl6pPr>
      <a:lvl7pPr marL="2302774" algn="l" defTabSz="767592" rtl="0" eaLnBrk="1" latinLnBrk="0" hangingPunct="1">
        <a:defRPr sz="1500" kern="1200">
          <a:solidFill>
            <a:schemeClr val="tx1"/>
          </a:solidFill>
          <a:latin typeface="+mn-lt"/>
          <a:ea typeface="+mn-ea"/>
          <a:cs typeface="+mn-cs"/>
        </a:defRPr>
      </a:lvl7pPr>
      <a:lvl8pPr marL="2686570" algn="l" defTabSz="767592" rtl="0" eaLnBrk="1" latinLnBrk="0" hangingPunct="1">
        <a:defRPr sz="1500" kern="1200">
          <a:solidFill>
            <a:schemeClr val="tx1"/>
          </a:solidFill>
          <a:latin typeface="+mn-lt"/>
          <a:ea typeface="+mn-ea"/>
          <a:cs typeface="+mn-cs"/>
        </a:defRPr>
      </a:lvl8pPr>
      <a:lvl9pPr marL="3070366" algn="l" defTabSz="767592" rtl="0" eaLnBrk="1" latinLnBrk="0" hangingPunct="1">
        <a:defRPr sz="15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469"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133" y="6402810"/>
            <a:ext cx="499729" cy="138499"/>
          </a:xfrm>
          <a:prstGeom prst="rect">
            <a:avLst/>
          </a:prstGeom>
          <a:noFill/>
        </p:spPr>
        <p:txBody>
          <a:bodyPr wrap="square" lIns="0" tIns="0" rIns="0" bIns="0" rtlCol="0">
            <a:spAutoFit/>
          </a:bodyPr>
          <a:lstStyle/>
          <a:p>
            <a:pPr marL="0" marR="0" lvl="0" indent="0" algn="l" defTabSz="890374" rtl="0" eaLnBrk="1" fontAlgn="auto" latinLnBrk="0" hangingPunct="1">
              <a:lnSpc>
                <a:spcPct val="100000"/>
              </a:lnSpc>
              <a:spcBef>
                <a:spcPts val="0"/>
              </a:spcBef>
              <a:spcAft>
                <a:spcPts val="0"/>
              </a:spcAft>
              <a:buClrTx/>
              <a:buSzTx/>
              <a:buFontTx/>
              <a:buNone/>
              <a:tabLst/>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374" rtl="0" eaLnBrk="1" fontAlgn="auto" latinLnBrk="0" hangingPunct="1">
                <a:lnSpc>
                  <a:spcPct val="100000"/>
                </a:lnSpc>
                <a:spcBef>
                  <a:spcPts val="0"/>
                </a:spcBef>
                <a:spcAft>
                  <a:spcPts val="0"/>
                </a:spcAft>
                <a:buClrTx/>
                <a:buSzTx/>
                <a:buFontTx/>
                <a:buNone/>
                <a:tabLst/>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0" y="2625392"/>
            <a:ext cx="1967973" cy="4233515"/>
            <a:chOff x="5343885" y="-48857"/>
            <a:chExt cx="327131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990"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990"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990"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0/0/0</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extLst>
      <p:ext uri="{BB962C8B-B14F-4D97-AF65-F5344CB8AC3E}">
        <p14:creationId xmlns:p14="http://schemas.microsoft.com/office/powerpoint/2010/main" val="3316560967"/>
      </p:ext>
    </p:extLst>
  </p:cSld>
  <p:clrMap bg1="lt1" tx1="dk1" bg2="lt2" tx2="dk2" accent1="accent1" accent2="accent2" accent3="accent3" accent4="accent4" accent5="accent5" accent6="accent6" hlink="hlink" folHlink="folHlink"/>
  <p:hf hdr="0" ftr="0" dt="0"/>
  <p:txStyles>
    <p:titleStyle>
      <a:lvl1pPr algn="l" defTabSz="1187165" rtl="0" eaLnBrk="1" latinLnBrk="0" hangingPunct="1">
        <a:lnSpc>
          <a:spcPct val="90000"/>
        </a:lnSpc>
        <a:spcBef>
          <a:spcPct val="0"/>
        </a:spcBef>
        <a:buNone/>
        <a:defRPr sz="5713" kern="1200">
          <a:solidFill>
            <a:schemeClr val="tx1"/>
          </a:solidFill>
          <a:latin typeface="+mj-lt"/>
          <a:ea typeface="+mj-ea"/>
          <a:cs typeface="+mj-cs"/>
        </a:defRPr>
      </a:lvl1pPr>
    </p:titleStyle>
    <p:bodyStyle>
      <a:lvl1pPr marL="296791" indent="-296791" algn="l" defTabSz="1187165" rtl="0" eaLnBrk="1" latinLnBrk="0" hangingPunct="1">
        <a:lnSpc>
          <a:spcPct val="90000"/>
        </a:lnSpc>
        <a:spcBef>
          <a:spcPts val="1298"/>
        </a:spcBef>
        <a:buFont typeface="Arial" panose="020B0604020202020204" pitchFamily="34" charset="0"/>
        <a:buChar char="•"/>
        <a:defRPr sz="3635" kern="1200">
          <a:solidFill>
            <a:schemeClr val="tx1"/>
          </a:solidFill>
          <a:latin typeface="+mn-lt"/>
          <a:ea typeface="+mn-ea"/>
          <a:cs typeface="+mn-cs"/>
        </a:defRPr>
      </a:lvl1pPr>
      <a:lvl2pPr marL="890374" indent="-296791" algn="l" defTabSz="1187165" rtl="0" eaLnBrk="1" latinLnBrk="0" hangingPunct="1">
        <a:lnSpc>
          <a:spcPct val="90000"/>
        </a:lnSpc>
        <a:spcBef>
          <a:spcPts val="650"/>
        </a:spcBef>
        <a:buFont typeface="Arial" panose="020B0604020202020204" pitchFamily="34" charset="0"/>
        <a:buChar char="•"/>
        <a:defRPr sz="3117" kern="1200">
          <a:solidFill>
            <a:schemeClr val="tx1"/>
          </a:solidFill>
          <a:latin typeface="+mn-lt"/>
          <a:ea typeface="+mn-ea"/>
          <a:cs typeface="+mn-cs"/>
        </a:defRPr>
      </a:lvl2pPr>
      <a:lvl3pPr marL="1483956" indent="-296791" algn="l" defTabSz="1187165" rtl="0" eaLnBrk="1" latinLnBrk="0" hangingPunct="1">
        <a:lnSpc>
          <a:spcPct val="90000"/>
        </a:lnSpc>
        <a:spcBef>
          <a:spcPts val="650"/>
        </a:spcBef>
        <a:buFont typeface="Arial" panose="020B0604020202020204" pitchFamily="34" charset="0"/>
        <a:buChar char="•"/>
        <a:defRPr sz="2597" kern="1200">
          <a:solidFill>
            <a:schemeClr val="tx1"/>
          </a:solidFill>
          <a:latin typeface="+mn-lt"/>
          <a:ea typeface="+mn-ea"/>
          <a:cs typeface="+mn-cs"/>
        </a:defRPr>
      </a:lvl3pPr>
      <a:lvl4pPr marL="2077540" indent="-296791" algn="l" defTabSz="1187165"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4pPr>
      <a:lvl5pPr marL="2671122" indent="-296791" algn="l" defTabSz="1187165"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5pPr>
      <a:lvl6pPr marL="3264705" indent="-296791" algn="l" defTabSz="1187165"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6pPr>
      <a:lvl7pPr marL="3858288" indent="-296791" algn="l" defTabSz="1187165"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7pPr>
      <a:lvl8pPr marL="4451869" indent="-296791" algn="l" defTabSz="1187165"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8pPr>
      <a:lvl9pPr marL="5045452" indent="-296791" algn="l" defTabSz="1187165"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9pPr>
    </p:bodyStyle>
    <p:otherStyle>
      <a:defPPr>
        <a:defRPr lang="en-US"/>
      </a:defPPr>
      <a:lvl1pPr marL="0" algn="l" defTabSz="1187165" rtl="0" eaLnBrk="1" latinLnBrk="0" hangingPunct="1">
        <a:defRPr sz="2336" kern="1200">
          <a:solidFill>
            <a:schemeClr val="tx1"/>
          </a:solidFill>
          <a:latin typeface="+mn-lt"/>
          <a:ea typeface="+mn-ea"/>
          <a:cs typeface="+mn-cs"/>
        </a:defRPr>
      </a:lvl1pPr>
      <a:lvl2pPr marL="593583" algn="l" defTabSz="1187165" rtl="0" eaLnBrk="1" latinLnBrk="0" hangingPunct="1">
        <a:defRPr sz="2336" kern="1200">
          <a:solidFill>
            <a:schemeClr val="tx1"/>
          </a:solidFill>
          <a:latin typeface="+mn-lt"/>
          <a:ea typeface="+mn-ea"/>
          <a:cs typeface="+mn-cs"/>
        </a:defRPr>
      </a:lvl2pPr>
      <a:lvl3pPr marL="1187165" algn="l" defTabSz="1187165" rtl="0" eaLnBrk="1" latinLnBrk="0" hangingPunct="1">
        <a:defRPr sz="2336" kern="1200">
          <a:solidFill>
            <a:schemeClr val="tx1"/>
          </a:solidFill>
          <a:latin typeface="+mn-lt"/>
          <a:ea typeface="+mn-ea"/>
          <a:cs typeface="+mn-cs"/>
        </a:defRPr>
      </a:lvl3pPr>
      <a:lvl4pPr marL="1780749" algn="l" defTabSz="1187165" rtl="0" eaLnBrk="1" latinLnBrk="0" hangingPunct="1">
        <a:defRPr sz="2336" kern="1200">
          <a:solidFill>
            <a:schemeClr val="tx1"/>
          </a:solidFill>
          <a:latin typeface="+mn-lt"/>
          <a:ea typeface="+mn-ea"/>
          <a:cs typeface="+mn-cs"/>
        </a:defRPr>
      </a:lvl4pPr>
      <a:lvl5pPr marL="2374331" algn="l" defTabSz="1187165" rtl="0" eaLnBrk="1" latinLnBrk="0" hangingPunct="1">
        <a:defRPr sz="2336" kern="1200">
          <a:solidFill>
            <a:schemeClr val="tx1"/>
          </a:solidFill>
          <a:latin typeface="+mn-lt"/>
          <a:ea typeface="+mn-ea"/>
          <a:cs typeface="+mn-cs"/>
        </a:defRPr>
      </a:lvl5pPr>
      <a:lvl6pPr marL="2967913" algn="l" defTabSz="1187165" rtl="0" eaLnBrk="1" latinLnBrk="0" hangingPunct="1">
        <a:defRPr sz="2336" kern="1200">
          <a:solidFill>
            <a:schemeClr val="tx1"/>
          </a:solidFill>
          <a:latin typeface="+mn-lt"/>
          <a:ea typeface="+mn-ea"/>
          <a:cs typeface="+mn-cs"/>
        </a:defRPr>
      </a:lvl6pPr>
      <a:lvl7pPr marL="3561496" algn="l" defTabSz="1187165" rtl="0" eaLnBrk="1" latinLnBrk="0" hangingPunct="1">
        <a:defRPr sz="2336" kern="1200">
          <a:solidFill>
            <a:schemeClr val="tx1"/>
          </a:solidFill>
          <a:latin typeface="+mn-lt"/>
          <a:ea typeface="+mn-ea"/>
          <a:cs typeface="+mn-cs"/>
        </a:defRPr>
      </a:lvl7pPr>
      <a:lvl8pPr marL="4155080" algn="l" defTabSz="1187165" rtl="0" eaLnBrk="1" latinLnBrk="0" hangingPunct="1">
        <a:defRPr sz="2336" kern="1200">
          <a:solidFill>
            <a:schemeClr val="tx1"/>
          </a:solidFill>
          <a:latin typeface="+mn-lt"/>
          <a:ea typeface="+mn-ea"/>
          <a:cs typeface="+mn-cs"/>
        </a:defRPr>
      </a:lvl8pPr>
      <a:lvl9pPr marL="4748662" algn="l" defTabSz="1187165" rtl="0" eaLnBrk="1" latinLnBrk="0" hangingPunct="1">
        <a:defRPr sz="2336"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对象 4" hidden="1"/>
          <p:cNvGraphicFramePr>
            <a:graphicFrameLocks noChangeAspect="1"/>
          </p:cNvGraphicFramePr>
          <p:nvPr>
            <p:custDataLst>
              <p:tags r:id="rId5"/>
            </p:custDataLst>
          </p:nvPr>
        </p:nvGraphicFramePr>
        <p:xfrm>
          <a:off x="1591" y="1588"/>
          <a:ext cx="1588" cy="1588"/>
        </p:xfrm>
        <a:graphic>
          <a:graphicData uri="http://schemas.openxmlformats.org/presentationml/2006/ole">
            <mc:AlternateContent xmlns:mc="http://schemas.openxmlformats.org/markup-compatibility/2006">
              <mc:Choice xmlns:v="urn:schemas-microsoft-com:vml" Requires="v">
                <p:oleObj spid="_x0000_s4370" name="think-cell 幻灯片" r:id="rId6" imgW="592" imgH="591" progId="TCLayout.ActiveDocument.1">
                  <p:embed/>
                </p:oleObj>
              </mc:Choice>
              <mc:Fallback>
                <p:oleObj name="think-cell 幻灯片" r:id="rId6" imgW="592" imgH="591" progId="TCLayout.ActiveDocument.1">
                  <p:embed/>
                  <p:pic>
                    <p:nvPicPr>
                      <p:cNvPr id="5" name="对象 4" hidden="1"/>
                      <p:cNvPicPr/>
                      <p:nvPr/>
                    </p:nvPicPr>
                    <p:blipFill>
                      <a:blip r:embed="rId7"/>
                      <a:stretch>
                        <a:fillRect/>
                      </a:stretch>
                    </p:blipFill>
                    <p:spPr>
                      <a:xfrm>
                        <a:off x="1591" y="1588"/>
                        <a:ext cx="1588" cy="1588"/>
                      </a:xfrm>
                      <a:prstGeom prst="rect">
                        <a:avLst/>
                      </a:prstGeom>
                    </p:spPr>
                  </p:pic>
                </p:oleObj>
              </mc:Fallback>
            </mc:AlternateContent>
          </a:graphicData>
        </a:graphic>
      </p:graphicFrame>
      <p:sp>
        <p:nvSpPr>
          <p:cNvPr id="2" name="标题占位符 1"/>
          <p:cNvSpPr>
            <a:spLocks noGrp="1"/>
          </p:cNvSpPr>
          <p:nvPr>
            <p:ph type="title"/>
          </p:nvPr>
        </p:nvSpPr>
        <p:spPr>
          <a:xfrm>
            <a:off x="516140" y="260357"/>
            <a:ext cx="11164484" cy="539749"/>
          </a:xfrm>
          <a:prstGeom prst="rect">
            <a:avLst/>
          </a:prstGeom>
        </p:spPr>
        <p:txBody>
          <a:bodyPr vert="horz" wrap="none" lIns="0" tIns="0" rIns="0" bIns="0" rtlCol="0" anchor="ctr">
            <a:noAutofit/>
          </a:bodyPr>
          <a:lstStyle/>
          <a:p>
            <a:r>
              <a:rPr lang="zh-CN" altLang="en-US" dirty="0"/>
              <a:t>单击此处编辑母版标题样式</a:t>
            </a:r>
          </a:p>
        </p:txBody>
      </p:sp>
      <p:sp>
        <p:nvSpPr>
          <p:cNvPr id="9" name="TextBox 2">
            <a:extLst>
              <a:ext uri="{FF2B5EF4-FFF2-40B4-BE49-F238E27FC236}">
                <a16:creationId xmlns:a16="http://schemas.microsoft.com/office/drawing/2014/main" id="{6785A3D6-1271-D247-9E96-1B376F4BE7BE}"/>
              </a:ext>
            </a:extLst>
          </p:cNvPr>
          <p:cNvSpPr txBox="1"/>
          <p:nvPr/>
        </p:nvSpPr>
        <p:spPr>
          <a:xfrm>
            <a:off x="1215424" y="6306796"/>
            <a:ext cx="1135222" cy="551204"/>
          </a:xfrm>
          <a:prstGeom prst="rect">
            <a:avLst/>
          </a:prstGeom>
          <a:noFill/>
        </p:spPr>
        <p:txBody>
          <a:bodyPr wrap="none" lIns="0" tIns="0" rIns="0" bIns="0" rtlCol="0" anchor="ctr">
            <a:noAutofit/>
          </a:bodyPr>
          <a:lstStyle/>
          <a:p>
            <a:pPr defTabSz="913668" fontAlgn="base">
              <a:spcBef>
                <a:spcPct val="0"/>
              </a:spcBef>
              <a:spcAft>
                <a:spcPct val="0"/>
              </a:spcAft>
            </a:pPr>
            <a:r>
              <a:rPr lang="en-US" sz="1000" dirty="0">
                <a:solidFill>
                  <a:srgbClr val="1D1D1B"/>
                </a:solidFill>
                <a:latin typeface="Calibri" pitchFamily="34" charset="0"/>
                <a:ea typeface="宋体" pitchFamily="2" charset="-122"/>
                <a:cs typeface="Arial" panose="020B0604020202020204" pitchFamily="34" charset="0"/>
              </a:rPr>
              <a:t>Huawei Confidential</a:t>
            </a:r>
          </a:p>
        </p:txBody>
      </p:sp>
      <p:sp>
        <p:nvSpPr>
          <p:cNvPr id="11" name="TextBox 3">
            <a:extLst>
              <a:ext uri="{FF2B5EF4-FFF2-40B4-BE49-F238E27FC236}">
                <a16:creationId xmlns:a16="http://schemas.microsoft.com/office/drawing/2014/main" id="{EABEE2EE-BF4D-7A4A-B3C6-9E47668CCD98}"/>
              </a:ext>
            </a:extLst>
          </p:cNvPr>
          <p:cNvSpPr txBox="1"/>
          <p:nvPr/>
        </p:nvSpPr>
        <p:spPr>
          <a:xfrm>
            <a:off x="516074" y="6306796"/>
            <a:ext cx="142125" cy="551204"/>
          </a:xfrm>
          <a:prstGeom prst="rect">
            <a:avLst/>
          </a:prstGeom>
          <a:noFill/>
        </p:spPr>
        <p:txBody>
          <a:bodyPr wrap="none" lIns="0" tIns="0" rIns="0" bIns="0" rtlCol="0" anchor="ctr">
            <a:noAutofit/>
          </a:bodyPr>
          <a:lstStyle/>
          <a:p>
            <a:pPr defTabSz="890137" fontAlgn="base">
              <a:spcBef>
                <a:spcPct val="0"/>
              </a:spcBef>
              <a:spcAft>
                <a:spcPct val="0"/>
              </a:spcAft>
              <a:defRPr/>
            </a:pPr>
            <a:fld id="{C3837181-38C6-AD4F-B8BA-B444770388BB}" type="slidenum">
              <a:rPr lang="en-US" sz="974" smtClean="0">
                <a:solidFill>
                  <a:srgbClr val="1D1D1B"/>
                </a:solidFill>
                <a:latin typeface="Calibri" pitchFamily="34" charset="0"/>
                <a:ea typeface="宋体" pitchFamily="2" charset="-122"/>
                <a:cs typeface="Arial" panose="020B0604020202020204" pitchFamily="34" charset="0"/>
              </a:rPr>
              <a:pPr defTabSz="890137" fontAlgn="base">
                <a:spcBef>
                  <a:spcPct val="0"/>
                </a:spcBef>
                <a:spcAft>
                  <a:spcPct val="0"/>
                </a:spcAft>
                <a:defRPr/>
              </a:pPr>
              <a:t>‹#›</a:t>
            </a:fld>
            <a:endParaRPr lang="en-US" sz="974" dirty="0">
              <a:solidFill>
                <a:srgbClr val="1D1D1B"/>
              </a:solidFill>
              <a:latin typeface="Calibri" pitchFamily="34" charset="0"/>
              <a:ea typeface="宋体" pitchFamily="2" charset="-122"/>
              <a:cs typeface="Arial" panose="020B0604020202020204" pitchFamily="34" charset="0"/>
            </a:endParaRPr>
          </a:p>
        </p:txBody>
      </p:sp>
      <p:pic>
        <p:nvPicPr>
          <p:cNvPr id="4" name="图片 3"/>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10413535" y="6443798"/>
            <a:ext cx="1267156" cy="277200"/>
          </a:xfrm>
          <a:prstGeom prst="rect">
            <a:avLst/>
          </a:prstGeom>
        </p:spPr>
      </p:pic>
    </p:spTree>
    <p:extLst>
      <p:ext uri="{BB962C8B-B14F-4D97-AF65-F5344CB8AC3E}">
        <p14:creationId xmlns:p14="http://schemas.microsoft.com/office/powerpoint/2010/main" val="2132423384"/>
      </p:ext>
    </p:extLst>
  </p:cSld>
  <p:clrMap bg1="lt1" tx1="dk1" bg2="lt2" tx2="dk2" accent1="accent1" accent2="accent2" accent3="accent3" accent4="accent4" accent5="accent5" accent6="accent6" hlink="hlink" folHlink="folHlink"/>
  <p:sldLayoutIdLst>
    <p:sldLayoutId id="2147483934" r:id="rId1"/>
    <p:sldLayoutId id="2147483935" r:id="rId2"/>
  </p:sldLayoutIdLst>
  <p:txStyles>
    <p:titleStyle>
      <a:lvl1pPr algn="l" defTabSz="913759" rtl="0" eaLnBrk="1" latinLnBrk="0" hangingPunct="1">
        <a:lnSpc>
          <a:spcPct val="100000"/>
        </a:lnSpc>
        <a:spcBef>
          <a:spcPct val="0"/>
        </a:spcBef>
        <a:buNone/>
        <a:defRPr sz="2400" b="1" kern="1200">
          <a:solidFill>
            <a:schemeClr val="tx2"/>
          </a:solidFill>
          <a:latin typeface="+mn-ea"/>
          <a:ea typeface="+mn-ea"/>
          <a:cs typeface="+mj-cs"/>
        </a:defRPr>
      </a:lvl1pPr>
    </p:titleStyle>
    <p:bodyStyle>
      <a:lvl1pPr marL="268074" indent="-268074" algn="l" defTabSz="913759" rtl="0" eaLnBrk="1" latinLnBrk="0" hangingPunct="1">
        <a:lnSpc>
          <a:spcPct val="130000"/>
        </a:lnSpc>
        <a:spcBef>
          <a:spcPts val="0"/>
        </a:spcBef>
        <a:spcAft>
          <a:spcPts val="400"/>
        </a:spcAft>
        <a:buClr>
          <a:schemeClr val="tx1">
            <a:lumMod val="50000"/>
            <a:lumOff val="50000"/>
          </a:schemeClr>
        </a:buClr>
        <a:buSzPct val="100000"/>
        <a:buFont typeface="Wingdings 2" panose="05020102010507070707" pitchFamily="18" charset="2"/>
        <a:buChar char="¡"/>
        <a:defRPr sz="1798" kern="1200">
          <a:solidFill>
            <a:schemeClr val="tx1"/>
          </a:solidFill>
          <a:latin typeface="+mn-lt"/>
          <a:ea typeface="+mn-ea"/>
          <a:cs typeface="+mn-cs"/>
        </a:defRPr>
      </a:lvl1pPr>
      <a:lvl2pPr marL="444144" indent="-176073" algn="l" defTabSz="913759" rtl="0" eaLnBrk="1" latinLnBrk="0" hangingPunct="1">
        <a:lnSpc>
          <a:spcPct val="130000"/>
        </a:lnSpc>
        <a:spcBef>
          <a:spcPts val="0"/>
        </a:spcBef>
        <a:spcAft>
          <a:spcPts val="400"/>
        </a:spcAft>
        <a:buClr>
          <a:schemeClr val="tx1">
            <a:lumMod val="50000"/>
            <a:lumOff val="50000"/>
          </a:schemeClr>
        </a:buClr>
        <a:buFont typeface="微软雅黑" panose="020B0503020204020204" pitchFamily="34" charset="-122"/>
        <a:buChar char="›"/>
        <a:defRPr sz="1598" kern="1200">
          <a:solidFill>
            <a:schemeClr val="tx1"/>
          </a:solidFill>
          <a:latin typeface="+mn-lt"/>
          <a:ea typeface="+mn-ea"/>
          <a:cs typeface="+mn-cs"/>
        </a:defRPr>
      </a:lvl2pPr>
      <a:lvl3pPr marL="628148" indent="-184002" algn="l" defTabSz="913759" rtl="0" eaLnBrk="1" latinLnBrk="0" hangingPunct="1">
        <a:lnSpc>
          <a:spcPct val="130000"/>
        </a:lnSpc>
        <a:spcBef>
          <a:spcPts val="0"/>
        </a:spcBef>
        <a:spcAft>
          <a:spcPts val="400"/>
        </a:spcAft>
        <a:buClr>
          <a:schemeClr val="tx1">
            <a:lumMod val="50000"/>
            <a:lumOff val="50000"/>
          </a:schemeClr>
        </a:buClr>
        <a:buFont typeface="FrutigerNext LT Regular" panose="020B0503040504020204" pitchFamily="34" charset="0"/>
        <a:buChar char="»"/>
        <a:defRPr sz="1398" kern="1200">
          <a:solidFill>
            <a:schemeClr val="tx1"/>
          </a:solidFill>
          <a:latin typeface="+mn-lt"/>
          <a:ea typeface="+mn-ea"/>
          <a:cs typeface="+mn-cs"/>
        </a:defRPr>
      </a:lvl3pPr>
      <a:lvl4pPr marL="1599080" indent="-228441" algn="l" defTabSz="913759" rtl="0" eaLnBrk="1" latinLnBrk="0" hangingPunct="1">
        <a:lnSpc>
          <a:spcPct val="130000"/>
        </a:lnSpc>
        <a:spcBef>
          <a:spcPts val="500"/>
        </a:spcBef>
        <a:spcAft>
          <a:spcPts val="300"/>
        </a:spcAft>
        <a:buFont typeface="Wingdings" panose="05000000000000000000" pitchFamily="2" charset="2"/>
        <a:buChar char="n"/>
        <a:defRPr sz="1798" kern="1200">
          <a:solidFill>
            <a:schemeClr val="tx1">
              <a:lumMod val="75000"/>
              <a:lumOff val="25000"/>
            </a:schemeClr>
          </a:solidFill>
          <a:latin typeface="+mn-lt"/>
          <a:ea typeface="+mn-ea"/>
          <a:cs typeface="+mn-cs"/>
        </a:defRPr>
      </a:lvl4pPr>
      <a:lvl5pPr marL="2055960" indent="-228441" algn="l" defTabSz="913759" rtl="0" eaLnBrk="1" latinLnBrk="0" hangingPunct="1">
        <a:lnSpc>
          <a:spcPct val="130000"/>
        </a:lnSpc>
        <a:spcBef>
          <a:spcPts val="500"/>
        </a:spcBef>
        <a:spcAft>
          <a:spcPts val="300"/>
        </a:spcAft>
        <a:buFont typeface="Wingdings" panose="05000000000000000000" pitchFamily="2" charset="2"/>
        <a:buChar char="n"/>
        <a:defRPr sz="1798" kern="1200">
          <a:solidFill>
            <a:schemeClr val="tx1">
              <a:lumMod val="75000"/>
              <a:lumOff val="25000"/>
            </a:schemeClr>
          </a:solidFill>
          <a:latin typeface="+mn-lt"/>
          <a:ea typeface="+mn-ea"/>
          <a:cs typeface="+mn-cs"/>
        </a:defRPr>
      </a:lvl5pPr>
      <a:lvl6pPr marL="2512839"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0"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zh-CN"/>
      </a:defPPr>
      <a:lvl1pPr marL="0" algn="l" defTabSz="913759" rtl="0" eaLnBrk="1" latinLnBrk="0" hangingPunct="1">
        <a:defRPr sz="1798" kern="1200">
          <a:solidFill>
            <a:schemeClr val="tx1"/>
          </a:solidFill>
          <a:latin typeface="+mn-lt"/>
          <a:ea typeface="+mn-ea"/>
          <a:cs typeface="+mn-cs"/>
        </a:defRPr>
      </a:lvl1pPr>
      <a:lvl2pPr marL="456880" algn="l" defTabSz="913759" rtl="0" eaLnBrk="1" latinLnBrk="0" hangingPunct="1">
        <a:defRPr sz="1798" kern="1200">
          <a:solidFill>
            <a:schemeClr val="tx1"/>
          </a:solidFill>
          <a:latin typeface="+mn-lt"/>
          <a:ea typeface="+mn-ea"/>
          <a:cs typeface="+mn-cs"/>
        </a:defRPr>
      </a:lvl2pPr>
      <a:lvl3pPr marL="913759" algn="l" defTabSz="913759" rtl="0" eaLnBrk="1" latinLnBrk="0" hangingPunct="1">
        <a:defRPr sz="1798" kern="1200">
          <a:solidFill>
            <a:schemeClr val="tx1"/>
          </a:solidFill>
          <a:latin typeface="+mn-lt"/>
          <a:ea typeface="+mn-ea"/>
          <a:cs typeface="+mn-cs"/>
        </a:defRPr>
      </a:lvl3pPr>
      <a:lvl4pPr marL="1370640" algn="l" defTabSz="913759" rtl="0" eaLnBrk="1" latinLnBrk="0" hangingPunct="1">
        <a:defRPr sz="1798" kern="1200">
          <a:solidFill>
            <a:schemeClr val="tx1"/>
          </a:solidFill>
          <a:latin typeface="+mn-lt"/>
          <a:ea typeface="+mn-ea"/>
          <a:cs typeface="+mn-cs"/>
        </a:defRPr>
      </a:lvl4pPr>
      <a:lvl5pPr marL="1827520" algn="l" defTabSz="913759" rtl="0" eaLnBrk="1" latinLnBrk="0" hangingPunct="1">
        <a:defRPr sz="1798" kern="1200">
          <a:solidFill>
            <a:schemeClr val="tx1"/>
          </a:solidFill>
          <a:latin typeface="+mn-lt"/>
          <a:ea typeface="+mn-ea"/>
          <a:cs typeface="+mn-cs"/>
        </a:defRPr>
      </a:lvl5pPr>
      <a:lvl6pPr marL="2284401" algn="l" defTabSz="913759" rtl="0" eaLnBrk="1" latinLnBrk="0" hangingPunct="1">
        <a:defRPr sz="1798" kern="1200">
          <a:solidFill>
            <a:schemeClr val="tx1"/>
          </a:solidFill>
          <a:latin typeface="+mn-lt"/>
          <a:ea typeface="+mn-ea"/>
          <a:cs typeface="+mn-cs"/>
        </a:defRPr>
      </a:lvl6pPr>
      <a:lvl7pPr marL="2741280" algn="l" defTabSz="913759" rtl="0" eaLnBrk="1" latinLnBrk="0" hangingPunct="1">
        <a:defRPr sz="1798" kern="1200">
          <a:solidFill>
            <a:schemeClr val="tx1"/>
          </a:solidFill>
          <a:latin typeface="+mn-lt"/>
          <a:ea typeface="+mn-ea"/>
          <a:cs typeface="+mn-cs"/>
        </a:defRPr>
      </a:lvl7pPr>
      <a:lvl8pPr marL="3198160" algn="l" defTabSz="913759" rtl="0" eaLnBrk="1" latinLnBrk="0" hangingPunct="1">
        <a:defRPr sz="1798" kern="1200">
          <a:solidFill>
            <a:schemeClr val="tx1"/>
          </a:solidFill>
          <a:latin typeface="+mn-lt"/>
          <a:ea typeface="+mn-ea"/>
          <a:cs typeface="+mn-cs"/>
        </a:defRPr>
      </a:lvl8pPr>
      <a:lvl9pPr marL="3655040" algn="l" defTabSz="913759"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468"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132" y="6402808"/>
            <a:ext cx="499729" cy="138499"/>
          </a:xfrm>
          <a:prstGeom prst="rect">
            <a:avLst/>
          </a:prstGeom>
          <a:noFill/>
        </p:spPr>
        <p:txBody>
          <a:bodyPr wrap="square" lIns="0" tIns="0" rIns="0" bIns="0" rtlCol="0">
            <a:spAutoFit/>
          </a:bodyPr>
          <a:lstStyle/>
          <a:p>
            <a:pPr marL="0" marR="0" lvl="0" indent="0" algn="l" defTabSz="890493" rtl="0" eaLnBrk="1" fontAlgn="auto" latinLnBrk="0" hangingPunct="1">
              <a:lnSpc>
                <a:spcPct val="100000"/>
              </a:lnSpc>
              <a:spcBef>
                <a:spcPts val="0"/>
              </a:spcBef>
              <a:spcAft>
                <a:spcPts val="0"/>
              </a:spcAft>
              <a:buClrTx/>
              <a:buSzTx/>
              <a:buFontTx/>
              <a:buNone/>
              <a:tabLst/>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493" rtl="0" eaLnBrk="1" fontAlgn="auto" latinLnBrk="0" hangingPunct="1">
                <a:lnSpc>
                  <a:spcPct val="100000"/>
                </a:lnSpc>
                <a:spcBef>
                  <a:spcPts val="0"/>
                </a:spcBef>
                <a:spcAft>
                  <a:spcPts val="0"/>
                </a:spcAft>
                <a:buClrTx/>
                <a:buSzTx/>
                <a:buFontTx/>
                <a:buNone/>
                <a:tabLst/>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0" y="2625391"/>
            <a:ext cx="1967973" cy="4233515"/>
            <a:chOff x="5343885" y="-48857"/>
            <a:chExt cx="327131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112"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112"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112"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0/0/0</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extLst>
      <p:ext uri="{BB962C8B-B14F-4D97-AF65-F5344CB8AC3E}">
        <p14:creationId xmlns:p14="http://schemas.microsoft.com/office/powerpoint/2010/main" val="3961604268"/>
      </p:ext>
    </p:extLst>
  </p:cSld>
  <p:clrMap bg1="lt1" tx1="dk1" bg2="lt2" tx2="dk2" accent1="accent1" accent2="accent2" accent3="accent3" accent4="accent4" accent5="accent5" accent6="accent6" hlink="hlink" folHlink="folHlink"/>
  <p:hf hdr="0" ftr="0" dt="0"/>
  <p:txStyles>
    <p:titleStyle>
      <a:lvl1pPr algn="l" defTabSz="1187323" rtl="0" eaLnBrk="1" latinLnBrk="0" hangingPunct="1">
        <a:lnSpc>
          <a:spcPct val="90000"/>
        </a:lnSpc>
        <a:spcBef>
          <a:spcPct val="0"/>
        </a:spcBef>
        <a:buNone/>
        <a:defRPr sz="5714" kern="1200">
          <a:solidFill>
            <a:schemeClr val="tx1"/>
          </a:solidFill>
          <a:latin typeface="+mj-lt"/>
          <a:ea typeface="+mj-ea"/>
          <a:cs typeface="+mj-cs"/>
        </a:defRPr>
      </a:lvl1pPr>
    </p:titleStyle>
    <p:bodyStyle>
      <a:lvl1pPr marL="296831" indent="-296831" algn="l" defTabSz="1187323" rtl="0" eaLnBrk="1" latinLnBrk="0" hangingPunct="1">
        <a:lnSpc>
          <a:spcPct val="90000"/>
        </a:lnSpc>
        <a:spcBef>
          <a:spcPts val="1298"/>
        </a:spcBef>
        <a:buFont typeface="Arial" panose="020B0604020202020204" pitchFamily="34" charset="0"/>
        <a:buChar char="•"/>
        <a:defRPr sz="3635" kern="1200">
          <a:solidFill>
            <a:schemeClr val="tx1"/>
          </a:solidFill>
          <a:latin typeface="+mn-lt"/>
          <a:ea typeface="+mn-ea"/>
          <a:cs typeface="+mn-cs"/>
        </a:defRPr>
      </a:lvl1pPr>
      <a:lvl2pPr marL="890493" indent="-296831" algn="l" defTabSz="1187323" rtl="0" eaLnBrk="1" latinLnBrk="0" hangingPunct="1">
        <a:lnSpc>
          <a:spcPct val="90000"/>
        </a:lnSpc>
        <a:spcBef>
          <a:spcPts val="650"/>
        </a:spcBef>
        <a:buFont typeface="Arial" panose="020B0604020202020204" pitchFamily="34" charset="0"/>
        <a:buChar char="•"/>
        <a:defRPr sz="3117" kern="1200">
          <a:solidFill>
            <a:schemeClr val="tx1"/>
          </a:solidFill>
          <a:latin typeface="+mn-lt"/>
          <a:ea typeface="+mn-ea"/>
          <a:cs typeface="+mn-cs"/>
        </a:defRPr>
      </a:lvl2pPr>
      <a:lvl3pPr marL="1484154" indent="-296831" algn="l" defTabSz="1187323" rtl="0" eaLnBrk="1" latinLnBrk="0" hangingPunct="1">
        <a:lnSpc>
          <a:spcPct val="90000"/>
        </a:lnSpc>
        <a:spcBef>
          <a:spcPts val="650"/>
        </a:spcBef>
        <a:buFont typeface="Arial" panose="020B0604020202020204" pitchFamily="34" charset="0"/>
        <a:buChar char="•"/>
        <a:defRPr sz="2597" kern="1200">
          <a:solidFill>
            <a:schemeClr val="tx1"/>
          </a:solidFill>
          <a:latin typeface="+mn-lt"/>
          <a:ea typeface="+mn-ea"/>
          <a:cs typeface="+mn-cs"/>
        </a:defRPr>
      </a:lvl3pPr>
      <a:lvl4pPr marL="2077817"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4pPr>
      <a:lvl5pPr marL="2671478"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0" y="2625389"/>
            <a:ext cx="1967973" cy="4233515"/>
            <a:chOff x="5343885" y="-48857"/>
            <a:chExt cx="327131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0/0/0</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732822509"/>
      </p:ext>
    </p:extLst>
  </p:cSld>
  <p:clrMap bg1="lt1" tx1="dk1" bg2="lt2" tx2="dk2" accent1="accent1" accent2="accent2" accent3="accent3" accent4="accent4" accent5="accent5" accent6="accent6" hlink="hlink" folHlink="folHlink"/>
  <p:sldLayoutIdLst>
    <p:sldLayoutId id="2147483938" r:id="rId1"/>
  </p:sldLayoutIdLst>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png"/><Relationship Id="rId4" Type="http://schemas.microsoft.com/office/2007/relationships/hdphoto" Target="../media/hdphoto1.wdp"/><Relationship Id="rId9" Type="http://schemas.openxmlformats.org/officeDocument/2006/relationships/image" Target="../media/image21.png"/></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jpeg"/></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47.emf"/><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48.emf"/></Relationships>
</file>

<file path=ppt/slides/_rels/slide1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1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1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18" Type="http://schemas.microsoft.com/office/2007/relationships/diagramDrawing" Target="../diagrams/drawing3.xml"/><Relationship Id="rId3" Type="http://schemas.openxmlformats.org/officeDocument/2006/relationships/image" Target="../media/image56.png"/><Relationship Id="rId7" Type="http://schemas.openxmlformats.org/officeDocument/2006/relationships/diagramColors" Target="../diagrams/colors1.xml"/><Relationship Id="rId12" Type="http://schemas.openxmlformats.org/officeDocument/2006/relationships/diagramColors" Target="../diagrams/colors2.xml"/><Relationship Id="rId17" Type="http://schemas.openxmlformats.org/officeDocument/2006/relationships/diagramColors" Target="../diagrams/colors3.xml"/><Relationship Id="rId2" Type="http://schemas.openxmlformats.org/officeDocument/2006/relationships/notesSlide" Target="../notesSlides/notesSlide15.xml"/><Relationship Id="rId16" Type="http://schemas.openxmlformats.org/officeDocument/2006/relationships/diagramQuickStyle" Target="../diagrams/quickStyle3.xml"/><Relationship Id="rId1" Type="http://schemas.openxmlformats.org/officeDocument/2006/relationships/slideLayout" Target="../slideLayouts/slideLayout7.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5" Type="http://schemas.openxmlformats.org/officeDocument/2006/relationships/diagramLayout" Target="../diagrams/layout3.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 Id="rId14" Type="http://schemas.openxmlformats.org/officeDocument/2006/relationships/diagramData" Target="../diagrams/data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sz="quarter"/>
          </p:nvPr>
        </p:nvSpPr>
        <p:spPr>
          <a:xfrm>
            <a:off x="554201" y="1180611"/>
            <a:ext cx="6283017" cy="2466597"/>
          </a:xfrm>
        </p:spPr>
        <p:txBody>
          <a:bodyPr/>
          <a:lstStyle/>
          <a:p>
            <a:pPr defTabSz="672975" eaLnBrk="1" hangingPunct="1">
              <a:defRPr/>
            </a:pPr>
            <a:r>
              <a:rPr lang="en-US" altLang="zh-CN" sz="3200" dirty="0"/>
              <a:t>Debriefing the Open Innovation Platform for </a:t>
            </a:r>
            <a:r>
              <a:rPr lang="en-US" altLang="zh-CN" sz="3200" dirty="0" err="1"/>
              <a:t>UnifiedBus</a:t>
            </a:r>
            <a:endParaRPr lang="zh-CN" altLang="en-US" sz="1800" b="0" dirty="0">
              <a:solidFill>
                <a:schemeClr val="tx1"/>
              </a:solidFill>
              <a:latin typeface="+mn-lt"/>
            </a:endParaRPr>
          </a:p>
        </p:txBody>
      </p:sp>
      <p:sp>
        <p:nvSpPr>
          <p:cNvPr id="2" name="文本框 1">
            <a:extLst>
              <a:ext uri="{FF2B5EF4-FFF2-40B4-BE49-F238E27FC236}">
                <a16:creationId xmlns:a16="http://schemas.microsoft.com/office/drawing/2014/main" id="{2154DA6E-6CC8-4AF9-921B-E89E4F4D813D}"/>
              </a:ext>
            </a:extLst>
          </p:cNvPr>
          <p:cNvSpPr txBox="1"/>
          <p:nvPr/>
        </p:nvSpPr>
        <p:spPr>
          <a:xfrm>
            <a:off x="554201" y="3647208"/>
            <a:ext cx="4145973" cy="923330"/>
          </a:xfrm>
          <a:prstGeom prst="rect">
            <a:avLst/>
          </a:prstGeom>
          <a:noFill/>
        </p:spPr>
        <p:txBody>
          <a:bodyPr wrap="square" rtlCol="0">
            <a:spAutoFit/>
          </a:bodyPr>
          <a:lstStyle/>
          <a:p>
            <a:r>
              <a:rPr lang="en-US" altLang="zh-CN" b="1" dirty="0" err="1"/>
              <a:t>Wenjia</a:t>
            </a:r>
            <a:r>
              <a:rPr lang="zh-CN" altLang="en-US" b="1" dirty="0"/>
              <a:t> </a:t>
            </a:r>
            <a:r>
              <a:rPr lang="en-US" altLang="zh-CN" b="1" dirty="0"/>
              <a:t>Wei</a:t>
            </a:r>
          </a:p>
          <a:p>
            <a:endParaRPr lang="en-US" altLang="zh-CN" dirty="0"/>
          </a:p>
          <a:p>
            <a:r>
              <a:rPr lang="en-US" altLang="zh-CN" sz="1800" b="1" i="1" dirty="0">
                <a:solidFill>
                  <a:srgbClr val="212529"/>
                </a:solidFill>
                <a:effectLst/>
                <a:latin typeface="Times New Roman" panose="02020603050405020304" pitchFamily="18" charset="0"/>
                <a:ea typeface="宋体" panose="02010600030101010101" pitchFamily="2" charset="-122"/>
              </a:rPr>
              <a:t>Huawei, Network Technology Laboratory</a:t>
            </a:r>
            <a:endParaRPr lang="en-US" altLang="zh-CN" b="1" dirty="0"/>
          </a:p>
        </p:txBody>
      </p:sp>
    </p:spTree>
    <p:extLst>
      <p:ext uri="{BB962C8B-B14F-4D97-AF65-F5344CB8AC3E}">
        <p14:creationId xmlns:p14="http://schemas.microsoft.com/office/powerpoint/2010/main" val="3817692190"/>
      </p:ext>
    </p:extLst>
  </p:cSld>
  <p:clrMapOvr>
    <a:masterClrMapping/>
  </p:clrMapOvr>
  <mc:AlternateContent xmlns:mc="http://schemas.openxmlformats.org/markup-compatibility/2006" xmlns:p14="http://schemas.microsoft.com/office/powerpoint/2010/main">
    <mc:Choice Requires="p14">
      <p:transition p14:dur="10" advTm="12083"/>
    </mc:Choice>
    <mc:Fallback xmlns="">
      <p:transition advTm="1208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矩形 197">
            <a:extLst>
              <a:ext uri="{FF2B5EF4-FFF2-40B4-BE49-F238E27FC236}">
                <a16:creationId xmlns:a16="http://schemas.microsoft.com/office/drawing/2014/main" id="{61BF92DD-1D77-4857-9282-0C3345D1ECDC}"/>
              </a:ext>
            </a:extLst>
          </p:cNvPr>
          <p:cNvSpPr/>
          <p:nvPr/>
        </p:nvSpPr>
        <p:spPr>
          <a:xfrm>
            <a:off x="6412525" y="3410346"/>
            <a:ext cx="5372250" cy="2879034"/>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CC7D333B-CC6A-4882-95EE-1D85180CB17C}"/>
              </a:ext>
            </a:extLst>
          </p:cNvPr>
          <p:cNvSpPr/>
          <p:nvPr/>
        </p:nvSpPr>
        <p:spPr>
          <a:xfrm>
            <a:off x="6412525" y="1018024"/>
            <a:ext cx="5372250" cy="2264302"/>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标题 1">
            <a:extLst>
              <a:ext uri="{FF2B5EF4-FFF2-40B4-BE49-F238E27FC236}">
                <a16:creationId xmlns:a16="http://schemas.microsoft.com/office/drawing/2014/main" id="{2AD3965F-0FB0-45B4-AF0A-8C7BE62857FB}"/>
              </a:ext>
            </a:extLst>
          </p:cNvPr>
          <p:cNvSpPr>
            <a:spLocks noGrp="1"/>
          </p:cNvSpPr>
          <p:nvPr>
            <p:ph type="title"/>
          </p:nvPr>
        </p:nvSpPr>
        <p:spPr>
          <a:xfrm>
            <a:off x="561005" y="275992"/>
            <a:ext cx="11208246" cy="798839"/>
          </a:xfrm>
        </p:spPr>
        <p:txBody>
          <a:bodyPr wrap="square">
            <a:noAutofit/>
          </a:bodyPr>
          <a:lstStyle/>
          <a:p>
            <a:r>
              <a:rPr lang="en-US" altLang="zh-CN" u="sng" dirty="0"/>
              <a:t>U</a:t>
            </a:r>
            <a:r>
              <a:rPr lang="en-US" altLang="zh-CN" dirty="0"/>
              <a:t>nified</a:t>
            </a:r>
            <a:r>
              <a:rPr lang="en-US" altLang="zh-CN" u="sng" dirty="0"/>
              <a:t>B</a:t>
            </a:r>
            <a:r>
              <a:rPr lang="en-US" altLang="zh-CN" dirty="0"/>
              <a:t>us: An Interconnect Protocol for </a:t>
            </a:r>
            <a:r>
              <a:rPr lang="en-US" altLang="zh-CN" dirty="0" err="1"/>
              <a:t>SuperPoD</a:t>
            </a:r>
            <a:endParaRPr lang="zh-CN" altLang="en-US" dirty="0"/>
          </a:p>
        </p:txBody>
      </p:sp>
      <p:sp>
        <p:nvSpPr>
          <p:cNvPr id="64" name="文本占位符 7">
            <a:extLst>
              <a:ext uri="{FF2B5EF4-FFF2-40B4-BE49-F238E27FC236}">
                <a16:creationId xmlns:a16="http://schemas.microsoft.com/office/drawing/2014/main" id="{80C256CC-3D55-46BE-BC47-A3B118F08DE4}"/>
              </a:ext>
            </a:extLst>
          </p:cNvPr>
          <p:cNvSpPr txBox="1">
            <a:spLocks/>
          </p:cNvSpPr>
          <p:nvPr/>
        </p:nvSpPr>
        <p:spPr>
          <a:xfrm>
            <a:off x="487772" y="1269605"/>
            <a:ext cx="5947892" cy="5019775"/>
          </a:xfrm>
          <a:prstGeom prst="rect">
            <a:avLst/>
          </a:prstGeom>
        </p:spPr>
        <p:txBody>
          <a:bodyPr vert="horz" lIns="91440" tIns="45720" rIns="91440" bIns="45720" rtlCol="0">
            <a:normAutofit lnSpcReduction="10000"/>
          </a:bodyPr>
          <a:lstStyle>
            <a:lvl1pPr marL="0" indent="0" algn="l" defTabSz="1199876" rtl="0" eaLnBrk="1" latinLnBrk="0" hangingPunct="1">
              <a:lnSpc>
                <a:spcPct val="100000"/>
              </a:lnSpc>
              <a:spcBef>
                <a:spcPts val="1312"/>
              </a:spcBef>
              <a:buFontTx/>
              <a:buNone/>
              <a:defRPr sz="1800" b="0" i="0" kern="1200">
                <a:solidFill>
                  <a:schemeClr val="tx1"/>
                </a:solidFill>
                <a:latin typeface="FZLanTingHeiS-R-GB" panose="02000000000000000000" pitchFamily="2" charset="-122"/>
                <a:ea typeface="FZLanTingHeiS-R-GB" panose="02000000000000000000" pitchFamily="2" charset="-122"/>
                <a:cs typeface="+mn-cs"/>
              </a:defRPr>
            </a:lvl1pPr>
            <a:lvl2pPr marL="299982" indent="0" algn="l" defTabSz="1199876" rtl="0" eaLnBrk="1" latinLnBrk="0" hangingPunct="1">
              <a:lnSpc>
                <a:spcPct val="100000"/>
              </a:lnSpc>
              <a:spcBef>
                <a:spcPts val="656"/>
              </a:spcBef>
              <a:buFontTx/>
              <a:buNone/>
              <a:defRPr sz="2000" b="0" i="0" kern="1200">
                <a:solidFill>
                  <a:schemeClr val="tx1"/>
                </a:solidFill>
                <a:latin typeface="FZLanTingHeiS-R-GB" panose="02000000000000000000" pitchFamily="2" charset="-122"/>
                <a:ea typeface="FZLanTingHeiS-R-GB" panose="02000000000000000000" pitchFamily="2" charset="-122"/>
                <a:cs typeface="+mn-cs"/>
              </a:defRPr>
            </a:lvl2pPr>
            <a:lvl3pPr marL="599966" indent="0" algn="l" defTabSz="1199876" rtl="0" eaLnBrk="1" latinLnBrk="0" hangingPunct="1">
              <a:lnSpc>
                <a:spcPct val="100000"/>
              </a:lnSpc>
              <a:spcBef>
                <a:spcPts val="656"/>
              </a:spcBef>
              <a:buFontTx/>
              <a:buNone/>
              <a:defRPr sz="2000" b="0" i="0" kern="1200">
                <a:solidFill>
                  <a:schemeClr val="tx1"/>
                </a:solidFill>
                <a:latin typeface="FZLanTingHeiS-R-GB" panose="02000000000000000000" pitchFamily="2" charset="-122"/>
                <a:ea typeface="FZLanTingHeiS-R-GB" panose="02000000000000000000" pitchFamily="2" charset="-122"/>
                <a:cs typeface="+mn-cs"/>
              </a:defRPr>
            </a:lvl3pPr>
            <a:lvl4pPr marL="899948" indent="0" algn="l" defTabSz="1199876" rtl="0" eaLnBrk="1" latinLnBrk="0" hangingPunct="1">
              <a:lnSpc>
                <a:spcPct val="100000"/>
              </a:lnSpc>
              <a:spcBef>
                <a:spcPts val="656"/>
              </a:spcBef>
              <a:buFontTx/>
              <a:buNone/>
              <a:defRPr sz="2000" b="0" i="0" kern="1200">
                <a:solidFill>
                  <a:schemeClr val="tx1"/>
                </a:solidFill>
                <a:latin typeface="FZLanTingHeiS-R-GB" panose="02000000000000000000" pitchFamily="2" charset="-122"/>
                <a:ea typeface="FZLanTingHeiS-R-GB" panose="02000000000000000000" pitchFamily="2" charset="-122"/>
                <a:cs typeface="+mn-cs"/>
              </a:defRPr>
            </a:lvl4pPr>
            <a:lvl5pPr marL="899948" indent="0" algn="l" defTabSz="1199876" rtl="0" eaLnBrk="1" latinLnBrk="0" hangingPunct="1">
              <a:lnSpc>
                <a:spcPct val="100000"/>
              </a:lnSpc>
              <a:spcBef>
                <a:spcPts val="656"/>
              </a:spcBef>
              <a:buFontTx/>
              <a:buNone/>
              <a:defRPr sz="2000" b="0" i="0" kern="1200">
                <a:solidFill>
                  <a:schemeClr val="tx1"/>
                </a:solidFill>
                <a:latin typeface="FZLanTingHeiS-R-GB" panose="02000000000000000000" pitchFamily="2" charset="-122"/>
                <a:ea typeface="FZLanTingHeiS-R-GB" panose="02000000000000000000" pitchFamily="2" charset="-122"/>
                <a:cs typeface="+mn-cs"/>
              </a:defRPr>
            </a:lvl5pPr>
            <a:lvl6pPr marL="3299658" indent="-299969" algn="l" defTabSz="1199876" rtl="0" eaLnBrk="1" latinLnBrk="0" hangingPunct="1">
              <a:lnSpc>
                <a:spcPct val="90000"/>
              </a:lnSpc>
              <a:spcBef>
                <a:spcPts val="656"/>
              </a:spcBef>
              <a:buFont typeface="Arial" panose="020B0604020202020204" pitchFamily="34" charset="0"/>
              <a:buChar char="•"/>
              <a:defRPr sz="2362" kern="1200">
                <a:solidFill>
                  <a:schemeClr val="tx1"/>
                </a:solidFill>
                <a:latin typeface="+mn-lt"/>
                <a:ea typeface="+mn-ea"/>
                <a:cs typeface="+mn-cs"/>
              </a:defRPr>
            </a:lvl6pPr>
            <a:lvl7pPr marL="3899596" indent="-299969" algn="l" defTabSz="1199876" rtl="0" eaLnBrk="1" latinLnBrk="0" hangingPunct="1">
              <a:lnSpc>
                <a:spcPct val="90000"/>
              </a:lnSpc>
              <a:spcBef>
                <a:spcPts val="656"/>
              </a:spcBef>
              <a:buFont typeface="Arial" panose="020B0604020202020204" pitchFamily="34" charset="0"/>
              <a:buChar char="•"/>
              <a:defRPr sz="2362" kern="1200">
                <a:solidFill>
                  <a:schemeClr val="tx1"/>
                </a:solidFill>
                <a:latin typeface="+mn-lt"/>
                <a:ea typeface="+mn-ea"/>
                <a:cs typeface="+mn-cs"/>
              </a:defRPr>
            </a:lvl7pPr>
            <a:lvl8pPr marL="4499534" indent="-299969" algn="l" defTabSz="1199876" rtl="0" eaLnBrk="1" latinLnBrk="0" hangingPunct="1">
              <a:lnSpc>
                <a:spcPct val="90000"/>
              </a:lnSpc>
              <a:spcBef>
                <a:spcPts val="656"/>
              </a:spcBef>
              <a:buFont typeface="Arial" panose="020B0604020202020204" pitchFamily="34" charset="0"/>
              <a:buChar char="•"/>
              <a:defRPr sz="2362" kern="1200">
                <a:solidFill>
                  <a:schemeClr val="tx1"/>
                </a:solidFill>
                <a:latin typeface="+mn-lt"/>
                <a:ea typeface="+mn-ea"/>
                <a:cs typeface="+mn-cs"/>
              </a:defRPr>
            </a:lvl8pPr>
            <a:lvl9pPr marL="5099472" indent="-299969" algn="l" defTabSz="1199876" rtl="0" eaLnBrk="1" latinLnBrk="0" hangingPunct="1">
              <a:lnSpc>
                <a:spcPct val="90000"/>
              </a:lnSpc>
              <a:spcBef>
                <a:spcPts val="656"/>
              </a:spcBef>
              <a:buFont typeface="Arial" panose="020B0604020202020204" pitchFamily="34" charset="0"/>
              <a:buChar char="•"/>
              <a:defRPr sz="2362" kern="1200">
                <a:solidFill>
                  <a:schemeClr val="tx1"/>
                </a:solidFill>
                <a:latin typeface="+mn-lt"/>
                <a:ea typeface="+mn-ea"/>
                <a:cs typeface="+mn-cs"/>
              </a:defRPr>
            </a:lvl9pPr>
          </a:lstStyle>
          <a:p>
            <a:pPr defTabSz="914034">
              <a:lnSpc>
                <a:spcPct val="150000"/>
              </a:lnSpc>
              <a:spcBef>
                <a:spcPts val="0"/>
              </a:spcBef>
              <a:defRPr/>
            </a:pPr>
            <a:r>
              <a:rPr lang="en-US" altLang="zh-CN" sz="1600" dirty="0">
                <a:latin typeface="+mn-ea"/>
                <a:ea typeface="+mn-ea"/>
                <a:cs typeface="Huawei Sans" panose="020C0503030203020204" pitchFamily="34" charset="0"/>
              </a:rPr>
              <a:t>UnifiedBus (UB) is a </a:t>
            </a:r>
            <a:r>
              <a:rPr lang="en-US" altLang="zh-CN" sz="1600" dirty="0" err="1">
                <a:latin typeface="+mn-ea"/>
                <a:ea typeface="+mn-ea"/>
                <a:cs typeface="Huawei Sans" panose="020C0503030203020204" pitchFamily="34" charset="0"/>
              </a:rPr>
              <a:t>SuperPod</a:t>
            </a:r>
            <a:r>
              <a:rPr lang="en-US" altLang="zh-CN" sz="1600" dirty="0">
                <a:latin typeface="+mn-ea"/>
                <a:ea typeface="+mn-ea"/>
                <a:cs typeface="Huawei Sans" panose="020C0503030203020204" pitchFamily="34" charset="0"/>
              </a:rPr>
              <a:t>-oriented interconnection protocol that unifies IO, memory access, and inter-process-unit communication.</a:t>
            </a:r>
          </a:p>
          <a:p>
            <a:pPr defTabSz="914034">
              <a:lnSpc>
                <a:spcPct val="150000"/>
              </a:lnSpc>
              <a:spcBef>
                <a:spcPts val="0"/>
              </a:spcBef>
              <a:defRPr/>
            </a:pPr>
            <a:endParaRPr lang="en-US" altLang="zh-CN" sz="1600" dirty="0">
              <a:latin typeface="+mn-ea"/>
              <a:ea typeface="+mn-ea"/>
              <a:cs typeface="Huawei Sans" panose="020C0503030203020204" pitchFamily="34" charset="0"/>
            </a:endParaRPr>
          </a:p>
          <a:p>
            <a:pPr defTabSz="914034">
              <a:lnSpc>
                <a:spcPct val="150000"/>
              </a:lnSpc>
              <a:spcBef>
                <a:spcPts val="0"/>
              </a:spcBef>
              <a:defRPr/>
            </a:pPr>
            <a:endParaRPr lang="en-US" altLang="zh-CN" sz="1600" dirty="0">
              <a:latin typeface="+mn-ea"/>
              <a:ea typeface="+mn-ea"/>
              <a:cs typeface="Huawei Sans" panose="020C0503030203020204" pitchFamily="34" charset="0"/>
            </a:endParaRPr>
          </a:p>
          <a:p>
            <a:pPr defTabSz="914034">
              <a:lnSpc>
                <a:spcPct val="150000"/>
              </a:lnSpc>
              <a:spcBef>
                <a:spcPts val="0"/>
              </a:spcBef>
              <a:defRPr/>
            </a:pPr>
            <a:endParaRPr lang="en-US" altLang="zh-CN" sz="1600" dirty="0">
              <a:latin typeface="+mn-ea"/>
              <a:ea typeface="+mn-ea"/>
              <a:cs typeface="Huawei Sans" panose="020C0503030203020204" pitchFamily="34" charset="0"/>
            </a:endParaRPr>
          </a:p>
          <a:p>
            <a:pPr defTabSz="914034">
              <a:lnSpc>
                <a:spcPct val="150000"/>
              </a:lnSpc>
              <a:spcBef>
                <a:spcPts val="0"/>
              </a:spcBef>
              <a:defRPr/>
            </a:pPr>
            <a:r>
              <a:rPr lang="en-US" altLang="zh-CN" sz="1600" b="1" dirty="0">
                <a:latin typeface="+mn-ea"/>
                <a:ea typeface="+mn-ea"/>
                <a:cs typeface="Huawei Sans" panose="020C0503030203020204" pitchFamily="34" charset="0"/>
              </a:rPr>
              <a:t>Key Capabilities:</a:t>
            </a:r>
          </a:p>
          <a:p>
            <a:pPr marL="285750" indent="-285750" defTabSz="914034">
              <a:lnSpc>
                <a:spcPct val="150000"/>
              </a:lnSpc>
              <a:spcBef>
                <a:spcPts val="0"/>
              </a:spcBef>
              <a:buFont typeface="Arial" panose="020B0604020202020204" pitchFamily="34" charset="0"/>
              <a:buChar char="•"/>
              <a:defRPr/>
            </a:pPr>
            <a:r>
              <a:rPr lang="en-US" altLang="zh-CN" sz="1600" b="1" dirty="0">
                <a:latin typeface="+mn-ea"/>
                <a:ea typeface="+mn-ea"/>
                <a:cs typeface="Huawei Sans" panose="020C0503030203020204" pitchFamily="34" charset="0"/>
              </a:rPr>
              <a:t>Low Latency:</a:t>
            </a:r>
            <a:r>
              <a:rPr lang="zh-CN" altLang="en-US" sz="1600" b="1" dirty="0">
                <a:latin typeface="+mn-ea"/>
                <a:ea typeface="+mn-ea"/>
                <a:cs typeface="Huawei Sans" panose="020C0503030203020204" pitchFamily="34" charset="0"/>
              </a:rPr>
              <a:t> </a:t>
            </a:r>
            <a:r>
              <a:rPr lang="en-US" altLang="zh-CN" sz="1600" dirty="0">
                <a:latin typeface="+mn-ea"/>
                <a:ea typeface="+mn-ea"/>
                <a:cs typeface="Huawei Sans" panose="020C0503030203020204" pitchFamily="34" charset="0"/>
              </a:rPr>
              <a:t>any port can connect and forward to any type of devices without protocol conversion overhead.</a:t>
            </a:r>
          </a:p>
          <a:p>
            <a:pPr marL="285750" indent="-285750" defTabSz="914034">
              <a:lnSpc>
                <a:spcPct val="150000"/>
              </a:lnSpc>
              <a:spcBef>
                <a:spcPts val="0"/>
              </a:spcBef>
              <a:buFont typeface="Arial" panose="020B0604020202020204" pitchFamily="34" charset="0"/>
              <a:buChar char="•"/>
              <a:defRPr/>
            </a:pPr>
            <a:r>
              <a:rPr lang="en-US" altLang="zh-CN" sz="1600" b="1" dirty="0">
                <a:latin typeface="+mn-ea"/>
                <a:ea typeface="+mn-ea"/>
                <a:cs typeface="Huawei Sans" panose="020C0503030203020204" pitchFamily="34" charset="0"/>
              </a:rPr>
              <a:t>Higher bandwidth: </a:t>
            </a:r>
            <a:r>
              <a:rPr lang="en-US" altLang="zh-CN" sz="1600" dirty="0">
                <a:latin typeface="+mn-ea"/>
                <a:ea typeface="+mn-ea"/>
                <a:cs typeface="Huawei Sans" panose="020C0503030203020204" pitchFamily="34" charset="0"/>
              </a:rPr>
              <a:t>all high speed SERDES can be utilized for any purpose,</a:t>
            </a:r>
            <a:r>
              <a:rPr lang="en-US" altLang="zh-CN" sz="1600" b="0" i="0" kern="1200" dirty="0">
                <a:solidFill>
                  <a:schemeClr val="tx1"/>
                </a:solidFill>
                <a:effectLst/>
                <a:latin typeface="+mn-lt"/>
                <a:ea typeface="+mn-ea"/>
                <a:cs typeface="+mn-cs"/>
              </a:rPr>
              <a:t> maximizes resource efficiency</a:t>
            </a:r>
            <a:endParaRPr lang="en-US" altLang="zh-CN" sz="1600" dirty="0">
              <a:latin typeface="+mn-ea"/>
              <a:ea typeface="+mn-ea"/>
              <a:cs typeface="Huawei Sans" panose="020C0503030203020204" pitchFamily="34" charset="0"/>
            </a:endParaRPr>
          </a:p>
          <a:p>
            <a:pPr marL="285750" indent="-285750" defTabSz="914034">
              <a:lnSpc>
                <a:spcPct val="150000"/>
              </a:lnSpc>
              <a:spcBef>
                <a:spcPts val="0"/>
              </a:spcBef>
              <a:buFont typeface="Arial" panose="020B0604020202020204" pitchFamily="34" charset="0"/>
              <a:buChar char="•"/>
              <a:defRPr/>
            </a:pPr>
            <a:r>
              <a:rPr lang="en-US" altLang="zh-CN" sz="1600" b="1" dirty="0">
                <a:latin typeface="+mn-ea"/>
                <a:ea typeface="+mn-ea"/>
                <a:cs typeface="Huawei Sans" panose="020C0503030203020204" pitchFamily="34" charset="0"/>
              </a:rPr>
              <a:t>Simplified Schema: </a:t>
            </a:r>
            <a:r>
              <a:rPr lang="en-US" altLang="zh-CN" sz="1600" dirty="0">
                <a:latin typeface="+mn-ea"/>
                <a:ea typeface="+mn-ea"/>
                <a:cs typeface="Huawei Sans" panose="020C0503030203020204" pitchFamily="34" charset="0"/>
              </a:rPr>
              <a:t>Load/Store + RDMA + </a:t>
            </a:r>
            <a:r>
              <a:rPr lang="en-US" altLang="zh-CN" sz="1600" dirty="0" err="1">
                <a:latin typeface="+mn-ea"/>
                <a:ea typeface="+mn-ea"/>
                <a:cs typeface="Huawei Sans" panose="020C0503030203020204" pitchFamily="34" charset="0"/>
              </a:rPr>
              <a:t>uRPC</a:t>
            </a:r>
            <a:r>
              <a:rPr lang="en-US" altLang="zh-CN" sz="1600" dirty="0">
                <a:latin typeface="+mn-ea"/>
                <a:ea typeface="+mn-ea"/>
                <a:cs typeface="Huawei Sans" panose="020C0503030203020204" pitchFamily="34" charset="0"/>
              </a:rPr>
              <a:t>.</a:t>
            </a:r>
          </a:p>
          <a:p>
            <a:pPr marL="285750" indent="-285750">
              <a:buFont typeface="Arial" panose="020B0604020202020204" pitchFamily="34" charset="0"/>
              <a:buChar char="•"/>
            </a:pPr>
            <a:r>
              <a:rPr lang="en-US" altLang="zh-CN" sz="1600" b="1" dirty="0">
                <a:latin typeface="+mn-ea"/>
                <a:ea typeface="+mn-ea"/>
                <a:cs typeface="Huawei Sans" panose="020C0503030203020204" pitchFamily="34" charset="0"/>
              </a:rPr>
              <a:t>Compatibility: </a:t>
            </a:r>
            <a:r>
              <a:rPr lang="en-US" altLang="zh-CN" sz="1600" dirty="0" err="1">
                <a:latin typeface="+mn-ea"/>
                <a:ea typeface="+mn-ea"/>
                <a:cs typeface="Huawei Sans" panose="020C0503030203020204" pitchFamily="34" charset="0"/>
              </a:rPr>
              <a:t>UBoE</a:t>
            </a:r>
            <a:r>
              <a:rPr lang="en-US" altLang="zh-CN" sz="1600" dirty="0">
                <a:latin typeface="+mn-ea"/>
                <a:ea typeface="+mn-ea"/>
                <a:cs typeface="Huawei Sans" panose="020C0503030203020204" pitchFamily="34" charset="0"/>
              </a:rPr>
              <a:t> can run natively over Ethernet Network</a:t>
            </a:r>
            <a:endParaRPr lang="zh-CN" altLang="en-US" sz="1600" dirty="0">
              <a:latin typeface="+mn-ea"/>
              <a:ea typeface="+mn-ea"/>
              <a:cs typeface="Huawei Sans" panose="020C0503030203020204" pitchFamily="34" charset="0"/>
            </a:endParaRPr>
          </a:p>
        </p:txBody>
      </p:sp>
      <p:grpSp>
        <p:nvGrpSpPr>
          <p:cNvPr id="3" name="组合 2">
            <a:extLst>
              <a:ext uri="{FF2B5EF4-FFF2-40B4-BE49-F238E27FC236}">
                <a16:creationId xmlns:a16="http://schemas.microsoft.com/office/drawing/2014/main" id="{43911AA3-95C7-4CF5-8671-102BD64AA8AF}"/>
              </a:ext>
            </a:extLst>
          </p:cNvPr>
          <p:cNvGrpSpPr/>
          <p:nvPr/>
        </p:nvGrpSpPr>
        <p:grpSpPr>
          <a:xfrm>
            <a:off x="6511424" y="1121651"/>
            <a:ext cx="5179777" cy="2091852"/>
            <a:chOff x="6700548" y="1363578"/>
            <a:chExt cx="5179777" cy="2091852"/>
          </a:xfrm>
        </p:grpSpPr>
        <p:pic>
          <p:nvPicPr>
            <p:cNvPr id="66" name="Picture 19" descr="\\Bchief-sever180\共享\华为\2016\6月\D-201606417-金融营销材料设计-刘泉\文件\link\组 26.png">
              <a:extLst>
                <a:ext uri="{FF2B5EF4-FFF2-40B4-BE49-F238E27FC236}">
                  <a16:creationId xmlns:a16="http://schemas.microsoft.com/office/drawing/2014/main" id="{5C82700F-1ECF-4F53-B9F6-683D21A1526E}"/>
                </a:ext>
              </a:extLst>
            </p:cNvPr>
            <p:cNvPicPr>
              <a:picLocks noChangeAspect="1" noChangeArrowheads="1"/>
            </p:cNvPicPr>
            <p:nvPr/>
          </p:nvPicPr>
          <p:blipFill>
            <a:blip r:embed="rId3" cstate="screen">
              <a:clrChange>
                <a:clrFrom>
                  <a:srgbClr val="383838">
                    <a:alpha val="44314"/>
                  </a:srgbClr>
                </a:clrFrom>
                <a:clrTo>
                  <a:srgbClr val="383838">
                    <a:alpha val="0"/>
                  </a:srgbClr>
                </a:clrTo>
              </a:clrChang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a:ext>
              </a:extLst>
            </a:blip>
            <a:stretch>
              <a:fillRect/>
            </a:stretch>
          </p:blipFill>
          <p:spPr bwMode="auto">
            <a:xfrm>
              <a:off x="6733980" y="2211077"/>
              <a:ext cx="4693438" cy="433313"/>
            </a:xfrm>
            <a:prstGeom prst="rect">
              <a:avLst/>
            </a:prstGeom>
            <a:noFill/>
            <a:ln>
              <a:noFill/>
            </a:ln>
          </p:spPr>
        </p:pic>
        <p:pic>
          <p:nvPicPr>
            <p:cNvPr id="72" name="Picture 19" descr="\\Bchief-sever180\共享\华为\2016\6月\D-201606417-金融营销材料设计-刘泉\文件\link\组 26.png">
              <a:extLst>
                <a:ext uri="{FF2B5EF4-FFF2-40B4-BE49-F238E27FC236}">
                  <a16:creationId xmlns:a16="http://schemas.microsoft.com/office/drawing/2014/main" id="{FEC0346D-780F-49E1-BC2C-ECC16BD8FDFA}"/>
                </a:ext>
              </a:extLst>
            </p:cNvPr>
            <p:cNvPicPr>
              <a:picLocks noChangeAspect="1" noChangeArrowheads="1"/>
            </p:cNvPicPr>
            <p:nvPr/>
          </p:nvPicPr>
          <p:blipFill>
            <a:blip r:embed="rId3" cstate="screen">
              <a:clrChange>
                <a:clrFrom>
                  <a:srgbClr val="383838">
                    <a:alpha val="44314"/>
                  </a:srgbClr>
                </a:clrFrom>
                <a:clrTo>
                  <a:srgbClr val="383838">
                    <a:alpha val="0"/>
                  </a:srgbClr>
                </a:clrTo>
              </a:clrChang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a:ext>
              </a:extLst>
            </a:blip>
            <a:stretch>
              <a:fillRect/>
            </a:stretch>
          </p:blipFill>
          <p:spPr bwMode="auto">
            <a:xfrm flipH="1" flipV="1">
              <a:off x="6700548" y="2793112"/>
              <a:ext cx="4737734" cy="369596"/>
            </a:xfrm>
            <a:prstGeom prst="rect">
              <a:avLst/>
            </a:prstGeom>
            <a:noFill/>
            <a:ln>
              <a:noFill/>
            </a:ln>
          </p:spPr>
        </p:pic>
        <p:sp>
          <p:nvSpPr>
            <p:cNvPr id="73" name="文本框 5">
              <a:extLst>
                <a:ext uri="{FF2B5EF4-FFF2-40B4-BE49-F238E27FC236}">
                  <a16:creationId xmlns:a16="http://schemas.microsoft.com/office/drawing/2014/main" id="{8DD7178F-18B1-490E-84F1-047AC8FE2238}"/>
                </a:ext>
              </a:extLst>
            </p:cNvPr>
            <p:cNvSpPr txBox="1">
              <a:spLocks noChangeArrowheads="1"/>
            </p:cNvSpPr>
            <p:nvPr/>
          </p:nvSpPr>
          <p:spPr bwMode="auto">
            <a:xfrm>
              <a:off x="10180919" y="2091936"/>
              <a:ext cx="343879" cy="20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552" tIns="54276" rIns="108552" bIns="54276">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effectLst/>
                  <a:uLnTx/>
                  <a:uFillTx/>
                  <a:latin typeface="Calibri" panose="020F0502020204030204"/>
                  <a:ea typeface="宋体" panose="02010600030101010101" pitchFamily="2" charset="-122"/>
                  <a:cs typeface="+mn-cs"/>
                </a:rPr>
                <a:t>DPU</a:t>
              </a:r>
            </a:p>
          </p:txBody>
        </p:sp>
        <p:grpSp>
          <p:nvGrpSpPr>
            <p:cNvPr id="74" name="组 431">
              <a:extLst>
                <a:ext uri="{FF2B5EF4-FFF2-40B4-BE49-F238E27FC236}">
                  <a16:creationId xmlns:a16="http://schemas.microsoft.com/office/drawing/2014/main" id="{F1BCD237-4E56-4281-BA73-AB5ADA5EF2E1}"/>
                </a:ext>
              </a:extLst>
            </p:cNvPr>
            <p:cNvGrpSpPr>
              <a:grpSpLocks/>
            </p:cNvGrpSpPr>
            <p:nvPr/>
          </p:nvGrpSpPr>
          <p:grpSpPr bwMode="auto">
            <a:xfrm>
              <a:off x="10173754" y="1738377"/>
              <a:ext cx="370176" cy="326230"/>
              <a:chOff x="4237038" y="1068388"/>
              <a:chExt cx="460375" cy="377825"/>
            </a:xfrm>
            <a:solidFill>
              <a:schemeClr val="tx1"/>
            </a:solidFill>
          </p:grpSpPr>
          <p:sp>
            <p:nvSpPr>
              <p:cNvPr id="156" name="Freeform 391">
                <a:extLst>
                  <a:ext uri="{FF2B5EF4-FFF2-40B4-BE49-F238E27FC236}">
                    <a16:creationId xmlns:a16="http://schemas.microsoft.com/office/drawing/2014/main" id="{022A73AF-F2EF-4B41-AF4A-681539D53DA8}"/>
                  </a:ext>
                </a:extLst>
              </p:cNvPr>
              <p:cNvSpPr>
                <a:spLocks noChangeArrowheads="1"/>
              </p:cNvSpPr>
              <p:nvPr/>
            </p:nvSpPr>
            <p:spPr bwMode="auto">
              <a:xfrm>
                <a:off x="4481560" y="1185615"/>
                <a:ext cx="9275" cy="168672"/>
              </a:xfrm>
              <a:custGeom>
                <a:avLst/>
                <a:gdLst>
                  <a:gd name="T0" fmla="*/ 4572 w 25"/>
                  <a:gd name="T1" fmla="*/ 167914 h 466"/>
                  <a:gd name="T2" fmla="*/ 0 w 25"/>
                  <a:gd name="T3" fmla="*/ 163581 h 466"/>
                  <a:gd name="T4" fmla="*/ 0 w 25"/>
                  <a:gd name="T5" fmla="*/ 4333 h 466"/>
                  <a:gd name="T6" fmla="*/ 4572 w 25"/>
                  <a:gd name="T7" fmla="*/ 0 h 466"/>
                  <a:gd name="T8" fmla="*/ 9144 w 25"/>
                  <a:gd name="T9" fmla="*/ 4333 h 466"/>
                  <a:gd name="T10" fmla="*/ 9144 w 25"/>
                  <a:gd name="T11" fmla="*/ 163581 h 466"/>
                  <a:gd name="T12" fmla="*/ 4572 w 25"/>
                  <a:gd name="T13" fmla="*/ 167914 h 4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466">
                    <a:moveTo>
                      <a:pt x="12" y="465"/>
                    </a:moveTo>
                    <a:cubicBezTo>
                      <a:pt x="5" y="465"/>
                      <a:pt x="0" y="460"/>
                      <a:pt x="0" y="453"/>
                    </a:cubicBezTo>
                    <a:lnTo>
                      <a:pt x="0" y="12"/>
                    </a:lnTo>
                    <a:cubicBezTo>
                      <a:pt x="0" y="6"/>
                      <a:pt x="5" y="0"/>
                      <a:pt x="12" y="0"/>
                    </a:cubicBezTo>
                    <a:cubicBezTo>
                      <a:pt x="18" y="0"/>
                      <a:pt x="24" y="6"/>
                      <a:pt x="24" y="12"/>
                    </a:cubicBezTo>
                    <a:lnTo>
                      <a:pt x="24" y="453"/>
                    </a:lnTo>
                    <a:cubicBezTo>
                      <a:pt x="24" y="461"/>
                      <a:pt x="18" y="465"/>
                      <a:pt x="12" y="4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57" name="Freeform 392">
                <a:extLst>
                  <a:ext uri="{FF2B5EF4-FFF2-40B4-BE49-F238E27FC236}">
                    <a16:creationId xmlns:a16="http://schemas.microsoft.com/office/drawing/2014/main" id="{9593F812-CDEA-4EBA-B04D-6AE954495B9E}"/>
                  </a:ext>
                </a:extLst>
              </p:cNvPr>
              <p:cNvSpPr>
                <a:spLocks noChangeArrowheads="1"/>
              </p:cNvSpPr>
              <p:nvPr/>
            </p:nvSpPr>
            <p:spPr bwMode="auto">
              <a:xfrm>
                <a:off x="4506855" y="1185615"/>
                <a:ext cx="7589" cy="168672"/>
              </a:xfrm>
              <a:custGeom>
                <a:avLst/>
                <a:gdLst>
                  <a:gd name="T0" fmla="*/ 3638 w 24"/>
                  <a:gd name="T1" fmla="*/ 167914 h 466"/>
                  <a:gd name="T2" fmla="*/ 0 w 24"/>
                  <a:gd name="T3" fmla="*/ 163581 h 466"/>
                  <a:gd name="T4" fmla="*/ 0 w 24"/>
                  <a:gd name="T5" fmla="*/ 4333 h 466"/>
                  <a:gd name="T6" fmla="*/ 3638 w 24"/>
                  <a:gd name="T7" fmla="*/ 0 h 466"/>
                  <a:gd name="T8" fmla="*/ 7606 w 24"/>
                  <a:gd name="T9" fmla="*/ 4333 h 466"/>
                  <a:gd name="T10" fmla="*/ 7606 w 24"/>
                  <a:gd name="T11" fmla="*/ 163581 h 466"/>
                  <a:gd name="T12" fmla="*/ 3638 w 24"/>
                  <a:gd name="T13" fmla="*/ 167914 h 4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 h="466">
                    <a:moveTo>
                      <a:pt x="11" y="465"/>
                    </a:moveTo>
                    <a:cubicBezTo>
                      <a:pt x="5" y="465"/>
                      <a:pt x="0" y="460"/>
                      <a:pt x="0" y="453"/>
                    </a:cubicBezTo>
                    <a:lnTo>
                      <a:pt x="0" y="12"/>
                    </a:lnTo>
                    <a:cubicBezTo>
                      <a:pt x="0" y="6"/>
                      <a:pt x="4" y="0"/>
                      <a:pt x="11" y="0"/>
                    </a:cubicBezTo>
                    <a:cubicBezTo>
                      <a:pt x="17" y="0"/>
                      <a:pt x="23" y="6"/>
                      <a:pt x="23" y="12"/>
                    </a:cubicBezTo>
                    <a:lnTo>
                      <a:pt x="23" y="453"/>
                    </a:lnTo>
                    <a:cubicBezTo>
                      <a:pt x="23" y="461"/>
                      <a:pt x="18" y="465"/>
                      <a:pt x="11" y="4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58" name="Freeform 393">
                <a:extLst>
                  <a:ext uri="{FF2B5EF4-FFF2-40B4-BE49-F238E27FC236}">
                    <a16:creationId xmlns:a16="http://schemas.microsoft.com/office/drawing/2014/main" id="{BC6DCB6E-711E-489F-B7CF-7DD1A311216B}"/>
                  </a:ext>
                </a:extLst>
              </p:cNvPr>
              <p:cNvSpPr>
                <a:spLocks noChangeArrowheads="1"/>
              </p:cNvSpPr>
              <p:nvPr/>
            </p:nvSpPr>
            <p:spPr bwMode="auto">
              <a:xfrm>
                <a:off x="4555759" y="1185615"/>
                <a:ext cx="10118" cy="168672"/>
              </a:xfrm>
              <a:custGeom>
                <a:avLst/>
                <a:gdLst>
                  <a:gd name="T0" fmla="*/ 4572 w 25"/>
                  <a:gd name="T1" fmla="*/ 167914 h 466"/>
                  <a:gd name="T2" fmla="*/ 0 w 25"/>
                  <a:gd name="T3" fmla="*/ 163581 h 466"/>
                  <a:gd name="T4" fmla="*/ 0 w 25"/>
                  <a:gd name="T5" fmla="*/ 4333 h 466"/>
                  <a:gd name="T6" fmla="*/ 4572 w 25"/>
                  <a:gd name="T7" fmla="*/ 0 h 466"/>
                  <a:gd name="T8" fmla="*/ 9144 w 25"/>
                  <a:gd name="T9" fmla="*/ 4333 h 466"/>
                  <a:gd name="T10" fmla="*/ 9144 w 25"/>
                  <a:gd name="T11" fmla="*/ 163581 h 466"/>
                  <a:gd name="T12" fmla="*/ 4572 w 25"/>
                  <a:gd name="T13" fmla="*/ 167914 h 4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466">
                    <a:moveTo>
                      <a:pt x="12" y="465"/>
                    </a:moveTo>
                    <a:cubicBezTo>
                      <a:pt x="6" y="465"/>
                      <a:pt x="0" y="460"/>
                      <a:pt x="0" y="453"/>
                    </a:cubicBezTo>
                    <a:lnTo>
                      <a:pt x="0" y="12"/>
                    </a:lnTo>
                    <a:cubicBezTo>
                      <a:pt x="0" y="6"/>
                      <a:pt x="6" y="0"/>
                      <a:pt x="12" y="0"/>
                    </a:cubicBezTo>
                    <a:cubicBezTo>
                      <a:pt x="18" y="0"/>
                      <a:pt x="24" y="6"/>
                      <a:pt x="24" y="12"/>
                    </a:cubicBezTo>
                    <a:lnTo>
                      <a:pt x="24" y="453"/>
                    </a:lnTo>
                    <a:cubicBezTo>
                      <a:pt x="24" y="461"/>
                      <a:pt x="18" y="465"/>
                      <a:pt x="12" y="4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59" name="Freeform 394">
                <a:extLst>
                  <a:ext uri="{FF2B5EF4-FFF2-40B4-BE49-F238E27FC236}">
                    <a16:creationId xmlns:a16="http://schemas.microsoft.com/office/drawing/2014/main" id="{2A982F01-27AF-405B-ADCB-FAE6B4834CDD}"/>
                  </a:ext>
                </a:extLst>
              </p:cNvPr>
              <p:cNvSpPr>
                <a:spLocks noChangeArrowheads="1"/>
              </p:cNvSpPr>
              <p:nvPr/>
            </p:nvSpPr>
            <p:spPr bwMode="auto">
              <a:xfrm>
                <a:off x="4530464" y="1185615"/>
                <a:ext cx="8432" cy="168672"/>
              </a:xfrm>
              <a:custGeom>
                <a:avLst/>
                <a:gdLst>
                  <a:gd name="T0" fmla="*/ 3969 w 24"/>
                  <a:gd name="T1" fmla="*/ 167914 h 466"/>
                  <a:gd name="T2" fmla="*/ 0 w 24"/>
                  <a:gd name="T3" fmla="*/ 163581 h 466"/>
                  <a:gd name="T4" fmla="*/ 0 w 24"/>
                  <a:gd name="T5" fmla="*/ 4333 h 466"/>
                  <a:gd name="T6" fmla="*/ 3969 w 24"/>
                  <a:gd name="T7" fmla="*/ 0 h 466"/>
                  <a:gd name="T8" fmla="*/ 7607 w 24"/>
                  <a:gd name="T9" fmla="*/ 4333 h 466"/>
                  <a:gd name="T10" fmla="*/ 7607 w 24"/>
                  <a:gd name="T11" fmla="*/ 163581 h 466"/>
                  <a:gd name="T12" fmla="*/ 3969 w 24"/>
                  <a:gd name="T13" fmla="*/ 167914 h 4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 h="466">
                    <a:moveTo>
                      <a:pt x="12" y="465"/>
                    </a:moveTo>
                    <a:cubicBezTo>
                      <a:pt x="5" y="465"/>
                      <a:pt x="0" y="460"/>
                      <a:pt x="0" y="453"/>
                    </a:cubicBezTo>
                    <a:lnTo>
                      <a:pt x="0" y="12"/>
                    </a:lnTo>
                    <a:cubicBezTo>
                      <a:pt x="0" y="6"/>
                      <a:pt x="5" y="0"/>
                      <a:pt x="12" y="0"/>
                    </a:cubicBezTo>
                    <a:cubicBezTo>
                      <a:pt x="18" y="0"/>
                      <a:pt x="23" y="6"/>
                      <a:pt x="23" y="12"/>
                    </a:cubicBezTo>
                    <a:lnTo>
                      <a:pt x="23" y="453"/>
                    </a:lnTo>
                    <a:cubicBezTo>
                      <a:pt x="23" y="461"/>
                      <a:pt x="18" y="465"/>
                      <a:pt x="12" y="4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60" name="Freeform 395">
                <a:extLst>
                  <a:ext uri="{FF2B5EF4-FFF2-40B4-BE49-F238E27FC236}">
                    <a16:creationId xmlns:a16="http://schemas.microsoft.com/office/drawing/2014/main" id="{6D790912-3BA7-43B7-B465-5283D4987BD6}"/>
                  </a:ext>
                </a:extLst>
              </p:cNvPr>
              <p:cNvSpPr>
                <a:spLocks noChangeArrowheads="1"/>
              </p:cNvSpPr>
              <p:nvPr/>
            </p:nvSpPr>
            <p:spPr bwMode="auto">
              <a:xfrm>
                <a:off x="4476500" y="1183085"/>
                <a:ext cx="17707" cy="16867"/>
              </a:xfrm>
              <a:custGeom>
                <a:avLst/>
                <a:gdLst>
                  <a:gd name="T0" fmla="*/ 17114 w 50"/>
                  <a:gd name="T1" fmla="*/ 8382 h 50"/>
                  <a:gd name="T2" fmla="*/ 16066 w 50"/>
                  <a:gd name="T3" fmla="*/ 12573 h 50"/>
                  <a:gd name="T4" fmla="*/ 12923 w 50"/>
                  <a:gd name="T5" fmla="*/ 15716 h 50"/>
                  <a:gd name="T6" fmla="*/ 8732 w 50"/>
                  <a:gd name="T7" fmla="*/ 17113 h 50"/>
                  <a:gd name="T8" fmla="*/ 4540 w 50"/>
                  <a:gd name="T9" fmla="*/ 15716 h 50"/>
                  <a:gd name="T10" fmla="*/ 1397 w 50"/>
                  <a:gd name="T11" fmla="*/ 12573 h 50"/>
                  <a:gd name="T12" fmla="*/ 0 w 50"/>
                  <a:gd name="T13" fmla="*/ 8382 h 50"/>
                  <a:gd name="T14" fmla="*/ 1397 w 50"/>
                  <a:gd name="T15" fmla="*/ 4191 h 50"/>
                  <a:gd name="T16" fmla="*/ 4540 w 50"/>
                  <a:gd name="T17" fmla="*/ 1048 h 50"/>
                  <a:gd name="T18" fmla="*/ 8732 w 50"/>
                  <a:gd name="T19" fmla="*/ 0 h 50"/>
                  <a:gd name="T20" fmla="*/ 12923 w 50"/>
                  <a:gd name="T21" fmla="*/ 1048 h 50"/>
                  <a:gd name="T22" fmla="*/ 16066 w 50"/>
                  <a:gd name="T23" fmla="*/ 4191 h 50"/>
                  <a:gd name="T24" fmla="*/ 17114 w 50"/>
                  <a:gd name="T25" fmla="*/ 838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0" h="50">
                    <a:moveTo>
                      <a:pt x="49" y="24"/>
                    </a:moveTo>
                    <a:cubicBezTo>
                      <a:pt x="49" y="29"/>
                      <a:pt x="48" y="32"/>
                      <a:pt x="46" y="36"/>
                    </a:cubicBezTo>
                    <a:cubicBezTo>
                      <a:pt x="44" y="40"/>
                      <a:pt x="41" y="42"/>
                      <a:pt x="37" y="45"/>
                    </a:cubicBezTo>
                    <a:cubicBezTo>
                      <a:pt x="33" y="47"/>
                      <a:pt x="29" y="49"/>
                      <a:pt x="25" y="49"/>
                    </a:cubicBezTo>
                    <a:cubicBezTo>
                      <a:pt x="20" y="49"/>
                      <a:pt x="17" y="47"/>
                      <a:pt x="13" y="45"/>
                    </a:cubicBezTo>
                    <a:cubicBezTo>
                      <a:pt x="9" y="42"/>
                      <a:pt x="6" y="40"/>
                      <a:pt x="4" y="36"/>
                    </a:cubicBezTo>
                    <a:cubicBezTo>
                      <a:pt x="1" y="32"/>
                      <a:pt x="0" y="28"/>
                      <a:pt x="0" y="24"/>
                    </a:cubicBezTo>
                    <a:cubicBezTo>
                      <a:pt x="0" y="19"/>
                      <a:pt x="1" y="16"/>
                      <a:pt x="4" y="12"/>
                    </a:cubicBezTo>
                    <a:cubicBezTo>
                      <a:pt x="6" y="8"/>
                      <a:pt x="9" y="5"/>
                      <a:pt x="13" y="3"/>
                    </a:cubicBezTo>
                    <a:cubicBezTo>
                      <a:pt x="17" y="1"/>
                      <a:pt x="20" y="0"/>
                      <a:pt x="25" y="0"/>
                    </a:cubicBezTo>
                    <a:cubicBezTo>
                      <a:pt x="29" y="0"/>
                      <a:pt x="33" y="1"/>
                      <a:pt x="37" y="3"/>
                    </a:cubicBezTo>
                    <a:cubicBezTo>
                      <a:pt x="41" y="5"/>
                      <a:pt x="44" y="8"/>
                      <a:pt x="46" y="12"/>
                    </a:cubicBezTo>
                    <a:cubicBezTo>
                      <a:pt x="48" y="16"/>
                      <a:pt x="49" y="20"/>
                      <a:pt x="49" y="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61" name="Freeform 396">
                <a:extLst>
                  <a:ext uri="{FF2B5EF4-FFF2-40B4-BE49-F238E27FC236}">
                    <a16:creationId xmlns:a16="http://schemas.microsoft.com/office/drawing/2014/main" id="{10BB4E9E-AA75-42CA-A215-1C1B57CFAB9F}"/>
                  </a:ext>
                </a:extLst>
              </p:cNvPr>
              <p:cNvSpPr>
                <a:spLocks noChangeArrowheads="1"/>
              </p:cNvSpPr>
              <p:nvPr/>
            </p:nvSpPr>
            <p:spPr bwMode="auto">
              <a:xfrm>
                <a:off x="4501796" y="1183085"/>
                <a:ext cx="17707" cy="16867"/>
              </a:xfrm>
              <a:custGeom>
                <a:avLst/>
                <a:gdLst>
                  <a:gd name="T0" fmla="*/ 17114 w 50"/>
                  <a:gd name="T1" fmla="*/ 8382 h 50"/>
                  <a:gd name="T2" fmla="*/ 16066 w 50"/>
                  <a:gd name="T3" fmla="*/ 12573 h 50"/>
                  <a:gd name="T4" fmla="*/ 12923 w 50"/>
                  <a:gd name="T5" fmla="*/ 15716 h 50"/>
                  <a:gd name="T6" fmla="*/ 8382 w 50"/>
                  <a:gd name="T7" fmla="*/ 17113 h 50"/>
                  <a:gd name="T8" fmla="*/ 4191 w 50"/>
                  <a:gd name="T9" fmla="*/ 15716 h 50"/>
                  <a:gd name="T10" fmla="*/ 1048 w 50"/>
                  <a:gd name="T11" fmla="*/ 12573 h 50"/>
                  <a:gd name="T12" fmla="*/ 0 w 50"/>
                  <a:gd name="T13" fmla="*/ 8382 h 50"/>
                  <a:gd name="T14" fmla="*/ 1048 w 50"/>
                  <a:gd name="T15" fmla="*/ 4191 h 50"/>
                  <a:gd name="T16" fmla="*/ 4191 w 50"/>
                  <a:gd name="T17" fmla="*/ 1048 h 50"/>
                  <a:gd name="T18" fmla="*/ 8382 w 50"/>
                  <a:gd name="T19" fmla="*/ 0 h 50"/>
                  <a:gd name="T20" fmla="*/ 12923 w 50"/>
                  <a:gd name="T21" fmla="*/ 1048 h 50"/>
                  <a:gd name="T22" fmla="*/ 16066 w 50"/>
                  <a:gd name="T23" fmla="*/ 4191 h 50"/>
                  <a:gd name="T24" fmla="*/ 17114 w 50"/>
                  <a:gd name="T25" fmla="*/ 838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0" h="50">
                    <a:moveTo>
                      <a:pt x="49" y="24"/>
                    </a:moveTo>
                    <a:cubicBezTo>
                      <a:pt x="49" y="29"/>
                      <a:pt x="48" y="32"/>
                      <a:pt x="46" y="36"/>
                    </a:cubicBezTo>
                    <a:cubicBezTo>
                      <a:pt x="43" y="40"/>
                      <a:pt x="40" y="42"/>
                      <a:pt x="37" y="45"/>
                    </a:cubicBezTo>
                    <a:cubicBezTo>
                      <a:pt x="33" y="47"/>
                      <a:pt x="28" y="49"/>
                      <a:pt x="24" y="49"/>
                    </a:cubicBezTo>
                    <a:cubicBezTo>
                      <a:pt x="19" y="49"/>
                      <a:pt x="16" y="47"/>
                      <a:pt x="12" y="45"/>
                    </a:cubicBezTo>
                    <a:cubicBezTo>
                      <a:pt x="8" y="42"/>
                      <a:pt x="5" y="40"/>
                      <a:pt x="3" y="36"/>
                    </a:cubicBezTo>
                    <a:cubicBezTo>
                      <a:pt x="1" y="32"/>
                      <a:pt x="0" y="28"/>
                      <a:pt x="0" y="24"/>
                    </a:cubicBezTo>
                    <a:cubicBezTo>
                      <a:pt x="0" y="19"/>
                      <a:pt x="1" y="16"/>
                      <a:pt x="3" y="12"/>
                    </a:cubicBezTo>
                    <a:cubicBezTo>
                      <a:pt x="5" y="8"/>
                      <a:pt x="8" y="5"/>
                      <a:pt x="12" y="3"/>
                    </a:cubicBezTo>
                    <a:cubicBezTo>
                      <a:pt x="16" y="1"/>
                      <a:pt x="20" y="0"/>
                      <a:pt x="24" y="0"/>
                    </a:cubicBezTo>
                    <a:cubicBezTo>
                      <a:pt x="29" y="0"/>
                      <a:pt x="33" y="1"/>
                      <a:pt x="37" y="3"/>
                    </a:cubicBezTo>
                    <a:cubicBezTo>
                      <a:pt x="40" y="5"/>
                      <a:pt x="43" y="8"/>
                      <a:pt x="46" y="12"/>
                    </a:cubicBezTo>
                    <a:cubicBezTo>
                      <a:pt x="48" y="16"/>
                      <a:pt x="49" y="20"/>
                      <a:pt x="49" y="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62" name="Freeform 397">
                <a:extLst>
                  <a:ext uri="{FF2B5EF4-FFF2-40B4-BE49-F238E27FC236}">
                    <a16:creationId xmlns:a16="http://schemas.microsoft.com/office/drawing/2014/main" id="{A283D39F-1AFE-4E5F-BAF2-C02884F9F1EE}"/>
                  </a:ext>
                </a:extLst>
              </p:cNvPr>
              <p:cNvSpPr>
                <a:spLocks noChangeArrowheads="1"/>
              </p:cNvSpPr>
              <p:nvPr/>
            </p:nvSpPr>
            <p:spPr bwMode="auto">
              <a:xfrm>
                <a:off x="4526248" y="1183085"/>
                <a:ext cx="16864" cy="16867"/>
              </a:xfrm>
              <a:custGeom>
                <a:avLst/>
                <a:gdLst>
                  <a:gd name="T0" fmla="*/ 17113 w 50"/>
                  <a:gd name="T1" fmla="*/ 8382 h 50"/>
                  <a:gd name="T2" fmla="*/ 16065 w 50"/>
                  <a:gd name="T3" fmla="*/ 12573 h 50"/>
                  <a:gd name="T4" fmla="*/ 12922 w 50"/>
                  <a:gd name="T5" fmla="*/ 15716 h 50"/>
                  <a:gd name="T6" fmla="*/ 8731 w 50"/>
                  <a:gd name="T7" fmla="*/ 17113 h 50"/>
                  <a:gd name="T8" fmla="*/ 4191 w 50"/>
                  <a:gd name="T9" fmla="*/ 15716 h 50"/>
                  <a:gd name="T10" fmla="*/ 1048 w 50"/>
                  <a:gd name="T11" fmla="*/ 12573 h 50"/>
                  <a:gd name="T12" fmla="*/ 0 w 50"/>
                  <a:gd name="T13" fmla="*/ 8382 h 50"/>
                  <a:gd name="T14" fmla="*/ 1048 w 50"/>
                  <a:gd name="T15" fmla="*/ 4191 h 50"/>
                  <a:gd name="T16" fmla="*/ 4191 w 50"/>
                  <a:gd name="T17" fmla="*/ 1048 h 50"/>
                  <a:gd name="T18" fmla="*/ 8731 w 50"/>
                  <a:gd name="T19" fmla="*/ 0 h 50"/>
                  <a:gd name="T20" fmla="*/ 12922 w 50"/>
                  <a:gd name="T21" fmla="*/ 1048 h 50"/>
                  <a:gd name="T22" fmla="*/ 16065 w 50"/>
                  <a:gd name="T23" fmla="*/ 4191 h 50"/>
                  <a:gd name="T24" fmla="*/ 17113 w 50"/>
                  <a:gd name="T25" fmla="*/ 838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0" h="50">
                    <a:moveTo>
                      <a:pt x="49" y="24"/>
                    </a:moveTo>
                    <a:cubicBezTo>
                      <a:pt x="49" y="29"/>
                      <a:pt x="48" y="32"/>
                      <a:pt x="46" y="36"/>
                    </a:cubicBezTo>
                    <a:cubicBezTo>
                      <a:pt x="44" y="40"/>
                      <a:pt x="41" y="42"/>
                      <a:pt x="37" y="45"/>
                    </a:cubicBezTo>
                    <a:cubicBezTo>
                      <a:pt x="33" y="47"/>
                      <a:pt x="29" y="49"/>
                      <a:pt x="25" y="49"/>
                    </a:cubicBezTo>
                    <a:cubicBezTo>
                      <a:pt x="20" y="49"/>
                      <a:pt x="16" y="47"/>
                      <a:pt x="12" y="45"/>
                    </a:cubicBezTo>
                    <a:cubicBezTo>
                      <a:pt x="8" y="42"/>
                      <a:pt x="5" y="40"/>
                      <a:pt x="3" y="36"/>
                    </a:cubicBezTo>
                    <a:cubicBezTo>
                      <a:pt x="0" y="32"/>
                      <a:pt x="0" y="28"/>
                      <a:pt x="0" y="24"/>
                    </a:cubicBezTo>
                    <a:cubicBezTo>
                      <a:pt x="0" y="19"/>
                      <a:pt x="0" y="16"/>
                      <a:pt x="3" y="12"/>
                    </a:cubicBezTo>
                    <a:cubicBezTo>
                      <a:pt x="5" y="8"/>
                      <a:pt x="8" y="5"/>
                      <a:pt x="12" y="3"/>
                    </a:cubicBezTo>
                    <a:cubicBezTo>
                      <a:pt x="16" y="1"/>
                      <a:pt x="20" y="0"/>
                      <a:pt x="25" y="0"/>
                    </a:cubicBezTo>
                    <a:cubicBezTo>
                      <a:pt x="29" y="0"/>
                      <a:pt x="33" y="1"/>
                      <a:pt x="37" y="3"/>
                    </a:cubicBezTo>
                    <a:cubicBezTo>
                      <a:pt x="41" y="5"/>
                      <a:pt x="44" y="8"/>
                      <a:pt x="46" y="12"/>
                    </a:cubicBezTo>
                    <a:cubicBezTo>
                      <a:pt x="48" y="16"/>
                      <a:pt x="49" y="20"/>
                      <a:pt x="49" y="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63" name="Freeform 398">
                <a:extLst>
                  <a:ext uri="{FF2B5EF4-FFF2-40B4-BE49-F238E27FC236}">
                    <a16:creationId xmlns:a16="http://schemas.microsoft.com/office/drawing/2014/main" id="{C2F73756-5ED6-474F-B7ED-368CF4AEB007}"/>
                  </a:ext>
                </a:extLst>
              </p:cNvPr>
              <p:cNvSpPr>
                <a:spLocks noChangeArrowheads="1"/>
              </p:cNvSpPr>
              <p:nvPr/>
            </p:nvSpPr>
            <p:spPr bwMode="auto">
              <a:xfrm>
                <a:off x="4551544" y="1183085"/>
                <a:ext cx="18550" cy="16867"/>
              </a:xfrm>
              <a:custGeom>
                <a:avLst/>
                <a:gdLst>
                  <a:gd name="T0" fmla="*/ 18676 w 51"/>
                  <a:gd name="T1" fmla="*/ 8382 h 50"/>
                  <a:gd name="T2" fmla="*/ 17182 w 51"/>
                  <a:gd name="T3" fmla="*/ 12573 h 50"/>
                  <a:gd name="T4" fmla="*/ 13821 w 51"/>
                  <a:gd name="T5" fmla="*/ 15716 h 50"/>
                  <a:gd name="T6" fmla="*/ 9338 w 51"/>
                  <a:gd name="T7" fmla="*/ 17113 h 50"/>
                  <a:gd name="T8" fmla="*/ 4856 w 51"/>
                  <a:gd name="T9" fmla="*/ 15716 h 50"/>
                  <a:gd name="T10" fmla="*/ 1494 w 51"/>
                  <a:gd name="T11" fmla="*/ 12573 h 50"/>
                  <a:gd name="T12" fmla="*/ 0 w 51"/>
                  <a:gd name="T13" fmla="*/ 8382 h 50"/>
                  <a:gd name="T14" fmla="*/ 1494 w 51"/>
                  <a:gd name="T15" fmla="*/ 4191 h 50"/>
                  <a:gd name="T16" fmla="*/ 4856 w 51"/>
                  <a:gd name="T17" fmla="*/ 1048 h 50"/>
                  <a:gd name="T18" fmla="*/ 9338 w 51"/>
                  <a:gd name="T19" fmla="*/ 0 h 50"/>
                  <a:gd name="T20" fmla="*/ 13821 w 51"/>
                  <a:gd name="T21" fmla="*/ 1048 h 50"/>
                  <a:gd name="T22" fmla="*/ 17182 w 51"/>
                  <a:gd name="T23" fmla="*/ 4191 h 50"/>
                  <a:gd name="T24" fmla="*/ 18676 w 51"/>
                  <a:gd name="T25" fmla="*/ 838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1" h="50">
                    <a:moveTo>
                      <a:pt x="50" y="24"/>
                    </a:moveTo>
                    <a:cubicBezTo>
                      <a:pt x="50" y="29"/>
                      <a:pt x="48" y="32"/>
                      <a:pt x="46" y="36"/>
                    </a:cubicBezTo>
                    <a:cubicBezTo>
                      <a:pt x="43" y="40"/>
                      <a:pt x="41" y="42"/>
                      <a:pt x="37" y="45"/>
                    </a:cubicBezTo>
                    <a:cubicBezTo>
                      <a:pt x="33" y="47"/>
                      <a:pt x="29" y="49"/>
                      <a:pt x="25" y="49"/>
                    </a:cubicBezTo>
                    <a:cubicBezTo>
                      <a:pt x="20" y="49"/>
                      <a:pt x="17" y="47"/>
                      <a:pt x="13" y="45"/>
                    </a:cubicBezTo>
                    <a:cubicBezTo>
                      <a:pt x="9" y="42"/>
                      <a:pt x="6" y="40"/>
                      <a:pt x="4" y="36"/>
                    </a:cubicBezTo>
                    <a:cubicBezTo>
                      <a:pt x="2" y="32"/>
                      <a:pt x="0" y="28"/>
                      <a:pt x="0" y="24"/>
                    </a:cubicBezTo>
                    <a:cubicBezTo>
                      <a:pt x="0" y="19"/>
                      <a:pt x="2" y="16"/>
                      <a:pt x="4" y="12"/>
                    </a:cubicBezTo>
                    <a:cubicBezTo>
                      <a:pt x="6" y="8"/>
                      <a:pt x="9" y="5"/>
                      <a:pt x="13" y="3"/>
                    </a:cubicBezTo>
                    <a:cubicBezTo>
                      <a:pt x="17" y="1"/>
                      <a:pt x="21" y="0"/>
                      <a:pt x="25" y="0"/>
                    </a:cubicBezTo>
                    <a:cubicBezTo>
                      <a:pt x="30" y="0"/>
                      <a:pt x="33" y="1"/>
                      <a:pt x="37" y="3"/>
                    </a:cubicBezTo>
                    <a:cubicBezTo>
                      <a:pt x="41" y="5"/>
                      <a:pt x="43" y="8"/>
                      <a:pt x="46" y="12"/>
                    </a:cubicBezTo>
                    <a:cubicBezTo>
                      <a:pt x="48" y="16"/>
                      <a:pt x="50" y="20"/>
                      <a:pt x="50" y="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64" name="Freeform 399">
                <a:extLst>
                  <a:ext uri="{FF2B5EF4-FFF2-40B4-BE49-F238E27FC236}">
                    <a16:creationId xmlns:a16="http://schemas.microsoft.com/office/drawing/2014/main" id="{F60BDB46-A75D-4C7E-8095-0CCF9B062E86}"/>
                  </a:ext>
                </a:extLst>
              </p:cNvPr>
              <p:cNvSpPr>
                <a:spLocks noChangeArrowheads="1"/>
              </p:cNvSpPr>
              <p:nvPr/>
            </p:nvSpPr>
            <p:spPr bwMode="auto">
              <a:xfrm>
                <a:off x="4476500" y="1341636"/>
                <a:ext cx="17707" cy="16867"/>
              </a:xfrm>
              <a:custGeom>
                <a:avLst/>
                <a:gdLst>
                  <a:gd name="T0" fmla="*/ 17114 w 50"/>
                  <a:gd name="T1" fmla="*/ 8382 h 50"/>
                  <a:gd name="T2" fmla="*/ 16066 w 50"/>
                  <a:gd name="T3" fmla="*/ 12922 h 50"/>
                  <a:gd name="T4" fmla="*/ 12923 w 50"/>
                  <a:gd name="T5" fmla="*/ 16065 h 50"/>
                  <a:gd name="T6" fmla="*/ 8732 w 50"/>
                  <a:gd name="T7" fmla="*/ 17113 h 50"/>
                  <a:gd name="T8" fmla="*/ 4540 w 50"/>
                  <a:gd name="T9" fmla="*/ 16065 h 50"/>
                  <a:gd name="T10" fmla="*/ 1397 w 50"/>
                  <a:gd name="T11" fmla="*/ 12922 h 50"/>
                  <a:gd name="T12" fmla="*/ 0 w 50"/>
                  <a:gd name="T13" fmla="*/ 8382 h 50"/>
                  <a:gd name="T14" fmla="*/ 1397 w 50"/>
                  <a:gd name="T15" fmla="*/ 4191 h 50"/>
                  <a:gd name="T16" fmla="*/ 4540 w 50"/>
                  <a:gd name="T17" fmla="*/ 1048 h 50"/>
                  <a:gd name="T18" fmla="*/ 8732 w 50"/>
                  <a:gd name="T19" fmla="*/ 0 h 50"/>
                  <a:gd name="T20" fmla="*/ 12923 w 50"/>
                  <a:gd name="T21" fmla="*/ 1048 h 50"/>
                  <a:gd name="T22" fmla="*/ 16066 w 50"/>
                  <a:gd name="T23" fmla="*/ 4191 h 50"/>
                  <a:gd name="T24" fmla="*/ 17114 w 50"/>
                  <a:gd name="T25" fmla="*/ 838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0" h="50">
                    <a:moveTo>
                      <a:pt x="49" y="24"/>
                    </a:moveTo>
                    <a:cubicBezTo>
                      <a:pt x="49" y="29"/>
                      <a:pt x="48" y="33"/>
                      <a:pt x="46" y="37"/>
                    </a:cubicBezTo>
                    <a:cubicBezTo>
                      <a:pt x="44" y="41"/>
                      <a:pt x="41" y="43"/>
                      <a:pt x="37" y="46"/>
                    </a:cubicBezTo>
                    <a:cubicBezTo>
                      <a:pt x="33" y="48"/>
                      <a:pt x="29" y="49"/>
                      <a:pt x="25" y="49"/>
                    </a:cubicBezTo>
                    <a:cubicBezTo>
                      <a:pt x="20" y="49"/>
                      <a:pt x="17" y="48"/>
                      <a:pt x="13" y="46"/>
                    </a:cubicBezTo>
                    <a:cubicBezTo>
                      <a:pt x="9" y="43"/>
                      <a:pt x="6" y="41"/>
                      <a:pt x="4" y="37"/>
                    </a:cubicBezTo>
                    <a:cubicBezTo>
                      <a:pt x="1" y="33"/>
                      <a:pt x="0" y="28"/>
                      <a:pt x="0" y="24"/>
                    </a:cubicBezTo>
                    <a:cubicBezTo>
                      <a:pt x="0" y="19"/>
                      <a:pt x="1" y="16"/>
                      <a:pt x="4" y="12"/>
                    </a:cubicBezTo>
                    <a:cubicBezTo>
                      <a:pt x="6" y="8"/>
                      <a:pt x="9" y="5"/>
                      <a:pt x="13" y="3"/>
                    </a:cubicBezTo>
                    <a:cubicBezTo>
                      <a:pt x="17" y="1"/>
                      <a:pt x="20" y="0"/>
                      <a:pt x="25" y="0"/>
                    </a:cubicBezTo>
                    <a:cubicBezTo>
                      <a:pt x="29" y="0"/>
                      <a:pt x="33" y="1"/>
                      <a:pt x="37" y="3"/>
                    </a:cubicBezTo>
                    <a:cubicBezTo>
                      <a:pt x="41" y="5"/>
                      <a:pt x="44" y="8"/>
                      <a:pt x="46" y="12"/>
                    </a:cubicBezTo>
                    <a:cubicBezTo>
                      <a:pt x="48" y="16"/>
                      <a:pt x="49" y="20"/>
                      <a:pt x="49" y="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65" name="Freeform 400">
                <a:extLst>
                  <a:ext uri="{FF2B5EF4-FFF2-40B4-BE49-F238E27FC236}">
                    <a16:creationId xmlns:a16="http://schemas.microsoft.com/office/drawing/2014/main" id="{E7A8389E-2DD5-4C68-8D47-0E2812CBC2D2}"/>
                  </a:ext>
                </a:extLst>
              </p:cNvPr>
              <p:cNvSpPr>
                <a:spLocks noChangeArrowheads="1"/>
              </p:cNvSpPr>
              <p:nvPr/>
            </p:nvSpPr>
            <p:spPr bwMode="auto">
              <a:xfrm>
                <a:off x="4501796" y="1341636"/>
                <a:ext cx="17707" cy="16867"/>
              </a:xfrm>
              <a:custGeom>
                <a:avLst/>
                <a:gdLst>
                  <a:gd name="T0" fmla="*/ 17114 w 50"/>
                  <a:gd name="T1" fmla="*/ 8382 h 50"/>
                  <a:gd name="T2" fmla="*/ 16066 w 50"/>
                  <a:gd name="T3" fmla="*/ 12922 h 50"/>
                  <a:gd name="T4" fmla="*/ 12923 w 50"/>
                  <a:gd name="T5" fmla="*/ 16065 h 50"/>
                  <a:gd name="T6" fmla="*/ 8382 w 50"/>
                  <a:gd name="T7" fmla="*/ 17113 h 50"/>
                  <a:gd name="T8" fmla="*/ 4191 w 50"/>
                  <a:gd name="T9" fmla="*/ 16065 h 50"/>
                  <a:gd name="T10" fmla="*/ 1048 w 50"/>
                  <a:gd name="T11" fmla="*/ 12922 h 50"/>
                  <a:gd name="T12" fmla="*/ 0 w 50"/>
                  <a:gd name="T13" fmla="*/ 8382 h 50"/>
                  <a:gd name="T14" fmla="*/ 1048 w 50"/>
                  <a:gd name="T15" fmla="*/ 4191 h 50"/>
                  <a:gd name="T16" fmla="*/ 4191 w 50"/>
                  <a:gd name="T17" fmla="*/ 1048 h 50"/>
                  <a:gd name="T18" fmla="*/ 8382 w 50"/>
                  <a:gd name="T19" fmla="*/ 0 h 50"/>
                  <a:gd name="T20" fmla="*/ 12923 w 50"/>
                  <a:gd name="T21" fmla="*/ 1048 h 50"/>
                  <a:gd name="T22" fmla="*/ 16066 w 50"/>
                  <a:gd name="T23" fmla="*/ 4191 h 50"/>
                  <a:gd name="T24" fmla="*/ 17114 w 50"/>
                  <a:gd name="T25" fmla="*/ 838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0" h="50">
                    <a:moveTo>
                      <a:pt x="49" y="24"/>
                    </a:moveTo>
                    <a:cubicBezTo>
                      <a:pt x="49" y="29"/>
                      <a:pt x="48" y="33"/>
                      <a:pt x="46" y="37"/>
                    </a:cubicBezTo>
                    <a:cubicBezTo>
                      <a:pt x="43" y="41"/>
                      <a:pt x="40" y="43"/>
                      <a:pt x="37" y="46"/>
                    </a:cubicBezTo>
                    <a:cubicBezTo>
                      <a:pt x="33" y="48"/>
                      <a:pt x="28" y="49"/>
                      <a:pt x="24" y="49"/>
                    </a:cubicBezTo>
                    <a:cubicBezTo>
                      <a:pt x="19" y="49"/>
                      <a:pt x="16" y="48"/>
                      <a:pt x="12" y="46"/>
                    </a:cubicBezTo>
                    <a:cubicBezTo>
                      <a:pt x="8" y="43"/>
                      <a:pt x="5" y="41"/>
                      <a:pt x="3" y="37"/>
                    </a:cubicBezTo>
                    <a:cubicBezTo>
                      <a:pt x="1" y="33"/>
                      <a:pt x="0" y="28"/>
                      <a:pt x="0" y="24"/>
                    </a:cubicBezTo>
                    <a:cubicBezTo>
                      <a:pt x="0" y="19"/>
                      <a:pt x="1" y="16"/>
                      <a:pt x="3" y="12"/>
                    </a:cubicBezTo>
                    <a:cubicBezTo>
                      <a:pt x="5" y="8"/>
                      <a:pt x="8" y="5"/>
                      <a:pt x="12" y="3"/>
                    </a:cubicBezTo>
                    <a:cubicBezTo>
                      <a:pt x="16" y="1"/>
                      <a:pt x="20" y="0"/>
                      <a:pt x="24" y="0"/>
                    </a:cubicBezTo>
                    <a:cubicBezTo>
                      <a:pt x="29" y="0"/>
                      <a:pt x="33" y="1"/>
                      <a:pt x="37" y="3"/>
                    </a:cubicBezTo>
                    <a:cubicBezTo>
                      <a:pt x="40" y="5"/>
                      <a:pt x="43" y="8"/>
                      <a:pt x="46" y="12"/>
                    </a:cubicBezTo>
                    <a:cubicBezTo>
                      <a:pt x="48" y="16"/>
                      <a:pt x="49" y="20"/>
                      <a:pt x="49" y="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66" name="Freeform 401">
                <a:extLst>
                  <a:ext uri="{FF2B5EF4-FFF2-40B4-BE49-F238E27FC236}">
                    <a16:creationId xmlns:a16="http://schemas.microsoft.com/office/drawing/2014/main" id="{640B3477-2C53-43D4-A934-6CD59059288A}"/>
                  </a:ext>
                </a:extLst>
              </p:cNvPr>
              <p:cNvSpPr>
                <a:spLocks noChangeArrowheads="1"/>
              </p:cNvSpPr>
              <p:nvPr/>
            </p:nvSpPr>
            <p:spPr bwMode="auto">
              <a:xfrm>
                <a:off x="4526248" y="1341636"/>
                <a:ext cx="16864" cy="16867"/>
              </a:xfrm>
              <a:custGeom>
                <a:avLst/>
                <a:gdLst>
                  <a:gd name="T0" fmla="*/ 17113 w 50"/>
                  <a:gd name="T1" fmla="*/ 8382 h 50"/>
                  <a:gd name="T2" fmla="*/ 16065 w 50"/>
                  <a:gd name="T3" fmla="*/ 12922 h 50"/>
                  <a:gd name="T4" fmla="*/ 12922 w 50"/>
                  <a:gd name="T5" fmla="*/ 16065 h 50"/>
                  <a:gd name="T6" fmla="*/ 8731 w 50"/>
                  <a:gd name="T7" fmla="*/ 17113 h 50"/>
                  <a:gd name="T8" fmla="*/ 4191 w 50"/>
                  <a:gd name="T9" fmla="*/ 16065 h 50"/>
                  <a:gd name="T10" fmla="*/ 1048 w 50"/>
                  <a:gd name="T11" fmla="*/ 12922 h 50"/>
                  <a:gd name="T12" fmla="*/ 0 w 50"/>
                  <a:gd name="T13" fmla="*/ 8382 h 50"/>
                  <a:gd name="T14" fmla="*/ 1048 w 50"/>
                  <a:gd name="T15" fmla="*/ 4191 h 50"/>
                  <a:gd name="T16" fmla="*/ 4191 w 50"/>
                  <a:gd name="T17" fmla="*/ 1048 h 50"/>
                  <a:gd name="T18" fmla="*/ 8731 w 50"/>
                  <a:gd name="T19" fmla="*/ 0 h 50"/>
                  <a:gd name="T20" fmla="*/ 12922 w 50"/>
                  <a:gd name="T21" fmla="*/ 1048 h 50"/>
                  <a:gd name="T22" fmla="*/ 16065 w 50"/>
                  <a:gd name="T23" fmla="*/ 4191 h 50"/>
                  <a:gd name="T24" fmla="*/ 17113 w 50"/>
                  <a:gd name="T25" fmla="*/ 838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0" h="50">
                    <a:moveTo>
                      <a:pt x="49" y="24"/>
                    </a:moveTo>
                    <a:cubicBezTo>
                      <a:pt x="49" y="29"/>
                      <a:pt x="48" y="33"/>
                      <a:pt x="46" y="37"/>
                    </a:cubicBezTo>
                    <a:cubicBezTo>
                      <a:pt x="44" y="41"/>
                      <a:pt x="41" y="43"/>
                      <a:pt x="37" y="46"/>
                    </a:cubicBezTo>
                    <a:cubicBezTo>
                      <a:pt x="33" y="48"/>
                      <a:pt x="29" y="49"/>
                      <a:pt x="25" y="49"/>
                    </a:cubicBezTo>
                    <a:cubicBezTo>
                      <a:pt x="20" y="49"/>
                      <a:pt x="16" y="48"/>
                      <a:pt x="12" y="46"/>
                    </a:cubicBezTo>
                    <a:cubicBezTo>
                      <a:pt x="8" y="43"/>
                      <a:pt x="5" y="41"/>
                      <a:pt x="3" y="37"/>
                    </a:cubicBezTo>
                    <a:cubicBezTo>
                      <a:pt x="0" y="33"/>
                      <a:pt x="0" y="28"/>
                      <a:pt x="0" y="24"/>
                    </a:cubicBezTo>
                    <a:cubicBezTo>
                      <a:pt x="0" y="19"/>
                      <a:pt x="0" y="16"/>
                      <a:pt x="3" y="12"/>
                    </a:cubicBezTo>
                    <a:cubicBezTo>
                      <a:pt x="5" y="8"/>
                      <a:pt x="8" y="5"/>
                      <a:pt x="12" y="3"/>
                    </a:cubicBezTo>
                    <a:cubicBezTo>
                      <a:pt x="16" y="1"/>
                      <a:pt x="20" y="0"/>
                      <a:pt x="25" y="0"/>
                    </a:cubicBezTo>
                    <a:cubicBezTo>
                      <a:pt x="29" y="0"/>
                      <a:pt x="33" y="1"/>
                      <a:pt x="37" y="3"/>
                    </a:cubicBezTo>
                    <a:cubicBezTo>
                      <a:pt x="41" y="5"/>
                      <a:pt x="44" y="8"/>
                      <a:pt x="46" y="12"/>
                    </a:cubicBezTo>
                    <a:cubicBezTo>
                      <a:pt x="48" y="16"/>
                      <a:pt x="49" y="20"/>
                      <a:pt x="49" y="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67" name="Freeform 402">
                <a:extLst>
                  <a:ext uri="{FF2B5EF4-FFF2-40B4-BE49-F238E27FC236}">
                    <a16:creationId xmlns:a16="http://schemas.microsoft.com/office/drawing/2014/main" id="{EA1DA71B-6740-45FD-91C0-077DD85F7BF2}"/>
                  </a:ext>
                </a:extLst>
              </p:cNvPr>
              <p:cNvSpPr>
                <a:spLocks noChangeArrowheads="1"/>
              </p:cNvSpPr>
              <p:nvPr/>
            </p:nvSpPr>
            <p:spPr bwMode="auto">
              <a:xfrm>
                <a:off x="4551544" y="1341636"/>
                <a:ext cx="18550" cy="16867"/>
              </a:xfrm>
              <a:custGeom>
                <a:avLst/>
                <a:gdLst>
                  <a:gd name="T0" fmla="*/ 18676 w 51"/>
                  <a:gd name="T1" fmla="*/ 8382 h 50"/>
                  <a:gd name="T2" fmla="*/ 17182 w 51"/>
                  <a:gd name="T3" fmla="*/ 12922 h 50"/>
                  <a:gd name="T4" fmla="*/ 13821 w 51"/>
                  <a:gd name="T5" fmla="*/ 16065 h 50"/>
                  <a:gd name="T6" fmla="*/ 9338 w 51"/>
                  <a:gd name="T7" fmla="*/ 17113 h 50"/>
                  <a:gd name="T8" fmla="*/ 4856 w 51"/>
                  <a:gd name="T9" fmla="*/ 16065 h 50"/>
                  <a:gd name="T10" fmla="*/ 1494 w 51"/>
                  <a:gd name="T11" fmla="*/ 12922 h 50"/>
                  <a:gd name="T12" fmla="*/ 0 w 51"/>
                  <a:gd name="T13" fmla="*/ 8382 h 50"/>
                  <a:gd name="T14" fmla="*/ 1494 w 51"/>
                  <a:gd name="T15" fmla="*/ 4191 h 50"/>
                  <a:gd name="T16" fmla="*/ 4856 w 51"/>
                  <a:gd name="T17" fmla="*/ 1048 h 50"/>
                  <a:gd name="T18" fmla="*/ 9338 w 51"/>
                  <a:gd name="T19" fmla="*/ 0 h 50"/>
                  <a:gd name="T20" fmla="*/ 13821 w 51"/>
                  <a:gd name="T21" fmla="*/ 1048 h 50"/>
                  <a:gd name="T22" fmla="*/ 17182 w 51"/>
                  <a:gd name="T23" fmla="*/ 4191 h 50"/>
                  <a:gd name="T24" fmla="*/ 18676 w 51"/>
                  <a:gd name="T25" fmla="*/ 838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1" h="50">
                    <a:moveTo>
                      <a:pt x="50" y="24"/>
                    </a:moveTo>
                    <a:cubicBezTo>
                      <a:pt x="50" y="29"/>
                      <a:pt x="48" y="33"/>
                      <a:pt x="46" y="37"/>
                    </a:cubicBezTo>
                    <a:cubicBezTo>
                      <a:pt x="43" y="41"/>
                      <a:pt x="41" y="43"/>
                      <a:pt x="37" y="46"/>
                    </a:cubicBezTo>
                    <a:cubicBezTo>
                      <a:pt x="33" y="48"/>
                      <a:pt x="29" y="49"/>
                      <a:pt x="25" y="49"/>
                    </a:cubicBezTo>
                    <a:cubicBezTo>
                      <a:pt x="20" y="49"/>
                      <a:pt x="17" y="48"/>
                      <a:pt x="13" y="46"/>
                    </a:cubicBezTo>
                    <a:cubicBezTo>
                      <a:pt x="9" y="43"/>
                      <a:pt x="6" y="41"/>
                      <a:pt x="4" y="37"/>
                    </a:cubicBezTo>
                    <a:cubicBezTo>
                      <a:pt x="2" y="33"/>
                      <a:pt x="0" y="28"/>
                      <a:pt x="0" y="24"/>
                    </a:cubicBezTo>
                    <a:cubicBezTo>
                      <a:pt x="0" y="19"/>
                      <a:pt x="2" y="16"/>
                      <a:pt x="4" y="12"/>
                    </a:cubicBezTo>
                    <a:cubicBezTo>
                      <a:pt x="6" y="8"/>
                      <a:pt x="9" y="5"/>
                      <a:pt x="13" y="3"/>
                    </a:cubicBezTo>
                    <a:cubicBezTo>
                      <a:pt x="17" y="1"/>
                      <a:pt x="21" y="0"/>
                      <a:pt x="25" y="0"/>
                    </a:cubicBezTo>
                    <a:cubicBezTo>
                      <a:pt x="30" y="0"/>
                      <a:pt x="33" y="1"/>
                      <a:pt x="37" y="3"/>
                    </a:cubicBezTo>
                    <a:cubicBezTo>
                      <a:pt x="41" y="5"/>
                      <a:pt x="43" y="8"/>
                      <a:pt x="46" y="12"/>
                    </a:cubicBezTo>
                    <a:cubicBezTo>
                      <a:pt x="48" y="16"/>
                      <a:pt x="50" y="20"/>
                      <a:pt x="50" y="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68" name="Freeform 403">
                <a:extLst>
                  <a:ext uri="{FF2B5EF4-FFF2-40B4-BE49-F238E27FC236}">
                    <a16:creationId xmlns:a16="http://schemas.microsoft.com/office/drawing/2014/main" id="{F8D25E37-1645-49A1-B456-4CC719B71BDB}"/>
                  </a:ext>
                </a:extLst>
              </p:cNvPr>
              <p:cNvSpPr>
                <a:spLocks noChangeArrowheads="1"/>
              </p:cNvSpPr>
              <p:nvPr/>
            </p:nvSpPr>
            <p:spPr bwMode="auto">
              <a:xfrm>
                <a:off x="4582741" y="1185615"/>
                <a:ext cx="10118" cy="168672"/>
              </a:xfrm>
              <a:custGeom>
                <a:avLst/>
                <a:gdLst>
                  <a:gd name="T0" fmla="*/ 4572 w 25"/>
                  <a:gd name="T1" fmla="*/ 167914 h 466"/>
                  <a:gd name="T2" fmla="*/ 0 w 25"/>
                  <a:gd name="T3" fmla="*/ 163581 h 466"/>
                  <a:gd name="T4" fmla="*/ 0 w 25"/>
                  <a:gd name="T5" fmla="*/ 4333 h 466"/>
                  <a:gd name="T6" fmla="*/ 4572 w 25"/>
                  <a:gd name="T7" fmla="*/ 0 h 466"/>
                  <a:gd name="T8" fmla="*/ 9144 w 25"/>
                  <a:gd name="T9" fmla="*/ 4333 h 466"/>
                  <a:gd name="T10" fmla="*/ 9144 w 25"/>
                  <a:gd name="T11" fmla="*/ 163581 h 466"/>
                  <a:gd name="T12" fmla="*/ 4572 w 25"/>
                  <a:gd name="T13" fmla="*/ 167914 h 4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466">
                    <a:moveTo>
                      <a:pt x="12" y="465"/>
                    </a:moveTo>
                    <a:cubicBezTo>
                      <a:pt x="6" y="465"/>
                      <a:pt x="0" y="460"/>
                      <a:pt x="0" y="453"/>
                    </a:cubicBezTo>
                    <a:lnTo>
                      <a:pt x="0" y="12"/>
                    </a:lnTo>
                    <a:cubicBezTo>
                      <a:pt x="0" y="6"/>
                      <a:pt x="6" y="0"/>
                      <a:pt x="12" y="0"/>
                    </a:cubicBezTo>
                    <a:cubicBezTo>
                      <a:pt x="18" y="0"/>
                      <a:pt x="24" y="6"/>
                      <a:pt x="24" y="12"/>
                    </a:cubicBezTo>
                    <a:lnTo>
                      <a:pt x="24" y="453"/>
                    </a:lnTo>
                    <a:cubicBezTo>
                      <a:pt x="24" y="461"/>
                      <a:pt x="18" y="465"/>
                      <a:pt x="12" y="4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69" name="Freeform 404">
                <a:extLst>
                  <a:ext uri="{FF2B5EF4-FFF2-40B4-BE49-F238E27FC236}">
                    <a16:creationId xmlns:a16="http://schemas.microsoft.com/office/drawing/2014/main" id="{34F5D277-19CB-4C03-88B3-259CA58DA898}"/>
                  </a:ext>
                </a:extLst>
              </p:cNvPr>
              <p:cNvSpPr>
                <a:spLocks noChangeArrowheads="1"/>
              </p:cNvSpPr>
              <p:nvPr/>
            </p:nvSpPr>
            <p:spPr bwMode="auto">
              <a:xfrm>
                <a:off x="4632489" y="1185615"/>
                <a:ext cx="9275" cy="168672"/>
              </a:xfrm>
              <a:custGeom>
                <a:avLst/>
                <a:gdLst>
                  <a:gd name="T0" fmla="*/ 4572 w 25"/>
                  <a:gd name="T1" fmla="*/ 167914 h 466"/>
                  <a:gd name="T2" fmla="*/ 0 w 25"/>
                  <a:gd name="T3" fmla="*/ 163581 h 466"/>
                  <a:gd name="T4" fmla="*/ 0 w 25"/>
                  <a:gd name="T5" fmla="*/ 4333 h 466"/>
                  <a:gd name="T6" fmla="*/ 4572 w 25"/>
                  <a:gd name="T7" fmla="*/ 0 h 466"/>
                  <a:gd name="T8" fmla="*/ 9144 w 25"/>
                  <a:gd name="T9" fmla="*/ 4333 h 466"/>
                  <a:gd name="T10" fmla="*/ 9144 w 25"/>
                  <a:gd name="T11" fmla="*/ 163581 h 466"/>
                  <a:gd name="T12" fmla="*/ 4572 w 25"/>
                  <a:gd name="T13" fmla="*/ 167914 h 4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466">
                    <a:moveTo>
                      <a:pt x="12" y="465"/>
                    </a:moveTo>
                    <a:cubicBezTo>
                      <a:pt x="5" y="465"/>
                      <a:pt x="0" y="460"/>
                      <a:pt x="0" y="453"/>
                    </a:cubicBezTo>
                    <a:lnTo>
                      <a:pt x="0" y="12"/>
                    </a:lnTo>
                    <a:cubicBezTo>
                      <a:pt x="0" y="6"/>
                      <a:pt x="5" y="0"/>
                      <a:pt x="12" y="0"/>
                    </a:cubicBezTo>
                    <a:cubicBezTo>
                      <a:pt x="18" y="0"/>
                      <a:pt x="24" y="6"/>
                      <a:pt x="24" y="12"/>
                    </a:cubicBezTo>
                    <a:lnTo>
                      <a:pt x="24" y="453"/>
                    </a:lnTo>
                    <a:cubicBezTo>
                      <a:pt x="24" y="461"/>
                      <a:pt x="18" y="465"/>
                      <a:pt x="12" y="4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70" name="Freeform 405">
                <a:extLst>
                  <a:ext uri="{FF2B5EF4-FFF2-40B4-BE49-F238E27FC236}">
                    <a16:creationId xmlns:a16="http://schemas.microsoft.com/office/drawing/2014/main" id="{2F09F4AB-1CFC-4E9B-B491-4A5006BF3304}"/>
                  </a:ext>
                </a:extLst>
              </p:cNvPr>
              <p:cNvSpPr>
                <a:spLocks noChangeArrowheads="1"/>
              </p:cNvSpPr>
              <p:nvPr/>
            </p:nvSpPr>
            <p:spPr bwMode="auto">
              <a:xfrm>
                <a:off x="4608880" y="1185615"/>
                <a:ext cx="7588" cy="168672"/>
              </a:xfrm>
              <a:custGeom>
                <a:avLst/>
                <a:gdLst>
                  <a:gd name="T0" fmla="*/ 3638 w 24"/>
                  <a:gd name="T1" fmla="*/ 167914 h 466"/>
                  <a:gd name="T2" fmla="*/ 0 w 24"/>
                  <a:gd name="T3" fmla="*/ 163581 h 466"/>
                  <a:gd name="T4" fmla="*/ 0 w 24"/>
                  <a:gd name="T5" fmla="*/ 4333 h 466"/>
                  <a:gd name="T6" fmla="*/ 3638 w 24"/>
                  <a:gd name="T7" fmla="*/ 0 h 466"/>
                  <a:gd name="T8" fmla="*/ 7606 w 24"/>
                  <a:gd name="T9" fmla="*/ 4333 h 466"/>
                  <a:gd name="T10" fmla="*/ 7606 w 24"/>
                  <a:gd name="T11" fmla="*/ 163581 h 466"/>
                  <a:gd name="T12" fmla="*/ 3638 w 24"/>
                  <a:gd name="T13" fmla="*/ 167914 h 4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 h="466">
                    <a:moveTo>
                      <a:pt x="11" y="465"/>
                    </a:moveTo>
                    <a:cubicBezTo>
                      <a:pt x="5" y="465"/>
                      <a:pt x="0" y="460"/>
                      <a:pt x="0" y="453"/>
                    </a:cubicBezTo>
                    <a:lnTo>
                      <a:pt x="0" y="12"/>
                    </a:lnTo>
                    <a:cubicBezTo>
                      <a:pt x="0" y="6"/>
                      <a:pt x="4" y="0"/>
                      <a:pt x="11" y="0"/>
                    </a:cubicBezTo>
                    <a:cubicBezTo>
                      <a:pt x="17" y="0"/>
                      <a:pt x="23" y="6"/>
                      <a:pt x="23" y="12"/>
                    </a:cubicBezTo>
                    <a:lnTo>
                      <a:pt x="23" y="453"/>
                    </a:lnTo>
                    <a:cubicBezTo>
                      <a:pt x="23" y="461"/>
                      <a:pt x="18" y="465"/>
                      <a:pt x="11" y="4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71" name="Freeform 406">
                <a:extLst>
                  <a:ext uri="{FF2B5EF4-FFF2-40B4-BE49-F238E27FC236}">
                    <a16:creationId xmlns:a16="http://schemas.microsoft.com/office/drawing/2014/main" id="{0D15B401-1371-44B0-A35C-E33F6314334F}"/>
                  </a:ext>
                </a:extLst>
              </p:cNvPr>
              <p:cNvSpPr>
                <a:spLocks noChangeArrowheads="1"/>
              </p:cNvSpPr>
              <p:nvPr/>
            </p:nvSpPr>
            <p:spPr bwMode="auto">
              <a:xfrm>
                <a:off x="4578525" y="1183085"/>
                <a:ext cx="18550" cy="16867"/>
              </a:xfrm>
              <a:custGeom>
                <a:avLst/>
                <a:gdLst>
                  <a:gd name="T0" fmla="*/ 18676 w 51"/>
                  <a:gd name="T1" fmla="*/ 8382 h 50"/>
                  <a:gd name="T2" fmla="*/ 17182 w 51"/>
                  <a:gd name="T3" fmla="*/ 12573 h 50"/>
                  <a:gd name="T4" fmla="*/ 13821 w 51"/>
                  <a:gd name="T5" fmla="*/ 15716 h 50"/>
                  <a:gd name="T6" fmla="*/ 9338 w 51"/>
                  <a:gd name="T7" fmla="*/ 17113 h 50"/>
                  <a:gd name="T8" fmla="*/ 4856 w 51"/>
                  <a:gd name="T9" fmla="*/ 15716 h 50"/>
                  <a:gd name="T10" fmla="*/ 1494 w 51"/>
                  <a:gd name="T11" fmla="*/ 12573 h 50"/>
                  <a:gd name="T12" fmla="*/ 0 w 51"/>
                  <a:gd name="T13" fmla="*/ 8382 h 50"/>
                  <a:gd name="T14" fmla="*/ 1494 w 51"/>
                  <a:gd name="T15" fmla="*/ 4191 h 50"/>
                  <a:gd name="T16" fmla="*/ 4856 w 51"/>
                  <a:gd name="T17" fmla="*/ 1048 h 50"/>
                  <a:gd name="T18" fmla="*/ 9338 w 51"/>
                  <a:gd name="T19" fmla="*/ 0 h 50"/>
                  <a:gd name="T20" fmla="*/ 13821 w 51"/>
                  <a:gd name="T21" fmla="*/ 1048 h 50"/>
                  <a:gd name="T22" fmla="*/ 17182 w 51"/>
                  <a:gd name="T23" fmla="*/ 4191 h 50"/>
                  <a:gd name="T24" fmla="*/ 18676 w 51"/>
                  <a:gd name="T25" fmla="*/ 838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1" h="50">
                    <a:moveTo>
                      <a:pt x="50" y="24"/>
                    </a:moveTo>
                    <a:cubicBezTo>
                      <a:pt x="50" y="29"/>
                      <a:pt x="48" y="32"/>
                      <a:pt x="46" y="36"/>
                    </a:cubicBezTo>
                    <a:cubicBezTo>
                      <a:pt x="43" y="40"/>
                      <a:pt x="41" y="42"/>
                      <a:pt x="37" y="45"/>
                    </a:cubicBezTo>
                    <a:cubicBezTo>
                      <a:pt x="33" y="47"/>
                      <a:pt x="30" y="49"/>
                      <a:pt x="25" y="49"/>
                    </a:cubicBezTo>
                    <a:cubicBezTo>
                      <a:pt x="20" y="49"/>
                      <a:pt x="17" y="47"/>
                      <a:pt x="13" y="45"/>
                    </a:cubicBezTo>
                    <a:cubicBezTo>
                      <a:pt x="9" y="42"/>
                      <a:pt x="6" y="40"/>
                      <a:pt x="4" y="36"/>
                    </a:cubicBezTo>
                    <a:cubicBezTo>
                      <a:pt x="1" y="32"/>
                      <a:pt x="0" y="28"/>
                      <a:pt x="0" y="24"/>
                    </a:cubicBezTo>
                    <a:cubicBezTo>
                      <a:pt x="0" y="19"/>
                      <a:pt x="1" y="16"/>
                      <a:pt x="4" y="12"/>
                    </a:cubicBezTo>
                    <a:cubicBezTo>
                      <a:pt x="6" y="8"/>
                      <a:pt x="9" y="5"/>
                      <a:pt x="13" y="3"/>
                    </a:cubicBezTo>
                    <a:cubicBezTo>
                      <a:pt x="17" y="1"/>
                      <a:pt x="20" y="0"/>
                      <a:pt x="25" y="0"/>
                    </a:cubicBezTo>
                    <a:cubicBezTo>
                      <a:pt x="30" y="0"/>
                      <a:pt x="33" y="1"/>
                      <a:pt x="37" y="3"/>
                    </a:cubicBezTo>
                    <a:cubicBezTo>
                      <a:pt x="41" y="5"/>
                      <a:pt x="43" y="8"/>
                      <a:pt x="46" y="12"/>
                    </a:cubicBezTo>
                    <a:cubicBezTo>
                      <a:pt x="48" y="16"/>
                      <a:pt x="50" y="20"/>
                      <a:pt x="50" y="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72" name="Freeform 407">
                <a:extLst>
                  <a:ext uri="{FF2B5EF4-FFF2-40B4-BE49-F238E27FC236}">
                    <a16:creationId xmlns:a16="http://schemas.microsoft.com/office/drawing/2014/main" id="{9FF5707B-8767-40C8-9180-C52A05251F4F}"/>
                  </a:ext>
                </a:extLst>
              </p:cNvPr>
              <p:cNvSpPr>
                <a:spLocks noChangeArrowheads="1"/>
              </p:cNvSpPr>
              <p:nvPr/>
            </p:nvSpPr>
            <p:spPr bwMode="auto">
              <a:xfrm>
                <a:off x="4603821" y="1183085"/>
                <a:ext cx="17706" cy="16867"/>
              </a:xfrm>
              <a:custGeom>
                <a:avLst/>
                <a:gdLst>
                  <a:gd name="T0" fmla="*/ 17114 w 50"/>
                  <a:gd name="T1" fmla="*/ 8382 h 50"/>
                  <a:gd name="T2" fmla="*/ 16066 w 50"/>
                  <a:gd name="T3" fmla="*/ 12573 h 50"/>
                  <a:gd name="T4" fmla="*/ 12923 w 50"/>
                  <a:gd name="T5" fmla="*/ 15716 h 50"/>
                  <a:gd name="T6" fmla="*/ 8382 w 50"/>
                  <a:gd name="T7" fmla="*/ 17113 h 50"/>
                  <a:gd name="T8" fmla="*/ 4191 w 50"/>
                  <a:gd name="T9" fmla="*/ 15716 h 50"/>
                  <a:gd name="T10" fmla="*/ 1048 w 50"/>
                  <a:gd name="T11" fmla="*/ 12573 h 50"/>
                  <a:gd name="T12" fmla="*/ 0 w 50"/>
                  <a:gd name="T13" fmla="*/ 8382 h 50"/>
                  <a:gd name="T14" fmla="*/ 1048 w 50"/>
                  <a:gd name="T15" fmla="*/ 4191 h 50"/>
                  <a:gd name="T16" fmla="*/ 4191 w 50"/>
                  <a:gd name="T17" fmla="*/ 1048 h 50"/>
                  <a:gd name="T18" fmla="*/ 8382 w 50"/>
                  <a:gd name="T19" fmla="*/ 0 h 50"/>
                  <a:gd name="T20" fmla="*/ 12923 w 50"/>
                  <a:gd name="T21" fmla="*/ 1048 h 50"/>
                  <a:gd name="T22" fmla="*/ 16066 w 50"/>
                  <a:gd name="T23" fmla="*/ 4191 h 50"/>
                  <a:gd name="T24" fmla="*/ 17114 w 50"/>
                  <a:gd name="T25" fmla="*/ 838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0" h="50">
                    <a:moveTo>
                      <a:pt x="49" y="24"/>
                    </a:moveTo>
                    <a:cubicBezTo>
                      <a:pt x="49" y="29"/>
                      <a:pt x="48" y="32"/>
                      <a:pt x="46" y="36"/>
                    </a:cubicBezTo>
                    <a:cubicBezTo>
                      <a:pt x="43" y="40"/>
                      <a:pt x="41" y="42"/>
                      <a:pt x="37" y="45"/>
                    </a:cubicBezTo>
                    <a:cubicBezTo>
                      <a:pt x="33" y="47"/>
                      <a:pt x="28" y="49"/>
                      <a:pt x="24" y="49"/>
                    </a:cubicBezTo>
                    <a:cubicBezTo>
                      <a:pt x="19" y="49"/>
                      <a:pt x="16" y="47"/>
                      <a:pt x="12" y="45"/>
                    </a:cubicBezTo>
                    <a:cubicBezTo>
                      <a:pt x="8" y="42"/>
                      <a:pt x="5" y="40"/>
                      <a:pt x="3" y="36"/>
                    </a:cubicBezTo>
                    <a:cubicBezTo>
                      <a:pt x="1" y="32"/>
                      <a:pt x="0" y="28"/>
                      <a:pt x="0" y="24"/>
                    </a:cubicBezTo>
                    <a:cubicBezTo>
                      <a:pt x="0" y="19"/>
                      <a:pt x="1" y="16"/>
                      <a:pt x="3" y="12"/>
                    </a:cubicBezTo>
                    <a:cubicBezTo>
                      <a:pt x="5" y="8"/>
                      <a:pt x="8" y="5"/>
                      <a:pt x="12" y="3"/>
                    </a:cubicBezTo>
                    <a:cubicBezTo>
                      <a:pt x="16" y="1"/>
                      <a:pt x="20" y="0"/>
                      <a:pt x="24" y="0"/>
                    </a:cubicBezTo>
                    <a:cubicBezTo>
                      <a:pt x="29" y="0"/>
                      <a:pt x="33" y="1"/>
                      <a:pt x="37" y="3"/>
                    </a:cubicBezTo>
                    <a:cubicBezTo>
                      <a:pt x="41" y="5"/>
                      <a:pt x="43" y="8"/>
                      <a:pt x="46" y="12"/>
                    </a:cubicBezTo>
                    <a:cubicBezTo>
                      <a:pt x="48" y="16"/>
                      <a:pt x="49" y="20"/>
                      <a:pt x="49" y="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73" name="Freeform 408">
                <a:extLst>
                  <a:ext uri="{FF2B5EF4-FFF2-40B4-BE49-F238E27FC236}">
                    <a16:creationId xmlns:a16="http://schemas.microsoft.com/office/drawing/2014/main" id="{565BA1C8-01AC-42B1-BA6A-3491800D02EA}"/>
                  </a:ext>
                </a:extLst>
              </p:cNvPr>
              <p:cNvSpPr>
                <a:spLocks noChangeArrowheads="1"/>
              </p:cNvSpPr>
              <p:nvPr/>
            </p:nvSpPr>
            <p:spPr bwMode="auto">
              <a:xfrm>
                <a:off x="4627430" y="1183085"/>
                <a:ext cx="17706" cy="16867"/>
              </a:xfrm>
              <a:custGeom>
                <a:avLst/>
                <a:gdLst>
                  <a:gd name="T0" fmla="*/ 17113 w 50"/>
                  <a:gd name="T1" fmla="*/ 8382 h 50"/>
                  <a:gd name="T2" fmla="*/ 16065 w 50"/>
                  <a:gd name="T3" fmla="*/ 12573 h 50"/>
                  <a:gd name="T4" fmla="*/ 12922 w 50"/>
                  <a:gd name="T5" fmla="*/ 15716 h 50"/>
                  <a:gd name="T6" fmla="*/ 8731 w 50"/>
                  <a:gd name="T7" fmla="*/ 17113 h 50"/>
                  <a:gd name="T8" fmla="*/ 4191 w 50"/>
                  <a:gd name="T9" fmla="*/ 15716 h 50"/>
                  <a:gd name="T10" fmla="*/ 1048 w 50"/>
                  <a:gd name="T11" fmla="*/ 12573 h 50"/>
                  <a:gd name="T12" fmla="*/ 0 w 50"/>
                  <a:gd name="T13" fmla="*/ 8382 h 50"/>
                  <a:gd name="T14" fmla="*/ 1048 w 50"/>
                  <a:gd name="T15" fmla="*/ 4191 h 50"/>
                  <a:gd name="T16" fmla="*/ 4191 w 50"/>
                  <a:gd name="T17" fmla="*/ 1048 h 50"/>
                  <a:gd name="T18" fmla="*/ 8731 w 50"/>
                  <a:gd name="T19" fmla="*/ 0 h 50"/>
                  <a:gd name="T20" fmla="*/ 12922 w 50"/>
                  <a:gd name="T21" fmla="*/ 1048 h 50"/>
                  <a:gd name="T22" fmla="*/ 16065 w 50"/>
                  <a:gd name="T23" fmla="*/ 4191 h 50"/>
                  <a:gd name="T24" fmla="*/ 17113 w 50"/>
                  <a:gd name="T25" fmla="*/ 838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0" h="50">
                    <a:moveTo>
                      <a:pt x="49" y="24"/>
                    </a:moveTo>
                    <a:cubicBezTo>
                      <a:pt x="49" y="29"/>
                      <a:pt x="48" y="32"/>
                      <a:pt x="46" y="36"/>
                    </a:cubicBezTo>
                    <a:cubicBezTo>
                      <a:pt x="44" y="40"/>
                      <a:pt x="41" y="42"/>
                      <a:pt x="37" y="45"/>
                    </a:cubicBezTo>
                    <a:cubicBezTo>
                      <a:pt x="33" y="47"/>
                      <a:pt x="29" y="49"/>
                      <a:pt x="25" y="49"/>
                    </a:cubicBezTo>
                    <a:cubicBezTo>
                      <a:pt x="20" y="49"/>
                      <a:pt x="15" y="47"/>
                      <a:pt x="12" y="45"/>
                    </a:cubicBezTo>
                    <a:cubicBezTo>
                      <a:pt x="8" y="42"/>
                      <a:pt x="5" y="40"/>
                      <a:pt x="3" y="36"/>
                    </a:cubicBezTo>
                    <a:cubicBezTo>
                      <a:pt x="0" y="32"/>
                      <a:pt x="0" y="28"/>
                      <a:pt x="0" y="24"/>
                    </a:cubicBezTo>
                    <a:cubicBezTo>
                      <a:pt x="0" y="19"/>
                      <a:pt x="0" y="16"/>
                      <a:pt x="3" y="12"/>
                    </a:cubicBezTo>
                    <a:cubicBezTo>
                      <a:pt x="5" y="8"/>
                      <a:pt x="8" y="5"/>
                      <a:pt x="12" y="3"/>
                    </a:cubicBezTo>
                    <a:cubicBezTo>
                      <a:pt x="15" y="1"/>
                      <a:pt x="20" y="0"/>
                      <a:pt x="25" y="0"/>
                    </a:cubicBezTo>
                    <a:cubicBezTo>
                      <a:pt x="29" y="0"/>
                      <a:pt x="33" y="1"/>
                      <a:pt x="37" y="3"/>
                    </a:cubicBezTo>
                    <a:cubicBezTo>
                      <a:pt x="41" y="5"/>
                      <a:pt x="44" y="8"/>
                      <a:pt x="46" y="12"/>
                    </a:cubicBezTo>
                    <a:cubicBezTo>
                      <a:pt x="48" y="16"/>
                      <a:pt x="49" y="20"/>
                      <a:pt x="49" y="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74" name="Freeform 409">
                <a:extLst>
                  <a:ext uri="{FF2B5EF4-FFF2-40B4-BE49-F238E27FC236}">
                    <a16:creationId xmlns:a16="http://schemas.microsoft.com/office/drawing/2014/main" id="{E80CB67E-09CF-40E4-9C41-10F293ABDE4C}"/>
                  </a:ext>
                </a:extLst>
              </p:cNvPr>
              <p:cNvSpPr>
                <a:spLocks noChangeArrowheads="1"/>
              </p:cNvSpPr>
              <p:nvPr/>
            </p:nvSpPr>
            <p:spPr bwMode="auto">
              <a:xfrm>
                <a:off x="4578525" y="1341636"/>
                <a:ext cx="18550" cy="16867"/>
              </a:xfrm>
              <a:custGeom>
                <a:avLst/>
                <a:gdLst>
                  <a:gd name="T0" fmla="*/ 18676 w 51"/>
                  <a:gd name="T1" fmla="*/ 8382 h 50"/>
                  <a:gd name="T2" fmla="*/ 17182 w 51"/>
                  <a:gd name="T3" fmla="*/ 12922 h 50"/>
                  <a:gd name="T4" fmla="*/ 13821 w 51"/>
                  <a:gd name="T5" fmla="*/ 16065 h 50"/>
                  <a:gd name="T6" fmla="*/ 9338 w 51"/>
                  <a:gd name="T7" fmla="*/ 17113 h 50"/>
                  <a:gd name="T8" fmla="*/ 4856 w 51"/>
                  <a:gd name="T9" fmla="*/ 16065 h 50"/>
                  <a:gd name="T10" fmla="*/ 1494 w 51"/>
                  <a:gd name="T11" fmla="*/ 12922 h 50"/>
                  <a:gd name="T12" fmla="*/ 0 w 51"/>
                  <a:gd name="T13" fmla="*/ 8382 h 50"/>
                  <a:gd name="T14" fmla="*/ 1494 w 51"/>
                  <a:gd name="T15" fmla="*/ 4191 h 50"/>
                  <a:gd name="T16" fmla="*/ 4856 w 51"/>
                  <a:gd name="T17" fmla="*/ 1048 h 50"/>
                  <a:gd name="T18" fmla="*/ 9338 w 51"/>
                  <a:gd name="T19" fmla="*/ 0 h 50"/>
                  <a:gd name="T20" fmla="*/ 13821 w 51"/>
                  <a:gd name="T21" fmla="*/ 1048 h 50"/>
                  <a:gd name="T22" fmla="*/ 17182 w 51"/>
                  <a:gd name="T23" fmla="*/ 4191 h 50"/>
                  <a:gd name="T24" fmla="*/ 18676 w 51"/>
                  <a:gd name="T25" fmla="*/ 838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1" h="50">
                    <a:moveTo>
                      <a:pt x="50" y="24"/>
                    </a:moveTo>
                    <a:cubicBezTo>
                      <a:pt x="50" y="29"/>
                      <a:pt x="48" y="33"/>
                      <a:pt x="46" y="37"/>
                    </a:cubicBezTo>
                    <a:cubicBezTo>
                      <a:pt x="43" y="41"/>
                      <a:pt x="41" y="43"/>
                      <a:pt x="37" y="46"/>
                    </a:cubicBezTo>
                    <a:cubicBezTo>
                      <a:pt x="33" y="48"/>
                      <a:pt x="30" y="49"/>
                      <a:pt x="25" y="49"/>
                    </a:cubicBezTo>
                    <a:cubicBezTo>
                      <a:pt x="20" y="49"/>
                      <a:pt x="17" y="48"/>
                      <a:pt x="13" y="46"/>
                    </a:cubicBezTo>
                    <a:cubicBezTo>
                      <a:pt x="9" y="43"/>
                      <a:pt x="6" y="41"/>
                      <a:pt x="4" y="37"/>
                    </a:cubicBezTo>
                    <a:cubicBezTo>
                      <a:pt x="1" y="33"/>
                      <a:pt x="0" y="28"/>
                      <a:pt x="0" y="24"/>
                    </a:cubicBezTo>
                    <a:cubicBezTo>
                      <a:pt x="0" y="19"/>
                      <a:pt x="1" y="16"/>
                      <a:pt x="4" y="12"/>
                    </a:cubicBezTo>
                    <a:cubicBezTo>
                      <a:pt x="6" y="8"/>
                      <a:pt x="9" y="5"/>
                      <a:pt x="13" y="3"/>
                    </a:cubicBezTo>
                    <a:cubicBezTo>
                      <a:pt x="17" y="1"/>
                      <a:pt x="20" y="0"/>
                      <a:pt x="25" y="0"/>
                    </a:cubicBezTo>
                    <a:cubicBezTo>
                      <a:pt x="30" y="0"/>
                      <a:pt x="33" y="1"/>
                      <a:pt x="37" y="3"/>
                    </a:cubicBezTo>
                    <a:cubicBezTo>
                      <a:pt x="41" y="5"/>
                      <a:pt x="43" y="8"/>
                      <a:pt x="46" y="12"/>
                    </a:cubicBezTo>
                    <a:cubicBezTo>
                      <a:pt x="48" y="16"/>
                      <a:pt x="50" y="20"/>
                      <a:pt x="50" y="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75" name="Freeform 410">
                <a:extLst>
                  <a:ext uri="{FF2B5EF4-FFF2-40B4-BE49-F238E27FC236}">
                    <a16:creationId xmlns:a16="http://schemas.microsoft.com/office/drawing/2014/main" id="{88B1FB48-141A-4EBE-887D-66DA62139F0D}"/>
                  </a:ext>
                </a:extLst>
              </p:cNvPr>
              <p:cNvSpPr>
                <a:spLocks noChangeArrowheads="1"/>
              </p:cNvSpPr>
              <p:nvPr/>
            </p:nvSpPr>
            <p:spPr bwMode="auto">
              <a:xfrm>
                <a:off x="4603821" y="1341636"/>
                <a:ext cx="17706" cy="16867"/>
              </a:xfrm>
              <a:custGeom>
                <a:avLst/>
                <a:gdLst>
                  <a:gd name="T0" fmla="*/ 17114 w 50"/>
                  <a:gd name="T1" fmla="*/ 8382 h 50"/>
                  <a:gd name="T2" fmla="*/ 16066 w 50"/>
                  <a:gd name="T3" fmla="*/ 12922 h 50"/>
                  <a:gd name="T4" fmla="*/ 12923 w 50"/>
                  <a:gd name="T5" fmla="*/ 16065 h 50"/>
                  <a:gd name="T6" fmla="*/ 8382 w 50"/>
                  <a:gd name="T7" fmla="*/ 17113 h 50"/>
                  <a:gd name="T8" fmla="*/ 4191 w 50"/>
                  <a:gd name="T9" fmla="*/ 16065 h 50"/>
                  <a:gd name="T10" fmla="*/ 1048 w 50"/>
                  <a:gd name="T11" fmla="*/ 12922 h 50"/>
                  <a:gd name="T12" fmla="*/ 0 w 50"/>
                  <a:gd name="T13" fmla="*/ 8382 h 50"/>
                  <a:gd name="T14" fmla="*/ 1048 w 50"/>
                  <a:gd name="T15" fmla="*/ 4191 h 50"/>
                  <a:gd name="T16" fmla="*/ 4191 w 50"/>
                  <a:gd name="T17" fmla="*/ 1048 h 50"/>
                  <a:gd name="T18" fmla="*/ 8382 w 50"/>
                  <a:gd name="T19" fmla="*/ 0 h 50"/>
                  <a:gd name="T20" fmla="*/ 12923 w 50"/>
                  <a:gd name="T21" fmla="*/ 1048 h 50"/>
                  <a:gd name="T22" fmla="*/ 16066 w 50"/>
                  <a:gd name="T23" fmla="*/ 4191 h 50"/>
                  <a:gd name="T24" fmla="*/ 17114 w 50"/>
                  <a:gd name="T25" fmla="*/ 838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0" h="50">
                    <a:moveTo>
                      <a:pt x="49" y="24"/>
                    </a:moveTo>
                    <a:cubicBezTo>
                      <a:pt x="49" y="29"/>
                      <a:pt x="48" y="33"/>
                      <a:pt x="46" y="37"/>
                    </a:cubicBezTo>
                    <a:cubicBezTo>
                      <a:pt x="43" y="41"/>
                      <a:pt x="41" y="43"/>
                      <a:pt x="37" y="46"/>
                    </a:cubicBezTo>
                    <a:cubicBezTo>
                      <a:pt x="33" y="48"/>
                      <a:pt x="28" y="49"/>
                      <a:pt x="24" y="49"/>
                    </a:cubicBezTo>
                    <a:cubicBezTo>
                      <a:pt x="19" y="49"/>
                      <a:pt x="16" y="48"/>
                      <a:pt x="12" y="46"/>
                    </a:cubicBezTo>
                    <a:cubicBezTo>
                      <a:pt x="8" y="43"/>
                      <a:pt x="5" y="41"/>
                      <a:pt x="3" y="37"/>
                    </a:cubicBezTo>
                    <a:cubicBezTo>
                      <a:pt x="1" y="33"/>
                      <a:pt x="0" y="28"/>
                      <a:pt x="0" y="24"/>
                    </a:cubicBezTo>
                    <a:cubicBezTo>
                      <a:pt x="0" y="19"/>
                      <a:pt x="1" y="16"/>
                      <a:pt x="3" y="12"/>
                    </a:cubicBezTo>
                    <a:cubicBezTo>
                      <a:pt x="5" y="8"/>
                      <a:pt x="8" y="5"/>
                      <a:pt x="12" y="3"/>
                    </a:cubicBezTo>
                    <a:cubicBezTo>
                      <a:pt x="16" y="1"/>
                      <a:pt x="20" y="0"/>
                      <a:pt x="24" y="0"/>
                    </a:cubicBezTo>
                    <a:cubicBezTo>
                      <a:pt x="29" y="0"/>
                      <a:pt x="33" y="1"/>
                      <a:pt x="37" y="3"/>
                    </a:cubicBezTo>
                    <a:cubicBezTo>
                      <a:pt x="41" y="5"/>
                      <a:pt x="43" y="8"/>
                      <a:pt x="46" y="12"/>
                    </a:cubicBezTo>
                    <a:cubicBezTo>
                      <a:pt x="48" y="16"/>
                      <a:pt x="49" y="20"/>
                      <a:pt x="49" y="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76" name="Freeform 411">
                <a:extLst>
                  <a:ext uri="{FF2B5EF4-FFF2-40B4-BE49-F238E27FC236}">
                    <a16:creationId xmlns:a16="http://schemas.microsoft.com/office/drawing/2014/main" id="{D15AB2EC-CC06-4F39-AA01-071869D13AC3}"/>
                  </a:ext>
                </a:extLst>
              </p:cNvPr>
              <p:cNvSpPr>
                <a:spLocks noChangeArrowheads="1"/>
              </p:cNvSpPr>
              <p:nvPr/>
            </p:nvSpPr>
            <p:spPr bwMode="auto">
              <a:xfrm>
                <a:off x="4627430" y="1341636"/>
                <a:ext cx="17706" cy="16867"/>
              </a:xfrm>
              <a:custGeom>
                <a:avLst/>
                <a:gdLst>
                  <a:gd name="T0" fmla="*/ 17113 w 50"/>
                  <a:gd name="T1" fmla="*/ 8382 h 50"/>
                  <a:gd name="T2" fmla="*/ 16065 w 50"/>
                  <a:gd name="T3" fmla="*/ 12922 h 50"/>
                  <a:gd name="T4" fmla="*/ 12922 w 50"/>
                  <a:gd name="T5" fmla="*/ 16065 h 50"/>
                  <a:gd name="T6" fmla="*/ 8731 w 50"/>
                  <a:gd name="T7" fmla="*/ 17113 h 50"/>
                  <a:gd name="T8" fmla="*/ 4191 w 50"/>
                  <a:gd name="T9" fmla="*/ 16065 h 50"/>
                  <a:gd name="T10" fmla="*/ 1048 w 50"/>
                  <a:gd name="T11" fmla="*/ 12922 h 50"/>
                  <a:gd name="T12" fmla="*/ 0 w 50"/>
                  <a:gd name="T13" fmla="*/ 8382 h 50"/>
                  <a:gd name="T14" fmla="*/ 1048 w 50"/>
                  <a:gd name="T15" fmla="*/ 4191 h 50"/>
                  <a:gd name="T16" fmla="*/ 4191 w 50"/>
                  <a:gd name="T17" fmla="*/ 1048 h 50"/>
                  <a:gd name="T18" fmla="*/ 8731 w 50"/>
                  <a:gd name="T19" fmla="*/ 0 h 50"/>
                  <a:gd name="T20" fmla="*/ 12922 w 50"/>
                  <a:gd name="T21" fmla="*/ 1048 h 50"/>
                  <a:gd name="T22" fmla="*/ 16065 w 50"/>
                  <a:gd name="T23" fmla="*/ 4191 h 50"/>
                  <a:gd name="T24" fmla="*/ 17113 w 50"/>
                  <a:gd name="T25" fmla="*/ 838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0" h="50">
                    <a:moveTo>
                      <a:pt x="49" y="24"/>
                    </a:moveTo>
                    <a:cubicBezTo>
                      <a:pt x="49" y="29"/>
                      <a:pt x="48" y="33"/>
                      <a:pt x="46" y="37"/>
                    </a:cubicBezTo>
                    <a:cubicBezTo>
                      <a:pt x="44" y="41"/>
                      <a:pt x="41" y="43"/>
                      <a:pt x="37" y="46"/>
                    </a:cubicBezTo>
                    <a:cubicBezTo>
                      <a:pt x="33" y="48"/>
                      <a:pt x="29" y="49"/>
                      <a:pt x="25" y="49"/>
                    </a:cubicBezTo>
                    <a:cubicBezTo>
                      <a:pt x="20" y="49"/>
                      <a:pt x="15" y="48"/>
                      <a:pt x="12" y="46"/>
                    </a:cubicBezTo>
                    <a:cubicBezTo>
                      <a:pt x="8" y="43"/>
                      <a:pt x="5" y="41"/>
                      <a:pt x="3" y="37"/>
                    </a:cubicBezTo>
                    <a:cubicBezTo>
                      <a:pt x="0" y="33"/>
                      <a:pt x="0" y="28"/>
                      <a:pt x="0" y="24"/>
                    </a:cubicBezTo>
                    <a:cubicBezTo>
                      <a:pt x="0" y="19"/>
                      <a:pt x="0" y="16"/>
                      <a:pt x="3" y="12"/>
                    </a:cubicBezTo>
                    <a:cubicBezTo>
                      <a:pt x="5" y="8"/>
                      <a:pt x="8" y="5"/>
                      <a:pt x="12" y="3"/>
                    </a:cubicBezTo>
                    <a:cubicBezTo>
                      <a:pt x="15" y="1"/>
                      <a:pt x="20" y="0"/>
                      <a:pt x="25" y="0"/>
                    </a:cubicBezTo>
                    <a:cubicBezTo>
                      <a:pt x="29" y="0"/>
                      <a:pt x="33" y="1"/>
                      <a:pt x="37" y="3"/>
                    </a:cubicBezTo>
                    <a:cubicBezTo>
                      <a:pt x="41" y="5"/>
                      <a:pt x="44" y="8"/>
                      <a:pt x="46" y="12"/>
                    </a:cubicBezTo>
                    <a:cubicBezTo>
                      <a:pt x="48" y="16"/>
                      <a:pt x="49" y="20"/>
                      <a:pt x="49" y="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77" name="Freeform 412">
                <a:extLst>
                  <a:ext uri="{FF2B5EF4-FFF2-40B4-BE49-F238E27FC236}">
                    <a16:creationId xmlns:a16="http://schemas.microsoft.com/office/drawing/2014/main" id="{E5589FF2-693F-4071-81D7-955C488EADC8}"/>
                  </a:ext>
                </a:extLst>
              </p:cNvPr>
              <p:cNvSpPr>
                <a:spLocks noChangeArrowheads="1"/>
              </p:cNvSpPr>
              <p:nvPr/>
            </p:nvSpPr>
            <p:spPr bwMode="auto">
              <a:xfrm>
                <a:off x="4237038" y="1068388"/>
                <a:ext cx="61552" cy="377825"/>
              </a:xfrm>
              <a:custGeom>
                <a:avLst/>
                <a:gdLst>
                  <a:gd name="T0" fmla="*/ 53728 w 174"/>
                  <a:gd name="T1" fmla="*/ 377465 h 1050"/>
                  <a:gd name="T2" fmla="*/ 46256 w 174"/>
                  <a:gd name="T3" fmla="*/ 369909 h 1050"/>
                  <a:gd name="T4" fmla="*/ 46256 w 174"/>
                  <a:gd name="T5" fmla="*/ 77724 h 1050"/>
                  <a:gd name="T6" fmla="*/ 40563 w 174"/>
                  <a:gd name="T7" fmla="*/ 73046 h 1050"/>
                  <a:gd name="T8" fmla="*/ 20637 w 174"/>
                  <a:gd name="T9" fmla="*/ 73046 h 1050"/>
                  <a:gd name="T10" fmla="*/ 0 w 174"/>
                  <a:gd name="T11" fmla="*/ 53255 h 1050"/>
                  <a:gd name="T12" fmla="*/ 0 w 174"/>
                  <a:gd name="T13" fmla="*/ 7916 h 1050"/>
                  <a:gd name="T14" fmla="*/ 7472 w 174"/>
                  <a:gd name="T15" fmla="*/ 0 h 1050"/>
                  <a:gd name="T16" fmla="*/ 14944 w 174"/>
                  <a:gd name="T17" fmla="*/ 7916 h 1050"/>
                  <a:gd name="T18" fmla="*/ 14944 w 174"/>
                  <a:gd name="T19" fmla="*/ 53255 h 1050"/>
                  <a:gd name="T20" fmla="*/ 20637 w 174"/>
                  <a:gd name="T21" fmla="*/ 57573 h 1050"/>
                  <a:gd name="T22" fmla="*/ 40563 w 174"/>
                  <a:gd name="T23" fmla="*/ 57573 h 1050"/>
                  <a:gd name="T24" fmla="*/ 61556 w 174"/>
                  <a:gd name="T25" fmla="*/ 77724 h 1050"/>
                  <a:gd name="T26" fmla="*/ 61556 w 174"/>
                  <a:gd name="T27" fmla="*/ 369909 h 1050"/>
                  <a:gd name="T28" fmla="*/ 53728 w 174"/>
                  <a:gd name="T29" fmla="*/ 377465 h 105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4" h="1050">
                    <a:moveTo>
                      <a:pt x="151" y="1049"/>
                    </a:moveTo>
                    <a:cubicBezTo>
                      <a:pt x="140" y="1049"/>
                      <a:pt x="130" y="1040"/>
                      <a:pt x="130" y="1028"/>
                    </a:cubicBezTo>
                    <a:lnTo>
                      <a:pt x="130" y="216"/>
                    </a:lnTo>
                    <a:cubicBezTo>
                      <a:pt x="130" y="209"/>
                      <a:pt x="122" y="203"/>
                      <a:pt x="114" y="203"/>
                    </a:cubicBezTo>
                    <a:lnTo>
                      <a:pt x="58" y="203"/>
                    </a:lnTo>
                    <a:cubicBezTo>
                      <a:pt x="26" y="203"/>
                      <a:pt x="0" y="178"/>
                      <a:pt x="0" y="148"/>
                    </a:cubicBezTo>
                    <a:lnTo>
                      <a:pt x="0" y="22"/>
                    </a:lnTo>
                    <a:cubicBezTo>
                      <a:pt x="0" y="10"/>
                      <a:pt x="9" y="0"/>
                      <a:pt x="21" y="0"/>
                    </a:cubicBezTo>
                    <a:cubicBezTo>
                      <a:pt x="33" y="0"/>
                      <a:pt x="42" y="10"/>
                      <a:pt x="42" y="22"/>
                    </a:cubicBezTo>
                    <a:lnTo>
                      <a:pt x="42" y="148"/>
                    </a:lnTo>
                    <a:cubicBezTo>
                      <a:pt x="42" y="155"/>
                      <a:pt x="50" y="160"/>
                      <a:pt x="58" y="160"/>
                    </a:cubicBezTo>
                    <a:lnTo>
                      <a:pt x="114" y="160"/>
                    </a:lnTo>
                    <a:cubicBezTo>
                      <a:pt x="146" y="160"/>
                      <a:pt x="173" y="186"/>
                      <a:pt x="173" y="216"/>
                    </a:cubicBezTo>
                    <a:lnTo>
                      <a:pt x="173" y="1028"/>
                    </a:lnTo>
                    <a:cubicBezTo>
                      <a:pt x="173" y="1041"/>
                      <a:pt x="163" y="1049"/>
                      <a:pt x="151" y="10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dirty="0">
                  <a:ln>
                    <a:noFill/>
                  </a:ln>
                  <a:effectLst/>
                  <a:uLnTx/>
                  <a:uFillTx/>
                  <a:latin typeface="Calibri" panose="020F0502020204030204"/>
                  <a:ea typeface="等线" panose="02010600030101010101" pitchFamily="2" charset="-122"/>
                  <a:cs typeface="+mn-cs"/>
                </a:endParaRPr>
              </a:p>
            </p:txBody>
          </p:sp>
          <p:sp>
            <p:nvSpPr>
              <p:cNvPr id="178" name="Freeform 413">
                <a:extLst>
                  <a:ext uri="{FF2B5EF4-FFF2-40B4-BE49-F238E27FC236}">
                    <a16:creationId xmlns:a16="http://schemas.microsoft.com/office/drawing/2014/main" id="{A562D687-CFAB-4E3C-A1B7-78B4A32ABB6B}"/>
                  </a:ext>
                </a:extLst>
              </p:cNvPr>
              <p:cNvSpPr>
                <a:spLocks noChangeArrowheads="1"/>
              </p:cNvSpPr>
              <p:nvPr/>
            </p:nvSpPr>
            <p:spPr bwMode="auto">
              <a:xfrm>
                <a:off x="4681393" y="1108026"/>
                <a:ext cx="16020" cy="225177"/>
              </a:xfrm>
              <a:custGeom>
                <a:avLst/>
                <a:gdLst>
                  <a:gd name="T0" fmla="*/ 7753 w 43"/>
                  <a:gd name="T1" fmla="*/ 225065 h 627"/>
                  <a:gd name="T2" fmla="*/ 0 w 43"/>
                  <a:gd name="T3" fmla="*/ 217515 h 627"/>
                  <a:gd name="T4" fmla="*/ 0 w 43"/>
                  <a:gd name="T5" fmla="*/ 7910 h 627"/>
                  <a:gd name="T6" fmla="*/ 7753 w 43"/>
                  <a:gd name="T7" fmla="*/ 0 h 627"/>
                  <a:gd name="T8" fmla="*/ 15506 w 43"/>
                  <a:gd name="T9" fmla="*/ 7910 h 627"/>
                  <a:gd name="T10" fmla="*/ 15506 w 43"/>
                  <a:gd name="T11" fmla="*/ 217515 h 627"/>
                  <a:gd name="T12" fmla="*/ 7753 w 43"/>
                  <a:gd name="T13" fmla="*/ 225065 h 62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3" h="627">
                    <a:moveTo>
                      <a:pt x="21" y="626"/>
                    </a:moveTo>
                    <a:cubicBezTo>
                      <a:pt x="9" y="626"/>
                      <a:pt x="0" y="617"/>
                      <a:pt x="0" y="605"/>
                    </a:cubicBezTo>
                    <a:lnTo>
                      <a:pt x="0" y="22"/>
                    </a:lnTo>
                    <a:cubicBezTo>
                      <a:pt x="0" y="10"/>
                      <a:pt x="9" y="0"/>
                      <a:pt x="21" y="0"/>
                    </a:cubicBezTo>
                    <a:cubicBezTo>
                      <a:pt x="33" y="0"/>
                      <a:pt x="42" y="10"/>
                      <a:pt x="42" y="22"/>
                    </a:cubicBezTo>
                    <a:lnTo>
                      <a:pt x="42" y="605"/>
                    </a:lnTo>
                    <a:cubicBezTo>
                      <a:pt x="42" y="617"/>
                      <a:pt x="33" y="626"/>
                      <a:pt x="21" y="62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79" name="Freeform 414">
                <a:extLst>
                  <a:ext uri="{FF2B5EF4-FFF2-40B4-BE49-F238E27FC236}">
                    <a16:creationId xmlns:a16="http://schemas.microsoft.com/office/drawing/2014/main" id="{7C21FAE0-806E-4F29-AB55-AE99FFB1BDED}"/>
                  </a:ext>
                </a:extLst>
              </p:cNvPr>
              <p:cNvSpPr>
                <a:spLocks noChangeArrowheads="1"/>
              </p:cNvSpPr>
              <p:nvPr/>
            </p:nvSpPr>
            <p:spPr bwMode="auto">
              <a:xfrm>
                <a:off x="4253059" y="1154411"/>
                <a:ext cx="16020" cy="225177"/>
              </a:xfrm>
              <a:custGeom>
                <a:avLst/>
                <a:gdLst>
                  <a:gd name="T0" fmla="*/ 7938 w 44"/>
                  <a:gd name="T1" fmla="*/ 225065 h 627"/>
                  <a:gd name="T2" fmla="*/ 0 w 44"/>
                  <a:gd name="T3" fmla="*/ 217156 h 627"/>
                  <a:gd name="T4" fmla="*/ 0 w 44"/>
                  <a:gd name="T5" fmla="*/ 7550 h 627"/>
                  <a:gd name="T6" fmla="*/ 7938 w 44"/>
                  <a:gd name="T7" fmla="*/ 0 h 627"/>
                  <a:gd name="T8" fmla="*/ 15514 w 44"/>
                  <a:gd name="T9" fmla="*/ 7550 h 627"/>
                  <a:gd name="T10" fmla="*/ 15514 w 44"/>
                  <a:gd name="T11" fmla="*/ 217156 h 627"/>
                  <a:gd name="T12" fmla="*/ 7938 w 44"/>
                  <a:gd name="T13" fmla="*/ 225065 h 62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627">
                    <a:moveTo>
                      <a:pt x="22" y="626"/>
                    </a:moveTo>
                    <a:cubicBezTo>
                      <a:pt x="10" y="626"/>
                      <a:pt x="0" y="616"/>
                      <a:pt x="0" y="604"/>
                    </a:cubicBezTo>
                    <a:lnTo>
                      <a:pt x="0" y="21"/>
                    </a:lnTo>
                    <a:cubicBezTo>
                      <a:pt x="0" y="9"/>
                      <a:pt x="10" y="0"/>
                      <a:pt x="22" y="0"/>
                    </a:cubicBezTo>
                    <a:cubicBezTo>
                      <a:pt x="34" y="0"/>
                      <a:pt x="43" y="9"/>
                      <a:pt x="43" y="21"/>
                    </a:cubicBezTo>
                    <a:lnTo>
                      <a:pt x="43" y="604"/>
                    </a:lnTo>
                    <a:cubicBezTo>
                      <a:pt x="43" y="616"/>
                      <a:pt x="34" y="626"/>
                      <a:pt x="22" y="62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80" name="Freeform 415">
                <a:extLst>
                  <a:ext uri="{FF2B5EF4-FFF2-40B4-BE49-F238E27FC236}">
                    <a16:creationId xmlns:a16="http://schemas.microsoft.com/office/drawing/2014/main" id="{72CEE745-E431-4EE1-9759-72AFD6A14E84}"/>
                  </a:ext>
                </a:extLst>
              </p:cNvPr>
              <p:cNvSpPr>
                <a:spLocks noChangeArrowheads="1"/>
              </p:cNvSpPr>
              <p:nvPr/>
            </p:nvSpPr>
            <p:spPr bwMode="auto">
              <a:xfrm>
                <a:off x="4285942" y="1154411"/>
                <a:ext cx="409784" cy="255538"/>
              </a:xfrm>
              <a:custGeom>
                <a:avLst/>
                <a:gdLst>
                  <a:gd name="T0" fmla="*/ 401664 w 1139"/>
                  <a:gd name="T1" fmla="*/ 0 h 710"/>
                  <a:gd name="T2" fmla="*/ 7911 w 1139"/>
                  <a:gd name="T3" fmla="*/ 0 h 710"/>
                  <a:gd name="T4" fmla="*/ 0 w 1139"/>
                  <a:gd name="T5" fmla="*/ 7560 h 710"/>
                  <a:gd name="T6" fmla="*/ 7911 w 1139"/>
                  <a:gd name="T7" fmla="*/ 15119 h 710"/>
                  <a:gd name="T8" fmla="*/ 394113 w 1139"/>
                  <a:gd name="T9" fmla="*/ 15119 h 710"/>
                  <a:gd name="T10" fmla="*/ 394113 w 1139"/>
                  <a:gd name="T11" fmla="*/ 239748 h 710"/>
                  <a:gd name="T12" fmla="*/ 337297 w 1139"/>
                  <a:gd name="T13" fmla="*/ 239748 h 710"/>
                  <a:gd name="T14" fmla="*/ 338016 w 1139"/>
                  <a:gd name="T15" fmla="*/ 255227 h 710"/>
                  <a:gd name="T16" fmla="*/ 401664 w 1139"/>
                  <a:gd name="T17" fmla="*/ 255227 h 710"/>
                  <a:gd name="T18" fmla="*/ 409215 w 1139"/>
                  <a:gd name="T19" fmla="*/ 247667 h 710"/>
                  <a:gd name="T20" fmla="*/ 409215 w 1139"/>
                  <a:gd name="T21" fmla="*/ 7560 h 710"/>
                  <a:gd name="T22" fmla="*/ 401664 w 1139"/>
                  <a:gd name="T23" fmla="*/ 0 h 7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139" h="710">
                    <a:moveTo>
                      <a:pt x="1117" y="0"/>
                    </a:moveTo>
                    <a:lnTo>
                      <a:pt x="22" y="0"/>
                    </a:lnTo>
                    <a:cubicBezTo>
                      <a:pt x="10" y="0"/>
                      <a:pt x="0" y="9"/>
                      <a:pt x="0" y="21"/>
                    </a:cubicBezTo>
                    <a:cubicBezTo>
                      <a:pt x="0" y="33"/>
                      <a:pt x="10" y="42"/>
                      <a:pt x="22" y="42"/>
                    </a:cubicBezTo>
                    <a:lnTo>
                      <a:pt x="1096" y="42"/>
                    </a:lnTo>
                    <a:lnTo>
                      <a:pt x="1096" y="666"/>
                    </a:lnTo>
                    <a:lnTo>
                      <a:pt x="938" y="666"/>
                    </a:lnTo>
                    <a:cubicBezTo>
                      <a:pt x="944" y="679"/>
                      <a:pt x="944" y="695"/>
                      <a:pt x="940" y="709"/>
                    </a:cubicBezTo>
                    <a:lnTo>
                      <a:pt x="1117" y="709"/>
                    </a:lnTo>
                    <a:cubicBezTo>
                      <a:pt x="1129" y="709"/>
                      <a:pt x="1138" y="700"/>
                      <a:pt x="1138" y="688"/>
                    </a:cubicBezTo>
                    <a:lnTo>
                      <a:pt x="1138" y="21"/>
                    </a:lnTo>
                    <a:cubicBezTo>
                      <a:pt x="1138" y="9"/>
                      <a:pt x="1129" y="0"/>
                      <a:pt x="1117"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81" name="Freeform 416">
                <a:extLst>
                  <a:ext uri="{FF2B5EF4-FFF2-40B4-BE49-F238E27FC236}">
                    <a16:creationId xmlns:a16="http://schemas.microsoft.com/office/drawing/2014/main" id="{514F1D87-6242-466D-BAD2-6C686E897C0C}"/>
                  </a:ext>
                </a:extLst>
              </p:cNvPr>
              <p:cNvSpPr>
                <a:spLocks noChangeArrowheads="1"/>
              </p:cNvSpPr>
              <p:nvPr/>
            </p:nvSpPr>
            <p:spPr bwMode="auto">
              <a:xfrm>
                <a:off x="4600448" y="1384648"/>
                <a:ext cx="37943" cy="37951"/>
              </a:xfrm>
              <a:custGeom>
                <a:avLst/>
                <a:gdLst>
                  <a:gd name="T0" fmla="*/ 19050 w 108"/>
                  <a:gd name="T1" fmla="*/ 37744 h 107"/>
                  <a:gd name="T2" fmla="*/ 0 w 108"/>
                  <a:gd name="T3" fmla="*/ 18872 h 107"/>
                  <a:gd name="T4" fmla="*/ 19050 w 108"/>
                  <a:gd name="T5" fmla="*/ 0 h 107"/>
                  <a:gd name="T6" fmla="*/ 37747 w 108"/>
                  <a:gd name="T7" fmla="*/ 18872 h 107"/>
                  <a:gd name="T8" fmla="*/ 19050 w 108"/>
                  <a:gd name="T9" fmla="*/ 37744 h 1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107">
                    <a:moveTo>
                      <a:pt x="54" y="106"/>
                    </a:moveTo>
                    <a:cubicBezTo>
                      <a:pt x="24" y="106"/>
                      <a:pt x="0" y="83"/>
                      <a:pt x="0" y="53"/>
                    </a:cubicBezTo>
                    <a:cubicBezTo>
                      <a:pt x="0" y="23"/>
                      <a:pt x="24" y="0"/>
                      <a:pt x="54" y="0"/>
                    </a:cubicBezTo>
                    <a:cubicBezTo>
                      <a:pt x="84" y="0"/>
                      <a:pt x="107" y="23"/>
                      <a:pt x="107" y="53"/>
                    </a:cubicBezTo>
                    <a:cubicBezTo>
                      <a:pt x="107" y="82"/>
                      <a:pt x="84" y="106"/>
                      <a:pt x="54" y="10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82" name="Freeform 417">
                <a:extLst>
                  <a:ext uri="{FF2B5EF4-FFF2-40B4-BE49-F238E27FC236}">
                    <a16:creationId xmlns:a16="http://schemas.microsoft.com/office/drawing/2014/main" id="{7D8DC05D-45F9-4E65-B0A3-F65AE40E6A75}"/>
                  </a:ext>
                </a:extLst>
              </p:cNvPr>
              <p:cNvSpPr>
                <a:spLocks noChangeArrowheads="1"/>
              </p:cNvSpPr>
              <p:nvPr/>
            </p:nvSpPr>
            <p:spPr bwMode="auto">
              <a:xfrm>
                <a:off x="4532150" y="1384648"/>
                <a:ext cx="37943" cy="37951"/>
              </a:xfrm>
              <a:custGeom>
                <a:avLst/>
                <a:gdLst>
                  <a:gd name="T0" fmla="*/ 19050 w 108"/>
                  <a:gd name="T1" fmla="*/ 37744 h 107"/>
                  <a:gd name="T2" fmla="*/ 0 w 108"/>
                  <a:gd name="T3" fmla="*/ 18872 h 107"/>
                  <a:gd name="T4" fmla="*/ 19050 w 108"/>
                  <a:gd name="T5" fmla="*/ 0 h 107"/>
                  <a:gd name="T6" fmla="*/ 37747 w 108"/>
                  <a:gd name="T7" fmla="*/ 18872 h 107"/>
                  <a:gd name="T8" fmla="*/ 19050 w 108"/>
                  <a:gd name="T9" fmla="*/ 37744 h 1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107">
                    <a:moveTo>
                      <a:pt x="54" y="106"/>
                    </a:moveTo>
                    <a:cubicBezTo>
                      <a:pt x="24" y="106"/>
                      <a:pt x="0" y="83"/>
                      <a:pt x="0" y="53"/>
                    </a:cubicBezTo>
                    <a:cubicBezTo>
                      <a:pt x="0" y="23"/>
                      <a:pt x="24" y="0"/>
                      <a:pt x="54" y="0"/>
                    </a:cubicBezTo>
                    <a:cubicBezTo>
                      <a:pt x="83" y="0"/>
                      <a:pt x="107" y="23"/>
                      <a:pt x="107" y="53"/>
                    </a:cubicBezTo>
                    <a:cubicBezTo>
                      <a:pt x="107" y="82"/>
                      <a:pt x="83" y="106"/>
                      <a:pt x="54" y="10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83" name="Freeform 418">
                <a:extLst>
                  <a:ext uri="{FF2B5EF4-FFF2-40B4-BE49-F238E27FC236}">
                    <a16:creationId xmlns:a16="http://schemas.microsoft.com/office/drawing/2014/main" id="{BC4F3010-69E6-486B-9415-37064F0BB92D}"/>
                  </a:ext>
                </a:extLst>
              </p:cNvPr>
              <p:cNvSpPr>
                <a:spLocks noChangeArrowheads="1"/>
              </p:cNvSpPr>
              <p:nvPr/>
            </p:nvSpPr>
            <p:spPr bwMode="auto">
              <a:xfrm>
                <a:off x="4316297" y="1183928"/>
                <a:ext cx="134908" cy="174576"/>
              </a:xfrm>
              <a:custGeom>
                <a:avLst/>
                <a:gdLst>
                  <a:gd name="T0" fmla="*/ 134577 w 375"/>
                  <a:gd name="T1" fmla="*/ 174265 h 485"/>
                  <a:gd name="T2" fmla="*/ 0 w 375"/>
                  <a:gd name="T3" fmla="*/ 174265 h 485"/>
                  <a:gd name="T4" fmla="*/ 0 w 375"/>
                  <a:gd name="T5" fmla="*/ 0 h 485"/>
                  <a:gd name="T6" fmla="*/ 134577 w 375"/>
                  <a:gd name="T7" fmla="*/ 0 h 485"/>
                  <a:gd name="T8" fmla="*/ 134577 w 375"/>
                  <a:gd name="T9" fmla="*/ 174265 h 485"/>
                  <a:gd name="T10" fmla="*/ 7556 w 375"/>
                  <a:gd name="T11" fmla="*/ 166704 h 485"/>
                  <a:gd name="T12" fmla="*/ 126661 w 375"/>
                  <a:gd name="T13" fmla="*/ 166704 h 485"/>
                  <a:gd name="T14" fmla="*/ 126661 w 375"/>
                  <a:gd name="T15" fmla="*/ 7561 h 485"/>
                  <a:gd name="T16" fmla="*/ 7556 w 375"/>
                  <a:gd name="T17" fmla="*/ 7561 h 485"/>
                  <a:gd name="T18" fmla="*/ 7556 w 375"/>
                  <a:gd name="T19" fmla="*/ 166704 h 48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75" h="485">
                    <a:moveTo>
                      <a:pt x="374" y="484"/>
                    </a:moveTo>
                    <a:lnTo>
                      <a:pt x="0" y="484"/>
                    </a:lnTo>
                    <a:lnTo>
                      <a:pt x="0" y="0"/>
                    </a:lnTo>
                    <a:lnTo>
                      <a:pt x="374" y="0"/>
                    </a:lnTo>
                    <a:lnTo>
                      <a:pt x="374" y="484"/>
                    </a:lnTo>
                    <a:close/>
                    <a:moveTo>
                      <a:pt x="21" y="463"/>
                    </a:moveTo>
                    <a:lnTo>
                      <a:pt x="352" y="463"/>
                    </a:lnTo>
                    <a:lnTo>
                      <a:pt x="352" y="21"/>
                    </a:lnTo>
                    <a:lnTo>
                      <a:pt x="21" y="21"/>
                    </a:lnTo>
                    <a:lnTo>
                      <a:pt x="21" y="463"/>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84" name="Freeform 419">
                <a:extLst>
                  <a:ext uri="{FF2B5EF4-FFF2-40B4-BE49-F238E27FC236}">
                    <a16:creationId xmlns:a16="http://schemas.microsoft.com/office/drawing/2014/main" id="{C9B0E495-7908-4A35-9572-CBD7774EA445}"/>
                  </a:ext>
                </a:extLst>
              </p:cNvPr>
              <p:cNvSpPr>
                <a:spLocks noChangeArrowheads="1"/>
              </p:cNvSpPr>
              <p:nvPr/>
            </p:nvSpPr>
            <p:spPr bwMode="auto">
              <a:xfrm>
                <a:off x="4319669" y="1210915"/>
                <a:ext cx="127320" cy="8434"/>
              </a:xfrm>
              <a:custGeom>
                <a:avLst/>
                <a:gdLst>
                  <a:gd name="T0" fmla="*/ 63500 w 354"/>
                  <a:gd name="T1" fmla="*/ 7576 h 22"/>
                  <a:gd name="T2" fmla="*/ 0 w 354"/>
                  <a:gd name="T3" fmla="*/ 7576 h 22"/>
                  <a:gd name="T4" fmla="*/ 0 w 354"/>
                  <a:gd name="T5" fmla="*/ 0 h 22"/>
                  <a:gd name="T6" fmla="*/ 126641 w 354"/>
                  <a:gd name="T7" fmla="*/ 0 h 22"/>
                  <a:gd name="T8" fmla="*/ 126641 w 354"/>
                  <a:gd name="T9" fmla="*/ 7576 h 22"/>
                  <a:gd name="T10" fmla="*/ 63500 w 354"/>
                  <a:gd name="T11" fmla="*/ 7576 h 2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4" h="22">
                    <a:moveTo>
                      <a:pt x="177" y="21"/>
                    </a:moveTo>
                    <a:lnTo>
                      <a:pt x="0" y="21"/>
                    </a:lnTo>
                    <a:lnTo>
                      <a:pt x="0" y="0"/>
                    </a:lnTo>
                    <a:lnTo>
                      <a:pt x="353" y="0"/>
                    </a:lnTo>
                    <a:lnTo>
                      <a:pt x="353" y="21"/>
                    </a:lnTo>
                    <a:lnTo>
                      <a:pt x="177" y="2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85" name="Freeform 420">
                <a:extLst>
                  <a:ext uri="{FF2B5EF4-FFF2-40B4-BE49-F238E27FC236}">
                    <a16:creationId xmlns:a16="http://schemas.microsoft.com/office/drawing/2014/main" id="{660743A3-378C-4F2A-9936-67C5C97D67EF}"/>
                  </a:ext>
                </a:extLst>
              </p:cNvPr>
              <p:cNvSpPr>
                <a:spLocks noChangeArrowheads="1"/>
              </p:cNvSpPr>
              <p:nvPr/>
            </p:nvSpPr>
            <p:spPr bwMode="auto">
              <a:xfrm>
                <a:off x="4319669" y="1233686"/>
                <a:ext cx="127320" cy="7590"/>
              </a:xfrm>
              <a:custGeom>
                <a:avLst/>
                <a:gdLst>
                  <a:gd name="T0" fmla="*/ 63500 w 354"/>
                  <a:gd name="T1" fmla="*/ 7576 h 22"/>
                  <a:gd name="T2" fmla="*/ 0 w 354"/>
                  <a:gd name="T3" fmla="*/ 7576 h 22"/>
                  <a:gd name="T4" fmla="*/ 0 w 354"/>
                  <a:gd name="T5" fmla="*/ 0 h 22"/>
                  <a:gd name="T6" fmla="*/ 126641 w 354"/>
                  <a:gd name="T7" fmla="*/ 0 h 22"/>
                  <a:gd name="T8" fmla="*/ 126641 w 354"/>
                  <a:gd name="T9" fmla="*/ 7576 h 22"/>
                  <a:gd name="T10" fmla="*/ 63500 w 354"/>
                  <a:gd name="T11" fmla="*/ 7576 h 2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4" h="22">
                    <a:moveTo>
                      <a:pt x="177" y="21"/>
                    </a:moveTo>
                    <a:lnTo>
                      <a:pt x="0" y="21"/>
                    </a:lnTo>
                    <a:lnTo>
                      <a:pt x="0" y="0"/>
                    </a:lnTo>
                    <a:lnTo>
                      <a:pt x="353" y="0"/>
                    </a:lnTo>
                    <a:lnTo>
                      <a:pt x="353" y="21"/>
                    </a:lnTo>
                    <a:lnTo>
                      <a:pt x="177" y="2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86" name="Freeform 421">
                <a:extLst>
                  <a:ext uri="{FF2B5EF4-FFF2-40B4-BE49-F238E27FC236}">
                    <a16:creationId xmlns:a16="http://schemas.microsoft.com/office/drawing/2014/main" id="{D384AC95-19CB-4749-9109-B5BC7BC1BEAC}"/>
                  </a:ext>
                </a:extLst>
              </p:cNvPr>
              <p:cNvSpPr>
                <a:spLocks noChangeArrowheads="1"/>
              </p:cNvSpPr>
              <p:nvPr/>
            </p:nvSpPr>
            <p:spPr bwMode="auto">
              <a:xfrm>
                <a:off x="4319669" y="1255614"/>
                <a:ext cx="127320" cy="8434"/>
              </a:xfrm>
              <a:custGeom>
                <a:avLst/>
                <a:gdLst>
                  <a:gd name="T0" fmla="*/ 63500 w 354"/>
                  <a:gd name="T1" fmla="*/ 7576 h 22"/>
                  <a:gd name="T2" fmla="*/ 0 w 354"/>
                  <a:gd name="T3" fmla="*/ 7576 h 22"/>
                  <a:gd name="T4" fmla="*/ 0 w 354"/>
                  <a:gd name="T5" fmla="*/ 0 h 22"/>
                  <a:gd name="T6" fmla="*/ 126641 w 354"/>
                  <a:gd name="T7" fmla="*/ 0 h 22"/>
                  <a:gd name="T8" fmla="*/ 126641 w 354"/>
                  <a:gd name="T9" fmla="*/ 7576 h 22"/>
                  <a:gd name="T10" fmla="*/ 63500 w 354"/>
                  <a:gd name="T11" fmla="*/ 7576 h 2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4" h="22">
                    <a:moveTo>
                      <a:pt x="177" y="21"/>
                    </a:moveTo>
                    <a:lnTo>
                      <a:pt x="0" y="21"/>
                    </a:lnTo>
                    <a:lnTo>
                      <a:pt x="0" y="0"/>
                    </a:lnTo>
                    <a:lnTo>
                      <a:pt x="353" y="0"/>
                    </a:lnTo>
                    <a:lnTo>
                      <a:pt x="353" y="21"/>
                    </a:lnTo>
                    <a:lnTo>
                      <a:pt x="177" y="2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87" name="Freeform 422">
                <a:extLst>
                  <a:ext uri="{FF2B5EF4-FFF2-40B4-BE49-F238E27FC236}">
                    <a16:creationId xmlns:a16="http://schemas.microsoft.com/office/drawing/2014/main" id="{A9A865CC-3C46-449D-A719-D01AE956E2D6}"/>
                  </a:ext>
                </a:extLst>
              </p:cNvPr>
              <p:cNvSpPr>
                <a:spLocks noChangeArrowheads="1"/>
              </p:cNvSpPr>
              <p:nvPr/>
            </p:nvSpPr>
            <p:spPr bwMode="auto">
              <a:xfrm>
                <a:off x="4319669" y="1277541"/>
                <a:ext cx="127320" cy="8434"/>
              </a:xfrm>
              <a:custGeom>
                <a:avLst/>
                <a:gdLst>
                  <a:gd name="T0" fmla="*/ 63500 w 354"/>
                  <a:gd name="T1" fmla="*/ 7576 h 22"/>
                  <a:gd name="T2" fmla="*/ 0 w 354"/>
                  <a:gd name="T3" fmla="*/ 7576 h 22"/>
                  <a:gd name="T4" fmla="*/ 0 w 354"/>
                  <a:gd name="T5" fmla="*/ 0 h 22"/>
                  <a:gd name="T6" fmla="*/ 126641 w 354"/>
                  <a:gd name="T7" fmla="*/ 0 h 22"/>
                  <a:gd name="T8" fmla="*/ 126641 w 354"/>
                  <a:gd name="T9" fmla="*/ 7576 h 22"/>
                  <a:gd name="T10" fmla="*/ 63500 w 354"/>
                  <a:gd name="T11" fmla="*/ 7576 h 2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4" h="22">
                    <a:moveTo>
                      <a:pt x="177" y="21"/>
                    </a:moveTo>
                    <a:lnTo>
                      <a:pt x="0" y="21"/>
                    </a:lnTo>
                    <a:lnTo>
                      <a:pt x="0" y="0"/>
                    </a:lnTo>
                    <a:lnTo>
                      <a:pt x="353" y="0"/>
                    </a:lnTo>
                    <a:lnTo>
                      <a:pt x="353" y="21"/>
                    </a:lnTo>
                    <a:lnTo>
                      <a:pt x="177" y="2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88" name="Freeform 423">
                <a:extLst>
                  <a:ext uri="{FF2B5EF4-FFF2-40B4-BE49-F238E27FC236}">
                    <a16:creationId xmlns:a16="http://schemas.microsoft.com/office/drawing/2014/main" id="{D1243860-969C-4C95-87C6-6363267AE6D4}"/>
                  </a:ext>
                </a:extLst>
              </p:cNvPr>
              <p:cNvSpPr>
                <a:spLocks noChangeArrowheads="1"/>
              </p:cNvSpPr>
              <p:nvPr/>
            </p:nvSpPr>
            <p:spPr bwMode="auto">
              <a:xfrm>
                <a:off x="4319669" y="1301998"/>
                <a:ext cx="127320" cy="7591"/>
              </a:xfrm>
              <a:custGeom>
                <a:avLst/>
                <a:gdLst>
                  <a:gd name="T0" fmla="*/ 63500 w 354"/>
                  <a:gd name="T1" fmla="*/ 7577 h 22"/>
                  <a:gd name="T2" fmla="*/ 0 w 354"/>
                  <a:gd name="T3" fmla="*/ 7577 h 22"/>
                  <a:gd name="T4" fmla="*/ 0 w 354"/>
                  <a:gd name="T5" fmla="*/ 0 h 22"/>
                  <a:gd name="T6" fmla="*/ 126641 w 354"/>
                  <a:gd name="T7" fmla="*/ 0 h 22"/>
                  <a:gd name="T8" fmla="*/ 126641 w 354"/>
                  <a:gd name="T9" fmla="*/ 7577 h 22"/>
                  <a:gd name="T10" fmla="*/ 63500 w 354"/>
                  <a:gd name="T11" fmla="*/ 7577 h 2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4" h="22">
                    <a:moveTo>
                      <a:pt x="177" y="21"/>
                    </a:moveTo>
                    <a:lnTo>
                      <a:pt x="0" y="21"/>
                    </a:lnTo>
                    <a:lnTo>
                      <a:pt x="0" y="0"/>
                    </a:lnTo>
                    <a:lnTo>
                      <a:pt x="353" y="0"/>
                    </a:lnTo>
                    <a:lnTo>
                      <a:pt x="353" y="21"/>
                    </a:lnTo>
                    <a:lnTo>
                      <a:pt x="177" y="2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89" name="Freeform 424">
                <a:extLst>
                  <a:ext uri="{FF2B5EF4-FFF2-40B4-BE49-F238E27FC236}">
                    <a16:creationId xmlns:a16="http://schemas.microsoft.com/office/drawing/2014/main" id="{88502E9D-B249-4348-AAC9-DF262697E9E1}"/>
                  </a:ext>
                </a:extLst>
              </p:cNvPr>
              <p:cNvSpPr>
                <a:spLocks noChangeArrowheads="1"/>
              </p:cNvSpPr>
              <p:nvPr/>
            </p:nvSpPr>
            <p:spPr bwMode="auto">
              <a:xfrm>
                <a:off x="4319669" y="1323926"/>
                <a:ext cx="127320" cy="7591"/>
              </a:xfrm>
              <a:custGeom>
                <a:avLst/>
                <a:gdLst>
                  <a:gd name="T0" fmla="*/ 63500 w 354"/>
                  <a:gd name="T1" fmla="*/ 7577 h 22"/>
                  <a:gd name="T2" fmla="*/ 0 w 354"/>
                  <a:gd name="T3" fmla="*/ 7577 h 22"/>
                  <a:gd name="T4" fmla="*/ 0 w 354"/>
                  <a:gd name="T5" fmla="*/ 0 h 22"/>
                  <a:gd name="T6" fmla="*/ 126641 w 354"/>
                  <a:gd name="T7" fmla="*/ 0 h 22"/>
                  <a:gd name="T8" fmla="*/ 126641 w 354"/>
                  <a:gd name="T9" fmla="*/ 7577 h 22"/>
                  <a:gd name="T10" fmla="*/ 63500 w 354"/>
                  <a:gd name="T11" fmla="*/ 7577 h 2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4" h="22">
                    <a:moveTo>
                      <a:pt x="177" y="21"/>
                    </a:moveTo>
                    <a:lnTo>
                      <a:pt x="0" y="21"/>
                    </a:lnTo>
                    <a:lnTo>
                      <a:pt x="0" y="0"/>
                    </a:lnTo>
                    <a:lnTo>
                      <a:pt x="353" y="0"/>
                    </a:lnTo>
                    <a:lnTo>
                      <a:pt x="353" y="21"/>
                    </a:lnTo>
                    <a:lnTo>
                      <a:pt x="177" y="2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90" name="Freeform 425">
                <a:extLst>
                  <a:ext uri="{FF2B5EF4-FFF2-40B4-BE49-F238E27FC236}">
                    <a16:creationId xmlns:a16="http://schemas.microsoft.com/office/drawing/2014/main" id="{80B540CF-C4E0-413D-81FF-030C8B39A9AE}"/>
                  </a:ext>
                </a:extLst>
              </p:cNvPr>
              <p:cNvSpPr>
                <a:spLocks noChangeArrowheads="1"/>
              </p:cNvSpPr>
              <p:nvPr/>
            </p:nvSpPr>
            <p:spPr bwMode="auto">
              <a:xfrm>
                <a:off x="4654411" y="1183928"/>
                <a:ext cx="19393" cy="46385"/>
              </a:xfrm>
              <a:custGeom>
                <a:avLst/>
                <a:gdLst>
                  <a:gd name="T0" fmla="*/ 18697 w 54"/>
                  <a:gd name="T1" fmla="*/ 45681 h 129"/>
                  <a:gd name="T2" fmla="*/ 0 w 54"/>
                  <a:gd name="T3" fmla="*/ 45681 h 129"/>
                  <a:gd name="T4" fmla="*/ 0 w 54"/>
                  <a:gd name="T5" fmla="*/ 0 h 129"/>
                  <a:gd name="T6" fmla="*/ 18697 w 54"/>
                  <a:gd name="T7" fmla="*/ 0 h 129"/>
                  <a:gd name="T8" fmla="*/ 18697 w 54"/>
                  <a:gd name="T9" fmla="*/ 45681 h 129"/>
                  <a:gd name="T10" fmla="*/ 7408 w 54"/>
                  <a:gd name="T11" fmla="*/ 38187 h 129"/>
                  <a:gd name="T12" fmla="*/ 11289 w 54"/>
                  <a:gd name="T13" fmla="*/ 38187 h 129"/>
                  <a:gd name="T14" fmla="*/ 11289 w 54"/>
                  <a:gd name="T15" fmla="*/ 7495 h 129"/>
                  <a:gd name="T16" fmla="*/ 7408 w 54"/>
                  <a:gd name="T17" fmla="*/ 7495 h 129"/>
                  <a:gd name="T18" fmla="*/ 7408 w 54"/>
                  <a:gd name="T19" fmla="*/ 38187 h 1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129">
                    <a:moveTo>
                      <a:pt x="53" y="128"/>
                    </a:moveTo>
                    <a:lnTo>
                      <a:pt x="0" y="128"/>
                    </a:lnTo>
                    <a:lnTo>
                      <a:pt x="0" y="0"/>
                    </a:lnTo>
                    <a:lnTo>
                      <a:pt x="53" y="0"/>
                    </a:lnTo>
                    <a:lnTo>
                      <a:pt x="53" y="128"/>
                    </a:lnTo>
                    <a:close/>
                    <a:moveTo>
                      <a:pt x="21" y="107"/>
                    </a:moveTo>
                    <a:lnTo>
                      <a:pt x="32" y="107"/>
                    </a:lnTo>
                    <a:lnTo>
                      <a:pt x="32" y="21"/>
                    </a:lnTo>
                    <a:lnTo>
                      <a:pt x="21" y="21"/>
                    </a:lnTo>
                    <a:lnTo>
                      <a:pt x="21" y="107"/>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91" name="Freeform 426">
                <a:extLst>
                  <a:ext uri="{FF2B5EF4-FFF2-40B4-BE49-F238E27FC236}">
                    <a16:creationId xmlns:a16="http://schemas.microsoft.com/office/drawing/2014/main" id="{74A7C9B2-3685-4F0B-A38F-A5A26371B5FC}"/>
                  </a:ext>
                </a:extLst>
              </p:cNvPr>
              <p:cNvSpPr>
                <a:spLocks noChangeArrowheads="1"/>
              </p:cNvSpPr>
              <p:nvPr/>
            </p:nvSpPr>
            <p:spPr bwMode="auto">
              <a:xfrm>
                <a:off x="4297747" y="1381274"/>
                <a:ext cx="253797" cy="31205"/>
              </a:xfrm>
              <a:custGeom>
                <a:avLst/>
                <a:gdLst>
                  <a:gd name="T0" fmla="*/ 253640 w 706"/>
                  <a:gd name="T1" fmla="*/ 31381 h 86"/>
                  <a:gd name="T2" fmla="*/ 177008 w 706"/>
                  <a:gd name="T3" fmla="*/ 31381 h 86"/>
                  <a:gd name="T4" fmla="*/ 177008 w 706"/>
                  <a:gd name="T5" fmla="*/ 15875 h 86"/>
                  <a:gd name="T6" fmla="*/ 161538 w 706"/>
                  <a:gd name="T7" fmla="*/ 15875 h 86"/>
                  <a:gd name="T8" fmla="*/ 161538 w 706"/>
                  <a:gd name="T9" fmla="*/ 31381 h 86"/>
                  <a:gd name="T10" fmla="*/ 0 w 706"/>
                  <a:gd name="T11" fmla="*/ 31381 h 86"/>
                  <a:gd name="T12" fmla="*/ 0 w 706"/>
                  <a:gd name="T13" fmla="*/ 15875 h 86"/>
                  <a:gd name="T14" fmla="*/ 146068 w 706"/>
                  <a:gd name="T15" fmla="*/ 15875 h 86"/>
                  <a:gd name="T16" fmla="*/ 146068 w 706"/>
                  <a:gd name="T17" fmla="*/ 0 h 86"/>
                  <a:gd name="T18" fmla="*/ 192119 w 706"/>
                  <a:gd name="T19" fmla="*/ 0 h 86"/>
                  <a:gd name="T20" fmla="*/ 192119 w 706"/>
                  <a:gd name="T21" fmla="*/ 15875 h 86"/>
                  <a:gd name="T22" fmla="*/ 253640 w 706"/>
                  <a:gd name="T23" fmla="*/ 15875 h 86"/>
                  <a:gd name="T24" fmla="*/ 253640 w 706"/>
                  <a:gd name="T25" fmla="*/ 31381 h 8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06" h="86">
                    <a:moveTo>
                      <a:pt x="705" y="85"/>
                    </a:moveTo>
                    <a:lnTo>
                      <a:pt x="492" y="85"/>
                    </a:lnTo>
                    <a:lnTo>
                      <a:pt x="492" y="43"/>
                    </a:lnTo>
                    <a:lnTo>
                      <a:pt x="449" y="43"/>
                    </a:lnTo>
                    <a:lnTo>
                      <a:pt x="449" y="85"/>
                    </a:lnTo>
                    <a:lnTo>
                      <a:pt x="0" y="85"/>
                    </a:lnTo>
                    <a:lnTo>
                      <a:pt x="0" y="43"/>
                    </a:lnTo>
                    <a:lnTo>
                      <a:pt x="406" y="43"/>
                    </a:lnTo>
                    <a:lnTo>
                      <a:pt x="406" y="0"/>
                    </a:lnTo>
                    <a:lnTo>
                      <a:pt x="534" y="0"/>
                    </a:lnTo>
                    <a:lnTo>
                      <a:pt x="534" y="43"/>
                    </a:lnTo>
                    <a:lnTo>
                      <a:pt x="705" y="43"/>
                    </a:lnTo>
                    <a:lnTo>
                      <a:pt x="705" y="8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grpSp>
        <p:sp>
          <p:nvSpPr>
            <p:cNvPr id="75" name="文本框 5">
              <a:extLst>
                <a:ext uri="{FF2B5EF4-FFF2-40B4-BE49-F238E27FC236}">
                  <a16:creationId xmlns:a16="http://schemas.microsoft.com/office/drawing/2014/main" id="{AFDD404C-54A1-44AF-B1E1-3881F0199AD7}"/>
                </a:ext>
              </a:extLst>
            </p:cNvPr>
            <p:cNvSpPr txBox="1">
              <a:spLocks noChangeArrowheads="1"/>
            </p:cNvSpPr>
            <p:nvPr/>
          </p:nvSpPr>
          <p:spPr bwMode="auto">
            <a:xfrm>
              <a:off x="8829611" y="2091936"/>
              <a:ext cx="403101" cy="20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552" tIns="54276" rIns="108552" bIns="54276">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effectLst/>
                  <a:uLnTx/>
                  <a:uFillTx/>
                  <a:latin typeface="Calibri" panose="020F0502020204030204"/>
                  <a:ea typeface="宋体" panose="02010600030101010101" pitchFamily="2" charset="-122"/>
                  <a:cs typeface="+mn-cs"/>
                </a:rPr>
                <a:t>MEM</a:t>
              </a:r>
            </a:p>
          </p:txBody>
        </p:sp>
        <p:grpSp>
          <p:nvGrpSpPr>
            <p:cNvPr id="76" name="组合 323">
              <a:extLst>
                <a:ext uri="{FF2B5EF4-FFF2-40B4-BE49-F238E27FC236}">
                  <a16:creationId xmlns:a16="http://schemas.microsoft.com/office/drawing/2014/main" id="{41F1A369-64CD-4892-BD72-673E35DB8365}"/>
                </a:ext>
              </a:extLst>
            </p:cNvPr>
            <p:cNvGrpSpPr>
              <a:grpSpLocks/>
            </p:cNvGrpSpPr>
            <p:nvPr/>
          </p:nvGrpSpPr>
          <p:grpSpPr bwMode="auto">
            <a:xfrm>
              <a:off x="10771177" y="1762643"/>
              <a:ext cx="379759" cy="277698"/>
              <a:chOff x="4189413" y="2351088"/>
              <a:chExt cx="630238" cy="646113"/>
            </a:xfrm>
            <a:solidFill>
              <a:schemeClr val="tx1"/>
            </a:solidFill>
          </p:grpSpPr>
          <p:sp>
            <p:nvSpPr>
              <p:cNvPr id="147" name="Freeform 218">
                <a:extLst>
                  <a:ext uri="{FF2B5EF4-FFF2-40B4-BE49-F238E27FC236}">
                    <a16:creationId xmlns:a16="http://schemas.microsoft.com/office/drawing/2014/main" id="{24D011E3-2F47-4407-9CAF-67E7F85AC4F7}"/>
                  </a:ext>
                </a:extLst>
              </p:cNvPr>
              <p:cNvSpPr>
                <a:spLocks/>
              </p:cNvSpPr>
              <p:nvPr/>
            </p:nvSpPr>
            <p:spPr bwMode="auto">
              <a:xfrm>
                <a:off x="4613275" y="2711451"/>
                <a:ext cx="104775" cy="176213"/>
              </a:xfrm>
              <a:custGeom>
                <a:avLst/>
                <a:gdLst>
                  <a:gd name="T0" fmla="*/ 2147483646 w 248"/>
                  <a:gd name="T1" fmla="*/ 2147483646 h 423"/>
                  <a:gd name="T2" fmla="*/ 2147483646 w 248"/>
                  <a:gd name="T3" fmla="*/ 2147483646 h 423"/>
                  <a:gd name="T4" fmla="*/ 2147483646 w 248"/>
                  <a:gd name="T5" fmla="*/ 2147483646 h 423"/>
                  <a:gd name="T6" fmla="*/ 2147483646 w 248"/>
                  <a:gd name="T7" fmla="*/ 2147483646 h 423"/>
                  <a:gd name="T8" fmla="*/ 2147483646 w 248"/>
                  <a:gd name="T9" fmla="*/ 2147483646 h 423"/>
                  <a:gd name="T10" fmla="*/ 2147483646 w 248"/>
                  <a:gd name="T11" fmla="*/ 2147483646 h 423"/>
                  <a:gd name="T12" fmla="*/ 2147483646 w 248"/>
                  <a:gd name="T13" fmla="*/ 2147483646 h 423"/>
                  <a:gd name="T14" fmla="*/ 2147483646 w 248"/>
                  <a:gd name="T15" fmla="*/ 2147483646 h 423"/>
                  <a:gd name="T16" fmla="*/ 2147483646 w 248"/>
                  <a:gd name="T17" fmla="*/ 2147483646 h 423"/>
                  <a:gd name="T18" fmla="*/ 2147483646 w 248"/>
                  <a:gd name="T19" fmla="*/ 2147483646 h 423"/>
                  <a:gd name="T20" fmla="*/ 2147483646 w 248"/>
                  <a:gd name="T21" fmla="*/ 2147483646 h 423"/>
                  <a:gd name="T22" fmla="*/ 2147483646 w 248"/>
                  <a:gd name="T23" fmla="*/ 2147483646 h 4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8"/>
                  <a:gd name="T37" fmla="*/ 0 h 423"/>
                  <a:gd name="T38" fmla="*/ 248 w 248"/>
                  <a:gd name="T39" fmla="*/ 423 h 4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8" h="423">
                    <a:moveTo>
                      <a:pt x="37" y="423"/>
                    </a:moveTo>
                    <a:lnTo>
                      <a:pt x="37" y="423"/>
                    </a:lnTo>
                    <a:cubicBezTo>
                      <a:pt x="29" y="423"/>
                      <a:pt x="20" y="420"/>
                      <a:pt x="14" y="414"/>
                    </a:cubicBezTo>
                    <a:cubicBezTo>
                      <a:pt x="1" y="401"/>
                      <a:pt x="0" y="380"/>
                      <a:pt x="13" y="366"/>
                    </a:cubicBezTo>
                    <a:lnTo>
                      <a:pt x="165" y="213"/>
                    </a:lnTo>
                    <a:lnTo>
                      <a:pt x="13" y="60"/>
                    </a:lnTo>
                    <a:cubicBezTo>
                      <a:pt x="0" y="47"/>
                      <a:pt x="1" y="26"/>
                      <a:pt x="14" y="13"/>
                    </a:cubicBezTo>
                    <a:cubicBezTo>
                      <a:pt x="27" y="0"/>
                      <a:pt x="48" y="0"/>
                      <a:pt x="61" y="13"/>
                    </a:cubicBezTo>
                    <a:lnTo>
                      <a:pt x="236" y="190"/>
                    </a:lnTo>
                    <a:cubicBezTo>
                      <a:pt x="248" y="203"/>
                      <a:pt x="248" y="224"/>
                      <a:pt x="236" y="237"/>
                    </a:cubicBezTo>
                    <a:lnTo>
                      <a:pt x="61" y="413"/>
                    </a:lnTo>
                    <a:cubicBezTo>
                      <a:pt x="54" y="420"/>
                      <a:pt x="46" y="423"/>
                      <a:pt x="37" y="423"/>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48" name="Freeform 219">
                <a:extLst>
                  <a:ext uri="{FF2B5EF4-FFF2-40B4-BE49-F238E27FC236}">
                    <a16:creationId xmlns:a16="http://schemas.microsoft.com/office/drawing/2014/main" id="{5CFE82DA-FE2A-4655-A81C-F606710E047B}"/>
                  </a:ext>
                </a:extLst>
              </p:cNvPr>
              <p:cNvSpPr>
                <a:spLocks/>
              </p:cNvSpPr>
              <p:nvPr/>
            </p:nvSpPr>
            <p:spPr bwMode="auto">
              <a:xfrm>
                <a:off x="4292600" y="2786063"/>
                <a:ext cx="423863" cy="28575"/>
              </a:xfrm>
              <a:custGeom>
                <a:avLst/>
                <a:gdLst>
                  <a:gd name="T0" fmla="*/ 2147483646 w 1010"/>
                  <a:gd name="T1" fmla="*/ 2147483646 h 67"/>
                  <a:gd name="T2" fmla="*/ 2147483646 w 1010"/>
                  <a:gd name="T3" fmla="*/ 2147483646 h 67"/>
                  <a:gd name="T4" fmla="*/ 2147483646 w 1010"/>
                  <a:gd name="T5" fmla="*/ 2147483646 h 67"/>
                  <a:gd name="T6" fmla="*/ 0 w 1010"/>
                  <a:gd name="T7" fmla="*/ 2147483646 h 67"/>
                  <a:gd name="T8" fmla="*/ 2147483646 w 1010"/>
                  <a:gd name="T9" fmla="*/ 0 h 67"/>
                  <a:gd name="T10" fmla="*/ 2147483646 w 1010"/>
                  <a:gd name="T11" fmla="*/ 0 h 67"/>
                  <a:gd name="T12" fmla="*/ 2147483646 w 1010"/>
                  <a:gd name="T13" fmla="*/ 2147483646 h 67"/>
                  <a:gd name="T14" fmla="*/ 2147483646 w 1010"/>
                  <a:gd name="T15" fmla="*/ 2147483646 h 67"/>
                  <a:gd name="T16" fmla="*/ 0 60000 65536"/>
                  <a:gd name="T17" fmla="*/ 0 60000 65536"/>
                  <a:gd name="T18" fmla="*/ 0 60000 65536"/>
                  <a:gd name="T19" fmla="*/ 0 60000 65536"/>
                  <a:gd name="T20" fmla="*/ 0 60000 65536"/>
                  <a:gd name="T21" fmla="*/ 0 60000 65536"/>
                  <a:gd name="T22" fmla="*/ 0 60000 65536"/>
                  <a:gd name="T23" fmla="*/ 0 60000 65536"/>
                  <a:gd name="T24" fmla="*/ 0 w 1010"/>
                  <a:gd name="T25" fmla="*/ 0 h 67"/>
                  <a:gd name="T26" fmla="*/ 1010 w 1010"/>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0" h="67">
                    <a:moveTo>
                      <a:pt x="977" y="67"/>
                    </a:moveTo>
                    <a:lnTo>
                      <a:pt x="977" y="67"/>
                    </a:lnTo>
                    <a:lnTo>
                      <a:pt x="33" y="67"/>
                    </a:lnTo>
                    <a:cubicBezTo>
                      <a:pt x="15" y="67"/>
                      <a:pt x="0" y="52"/>
                      <a:pt x="0" y="33"/>
                    </a:cubicBezTo>
                    <a:cubicBezTo>
                      <a:pt x="0" y="15"/>
                      <a:pt x="15" y="0"/>
                      <a:pt x="33" y="0"/>
                    </a:cubicBezTo>
                    <a:lnTo>
                      <a:pt x="977" y="0"/>
                    </a:lnTo>
                    <a:cubicBezTo>
                      <a:pt x="995" y="0"/>
                      <a:pt x="1010" y="15"/>
                      <a:pt x="1010" y="33"/>
                    </a:cubicBezTo>
                    <a:cubicBezTo>
                      <a:pt x="1010" y="52"/>
                      <a:pt x="995" y="67"/>
                      <a:pt x="977" y="67"/>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49" name="Freeform 220">
                <a:extLst>
                  <a:ext uri="{FF2B5EF4-FFF2-40B4-BE49-F238E27FC236}">
                    <a16:creationId xmlns:a16="http://schemas.microsoft.com/office/drawing/2014/main" id="{A46BA3B3-8908-469D-A857-4F3262E385D4}"/>
                  </a:ext>
                </a:extLst>
              </p:cNvPr>
              <p:cNvSpPr>
                <a:spLocks/>
              </p:cNvSpPr>
              <p:nvPr/>
            </p:nvSpPr>
            <p:spPr bwMode="auto">
              <a:xfrm>
                <a:off x="4613275" y="2443163"/>
                <a:ext cx="104775" cy="177800"/>
              </a:xfrm>
              <a:custGeom>
                <a:avLst/>
                <a:gdLst>
                  <a:gd name="T0" fmla="*/ 2147483646 w 248"/>
                  <a:gd name="T1" fmla="*/ 2147483646 h 423"/>
                  <a:gd name="T2" fmla="*/ 2147483646 w 248"/>
                  <a:gd name="T3" fmla="*/ 2147483646 h 423"/>
                  <a:gd name="T4" fmla="*/ 2147483646 w 248"/>
                  <a:gd name="T5" fmla="*/ 2147483646 h 423"/>
                  <a:gd name="T6" fmla="*/ 2147483646 w 248"/>
                  <a:gd name="T7" fmla="*/ 2147483646 h 423"/>
                  <a:gd name="T8" fmla="*/ 2147483646 w 248"/>
                  <a:gd name="T9" fmla="*/ 2147483646 h 423"/>
                  <a:gd name="T10" fmla="*/ 2147483646 w 248"/>
                  <a:gd name="T11" fmla="*/ 2147483646 h 423"/>
                  <a:gd name="T12" fmla="*/ 2147483646 w 248"/>
                  <a:gd name="T13" fmla="*/ 2147483646 h 423"/>
                  <a:gd name="T14" fmla="*/ 2147483646 w 248"/>
                  <a:gd name="T15" fmla="*/ 2147483646 h 423"/>
                  <a:gd name="T16" fmla="*/ 2147483646 w 248"/>
                  <a:gd name="T17" fmla="*/ 2147483646 h 423"/>
                  <a:gd name="T18" fmla="*/ 2147483646 w 248"/>
                  <a:gd name="T19" fmla="*/ 2147483646 h 423"/>
                  <a:gd name="T20" fmla="*/ 2147483646 w 248"/>
                  <a:gd name="T21" fmla="*/ 2147483646 h 423"/>
                  <a:gd name="T22" fmla="*/ 2147483646 w 248"/>
                  <a:gd name="T23" fmla="*/ 2147483646 h 4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8"/>
                  <a:gd name="T37" fmla="*/ 0 h 423"/>
                  <a:gd name="T38" fmla="*/ 248 w 248"/>
                  <a:gd name="T39" fmla="*/ 423 h 4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8" h="423">
                    <a:moveTo>
                      <a:pt x="37" y="423"/>
                    </a:moveTo>
                    <a:lnTo>
                      <a:pt x="37" y="423"/>
                    </a:lnTo>
                    <a:cubicBezTo>
                      <a:pt x="29" y="423"/>
                      <a:pt x="20" y="420"/>
                      <a:pt x="14" y="413"/>
                    </a:cubicBezTo>
                    <a:cubicBezTo>
                      <a:pt x="1" y="400"/>
                      <a:pt x="0" y="379"/>
                      <a:pt x="13" y="366"/>
                    </a:cubicBezTo>
                    <a:lnTo>
                      <a:pt x="165" y="213"/>
                    </a:lnTo>
                    <a:lnTo>
                      <a:pt x="13" y="60"/>
                    </a:lnTo>
                    <a:cubicBezTo>
                      <a:pt x="0" y="47"/>
                      <a:pt x="1" y="26"/>
                      <a:pt x="14" y="13"/>
                    </a:cubicBezTo>
                    <a:cubicBezTo>
                      <a:pt x="27" y="0"/>
                      <a:pt x="48" y="0"/>
                      <a:pt x="61" y="13"/>
                    </a:cubicBezTo>
                    <a:lnTo>
                      <a:pt x="236" y="190"/>
                    </a:lnTo>
                    <a:cubicBezTo>
                      <a:pt x="248" y="203"/>
                      <a:pt x="248" y="224"/>
                      <a:pt x="236" y="237"/>
                    </a:cubicBezTo>
                    <a:lnTo>
                      <a:pt x="61" y="413"/>
                    </a:lnTo>
                    <a:cubicBezTo>
                      <a:pt x="54" y="420"/>
                      <a:pt x="46" y="423"/>
                      <a:pt x="37" y="423"/>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50" name="Freeform 221">
                <a:extLst>
                  <a:ext uri="{FF2B5EF4-FFF2-40B4-BE49-F238E27FC236}">
                    <a16:creationId xmlns:a16="http://schemas.microsoft.com/office/drawing/2014/main" id="{BECBED05-44D2-474A-8B7C-13C77DEE3396}"/>
                  </a:ext>
                </a:extLst>
              </p:cNvPr>
              <p:cNvSpPr>
                <a:spLocks/>
              </p:cNvSpPr>
              <p:nvPr/>
            </p:nvSpPr>
            <p:spPr bwMode="auto">
              <a:xfrm>
                <a:off x="4292600" y="2519363"/>
                <a:ext cx="423863" cy="26988"/>
              </a:xfrm>
              <a:custGeom>
                <a:avLst/>
                <a:gdLst>
                  <a:gd name="T0" fmla="*/ 2147483646 w 1010"/>
                  <a:gd name="T1" fmla="*/ 2147483646 h 66"/>
                  <a:gd name="T2" fmla="*/ 2147483646 w 1010"/>
                  <a:gd name="T3" fmla="*/ 2147483646 h 66"/>
                  <a:gd name="T4" fmla="*/ 2147483646 w 1010"/>
                  <a:gd name="T5" fmla="*/ 2147483646 h 66"/>
                  <a:gd name="T6" fmla="*/ 0 w 1010"/>
                  <a:gd name="T7" fmla="*/ 2147483646 h 66"/>
                  <a:gd name="T8" fmla="*/ 2147483646 w 1010"/>
                  <a:gd name="T9" fmla="*/ 0 h 66"/>
                  <a:gd name="T10" fmla="*/ 2147483646 w 1010"/>
                  <a:gd name="T11" fmla="*/ 0 h 66"/>
                  <a:gd name="T12" fmla="*/ 2147483646 w 1010"/>
                  <a:gd name="T13" fmla="*/ 2147483646 h 66"/>
                  <a:gd name="T14" fmla="*/ 2147483646 w 1010"/>
                  <a:gd name="T15" fmla="*/ 2147483646 h 66"/>
                  <a:gd name="T16" fmla="*/ 0 60000 65536"/>
                  <a:gd name="T17" fmla="*/ 0 60000 65536"/>
                  <a:gd name="T18" fmla="*/ 0 60000 65536"/>
                  <a:gd name="T19" fmla="*/ 0 60000 65536"/>
                  <a:gd name="T20" fmla="*/ 0 60000 65536"/>
                  <a:gd name="T21" fmla="*/ 0 60000 65536"/>
                  <a:gd name="T22" fmla="*/ 0 60000 65536"/>
                  <a:gd name="T23" fmla="*/ 0 60000 65536"/>
                  <a:gd name="T24" fmla="*/ 0 w 1010"/>
                  <a:gd name="T25" fmla="*/ 0 h 66"/>
                  <a:gd name="T26" fmla="*/ 1010 w 1010"/>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0" h="66">
                    <a:moveTo>
                      <a:pt x="977" y="66"/>
                    </a:moveTo>
                    <a:lnTo>
                      <a:pt x="977" y="66"/>
                    </a:lnTo>
                    <a:lnTo>
                      <a:pt x="33" y="66"/>
                    </a:lnTo>
                    <a:cubicBezTo>
                      <a:pt x="15" y="66"/>
                      <a:pt x="0" y="52"/>
                      <a:pt x="0" y="33"/>
                    </a:cubicBezTo>
                    <a:cubicBezTo>
                      <a:pt x="0" y="15"/>
                      <a:pt x="15" y="0"/>
                      <a:pt x="33" y="0"/>
                    </a:cubicBezTo>
                    <a:lnTo>
                      <a:pt x="977" y="0"/>
                    </a:lnTo>
                    <a:cubicBezTo>
                      <a:pt x="995" y="0"/>
                      <a:pt x="1010" y="15"/>
                      <a:pt x="1010" y="33"/>
                    </a:cubicBezTo>
                    <a:cubicBezTo>
                      <a:pt x="1010" y="52"/>
                      <a:pt x="995" y="66"/>
                      <a:pt x="977" y="66"/>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51" name="Freeform 222">
                <a:extLst>
                  <a:ext uri="{FF2B5EF4-FFF2-40B4-BE49-F238E27FC236}">
                    <a16:creationId xmlns:a16="http://schemas.microsoft.com/office/drawing/2014/main" id="{13337C6E-ACCC-4B3B-BF5A-3CE4E98F2BF3}"/>
                  </a:ext>
                </a:extLst>
              </p:cNvPr>
              <p:cNvSpPr>
                <a:spLocks/>
              </p:cNvSpPr>
              <p:nvPr/>
            </p:nvSpPr>
            <p:spPr bwMode="auto">
              <a:xfrm>
                <a:off x="4291013" y="2581276"/>
                <a:ext cx="104775" cy="177800"/>
              </a:xfrm>
              <a:custGeom>
                <a:avLst/>
                <a:gdLst>
                  <a:gd name="T0" fmla="*/ 2147483646 w 248"/>
                  <a:gd name="T1" fmla="*/ 2147483646 h 423"/>
                  <a:gd name="T2" fmla="*/ 2147483646 w 248"/>
                  <a:gd name="T3" fmla="*/ 2147483646 h 423"/>
                  <a:gd name="T4" fmla="*/ 2147483646 w 248"/>
                  <a:gd name="T5" fmla="*/ 2147483646 h 423"/>
                  <a:gd name="T6" fmla="*/ 2147483646 w 248"/>
                  <a:gd name="T7" fmla="*/ 2147483646 h 423"/>
                  <a:gd name="T8" fmla="*/ 2147483646 w 248"/>
                  <a:gd name="T9" fmla="*/ 2147483646 h 423"/>
                  <a:gd name="T10" fmla="*/ 2147483646 w 248"/>
                  <a:gd name="T11" fmla="*/ 2147483646 h 423"/>
                  <a:gd name="T12" fmla="*/ 2147483646 w 248"/>
                  <a:gd name="T13" fmla="*/ 2147483646 h 423"/>
                  <a:gd name="T14" fmla="*/ 2147483646 w 248"/>
                  <a:gd name="T15" fmla="*/ 2147483646 h 423"/>
                  <a:gd name="T16" fmla="*/ 2147483646 w 248"/>
                  <a:gd name="T17" fmla="*/ 2147483646 h 423"/>
                  <a:gd name="T18" fmla="*/ 2147483646 w 248"/>
                  <a:gd name="T19" fmla="*/ 2147483646 h 423"/>
                  <a:gd name="T20" fmla="*/ 2147483646 w 248"/>
                  <a:gd name="T21" fmla="*/ 2147483646 h 423"/>
                  <a:gd name="T22" fmla="*/ 2147483646 w 248"/>
                  <a:gd name="T23" fmla="*/ 2147483646 h 4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8"/>
                  <a:gd name="T37" fmla="*/ 0 h 423"/>
                  <a:gd name="T38" fmla="*/ 248 w 248"/>
                  <a:gd name="T39" fmla="*/ 423 h 4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8" h="423">
                    <a:moveTo>
                      <a:pt x="211" y="423"/>
                    </a:moveTo>
                    <a:lnTo>
                      <a:pt x="211" y="423"/>
                    </a:lnTo>
                    <a:cubicBezTo>
                      <a:pt x="202" y="423"/>
                      <a:pt x="194" y="420"/>
                      <a:pt x="187" y="413"/>
                    </a:cubicBezTo>
                    <a:lnTo>
                      <a:pt x="13" y="237"/>
                    </a:lnTo>
                    <a:cubicBezTo>
                      <a:pt x="0" y="224"/>
                      <a:pt x="0" y="203"/>
                      <a:pt x="13" y="190"/>
                    </a:cubicBezTo>
                    <a:lnTo>
                      <a:pt x="187" y="13"/>
                    </a:lnTo>
                    <a:cubicBezTo>
                      <a:pt x="200" y="0"/>
                      <a:pt x="221" y="0"/>
                      <a:pt x="234" y="13"/>
                    </a:cubicBezTo>
                    <a:cubicBezTo>
                      <a:pt x="248" y="26"/>
                      <a:pt x="248" y="47"/>
                      <a:pt x="235" y="60"/>
                    </a:cubicBezTo>
                    <a:lnTo>
                      <a:pt x="83" y="213"/>
                    </a:lnTo>
                    <a:lnTo>
                      <a:pt x="235" y="366"/>
                    </a:lnTo>
                    <a:cubicBezTo>
                      <a:pt x="248" y="379"/>
                      <a:pt x="248" y="400"/>
                      <a:pt x="234" y="413"/>
                    </a:cubicBezTo>
                    <a:cubicBezTo>
                      <a:pt x="228" y="420"/>
                      <a:pt x="220" y="423"/>
                      <a:pt x="211" y="423"/>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52" name="Freeform 223">
                <a:extLst>
                  <a:ext uri="{FF2B5EF4-FFF2-40B4-BE49-F238E27FC236}">
                    <a16:creationId xmlns:a16="http://schemas.microsoft.com/office/drawing/2014/main" id="{97973B34-7AE7-4A09-97CE-57B3AAA08D18}"/>
                  </a:ext>
                </a:extLst>
              </p:cNvPr>
              <p:cNvSpPr>
                <a:spLocks/>
              </p:cNvSpPr>
              <p:nvPr/>
            </p:nvSpPr>
            <p:spPr bwMode="auto">
              <a:xfrm>
                <a:off x="4292600" y="2657476"/>
                <a:ext cx="423863" cy="26988"/>
              </a:xfrm>
              <a:custGeom>
                <a:avLst/>
                <a:gdLst>
                  <a:gd name="T0" fmla="*/ 2147483646 w 1010"/>
                  <a:gd name="T1" fmla="*/ 2147483646 h 67"/>
                  <a:gd name="T2" fmla="*/ 2147483646 w 1010"/>
                  <a:gd name="T3" fmla="*/ 2147483646 h 67"/>
                  <a:gd name="T4" fmla="*/ 2147483646 w 1010"/>
                  <a:gd name="T5" fmla="*/ 2147483646 h 67"/>
                  <a:gd name="T6" fmla="*/ 0 w 1010"/>
                  <a:gd name="T7" fmla="*/ 2147483646 h 67"/>
                  <a:gd name="T8" fmla="*/ 2147483646 w 1010"/>
                  <a:gd name="T9" fmla="*/ 0 h 67"/>
                  <a:gd name="T10" fmla="*/ 2147483646 w 1010"/>
                  <a:gd name="T11" fmla="*/ 0 h 67"/>
                  <a:gd name="T12" fmla="*/ 2147483646 w 1010"/>
                  <a:gd name="T13" fmla="*/ 2147483646 h 67"/>
                  <a:gd name="T14" fmla="*/ 2147483646 w 1010"/>
                  <a:gd name="T15" fmla="*/ 2147483646 h 67"/>
                  <a:gd name="T16" fmla="*/ 0 60000 65536"/>
                  <a:gd name="T17" fmla="*/ 0 60000 65536"/>
                  <a:gd name="T18" fmla="*/ 0 60000 65536"/>
                  <a:gd name="T19" fmla="*/ 0 60000 65536"/>
                  <a:gd name="T20" fmla="*/ 0 60000 65536"/>
                  <a:gd name="T21" fmla="*/ 0 60000 65536"/>
                  <a:gd name="T22" fmla="*/ 0 60000 65536"/>
                  <a:gd name="T23" fmla="*/ 0 60000 65536"/>
                  <a:gd name="T24" fmla="*/ 0 w 1010"/>
                  <a:gd name="T25" fmla="*/ 0 h 67"/>
                  <a:gd name="T26" fmla="*/ 1010 w 1010"/>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0" h="67">
                    <a:moveTo>
                      <a:pt x="977" y="67"/>
                    </a:moveTo>
                    <a:lnTo>
                      <a:pt x="977" y="67"/>
                    </a:lnTo>
                    <a:lnTo>
                      <a:pt x="33" y="67"/>
                    </a:lnTo>
                    <a:cubicBezTo>
                      <a:pt x="15" y="67"/>
                      <a:pt x="0" y="52"/>
                      <a:pt x="0" y="33"/>
                    </a:cubicBezTo>
                    <a:cubicBezTo>
                      <a:pt x="0" y="15"/>
                      <a:pt x="15" y="0"/>
                      <a:pt x="33" y="0"/>
                    </a:cubicBezTo>
                    <a:lnTo>
                      <a:pt x="977" y="0"/>
                    </a:lnTo>
                    <a:cubicBezTo>
                      <a:pt x="995" y="0"/>
                      <a:pt x="1010" y="15"/>
                      <a:pt x="1010" y="33"/>
                    </a:cubicBezTo>
                    <a:cubicBezTo>
                      <a:pt x="1010" y="52"/>
                      <a:pt x="995" y="67"/>
                      <a:pt x="977" y="67"/>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53" name="Freeform 224">
                <a:extLst>
                  <a:ext uri="{FF2B5EF4-FFF2-40B4-BE49-F238E27FC236}">
                    <a16:creationId xmlns:a16="http://schemas.microsoft.com/office/drawing/2014/main" id="{E00CD0B5-D373-4FC3-994A-676A055123BD}"/>
                  </a:ext>
                </a:extLst>
              </p:cNvPr>
              <p:cNvSpPr>
                <a:spLocks/>
              </p:cNvSpPr>
              <p:nvPr/>
            </p:nvSpPr>
            <p:spPr bwMode="auto">
              <a:xfrm>
                <a:off x="4189413" y="2351088"/>
                <a:ext cx="630238" cy="630238"/>
              </a:xfrm>
              <a:custGeom>
                <a:avLst/>
                <a:gdLst>
                  <a:gd name="T0" fmla="*/ 2147483646 w 1503"/>
                  <a:gd name="T1" fmla="*/ 2147483646 h 1503"/>
                  <a:gd name="T2" fmla="*/ 2147483646 w 1503"/>
                  <a:gd name="T3" fmla="*/ 2147483646 h 1503"/>
                  <a:gd name="T4" fmla="*/ 2147483646 w 1503"/>
                  <a:gd name="T5" fmla="*/ 2147483646 h 1503"/>
                  <a:gd name="T6" fmla="*/ 2147483646 w 1503"/>
                  <a:gd name="T7" fmla="*/ 2147483646 h 1503"/>
                  <a:gd name="T8" fmla="*/ 2147483646 w 1503"/>
                  <a:gd name="T9" fmla="*/ 2147483646 h 1503"/>
                  <a:gd name="T10" fmla="*/ 2147483646 w 1503"/>
                  <a:gd name="T11" fmla="*/ 2147483646 h 1503"/>
                  <a:gd name="T12" fmla="*/ 2147483646 w 1503"/>
                  <a:gd name="T13" fmla="*/ 2147483646 h 1503"/>
                  <a:gd name="T14" fmla="*/ 2147483646 w 1503"/>
                  <a:gd name="T15" fmla="*/ 2147483646 h 1503"/>
                  <a:gd name="T16" fmla="*/ 2147483646 w 1503"/>
                  <a:gd name="T17" fmla="*/ 2147483646 h 1503"/>
                  <a:gd name="T18" fmla="*/ 2147483646 w 1503"/>
                  <a:gd name="T19" fmla="*/ 2147483646 h 1503"/>
                  <a:gd name="T20" fmla="*/ 2147483646 w 1503"/>
                  <a:gd name="T21" fmla="*/ 2147483646 h 1503"/>
                  <a:gd name="T22" fmla="*/ 2147483646 w 1503"/>
                  <a:gd name="T23" fmla="*/ 2147483646 h 1503"/>
                  <a:gd name="T24" fmla="*/ 2147483646 w 1503"/>
                  <a:gd name="T25" fmla="*/ 2147483646 h 1503"/>
                  <a:gd name="T26" fmla="*/ 2147483646 w 1503"/>
                  <a:gd name="T27" fmla="*/ 2147483646 h 1503"/>
                  <a:gd name="T28" fmla="*/ 2147483646 w 1503"/>
                  <a:gd name="T29" fmla="*/ 2147483646 h 1503"/>
                  <a:gd name="T30" fmla="*/ 0 w 1503"/>
                  <a:gd name="T31" fmla="*/ 2147483646 h 1503"/>
                  <a:gd name="T32" fmla="*/ 0 w 1503"/>
                  <a:gd name="T33" fmla="*/ 2147483646 h 1503"/>
                  <a:gd name="T34" fmla="*/ 2147483646 w 1503"/>
                  <a:gd name="T35" fmla="*/ 0 h 1503"/>
                  <a:gd name="T36" fmla="*/ 2147483646 w 1503"/>
                  <a:gd name="T37" fmla="*/ 0 h 1503"/>
                  <a:gd name="T38" fmla="*/ 2147483646 w 1503"/>
                  <a:gd name="T39" fmla="*/ 2147483646 h 1503"/>
                  <a:gd name="T40" fmla="*/ 2147483646 w 1503"/>
                  <a:gd name="T41" fmla="*/ 2147483646 h 1503"/>
                  <a:gd name="T42" fmla="*/ 2147483646 w 1503"/>
                  <a:gd name="T43" fmla="*/ 2147483646 h 150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503"/>
                  <a:gd name="T67" fmla="*/ 0 h 1503"/>
                  <a:gd name="T68" fmla="*/ 1503 w 1503"/>
                  <a:gd name="T69" fmla="*/ 1503 h 150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503" h="1503">
                    <a:moveTo>
                      <a:pt x="1385" y="1503"/>
                    </a:moveTo>
                    <a:lnTo>
                      <a:pt x="1385" y="1503"/>
                    </a:lnTo>
                    <a:lnTo>
                      <a:pt x="1211" y="1503"/>
                    </a:lnTo>
                    <a:lnTo>
                      <a:pt x="1211" y="1437"/>
                    </a:lnTo>
                    <a:lnTo>
                      <a:pt x="1385" y="1437"/>
                    </a:lnTo>
                    <a:cubicBezTo>
                      <a:pt x="1413" y="1437"/>
                      <a:pt x="1436" y="1414"/>
                      <a:pt x="1436" y="1385"/>
                    </a:cubicBezTo>
                    <a:lnTo>
                      <a:pt x="1436" y="118"/>
                    </a:lnTo>
                    <a:cubicBezTo>
                      <a:pt x="1436" y="90"/>
                      <a:pt x="1413" y="67"/>
                      <a:pt x="1385" y="67"/>
                    </a:cubicBezTo>
                    <a:lnTo>
                      <a:pt x="117" y="67"/>
                    </a:lnTo>
                    <a:cubicBezTo>
                      <a:pt x="89" y="67"/>
                      <a:pt x="66" y="90"/>
                      <a:pt x="66" y="118"/>
                    </a:cubicBezTo>
                    <a:lnTo>
                      <a:pt x="66" y="1385"/>
                    </a:lnTo>
                    <a:cubicBezTo>
                      <a:pt x="66" y="1414"/>
                      <a:pt x="89" y="1437"/>
                      <a:pt x="117" y="1437"/>
                    </a:cubicBezTo>
                    <a:lnTo>
                      <a:pt x="1045" y="1437"/>
                    </a:lnTo>
                    <a:lnTo>
                      <a:pt x="1045" y="1503"/>
                    </a:lnTo>
                    <a:lnTo>
                      <a:pt x="117" y="1503"/>
                    </a:lnTo>
                    <a:cubicBezTo>
                      <a:pt x="52" y="1503"/>
                      <a:pt x="0" y="1450"/>
                      <a:pt x="0" y="1385"/>
                    </a:cubicBezTo>
                    <a:lnTo>
                      <a:pt x="0" y="118"/>
                    </a:lnTo>
                    <a:cubicBezTo>
                      <a:pt x="0" y="53"/>
                      <a:pt x="52" y="0"/>
                      <a:pt x="117" y="0"/>
                    </a:cubicBezTo>
                    <a:lnTo>
                      <a:pt x="1385" y="0"/>
                    </a:lnTo>
                    <a:cubicBezTo>
                      <a:pt x="1450" y="0"/>
                      <a:pt x="1503" y="53"/>
                      <a:pt x="1503" y="118"/>
                    </a:cubicBezTo>
                    <a:lnTo>
                      <a:pt x="1503" y="1385"/>
                    </a:lnTo>
                    <a:cubicBezTo>
                      <a:pt x="1503" y="1450"/>
                      <a:pt x="1450" y="1503"/>
                      <a:pt x="1385" y="1503"/>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54" name="Freeform 225">
                <a:extLst>
                  <a:ext uri="{FF2B5EF4-FFF2-40B4-BE49-F238E27FC236}">
                    <a16:creationId xmlns:a16="http://schemas.microsoft.com/office/drawing/2014/main" id="{BB57BBCE-8A9A-4311-BE6C-E165F16F5984}"/>
                  </a:ext>
                </a:extLst>
              </p:cNvPr>
              <p:cNvSpPr>
                <a:spLocks/>
              </p:cNvSpPr>
              <p:nvPr/>
            </p:nvSpPr>
            <p:spPr bwMode="auto">
              <a:xfrm>
                <a:off x="4592638" y="2938463"/>
                <a:ext cx="57150" cy="58738"/>
              </a:xfrm>
              <a:custGeom>
                <a:avLst/>
                <a:gdLst>
                  <a:gd name="T0" fmla="*/ 2147483646 w 138"/>
                  <a:gd name="T1" fmla="*/ 2147483646 h 139"/>
                  <a:gd name="T2" fmla="*/ 2147483646 w 138"/>
                  <a:gd name="T3" fmla="*/ 2147483646 h 139"/>
                  <a:gd name="T4" fmla="*/ 0 w 138"/>
                  <a:gd name="T5" fmla="*/ 2147483646 h 139"/>
                  <a:gd name="T6" fmla="*/ 2147483646 w 138"/>
                  <a:gd name="T7" fmla="*/ 0 h 139"/>
                  <a:gd name="T8" fmla="*/ 2147483646 w 138"/>
                  <a:gd name="T9" fmla="*/ 2147483646 h 139"/>
                  <a:gd name="T10" fmla="*/ 2147483646 w 138"/>
                  <a:gd name="T11" fmla="*/ 2147483646 h 139"/>
                  <a:gd name="T12" fmla="*/ 0 60000 65536"/>
                  <a:gd name="T13" fmla="*/ 0 60000 65536"/>
                  <a:gd name="T14" fmla="*/ 0 60000 65536"/>
                  <a:gd name="T15" fmla="*/ 0 60000 65536"/>
                  <a:gd name="T16" fmla="*/ 0 60000 65536"/>
                  <a:gd name="T17" fmla="*/ 0 60000 65536"/>
                  <a:gd name="T18" fmla="*/ 0 w 138"/>
                  <a:gd name="T19" fmla="*/ 0 h 139"/>
                  <a:gd name="T20" fmla="*/ 138 w 138"/>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8" h="139">
                    <a:moveTo>
                      <a:pt x="69" y="139"/>
                    </a:moveTo>
                    <a:lnTo>
                      <a:pt x="69" y="139"/>
                    </a:lnTo>
                    <a:cubicBezTo>
                      <a:pt x="30" y="139"/>
                      <a:pt x="0" y="108"/>
                      <a:pt x="0" y="70"/>
                    </a:cubicBezTo>
                    <a:cubicBezTo>
                      <a:pt x="0" y="32"/>
                      <a:pt x="30" y="0"/>
                      <a:pt x="69" y="0"/>
                    </a:cubicBezTo>
                    <a:cubicBezTo>
                      <a:pt x="107" y="0"/>
                      <a:pt x="138" y="32"/>
                      <a:pt x="138" y="70"/>
                    </a:cubicBezTo>
                    <a:cubicBezTo>
                      <a:pt x="138" y="108"/>
                      <a:pt x="107" y="139"/>
                      <a:pt x="69" y="139"/>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55" name="Freeform 226">
                <a:extLst>
                  <a:ext uri="{FF2B5EF4-FFF2-40B4-BE49-F238E27FC236}">
                    <a16:creationId xmlns:a16="http://schemas.microsoft.com/office/drawing/2014/main" id="{6CA9FA9A-2A8A-46CA-A362-8D777DB4DB08}"/>
                  </a:ext>
                </a:extLst>
              </p:cNvPr>
              <p:cNvSpPr>
                <a:spLocks/>
              </p:cNvSpPr>
              <p:nvPr/>
            </p:nvSpPr>
            <p:spPr bwMode="auto">
              <a:xfrm>
                <a:off x="4681538" y="2938463"/>
                <a:ext cx="58738" cy="58738"/>
              </a:xfrm>
              <a:custGeom>
                <a:avLst/>
                <a:gdLst>
                  <a:gd name="T0" fmla="*/ 2147483646 w 138"/>
                  <a:gd name="T1" fmla="*/ 2147483646 h 139"/>
                  <a:gd name="T2" fmla="*/ 2147483646 w 138"/>
                  <a:gd name="T3" fmla="*/ 2147483646 h 139"/>
                  <a:gd name="T4" fmla="*/ 0 w 138"/>
                  <a:gd name="T5" fmla="*/ 2147483646 h 139"/>
                  <a:gd name="T6" fmla="*/ 2147483646 w 138"/>
                  <a:gd name="T7" fmla="*/ 0 h 139"/>
                  <a:gd name="T8" fmla="*/ 2147483646 w 138"/>
                  <a:gd name="T9" fmla="*/ 2147483646 h 139"/>
                  <a:gd name="T10" fmla="*/ 2147483646 w 138"/>
                  <a:gd name="T11" fmla="*/ 2147483646 h 139"/>
                  <a:gd name="T12" fmla="*/ 0 60000 65536"/>
                  <a:gd name="T13" fmla="*/ 0 60000 65536"/>
                  <a:gd name="T14" fmla="*/ 0 60000 65536"/>
                  <a:gd name="T15" fmla="*/ 0 60000 65536"/>
                  <a:gd name="T16" fmla="*/ 0 60000 65536"/>
                  <a:gd name="T17" fmla="*/ 0 60000 65536"/>
                  <a:gd name="T18" fmla="*/ 0 w 138"/>
                  <a:gd name="T19" fmla="*/ 0 h 139"/>
                  <a:gd name="T20" fmla="*/ 138 w 138"/>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8" h="139">
                    <a:moveTo>
                      <a:pt x="69" y="139"/>
                    </a:moveTo>
                    <a:lnTo>
                      <a:pt x="69" y="139"/>
                    </a:lnTo>
                    <a:cubicBezTo>
                      <a:pt x="30" y="139"/>
                      <a:pt x="0" y="108"/>
                      <a:pt x="0" y="70"/>
                    </a:cubicBezTo>
                    <a:cubicBezTo>
                      <a:pt x="0" y="32"/>
                      <a:pt x="30" y="0"/>
                      <a:pt x="69" y="0"/>
                    </a:cubicBezTo>
                    <a:cubicBezTo>
                      <a:pt x="107" y="0"/>
                      <a:pt x="138" y="32"/>
                      <a:pt x="138" y="70"/>
                    </a:cubicBezTo>
                    <a:cubicBezTo>
                      <a:pt x="138" y="108"/>
                      <a:pt x="107" y="139"/>
                      <a:pt x="69" y="139"/>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grpSp>
        <p:sp>
          <p:nvSpPr>
            <p:cNvPr id="77" name="文本框 15">
              <a:extLst>
                <a:ext uri="{FF2B5EF4-FFF2-40B4-BE49-F238E27FC236}">
                  <a16:creationId xmlns:a16="http://schemas.microsoft.com/office/drawing/2014/main" id="{A1B8FE58-13B1-43EF-86F7-C93AE154035D}"/>
                </a:ext>
              </a:extLst>
            </p:cNvPr>
            <p:cNvSpPr txBox="1">
              <a:spLocks noChangeArrowheads="1"/>
            </p:cNvSpPr>
            <p:nvPr/>
          </p:nvSpPr>
          <p:spPr bwMode="auto">
            <a:xfrm>
              <a:off x="9568417" y="2091936"/>
              <a:ext cx="320415" cy="20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552" tIns="54276" rIns="108552" bIns="54276">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TW" sz="1200" b="0" i="0" u="none" strike="noStrike" kern="1200" cap="none" spc="0" normalizeH="0" baseline="0" noProof="0" dirty="0">
                  <a:ln>
                    <a:noFill/>
                  </a:ln>
                  <a:effectLst/>
                  <a:uLnTx/>
                  <a:uFillTx/>
                  <a:latin typeface="Calibri" panose="020F0502020204030204"/>
                  <a:ea typeface="微软雅黑" panose="020B0503020204020204" pitchFamily="34" charset="-122"/>
                  <a:cs typeface="+mn-cs"/>
                </a:rPr>
                <a:t>SSU</a:t>
              </a:r>
              <a:endParaRPr kumimoji="1" lang="zh-CN" altLang="en-US" sz="1200" b="0" i="0" u="none" strike="noStrike" kern="1200" cap="none" spc="0" normalizeH="0" baseline="0" noProof="0" dirty="0">
                <a:ln>
                  <a:noFill/>
                </a:ln>
                <a:effectLst/>
                <a:uLnTx/>
                <a:uFillTx/>
                <a:latin typeface="Calibri" panose="020F0502020204030204"/>
                <a:ea typeface="微软雅黑" panose="020B0503020204020204" pitchFamily="34" charset="-122"/>
                <a:cs typeface="+mn-cs"/>
              </a:endParaRPr>
            </a:p>
          </p:txBody>
        </p:sp>
        <p:grpSp>
          <p:nvGrpSpPr>
            <p:cNvPr id="78" name="组合 228">
              <a:extLst>
                <a:ext uri="{FF2B5EF4-FFF2-40B4-BE49-F238E27FC236}">
                  <a16:creationId xmlns:a16="http://schemas.microsoft.com/office/drawing/2014/main" id="{3FA87C8F-B111-447D-9BEE-AF24406A0F0D}"/>
                </a:ext>
              </a:extLst>
            </p:cNvPr>
            <p:cNvGrpSpPr>
              <a:grpSpLocks/>
            </p:cNvGrpSpPr>
            <p:nvPr/>
          </p:nvGrpSpPr>
          <p:grpSpPr bwMode="auto">
            <a:xfrm>
              <a:off x="9544111" y="1782506"/>
              <a:ext cx="402394" cy="237971"/>
              <a:chOff x="6146800" y="3805238"/>
              <a:chExt cx="750888" cy="523875"/>
            </a:xfrm>
            <a:solidFill>
              <a:schemeClr val="tx1"/>
            </a:solidFill>
          </p:grpSpPr>
          <p:sp>
            <p:nvSpPr>
              <p:cNvPr id="97" name="Freeform 167">
                <a:extLst>
                  <a:ext uri="{FF2B5EF4-FFF2-40B4-BE49-F238E27FC236}">
                    <a16:creationId xmlns:a16="http://schemas.microsoft.com/office/drawing/2014/main" id="{B763B3D5-25D8-4A47-809B-4B83D6EC5586}"/>
                  </a:ext>
                </a:extLst>
              </p:cNvPr>
              <p:cNvSpPr>
                <a:spLocks/>
              </p:cNvSpPr>
              <p:nvPr/>
            </p:nvSpPr>
            <p:spPr bwMode="auto">
              <a:xfrm>
                <a:off x="6762750" y="4211638"/>
                <a:ext cx="134938" cy="101600"/>
              </a:xfrm>
              <a:custGeom>
                <a:avLst/>
                <a:gdLst>
                  <a:gd name="T0" fmla="*/ 2147483646 w 322"/>
                  <a:gd name="T1" fmla="*/ 2147483646 h 242"/>
                  <a:gd name="T2" fmla="*/ 2147483646 w 322"/>
                  <a:gd name="T3" fmla="*/ 2147483646 h 242"/>
                  <a:gd name="T4" fmla="*/ 0 w 322"/>
                  <a:gd name="T5" fmla="*/ 2147483646 h 242"/>
                  <a:gd name="T6" fmla="*/ 0 w 322"/>
                  <a:gd name="T7" fmla="*/ 2147483646 h 242"/>
                  <a:gd name="T8" fmla="*/ 2147483646 w 322"/>
                  <a:gd name="T9" fmla="*/ 2147483646 h 242"/>
                  <a:gd name="T10" fmla="*/ 2147483646 w 322"/>
                  <a:gd name="T11" fmla="*/ 2147483646 h 242"/>
                  <a:gd name="T12" fmla="*/ 2147483646 w 322"/>
                  <a:gd name="T13" fmla="*/ 0 h 242"/>
                  <a:gd name="T14" fmla="*/ 2147483646 w 322"/>
                  <a:gd name="T15" fmla="*/ 0 h 242"/>
                  <a:gd name="T16" fmla="*/ 2147483646 w 322"/>
                  <a:gd name="T17" fmla="*/ 2147483646 h 242"/>
                  <a:gd name="T18" fmla="*/ 2147483646 w 322"/>
                  <a:gd name="T19" fmla="*/ 2147483646 h 2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2"/>
                  <a:gd name="T31" fmla="*/ 0 h 242"/>
                  <a:gd name="T32" fmla="*/ 322 w 322"/>
                  <a:gd name="T33" fmla="*/ 242 h 2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2" h="242">
                    <a:moveTo>
                      <a:pt x="252" y="242"/>
                    </a:moveTo>
                    <a:lnTo>
                      <a:pt x="252" y="242"/>
                    </a:lnTo>
                    <a:lnTo>
                      <a:pt x="0" y="242"/>
                    </a:lnTo>
                    <a:lnTo>
                      <a:pt x="0" y="175"/>
                    </a:lnTo>
                    <a:lnTo>
                      <a:pt x="252" y="175"/>
                    </a:lnTo>
                    <a:cubicBezTo>
                      <a:pt x="254" y="175"/>
                      <a:pt x="256" y="174"/>
                      <a:pt x="256" y="172"/>
                    </a:cubicBezTo>
                    <a:lnTo>
                      <a:pt x="256" y="0"/>
                    </a:lnTo>
                    <a:lnTo>
                      <a:pt x="322" y="0"/>
                    </a:lnTo>
                    <a:lnTo>
                      <a:pt x="322" y="172"/>
                    </a:lnTo>
                    <a:cubicBezTo>
                      <a:pt x="322" y="210"/>
                      <a:pt x="291" y="242"/>
                      <a:pt x="252" y="242"/>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98" name="Freeform 168">
                <a:extLst>
                  <a:ext uri="{FF2B5EF4-FFF2-40B4-BE49-F238E27FC236}">
                    <a16:creationId xmlns:a16="http://schemas.microsoft.com/office/drawing/2014/main" id="{9C23FB17-CD35-4346-A224-12F15DEEF8F7}"/>
                  </a:ext>
                </a:extLst>
              </p:cNvPr>
              <p:cNvSpPr>
                <a:spLocks/>
              </p:cNvSpPr>
              <p:nvPr/>
            </p:nvSpPr>
            <p:spPr bwMode="auto">
              <a:xfrm>
                <a:off x="6146800" y="3805238"/>
                <a:ext cx="750888" cy="508000"/>
              </a:xfrm>
              <a:custGeom>
                <a:avLst/>
                <a:gdLst>
                  <a:gd name="T0" fmla="*/ 2147483646 w 1792"/>
                  <a:gd name="T1" fmla="*/ 2147483646 h 1207"/>
                  <a:gd name="T2" fmla="*/ 2147483646 w 1792"/>
                  <a:gd name="T3" fmla="*/ 2147483646 h 1207"/>
                  <a:gd name="T4" fmla="*/ 2147483646 w 1792"/>
                  <a:gd name="T5" fmla="*/ 2147483646 h 1207"/>
                  <a:gd name="T6" fmla="*/ 0 w 1792"/>
                  <a:gd name="T7" fmla="*/ 2147483646 h 1207"/>
                  <a:gd name="T8" fmla="*/ 0 w 1792"/>
                  <a:gd name="T9" fmla="*/ 2147483646 h 1207"/>
                  <a:gd name="T10" fmla="*/ 2147483646 w 1792"/>
                  <a:gd name="T11" fmla="*/ 0 h 1207"/>
                  <a:gd name="T12" fmla="*/ 2147483646 w 1792"/>
                  <a:gd name="T13" fmla="*/ 0 h 1207"/>
                  <a:gd name="T14" fmla="*/ 2147483646 w 1792"/>
                  <a:gd name="T15" fmla="*/ 2147483646 h 1207"/>
                  <a:gd name="T16" fmla="*/ 2147483646 w 1792"/>
                  <a:gd name="T17" fmla="*/ 2147483646 h 1207"/>
                  <a:gd name="T18" fmla="*/ 2147483646 w 1792"/>
                  <a:gd name="T19" fmla="*/ 2147483646 h 1207"/>
                  <a:gd name="T20" fmla="*/ 2147483646 w 1792"/>
                  <a:gd name="T21" fmla="*/ 2147483646 h 1207"/>
                  <a:gd name="T22" fmla="*/ 2147483646 w 1792"/>
                  <a:gd name="T23" fmla="*/ 2147483646 h 1207"/>
                  <a:gd name="T24" fmla="*/ 2147483646 w 1792"/>
                  <a:gd name="T25" fmla="*/ 2147483646 h 1207"/>
                  <a:gd name="T26" fmla="*/ 2147483646 w 1792"/>
                  <a:gd name="T27" fmla="*/ 2147483646 h 1207"/>
                  <a:gd name="T28" fmla="*/ 2147483646 w 1792"/>
                  <a:gd name="T29" fmla="*/ 2147483646 h 1207"/>
                  <a:gd name="T30" fmla="*/ 2147483646 w 1792"/>
                  <a:gd name="T31" fmla="*/ 2147483646 h 1207"/>
                  <a:gd name="T32" fmla="*/ 2147483646 w 1792"/>
                  <a:gd name="T33" fmla="*/ 2147483646 h 1207"/>
                  <a:gd name="T34" fmla="*/ 2147483646 w 1792"/>
                  <a:gd name="T35" fmla="*/ 2147483646 h 120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92"/>
                  <a:gd name="T55" fmla="*/ 0 h 1207"/>
                  <a:gd name="T56" fmla="*/ 1792 w 1792"/>
                  <a:gd name="T57" fmla="*/ 1207 h 120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92" h="1207">
                    <a:moveTo>
                      <a:pt x="1215" y="1207"/>
                    </a:moveTo>
                    <a:lnTo>
                      <a:pt x="1215" y="1207"/>
                    </a:lnTo>
                    <a:lnTo>
                      <a:pt x="70" y="1207"/>
                    </a:lnTo>
                    <a:cubicBezTo>
                      <a:pt x="31" y="1207"/>
                      <a:pt x="0" y="1175"/>
                      <a:pt x="0" y="1137"/>
                    </a:cubicBezTo>
                    <a:lnTo>
                      <a:pt x="0" y="70"/>
                    </a:lnTo>
                    <a:cubicBezTo>
                      <a:pt x="0" y="32"/>
                      <a:pt x="31" y="0"/>
                      <a:pt x="70" y="0"/>
                    </a:cubicBezTo>
                    <a:lnTo>
                      <a:pt x="1722" y="0"/>
                    </a:lnTo>
                    <a:cubicBezTo>
                      <a:pt x="1761" y="0"/>
                      <a:pt x="1792" y="32"/>
                      <a:pt x="1792" y="70"/>
                    </a:cubicBezTo>
                    <a:lnTo>
                      <a:pt x="1792" y="231"/>
                    </a:lnTo>
                    <a:lnTo>
                      <a:pt x="1726" y="231"/>
                    </a:lnTo>
                    <a:lnTo>
                      <a:pt x="1726" y="70"/>
                    </a:lnTo>
                    <a:cubicBezTo>
                      <a:pt x="1726" y="68"/>
                      <a:pt x="1724" y="67"/>
                      <a:pt x="1722" y="67"/>
                    </a:cubicBezTo>
                    <a:lnTo>
                      <a:pt x="70" y="67"/>
                    </a:lnTo>
                    <a:cubicBezTo>
                      <a:pt x="68" y="67"/>
                      <a:pt x="67" y="68"/>
                      <a:pt x="67" y="70"/>
                    </a:cubicBezTo>
                    <a:lnTo>
                      <a:pt x="67" y="1137"/>
                    </a:lnTo>
                    <a:cubicBezTo>
                      <a:pt x="67" y="1139"/>
                      <a:pt x="68" y="1140"/>
                      <a:pt x="70" y="1140"/>
                    </a:cubicBezTo>
                    <a:lnTo>
                      <a:pt x="1215" y="1140"/>
                    </a:lnTo>
                    <a:lnTo>
                      <a:pt x="1215" y="1207"/>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99" name="Freeform 169">
                <a:extLst>
                  <a:ext uri="{FF2B5EF4-FFF2-40B4-BE49-F238E27FC236}">
                    <a16:creationId xmlns:a16="http://schemas.microsoft.com/office/drawing/2014/main" id="{E6D3D27A-C6D6-4C8F-AAC0-39A972B37133}"/>
                  </a:ext>
                </a:extLst>
              </p:cNvPr>
              <p:cNvSpPr>
                <a:spLocks/>
              </p:cNvSpPr>
              <p:nvPr/>
            </p:nvSpPr>
            <p:spPr bwMode="auto">
              <a:xfrm>
                <a:off x="6407150" y="3816350"/>
                <a:ext cx="115888" cy="484188"/>
              </a:xfrm>
              <a:custGeom>
                <a:avLst/>
                <a:gdLst>
                  <a:gd name="T0" fmla="*/ 2147483646 w 276"/>
                  <a:gd name="T1" fmla="*/ 2147483646 h 1153"/>
                  <a:gd name="T2" fmla="*/ 2147483646 w 276"/>
                  <a:gd name="T3" fmla="*/ 2147483646 h 1153"/>
                  <a:gd name="T4" fmla="*/ 0 w 276"/>
                  <a:gd name="T5" fmla="*/ 2147483646 h 1153"/>
                  <a:gd name="T6" fmla="*/ 2147483646 w 276"/>
                  <a:gd name="T7" fmla="*/ 0 h 1153"/>
                  <a:gd name="T8" fmla="*/ 2147483646 w 276"/>
                  <a:gd name="T9" fmla="*/ 2147483646 h 1153"/>
                  <a:gd name="T10" fmla="*/ 2147483646 w 276"/>
                  <a:gd name="T11" fmla="*/ 2147483646 h 1153"/>
                  <a:gd name="T12" fmla="*/ 0 60000 65536"/>
                  <a:gd name="T13" fmla="*/ 0 60000 65536"/>
                  <a:gd name="T14" fmla="*/ 0 60000 65536"/>
                  <a:gd name="T15" fmla="*/ 0 60000 65536"/>
                  <a:gd name="T16" fmla="*/ 0 60000 65536"/>
                  <a:gd name="T17" fmla="*/ 0 60000 65536"/>
                  <a:gd name="T18" fmla="*/ 0 w 276"/>
                  <a:gd name="T19" fmla="*/ 0 h 1153"/>
                  <a:gd name="T20" fmla="*/ 276 w 276"/>
                  <a:gd name="T21" fmla="*/ 1153 h 1153"/>
                </a:gdLst>
                <a:ahLst/>
                <a:cxnLst>
                  <a:cxn ang="T12">
                    <a:pos x="T0" y="T1"/>
                  </a:cxn>
                  <a:cxn ang="T13">
                    <a:pos x="T2" y="T3"/>
                  </a:cxn>
                  <a:cxn ang="T14">
                    <a:pos x="T4" y="T5"/>
                  </a:cxn>
                  <a:cxn ang="T15">
                    <a:pos x="T6" y="T7"/>
                  </a:cxn>
                  <a:cxn ang="T16">
                    <a:pos x="T8" y="T9"/>
                  </a:cxn>
                  <a:cxn ang="T17">
                    <a:pos x="T10" y="T11"/>
                  </a:cxn>
                </a:cxnLst>
                <a:rect l="T18" t="T19" r="T20" b="T21"/>
                <a:pathLst>
                  <a:path w="276" h="1153">
                    <a:moveTo>
                      <a:pt x="66" y="1153"/>
                    </a:moveTo>
                    <a:lnTo>
                      <a:pt x="66" y="1153"/>
                    </a:lnTo>
                    <a:lnTo>
                      <a:pt x="0" y="1140"/>
                    </a:lnTo>
                    <a:lnTo>
                      <a:pt x="210" y="0"/>
                    </a:lnTo>
                    <a:lnTo>
                      <a:pt x="276" y="12"/>
                    </a:lnTo>
                    <a:lnTo>
                      <a:pt x="66" y="1153"/>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00" name="Freeform 170">
                <a:extLst>
                  <a:ext uri="{FF2B5EF4-FFF2-40B4-BE49-F238E27FC236}">
                    <a16:creationId xmlns:a16="http://schemas.microsoft.com/office/drawing/2014/main" id="{BAF11BDA-654E-4138-A3E7-A1D59DE0CD6C}"/>
                  </a:ext>
                </a:extLst>
              </p:cNvPr>
              <p:cNvSpPr>
                <a:spLocks noEditPoints="1"/>
              </p:cNvSpPr>
              <p:nvPr/>
            </p:nvSpPr>
            <p:spPr bwMode="auto">
              <a:xfrm>
                <a:off x="6654800" y="3883025"/>
                <a:ext cx="128588" cy="150813"/>
              </a:xfrm>
              <a:custGeom>
                <a:avLst/>
                <a:gdLst>
                  <a:gd name="T0" fmla="*/ 2147483646 w 308"/>
                  <a:gd name="T1" fmla="*/ 2147483646 h 359"/>
                  <a:gd name="T2" fmla="*/ 2147483646 w 308"/>
                  <a:gd name="T3" fmla="*/ 2147483646 h 359"/>
                  <a:gd name="T4" fmla="*/ 2147483646 w 308"/>
                  <a:gd name="T5" fmla="*/ 2147483646 h 359"/>
                  <a:gd name="T6" fmla="*/ 2147483646 w 308"/>
                  <a:gd name="T7" fmla="*/ 2147483646 h 359"/>
                  <a:gd name="T8" fmla="*/ 2147483646 w 308"/>
                  <a:gd name="T9" fmla="*/ 2147483646 h 359"/>
                  <a:gd name="T10" fmla="*/ 2147483646 w 308"/>
                  <a:gd name="T11" fmla="*/ 2147483646 h 359"/>
                  <a:gd name="T12" fmla="*/ 2147483646 w 308"/>
                  <a:gd name="T13" fmla="*/ 2147483646 h 359"/>
                  <a:gd name="T14" fmla="*/ 2147483646 w 308"/>
                  <a:gd name="T15" fmla="*/ 2147483646 h 359"/>
                  <a:gd name="T16" fmla="*/ 2147483646 w 308"/>
                  <a:gd name="T17" fmla="*/ 2147483646 h 359"/>
                  <a:gd name="T18" fmla="*/ 2147483646 w 308"/>
                  <a:gd name="T19" fmla="*/ 2147483646 h 359"/>
                  <a:gd name="T20" fmla="*/ 2147483646 w 308"/>
                  <a:gd name="T21" fmla="*/ 2147483646 h 359"/>
                  <a:gd name="T22" fmla="*/ 2147483646 w 308"/>
                  <a:gd name="T23" fmla="*/ 2147483646 h 359"/>
                  <a:gd name="T24" fmla="*/ 2147483646 w 308"/>
                  <a:gd name="T25" fmla="*/ 2147483646 h 359"/>
                  <a:gd name="T26" fmla="*/ 0 w 308"/>
                  <a:gd name="T27" fmla="*/ 2147483646 h 359"/>
                  <a:gd name="T28" fmla="*/ 0 w 308"/>
                  <a:gd name="T29" fmla="*/ 2147483646 h 359"/>
                  <a:gd name="T30" fmla="*/ 2147483646 w 308"/>
                  <a:gd name="T31" fmla="*/ 0 h 359"/>
                  <a:gd name="T32" fmla="*/ 2147483646 w 308"/>
                  <a:gd name="T33" fmla="*/ 0 h 359"/>
                  <a:gd name="T34" fmla="*/ 2147483646 w 308"/>
                  <a:gd name="T35" fmla="*/ 2147483646 h 359"/>
                  <a:gd name="T36" fmla="*/ 2147483646 w 308"/>
                  <a:gd name="T37" fmla="*/ 2147483646 h 359"/>
                  <a:gd name="T38" fmla="*/ 2147483646 w 308"/>
                  <a:gd name="T39" fmla="*/ 2147483646 h 35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08"/>
                  <a:gd name="T61" fmla="*/ 0 h 359"/>
                  <a:gd name="T62" fmla="*/ 308 w 308"/>
                  <a:gd name="T63" fmla="*/ 359 h 35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08" h="359">
                    <a:moveTo>
                      <a:pt x="57" y="40"/>
                    </a:moveTo>
                    <a:lnTo>
                      <a:pt x="57" y="40"/>
                    </a:lnTo>
                    <a:cubicBezTo>
                      <a:pt x="47" y="40"/>
                      <a:pt x="40" y="48"/>
                      <a:pt x="40" y="57"/>
                    </a:cubicBezTo>
                    <a:lnTo>
                      <a:pt x="40" y="302"/>
                    </a:lnTo>
                    <a:cubicBezTo>
                      <a:pt x="40" y="311"/>
                      <a:pt x="47" y="319"/>
                      <a:pt x="57" y="319"/>
                    </a:cubicBezTo>
                    <a:lnTo>
                      <a:pt x="251" y="319"/>
                    </a:lnTo>
                    <a:cubicBezTo>
                      <a:pt x="260" y="319"/>
                      <a:pt x="268" y="311"/>
                      <a:pt x="268" y="302"/>
                    </a:cubicBezTo>
                    <a:lnTo>
                      <a:pt x="268" y="57"/>
                    </a:lnTo>
                    <a:cubicBezTo>
                      <a:pt x="268" y="48"/>
                      <a:pt x="260" y="40"/>
                      <a:pt x="251" y="40"/>
                    </a:cubicBezTo>
                    <a:lnTo>
                      <a:pt x="57" y="40"/>
                    </a:lnTo>
                    <a:close/>
                    <a:moveTo>
                      <a:pt x="251" y="359"/>
                    </a:moveTo>
                    <a:lnTo>
                      <a:pt x="251" y="359"/>
                    </a:lnTo>
                    <a:lnTo>
                      <a:pt x="57" y="359"/>
                    </a:lnTo>
                    <a:cubicBezTo>
                      <a:pt x="25" y="359"/>
                      <a:pt x="0" y="333"/>
                      <a:pt x="0" y="302"/>
                    </a:cubicBezTo>
                    <a:lnTo>
                      <a:pt x="0" y="57"/>
                    </a:lnTo>
                    <a:cubicBezTo>
                      <a:pt x="0" y="26"/>
                      <a:pt x="25" y="0"/>
                      <a:pt x="57" y="0"/>
                    </a:cubicBezTo>
                    <a:lnTo>
                      <a:pt x="251" y="0"/>
                    </a:lnTo>
                    <a:cubicBezTo>
                      <a:pt x="282" y="0"/>
                      <a:pt x="308" y="26"/>
                      <a:pt x="308" y="57"/>
                    </a:cubicBezTo>
                    <a:lnTo>
                      <a:pt x="308" y="302"/>
                    </a:lnTo>
                    <a:cubicBezTo>
                      <a:pt x="308" y="333"/>
                      <a:pt x="282" y="359"/>
                      <a:pt x="251" y="359"/>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01" name="Freeform 171">
                <a:extLst>
                  <a:ext uri="{FF2B5EF4-FFF2-40B4-BE49-F238E27FC236}">
                    <a16:creationId xmlns:a16="http://schemas.microsoft.com/office/drawing/2014/main" id="{8CBE91AD-64BA-42D1-A0B3-FF0A4D48FA20}"/>
                  </a:ext>
                </a:extLst>
              </p:cNvPr>
              <p:cNvSpPr>
                <a:spLocks/>
              </p:cNvSpPr>
              <p:nvPr/>
            </p:nvSpPr>
            <p:spPr bwMode="auto">
              <a:xfrm>
                <a:off x="6686550" y="3871913"/>
                <a:ext cx="11113" cy="25400"/>
              </a:xfrm>
              <a:custGeom>
                <a:avLst/>
                <a:gdLst>
                  <a:gd name="T0" fmla="*/ 2147483646 w 26"/>
                  <a:gd name="T1" fmla="*/ 2147483646 h 61"/>
                  <a:gd name="T2" fmla="*/ 2147483646 w 26"/>
                  <a:gd name="T3" fmla="*/ 2147483646 h 61"/>
                  <a:gd name="T4" fmla="*/ 0 w 26"/>
                  <a:gd name="T5" fmla="*/ 2147483646 h 61"/>
                  <a:gd name="T6" fmla="*/ 0 w 26"/>
                  <a:gd name="T7" fmla="*/ 0 h 61"/>
                  <a:gd name="T8" fmla="*/ 2147483646 w 26"/>
                  <a:gd name="T9" fmla="*/ 0 h 61"/>
                  <a:gd name="T10" fmla="*/ 2147483646 w 26"/>
                  <a:gd name="T11" fmla="*/ 2147483646 h 61"/>
                  <a:gd name="T12" fmla="*/ 0 60000 65536"/>
                  <a:gd name="T13" fmla="*/ 0 60000 65536"/>
                  <a:gd name="T14" fmla="*/ 0 60000 65536"/>
                  <a:gd name="T15" fmla="*/ 0 60000 65536"/>
                  <a:gd name="T16" fmla="*/ 0 60000 65536"/>
                  <a:gd name="T17" fmla="*/ 0 60000 65536"/>
                  <a:gd name="T18" fmla="*/ 0 w 26"/>
                  <a:gd name="T19" fmla="*/ 0 h 61"/>
                  <a:gd name="T20" fmla="*/ 26 w 26"/>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26" h="61">
                    <a:moveTo>
                      <a:pt x="26" y="61"/>
                    </a:moveTo>
                    <a:lnTo>
                      <a:pt x="26" y="61"/>
                    </a:lnTo>
                    <a:lnTo>
                      <a:pt x="0" y="61"/>
                    </a:lnTo>
                    <a:lnTo>
                      <a:pt x="0" y="0"/>
                    </a:lnTo>
                    <a:lnTo>
                      <a:pt x="26" y="0"/>
                    </a:lnTo>
                    <a:lnTo>
                      <a:pt x="26" y="61"/>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02" name="Freeform 172">
                <a:extLst>
                  <a:ext uri="{FF2B5EF4-FFF2-40B4-BE49-F238E27FC236}">
                    <a16:creationId xmlns:a16="http://schemas.microsoft.com/office/drawing/2014/main" id="{6B9CFF29-D158-43B2-A5FC-548E659998B6}"/>
                  </a:ext>
                </a:extLst>
              </p:cNvPr>
              <p:cNvSpPr>
                <a:spLocks/>
              </p:cNvSpPr>
              <p:nvPr/>
            </p:nvSpPr>
            <p:spPr bwMode="auto">
              <a:xfrm>
                <a:off x="6713538" y="3871913"/>
                <a:ext cx="11113" cy="25400"/>
              </a:xfrm>
              <a:custGeom>
                <a:avLst/>
                <a:gdLst>
                  <a:gd name="T0" fmla="*/ 2147483646 w 27"/>
                  <a:gd name="T1" fmla="*/ 2147483646 h 61"/>
                  <a:gd name="T2" fmla="*/ 2147483646 w 27"/>
                  <a:gd name="T3" fmla="*/ 2147483646 h 61"/>
                  <a:gd name="T4" fmla="*/ 0 w 27"/>
                  <a:gd name="T5" fmla="*/ 2147483646 h 61"/>
                  <a:gd name="T6" fmla="*/ 0 w 27"/>
                  <a:gd name="T7" fmla="*/ 0 h 61"/>
                  <a:gd name="T8" fmla="*/ 2147483646 w 27"/>
                  <a:gd name="T9" fmla="*/ 0 h 61"/>
                  <a:gd name="T10" fmla="*/ 2147483646 w 27"/>
                  <a:gd name="T11" fmla="*/ 2147483646 h 61"/>
                  <a:gd name="T12" fmla="*/ 0 60000 65536"/>
                  <a:gd name="T13" fmla="*/ 0 60000 65536"/>
                  <a:gd name="T14" fmla="*/ 0 60000 65536"/>
                  <a:gd name="T15" fmla="*/ 0 60000 65536"/>
                  <a:gd name="T16" fmla="*/ 0 60000 65536"/>
                  <a:gd name="T17" fmla="*/ 0 60000 65536"/>
                  <a:gd name="T18" fmla="*/ 0 w 27"/>
                  <a:gd name="T19" fmla="*/ 0 h 61"/>
                  <a:gd name="T20" fmla="*/ 27 w 27"/>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27" h="61">
                    <a:moveTo>
                      <a:pt x="27" y="61"/>
                    </a:moveTo>
                    <a:lnTo>
                      <a:pt x="27" y="61"/>
                    </a:lnTo>
                    <a:lnTo>
                      <a:pt x="0" y="61"/>
                    </a:lnTo>
                    <a:lnTo>
                      <a:pt x="0" y="0"/>
                    </a:lnTo>
                    <a:lnTo>
                      <a:pt x="27" y="0"/>
                    </a:lnTo>
                    <a:lnTo>
                      <a:pt x="27" y="61"/>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04" name="Freeform 173">
                <a:extLst>
                  <a:ext uri="{FF2B5EF4-FFF2-40B4-BE49-F238E27FC236}">
                    <a16:creationId xmlns:a16="http://schemas.microsoft.com/office/drawing/2014/main" id="{B5C16A26-BF38-4E00-AA1D-DFA88D85352E}"/>
                  </a:ext>
                </a:extLst>
              </p:cNvPr>
              <p:cNvSpPr>
                <a:spLocks/>
              </p:cNvSpPr>
              <p:nvPr/>
            </p:nvSpPr>
            <p:spPr bwMode="auto">
              <a:xfrm>
                <a:off x="6740525" y="3871913"/>
                <a:ext cx="11113" cy="25400"/>
              </a:xfrm>
              <a:custGeom>
                <a:avLst/>
                <a:gdLst>
                  <a:gd name="T0" fmla="*/ 2147483646 w 27"/>
                  <a:gd name="T1" fmla="*/ 2147483646 h 61"/>
                  <a:gd name="T2" fmla="*/ 2147483646 w 27"/>
                  <a:gd name="T3" fmla="*/ 2147483646 h 61"/>
                  <a:gd name="T4" fmla="*/ 0 w 27"/>
                  <a:gd name="T5" fmla="*/ 2147483646 h 61"/>
                  <a:gd name="T6" fmla="*/ 0 w 27"/>
                  <a:gd name="T7" fmla="*/ 0 h 61"/>
                  <a:gd name="T8" fmla="*/ 2147483646 w 27"/>
                  <a:gd name="T9" fmla="*/ 0 h 61"/>
                  <a:gd name="T10" fmla="*/ 2147483646 w 27"/>
                  <a:gd name="T11" fmla="*/ 2147483646 h 61"/>
                  <a:gd name="T12" fmla="*/ 0 60000 65536"/>
                  <a:gd name="T13" fmla="*/ 0 60000 65536"/>
                  <a:gd name="T14" fmla="*/ 0 60000 65536"/>
                  <a:gd name="T15" fmla="*/ 0 60000 65536"/>
                  <a:gd name="T16" fmla="*/ 0 60000 65536"/>
                  <a:gd name="T17" fmla="*/ 0 60000 65536"/>
                  <a:gd name="T18" fmla="*/ 0 w 27"/>
                  <a:gd name="T19" fmla="*/ 0 h 61"/>
                  <a:gd name="T20" fmla="*/ 27 w 27"/>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27" h="61">
                    <a:moveTo>
                      <a:pt x="27" y="61"/>
                    </a:moveTo>
                    <a:lnTo>
                      <a:pt x="27" y="61"/>
                    </a:lnTo>
                    <a:lnTo>
                      <a:pt x="0" y="61"/>
                    </a:lnTo>
                    <a:lnTo>
                      <a:pt x="0" y="0"/>
                    </a:lnTo>
                    <a:lnTo>
                      <a:pt x="27" y="0"/>
                    </a:lnTo>
                    <a:lnTo>
                      <a:pt x="27" y="61"/>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05" name="Freeform 174">
                <a:extLst>
                  <a:ext uri="{FF2B5EF4-FFF2-40B4-BE49-F238E27FC236}">
                    <a16:creationId xmlns:a16="http://schemas.microsoft.com/office/drawing/2014/main" id="{69EC6243-BC45-4742-92C0-DC03B8DBBB28}"/>
                  </a:ext>
                </a:extLst>
              </p:cNvPr>
              <p:cNvSpPr>
                <a:spLocks/>
              </p:cNvSpPr>
              <p:nvPr/>
            </p:nvSpPr>
            <p:spPr bwMode="auto">
              <a:xfrm>
                <a:off x="6686550" y="4024313"/>
                <a:ext cx="11113" cy="20638"/>
              </a:xfrm>
              <a:custGeom>
                <a:avLst/>
                <a:gdLst>
                  <a:gd name="T0" fmla="*/ 2147483646 w 26"/>
                  <a:gd name="T1" fmla="*/ 2147483646 h 46"/>
                  <a:gd name="T2" fmla="*/ 2147483646 w 26"/>
                  <a:gd name="T3" fmla="*/ 2147483646 h 46"/>
                  <a:gd name="T4" fmla="*/ 0 w 26"/>
                  <a:gd name="T5" fmla="*/ 2147483646 h 46"/>
                  <a:gd name="T6" fmla="*/ 0 w 26"/>
                  <a:gd name="T7" fmla="*/ 0 h 46"/>
                  <a:gd name="T8" fmla="*/ 2147483646 w 26"/>
                  <a:gd name="T9" fmla="*/ 0 h 46"/>
                  <a:gd name="T10" fmla="*/ 2147483646 w 26"/>
                  <a:gd name="T11" fmla="*/ 2147483646 h 46"/>
                  <a:gd name="T12" fmla="*/ 0 60000 65536"/>
                  <a:gd name="T13" fmla="*/ 0 60000 65536"/>
                  <a:gd name="T14" fmla="*/ 0 60000 65536"/>
                  <a:gd name="T15" fmla="*/ 0 60000 65536"/>
                  <a:gd name="T16" fmla="*/ 0 60000 65536"/>
                  <a:gd name="T17" fmla="*/ 0 60000 65536"/>
                  <a:gd name="T18" fmla="*/ 0 w 26"/>
                  <a:gd name="T19" fmla="*/ 0 h 46"/>
                  <a:gd name="T20" fmla="*/ 26 w 26"/>
                  <a:gd name="T21" fmla="*/ 46 h 46"/>
                </a:gdLst>
                <a:ahLst/>
                <a:cxnLst>
                  <a:cxn ang="T12">
                    <a:pos x="T0" y="T1"/>
                  </a:cxn>
                  <a:cxn ang="T13">
                    <a:pos x="T2" y="T3"/>
                  </a:cxn>
                  <a:cxn ang="T14">
                    <a:pos x="T4" y="T5"/>
                  </a:cxn>
                  <a:cxn ang="T15">
                    <a:pos x="T6" y="T7"/>
                  </a:cxn>
                  <a:cxn ang="T16">
                    <a:pos x="T8" y="T9"/>
                  </a:cxn>
                  <a:cxn ang="T17">
                    <a:pos x="T10" y="T11"/>
                  </a:cxn>
                </a:cxnLst>
                <a:rect l="T18" t="T19" r="T20" b="T21"/>
                <a:pathLst>
                  <a:path w="26" h="46">
                    <a:moveTo>
                      <a:pt x="26" y="46"/>
                    </a:moveTo>
                    <a:lnTo>
                      <a:pt x="26" y="46"/>
                    </a:lnTo>
                    <a:lnTo>
                      <a:pt x="0" y="46"/>
                    </a:lnTo>
                    <a:lnTo>
                      <a:pt x="0" y="0"/>
                    </a:lnTo>
                    <a:lnTo>
                      <a:pt x="26" y="0"/>
                    </a:lnTo>
                    <a:lnTo>
                      <a:pt x="26" y="46"/>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06" name="Freeform 175">
                <a:extLst>
                  <a:ext uri="{FF2B5EF4-FFF2-40B4-BE49-F238E27FC236}">
                    <a16:creationId xmlns:a16="http://schemas.microsoft.com/office/drawing/2014/main" id="{748344AC-897A-430A-A2B6-80061704AC61}"/>
                  </a:ext>
                </a:extLst>
              </p:cNvPr>
              <p:cNvSpPr>
                <a:spLocks/>
              </p:cNvSpPr>
              <p:nvPr/>
            </p:nvSpPr>
            <p:spPr bwMode="auto">
              <a:xfrm>
                <a:off x="6713538" y="4024313"/>
                <a:ext cx="11113" cy="20638"/>
              </a:xfrm>
              <a:custGeom>
                <a:avLst/>
                <a:gdLst>
                  <a:gd name="T0" fmla="*/ 2147483646 w 27"/>
                  <a:gd name="T1" fmla="*/ 2147483646 h 46"/>
                  <a:gd name="T2" fmla="*/ 2147483646 w 27"/>
                  <a:gd name="T3" fmla="*/ 2147483646 h 46"/>
                  <a:gd name="T4" fmla="*/ 0 w 27"/>
                  <a:gd name="T5" fmla="*/ 2147483646 h 46"/>
                  <a:gd name="T6" fmla="*/ 0 w 27"/>
                  <a:gd name="T7" fmla="*/ 0 h 46"/>
                  <a:gd name="T8" fmla="*/ 2147483646 w 27"/>
                  <a:gd name="T9" fmla="*/ 0 h 46"/>
                  <a:gd name="T10" fmla="*/ 2147483646 w 27"/>
                  <a:gd name="T11" fmla="*/ 2147483646 h 46"/>
                  <a:gd name="T12" fmla="*/ 0 60000 65536"/>
                  <a:gd name="T13" fmla="*/ 0 60000 65536"/>
                  <a:gd name="T14" fmla="*/ 0 60000 65536"/>
                  <a:gd name="T15" fmla="*/ 0 60000 65536"/>
                  <a:gd name="T16" fmla="*/ 0 60000 65536"/>
                  <a:gd name="T17" fmla="*/ 0 60000 65536"/>
                  <a:gd name="T18" fmla="*/ 0 w 27"/>
                  <a:gd name="T19" fmla="*/ 0 h 46"/>
                  <a:gd name="T20" fmla="*/ 27 w 27"/>
                  <a:gd name="T21" fmla="*/ 46 h 46"/>
                </a:gdLst>
                <a:ahLst/>
                <a:cxnLst>
                  <a:cxn ang="T12">
                    <a:pos x="T0" y="T1"/>
                  </a:cxn>
                  <a:cxn ang="T13">
                    <a:pos x="T2" y="T3"/>
                  </a:cxn>
                  <a:cxn ang="T14">
                    <a:pos x="T4" y="T5"/>
                  </a:cxn>
                  <a:cxn ang="T15">
                    <a:pos x="T6" y="T7"/>
                  </a:cxn>
                  <a:cxn ang="T16">
                    <a:pos x="T8" y="T9"/>
                  </a:cxn>
                  <a:cxn ang="T17">
                    <a:pos x="T10" y="T11"/>
                  </a:cxn>
                </a:cxnLst>
                <a:rect l="T18" t="T19" r="T20" b="T21"/>
                <a:pathLst>
                  <a:path w="27" h="46">
                    <a:moveTo>
                      <a:pt x="27" y="46"/>
                    </a:moveTo>
                    <a:lnTo>
                      <a:pt x="27" y="46"/>
                    </a:lnTo>
                    <a:lnTo>
                      <a:pt x="0" y="46"/>
                    </a:lnTo>
                    <a:lnTo>
                      <a:pt x="0" y="0"/>
                    </a:lnTo>
                    <a:lnTo>
                      <a:pt x="27" y="0"/>
                    </a:lnTo>
                    <a:lnTo>
                      <a:pt x="27" y="46"/>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07" name="Freeform 176">
                <a:extLst>
                  <a:ext uri="{FF2B5EF4-FFF2-40B4-BE49-F238E27FC236}">
                    <a16:creationId xmlns:a16="http://schemas.microsoft.com/office/drawing/2014/main" id="{07D34847-5B13-43A9-81DF-73232A00965F}"/>
                  </a:ext>
                </a:extLst>
              </p:cNvPr>
              <p:cNvSpPr>
                <a:spLocks/>
              </p:cNvSpPr>
              <p:nvPr/>
            </p:nvSpPr>
            <p:spPr bwMode="auto">
              <a:xfrm>
                <a:off x="6740525" y="4024313"/>
                <a:ext cx="11113" cy="20638"/>
              </a:xfrm>
              <a:custGeom>
                <a:avLst/>
                <a:gdLst>
                  <a:gd name="T0" fmla="*/ 2147483646 w 27"/>
                  <a:gd name="T1" fmla="*/ 2147483646 h 46"/>
                  <a:gd name="T2" fmla="*/ 2147483646 w 27"/>
                  <a:gd name="T3" fmla="*/ 2147483646 h 46"/>
                  <a:gd name="T4" fmla="*/ 0 w 27"/>
                  <a:gd name="T5" fmla="*/ 2147483646 h 46"/>
                  <a:gd name="T6" fmla="*/ 0 w 27"/>
                  <a:gd name="T7" fmla="*/ 0 h 46"/>
                  <a:gd name="T8" fmla="*/ 2147483646 w 27"/>
                  <a:gd name="T9" fmla="*/ 0 h 46"/>
                  <a:gd name="T10" fmla="*/ 2147483646 w 27"/>
                  <a:gd name="T11" fmla="*/ 2147483646 h 46"/>
                  <a:gd name="T12" fmla="*/ 0 60000 65536"/>
                  <a:gd name="T13" fmla="*/ 0 60000 65536"/>
                  <a:gd name="T14" fmla="*/ 0 60000 65536"/>
                  <a:gd name="T15" fmla="*/ 0 60000 65536"/>
                  <a:gd name="T16" fmla="*/ 0 60000 65536"/>
                  <a:gd name="T17" fmla="*/ 0 60000 65536"/>
                  <a:gd name="T18" fmla="*/ 0 w 27"/>
                  <a:gd name="T19" fmla="*/ 0 h 46"/>
                  <a:gd name="T20" fmla="*/ 27 w 27"/>
                  <a:gd name="T21" fmla="*/ 46 h 46"/>
                </a:gdLst>
                <a:ahLst/>
                <a:cxnLst>
                  <a:cxn ang="T12">
                    <a:pos x="T0" y="T1"/>
                  </a:cxn>
                  <a:cxn ang="T13">
                    <a:pos x="T2" y="T3"/>
                  </a:cxn>
                  <a:cxn ang="T14">
                    <a:pos x="T4" y="T5"/>
                  </a:cxn>
                  <a:cxn ang="T15">
                    <a:pos x="T6" y="T7"/>
                  </a:cxn>
                  <a:cxn ang="T16">
                    <a:pos x="T8" y="T9"/>
                  </a:cxn>
                  <a:cxn ang="T17">
                    <a:pos x="T10" y="T11"/>
                  </a:cxn>
                </a:cxnLst>
                <a:rect l="T18" t="T19" r="T20" b="T21"/>
                <a:pathLst>
                  <a:path w="27" h="46">
                    <a:moveTo>
                      <a:pt x="27" y="46"/>
                    </a:moveTo>
                    <a:lnTo>
                      <a:pt x="27" y="46"/>
                    </a:lnTo>
                    <a:lnTo>
                      <a:pt x="0" y="46"/>
                    </a:lnTo>
                    <a:lnTo>
                      <a:pt x="0" y="0"/>
                    </a:lnTo>
                    <a:lnTo>
                      <a:pt x="27" y="0"/>
                    </a:lnTo>
                    <a:lnTo>
                      <a:pt x="27" y="46"/>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08" name="Freeform 177">
                <a:extLst>
                  <a:ext uri="{FF2B5EF4-FFF2-40B4-BE49-F238E27FC236}">
                    <a16:creationId xmlns:a16="http://schemas.microsoft.com/office/drawing/2014/main" id="{C9DFAA17-056C-4F1E-89DF-64FFEDA79087}"/>
                  </a:ext>
                </a:extLst>
              </p:cNvPr>
              <p:cNvSpPr>
                <a:spLocks noEditPoints="1"/>
              </p:cNvSpPr>
              <p:nvPr/>
            </p:nvSpPr>
            <p:spPr bwMode="auto">
              <a:xfrm>
                <a:off x="6654800" y="4086225"/>
                <a:ext cx="128588" cy="150813"/>
              </a:xfrm>
              <a:custGeom>
                <a:avLst/>
                <a:gdLst>
                  <a:gd name="T0" fmla="*/ 2147483646 w 308"/>
                  <a:gd name="T1" fmla="*/ 2147483646 h 359"/>
                  <a:gd name="T2" fmla="*/ 2147483646 w 308"/>
                  <a:gd name="T3" fmla="*/ 2147483646 h 359"/>
                  <a:gd name="T4" fmla="*/ 2147483646 w 308"/>
                  <a:gd name="T5" fmla="*/ 2147483646 h 359"/>
                  <a:gd name="T6" fmla="*/ 2147483646 w 308"/>
                  <a:gd name="T7" fmla="*/ 2147483646 h 359"/>
                  <a:gd name="T8" fmla="*/ 2147483646 w 308"/>
                  <a:gd name="T9" fmla="*/ 2147483646 h 359"/>
                  <a:gd name="T10" fmla="*/ 2147483646 w 308"/>
                  <a:gd name="T11" fmla="*/ 2147483646 h 359"/>
                  <a:gd name="T12" fmla="*/ 2147483646 w 308"/>
                  <a:gd name="T13" fmla="*/ 2147483646 h 359"/>
                  <a:gd name="T14" fmla="*/ 2147483646 w 308"/>
                  <a:gd name="T15" fmla="*/ 2147483646 h 359"/>
                  <a:gd name="T16" fmla="*/ 2147483646 w 308"/>
                  <a:gd name="T17" fmla="*/ 2147483646 h 359"/>
                  <a:gd name="T18" fmla="*/ 2147483646 w 308"/>
                  <a:gd name="T19" fmla="*/ 2147483646 h 359"/>
                  <a:gd name="T20" fmla="*/ 2147483646 w 308"/>
                  <a:gd name="T21" fmla="*/ 2147483646 h 359"/>
                  <a:gd name="T22" fmla="*/ 2147483646 w 308"/>
                  <a:gd name="T23" fmla="*/ 2147483646 h 359"/>
                  <a:gd name="T24" fmla="*/ 2147483646 w 308"/>
                  <a:gd name="T25" fmla="*/ 2147483646 h 359"/>
                  <a:gd name="T26" fmla="*/ 0 w 308"/>
                  <a:gd name="T27" fmla="*/ 2147483646 h 359"/>
                  <a:gd name="T28" fmla="*/ 0 w 308"/>
                  <a:gd name="T29" fmla="*/ 2147483646 h 359"/>
                  <a:gd name="T30" fmla="*/ 2147483646 w 308"/>
                  <a:gd name="T31" fmla="*/ 0 h 359"/>
                  <a:gd name="T32" fmla="*/ 2147483646 w 308"/>
                  <a:gd name="T33" fmla="*/ 0 h 359"/>
                  <a:gd name="T34" fmla="*/ 2147483646 w 308"/>
                  <a:gd name="T35" fmla="*/ 2147483646 h 359"/>
                  <a:gd name="T36" fmla="*/ 2147483646 w 308"/>
                  <a:gd name="T37" fmla="*/ 2147483646 h 359"/>
                  <a:gd name="T38" fmla="*/ 2147483646 w 308"/>
                  <a:gd name="T39" fmla="*/ 2147483646 h 35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08"/>
                  <a:gd name="T61" fmla="*/ 0 h 359"/>
                  <a:gd name="T62" fmla="*/ 308 w 308"/>
                  <a:gd name="T63" fmla="*/ 359 h 35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08" h="359">
                    <a:moveTo>
                      <a:pt x="57" y="40"/>
                    </a:moveTo>
                    <a:lnTo>
                      <a:pt x="57" y="40"/>
                    </a:lnTo>
                    <a:cubicBezTo>
                      <a:pt x="47" y="40"/>
                      <a:pt x="40" y="48"/>
                      <a:pt x="40" y="57"/>
                    </a:cubicBezTo>
                    <a:lnTo>
                      <a:pt x="40" y="302"/>
                    </a:lnTo>
                    <a:cubicBezTo>
                      <a:pt x="40" y="311"/>
                      <a:pt x="47" y="319"/>
                      <a:pt x="57" y="319"/>
                    </a:cubicBezTo>
                    <a:lnTo>
                      <a:pt x="251" y="319"/>
                    </a:lnTo>
                    <a:cubicBezTo>
                      <a:pt x="260" y="319"/>
                      <a:pt x="268" y="311"/>
                      <a:pt x="268" y="302"/>
                    </a:cubicBezTo>
                    <a:lnTo>
                      <a:pt x="268" y="57"/>
                    </a:lnTo>
                    <a:cubicBezTo>
                      <a:pt x="268" y="48"/>
                      <a:pt x="260" y="40"/>
                      <a:pt x="251" y="40"/>
                    </a:cubicBezTo>
                    <a:lnTo>
                      <a:pt x="57" y="40"/>
                    </a:lnTo>
                    <a:close/>
                    <a:moveTo>
                      <a:pt x="251" y="359"/>
                    </a:moveTo>
                    <a:lnTo>
                      <a:pt x="251" y="359"/>
                    </a:lnTo>
                    <a:lnTo>
                      <a:pt x="57" y="359"/>
                    </a:lnTo>
                    <a:cubicBezTo>
                      <a:pt x="25" y="359"/>
                      <a:pt x="0" y="333"/>
                      <a:pt x="0" y="302"/>
                    </a:cubicBezTo>
                    <a:lnTo>
                      <a:pt x="0" y="57"/>
                    </a:lnTo>
                    <a:cubicBezTo>
                      <a:pt x="0" y="26"/>
                      <a:pt x="25" y="0"/>
                      <a:pt x="57" y="0"/>
                    </a:cubicBezTo>
                    <a:lnTo>
                      <a:pt x="251" y="0"/>
                    </a:lnTo>
                    <a:cubicBezTo>
                      <a:pt x="282" y="0"/>
                      <a:pt x="308" y="26"/>
                      <a:pt x="308" y="57"/>
                    </a:cubicBezTo>
                    <a:lnTo>
                      <a:pt x="308" y="302"/>
                    </a:lnTo>
                    <a:cubicBezTo>
                      <a:pt x="308" y="333"/>
                      <a:pt x="282" y="359"/>
                      <a:pt x="251" y="359"/>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09" name="Freeform 178">
                <a:extLst>
                  <a:ext uri="{FF2B5EF4-FFF2-40B4-BE49-F238E27FC236}">
                    <a16:creationId xmlns:a16="http://schemas.microsoft.com/office/drawing/2014/main" id="{862CD031-AF62-4E1F-B4A1-9E3E35ADD67C}"/>
                  </a:ext>
                </a:extLst>
              </p:cNvPr>
              <p:cNvSpPr>
                <a:spLocks/>
              </p:cNvSpPr>
              <p:nvPr/>
            </p:nvSpPr>
            <p:spPr bwMode="auto">
              <a:xfrm>
                <a:off x="6686550" y="4076700"/>
                <a:ext cx="11113" cy="19050"/>
              </a:xfrm>
              <a:custGeom>
                <a:avLst/>
                <a:gdLst>
                  <a:gd name="T0" fmla="*/ 2147483646 w 26"/>
                  <a:gd name="T1" fmla="*/ 2147483646 h 46"/>
                  <a:gd name="T2" fmla="*/ 2147483646 w 26"/>
                  <a:gd name="T3" fmla="*/ 2147483646 h 46"/>
                  <a:gd name="T4" fmla="*/ 0 w 26"/>
                  <a:gd name="T5" fmla="*/ 2147483646 h 46"/>
                  <a:gd name="T6" fmla="*/ 0 w 26"/>
                  <a:gd name="T7" fmla="*/ 0 h 46"/>
                  <a:gd name="T8" fmla="*/ 2147483646 w 26"/>
                  <a:gd name="T9" fmla="*/ 0 h 46"/>
                  <a:gd name="T10" fmla="*/ 2147483646 w 26"/>
                  <a:gd name="T11" fmla="*/ 2147483646 h 46"/>
                  <a:gd name="T12" fmla="*/ 0 60000 65536"/>
                  <a:gd name="T13" fmla="*/ 0 60000 65536"/>
                  <a:gd name="T14" fmla="*/ 0 60000 65536"/>
                  <a:gd name="T15" fmla="*/ 0 60000 65536"/>
                  <a:gd name="T16" fmla="*/ 0 60000 65536"/>
                  <a:gd name="T17" fmla="*/ 0 60000 65536"/>
                  <a:gd name="T18" fmla="*/ 0 w 26"/>
                  <a:gd name="T19" fmla="*/ 0 h 46"/>
                  <a:gd name="T20" fmla="*/ 26 w 26"/>
                  <a:gd name="T21" fmla="*/ 46 h 46"/>
                </a:gdLst>
                <a:ahLst/>
                <a:cxnLst>
                  <a:cxn ang="T12">
                    <a:pos x="T0" y="T1"/>
                  </a:cxn>
                  <a:cxn ang="T13">
                    <a:pos x="T2" y="T3"/>
                  </a:cxn>
                  <a:cxn ang="T14">
                    <a:pos x="T4" y="T5"/>
                  </a:cxn>
                  <a:cxn ang="T15">
                    <a:pos x="T6" y="T7"/>
                  </a:cxn>
                  <a:cxn ang="T16">
                    <a:pos x="T8" y="T9"/>
                  </a:cxn>
                  <a:cxn ang="T17">
                    <a:pos x="T10" y="T11"/>
                  </a:cxn>
                </a:cxnLst>
                <a:rect l="T18" t="T19" r="T20" b="T21"/>
                <a:pathLst>
                  <a:path w="26" h="46">
                    <a:moveTo>
                      <a:pt x="26" y="46"/>
                    </a:moveTo>
                    <a:lnTo>
                      <a:pt x="26" y="46"/>
                    </a:lnTo>
                    <a:lnTo>
                      <a:pt x="0" y="46"/>
                    </a:lnTo>
                    <a:lnTo>
                      <a:pt x="0" y="0"/>
                    </a:lnTo>
                    <a:lnTo>
                      <a:pt x="26" y="0"/>
                    </a:lnTo>
                    <a:lnTo>
                      <a:pt x="26" y="46"/>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10" name="Freeform 179">
                <a:extLst>
                  <a:ext uri="{FF2B5EF4-FFF2-40B4-BE49-F238E27FC236}">
                    <a16:creationId xmlns:a16="http://schemas.microsoft.com/office/drawing/2014/main" id="{8BA7E9FA-D433-43E0-BC65-CE19F241BA2E}"/>
                  </a:ext>
                </a:extLst>
              </p:cNvPr>
              <p:cNvSpPr>
                <a:spLocks/>
              </p:cNvSpPr>
              <p:nvPr/>
            </p:nvSpPr>
            <p:spPr bwMode="auto">
              <a:xfrm>
                <a:off x="6713538" y="4076700"/>
                <a:ext cx="11113" cy="19050"/>
              </a:xfrm>
              <a:custGeom>
                <a:avLst/>
                <a:gdLst>
                  <a:gd name="T0" fmla="*/ 2147483646 w 27"/>
                  <a:gd name="T1" fmla="*/ 2147483646 h 46"/>
                  <a:gd name="T2" fmla="*/ 2147483646 w 27"/>
                  <a:gd name="T3" fmla="*/ 2147483646 h 46"/>
                  <a:gd name="T4" fmla="*/ 0 w 27"/>
                  <a:gd name="T5" fmla="*/ 2147483646 h 46"/>
                  <a:gd name="T6" fmla="*/ 0 w 27"/>
                  <a:gd name="T7" fmla="*/ 0 h 46"/>
                  <a:gd name="T8" fmla="*/ 2147483646 w 27"/>
                  <a:gd name="T9" fmla="*/ 0 h 46"/>
                  <a:gd name="T10" fmla="*/ 2147483646 w 27"/>
                  <a:gd name="T11" fmla="*/ 2147483646 h 46"/>
                  <a:gd name="T12" fmla="*/ 0 60000 65536"/>
                  <a:gd name="T13" fmla="*/ 0 60000 65536"/>
                  <a:gd name="T14" fmla="*/ 0 60000 65536"/>
                  <a:gd name="T15" fmla="*/ 0 60000 65536"/>
                  <a:gd name="T16" fmla="*/ 0 60000 65536"/>
                  <a:gd name="T17" fmla="*/ 0 60000 65536"/>
                  <a:gd name="T18" fmla="*/ 0 w 27"/>
                  <a:gd name="T19" fmla="*/ 0 h 46"/>
                  <a:gd name="T20" fmla="*/ 27 w 27"/>
                  <a:gd name="T21" fmla="*/ 46 h 46"/>
                </a:gdLst>
                <a:ahLst/>
                <a:cxnLst>
                  <a:cxn ang="T12">
                    <a:pos x="T0" y="T1"/>
                  </a:cxn>
                  <a:cxn ang="T13">
                    <a:pos x="T2" y="T3"/>
                  </a:cxn>
                  <a:cxn ang="T14">
                    <a:pos x="T4" y="T5"/>
                  </a:cxn>
                  <a:cxn ang="T15">
                    <a:pos x="T6" y="T7"/>
                  </a:cxn>
                  <a:cxn ang="T16">
                    <a:pos x="T8" y="T9"/>
                  </a:cxn>
                  <a:cxn ang="T17">
                    <a:pos x="T10" y="T11"/>
                  </a:cxn>
                </a:cxnLst>
                <a:rect l="T18" t="T19" r="T20" b="T21"/>
                <a:pathLst>
                  <a:path w="27" h="46">
                    <a:moveTo>
                      <a:pt x="27" y="46"/>
                    </a:moveTo>
                    <a:lnTo>
                      <a:pt x="27" y="46"/>
                    </a:lnTo>
                    <a:lnTo>
                      <a:pt x="0" y="46"/>
                    </a:lnTo>
                    <a:lnTo>
                      <a:pt x="0" y="0"/>
                    </a:lnTo>
                    <a:lnTo>
                      <a:pt x="27" y="0"/>
                    </a:lnTo>
                    <a:lnTo>
                      <a:pt x="27" y="46"/>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11" name="Freeform 180">
                <a:extLst>
                  <a:ext uri="{FF2B5EF4-FFF2-40B4-BE49-F238E27FC236}">
                    <a16:creationId xmlns:a16="http://schemas.microsoft.com/office/drawing/2014/main" id="{3399F776-18E2-4FCA-AAF9-A6DDAB4DFC9E}"/>
                  </a:ext>
                </a:extLst>
              </p:cNvPr>
              <p:cNvSpPr>
                <a:spLocks/>
              </p:cNvSpPr>
              <p:nvPr/>
            </p:nvSpPr>
            <p:spPr bwMode="auto">
              <a:xfrm>
                <a:off x="6740525" y="4076700"/>
                <a:ext cx="11113" cy="19050"/>
              </a:xfrm>
              <a:custGeom>
                <a:avLst/>
                <a:gdLst>
                  <a:gd name="T0" fmla="*/ 2147483646 w 27"/>
                  <a:gd name="T1" fmla="*/ 2147483646 h 46"/>
                  <a:gd name="T2" fmla="*/ 2147483646 w 27"/>
                  <a:gd name="T3" fmla="*/ 2147483646 h 46"/>
                  <a:gd name="T4" fmla="*/ 0 w 27"/>
                  <a:gd name="T5" fmla="*/ 2147483646 h 46"/>
                  <a:gd name="T6" fmla="*/ 0 w 27"/>
                  <a:gd name="T7" fmla="*/ 0 h 46"/>
                  <a:gd name="T8" fmla="*/ 2147483646 w 27"/>
                  <a:gd name="T9" fmla="*/ 0 h 46"/>
                  <a:gd name="T10" fmla="*/ 2147483646 w 27"/>
                  <a:gd name="T11" fmla="*/ 2147483646 h 46"/>
                  <a:gd name="T12" fmla="*/ 0 60000 65536"/>
                  <a:gd name="T13" fmla="*/ 0 60000 65536"/>
                  <a:gd name="T14" fmla="*/ 0 60000 65536"/>
                  <a:gd name="T15" fmla="*/ 0 60000 65536"/>
                  <a:gd name="T16" fmla="*/ 0 60000 65536"/>
                  <a:gd name="T17" fmla="*/ 0 60000 65536"/>
                  <a:gd name="T18" fmla="*/ 0 w 27"/>
                  <a:gd name="T19" fmla="*/ 0 h 46"/>
                  <a:gd name="T20" fmla="*/ 27 w 27"/>
                  <a:gd name="T21" fmla="*/ 46 h 46"/>
                </a:gdLst>
                <a:ahLst/>
                <a:cxnLst>
                  <a:cxn ang="T12">
                    <a:pos x="T0" y="T1"/>
                  </a:cxn>
                  <a:cxn ang="T13">
                    <a:pos x="T2" y="T3"/>
                  </a:cxn>
                  <a:cxn ang="T14">
                    <a:pos x="T4" y="T5"/>
                  </a:cxn>
                  <a:cxn ang="T15">
                    <a:pos x="T6" y="T7"/>
                  </a:cxn>
                  <a:cxn ang="T16">
                    <a:pos x="T8" y="T9"/>
                  </a:cxn>
                  <a:cxn ang="T17">
                    <a:pos x="T10" y="T11"/>
                  </a:cxn>
                </a:cxnLst>
                <a:rect l="T18" t="T19" r="T20" b="T21"/>
                <a:pathLst>
                  <a:path w="27" h="46">
                    <a:moveTo>
                      <a:pt x="27" y="46"/>
                    </a:moveTo>
                    <a:lnTo>
                      <a:pt x="27" y="46"/>
                    </a:lnTo>
                    <a:lnTo>
                      <a:pt x="0" y="46"/>
                    </a:lnTo>
                    <a:lnTo>
                      <a:pt x="0" y="0"/>
                    </a:lnTo>
                    <a:lnTo>
                      <a:pt x="27" y="0"/>
                    </a:lnTo>
                    <a:lnTo>
                      <a:pt x="27" y="46"/>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12" name="Freeform 181">
                <a:extLst>
                  <a:ext uri="{FF2B5EF4-FFF2-40B4-BE49-F238E27FC236}">
                    <a16:creationId xmlns:a16="http://schemas.microsoft.com/office/drawing/2014/main" id="{95D62CDA-834F-4A17-9FCB-95F372A6472D}"/>
                  </a:ext>
                </a:extLst>
              </p:cNvPr>
              <p:cNvSpPr>
                <a:spLocks/>
              </p:cNvSpPr>
              <p:nvPr/>
            </p:nvSpPr>
            <p:spPr bwMode="auto">
              <a:xfrm>
                <a:off x="6686550" y="4229100"/>
                <a:ext cx="11113" cy="19050"/>
              </a:xfrm>
              <a:custGeom>
                <a:avLst/>
                <a:gdLst>
                  <a:gd name="T0" fmla="*/ 2147483646 w 26"/>
                  <a:gd name="T1" fmla="*/ 2147483646 h 46"/>
                  <a:gd name="T2" fmla="*/ 2147483646 w 26"/>
                  <a:gd name="T3" fmla="*/ 2147483646 h 46"/>
                  <a:gd name="T4" fmla="*/ 0 w 26"/>
                  <a:gd name="T5" fmla="*/ 2147483646 h 46"/>
                  <a:gd name="T6" fmla="*/ 0 w 26"/>
                  <a:gd name="T7" fmla="*/ 0 h 46"/>
                  <a:gd name="T8" fmla="*/ 2147483646 w 26"/>
                  <a:gd name="T9" fmla="*/ 0 h 46"/>
                  <a:gd name="T10" fmla="*/ 2147483646 w 26"/>
                  <a:gd name="T11" fmla="*/ 2147483646 h 46"/>
                  <a:gd name="T12" fmla="*/ 0 60000 65536"/>
                  <a:gd name="T13" fmla="*/ 0 60000 65536"/>
                  <a:gd name="T14" fmla="*/ 0 60000 65536"/>
                  <a:gd name="T15" fmla="*/ 0 60000 65536"/>
                  <a:gd name="T16" fmla="*/ 0 60000 65536"/>
                  <a:gd name="T17" fmla="*/ 0 60000 65536"/>
                  <a:gd name="T18" fmla="*/ 0 w 26"/>
                  <a:gd name="T19" fmla="*/ 0 h 46"/>
                  <a:gd name="T20" fmla="*/ 26 w 26"/>
                  <a:gd name="T21" fmla="*/ 46 h 46"/>
                </a:gdLst>
                <a:ahLst/>
                <a:cxnLst>
                  <a:cxn ang="T12">
                    <a:pos x="T0" y="T1"/>
                  </a:cxn>
                  <a:cxn ang="T13">
                    <a:pos x="T2" y="T3"/>
                  </a:cxn>
                  <a:cxn ang="T14">
                    <a:pos x="T4" y="T5"/>
                  </a:cxn>
                  <a:cxn ang="T15">
                    <a:pos x="T6" y="T7"/>
                  </a:cxn>
                  <a:cxn ang="T16">
                    <a:pos x="T8" y="T9"/>
                  </a:cxn>
                  <a:cxn ang="T17">
                    <a:pos x="T10" y="T11"/>
                  </a:cxn>
                </a:cxnLst>
                <a:rect l="T18" t="T19" r="T20" b="T21"/>
                <a:pathLst>
                  <a:path w="26" h="46">
                    <a:moveTo>
                      <a:pt x="26" y="46"/>
                    </a:moveTo>
                    <a:lnTo>
                      <a:pt x="26" y="46"/>
                    </a:lnTo>
                    <a:lnTo>
                      <a:pt x="0" y="46"/>
                    </a:lnTo>
                    <a:lnTo>
                      <a:pt x="0" y="0"/>
                    </a:lnTo>
                    <a:lnTo>
                      <a:pt x="26" y="0"/>
                    </a:lnTo>
                    <a:lnTo>
                      <a:pt x="26" y="46"/>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13" name="Freeform 182">
                <a:extLst>
                  <a:ext uri="{FF2B5EF4-FFF2-40B4-BE49-F238E27FC236}">
                    <a16:creationId xmlns:a16="http://schemas.microsoft.com/office/drawing/2014/main" id="{517321FF-8CA6-45C8-9EEE-D203D2374163}"/>
                  </a:ext>
                </a:extLst>
              </p:cNvPr>
              <p:cNvSpPr>
                <a:spLocks/>
              </p:cNvSpPr>
              <p:nvPr/>
            </p:nvSpPr>
            <p:spPr bwMode="auto">
              <a:xfrm>
                <a:off x="6713538" y="4229100"/>
                <a:ext cx="11113" cy="19050"/>
              </a:xfrm>
              <a:custGeom>
                <a:avLst/>
                <a:gdLst>
                  <a:gd name="T0" fmla="*/ 2147483646 w 27"/>
                  <a:gd name="T1" fmla="*/ 2147483646 h 46"/>
                  <a:gd name="T2" fmla="*/ 2147483646 w 27"/>
                  <a:gd name="T3" fmla="*/ 2147483646 h 46"/>
                  <a:gd name="T4" fmla="*/ 0 w 27"/>
                  <a:gd name="T5" fmla="*/ 2147483646 h 46"/>
                  <a:gd name="T6" fmla="*/ 0 w 27"/>
                  <a:gd name="T7" fmla="*/ 0 h 46"/>
                  <a:gd name="T8" fmla="*/ 2147483646 w 27"/>
                  <a:gd name="T9" fmla="*/ 0 h 46"/>
                  <a:gd name="T10" fmla="*/ 2147483646 w 27"/>
                  <a:gd name="T11" fmla="*/ 2147483646 h 46"/>
                  <a:gd name="T12" fmla="*/ 0 60000 65536"/>
                  <a:gd name="T13" fmla="*/ 0 60000 65536"/>
                  <a:gd name="T14" fmla="*/ 0 60000 65536"/>
                  <a:gd name="T15" fmla="*/ 0 60000 65536"/>
                  <a:gd name="T16" fmla="*/ 0 60000 65536"/>
                  <a:gd name="T17" fmla="*/ 0 60000 65536"/>
                  <a:gd name="T18" fmla="*/ 0 w 27"/>
                  <a:gd name="T19" fmla="*/ 0 h 46"/>
                  <a:gd name="T20" fmla="*/ 27 w 27"/>
                  <a:gd name="T21" fmla="*/ 46 h 46"/>
                </a:gdLst>
                <a:ahLst/>
                <a:cxnLst>
                  <a:cxn ang="T12">
                    <a:pos x="T0" y="T1"/>
                  </a:cxn>
                  <a:cxn ang="T13">
                    <a:pos x="T2" y="T3"/>
                  </a:cxn>
                  <a:cxn ang="T14">
                    <a:pos x="T4" y="T5"/>
                  </a:cxn>
                  <a:cxn ang="T15">
                    <a:pos x="T6" y="T7"/>
                  </a:cxn>
                  <a:cxn ang="T16">
                    <a:pos x="T8" y="T9"/>
                  </a:cxn>
                  <a:cxn ang="T17">
                    <a:pos x="T10" y="T11"/>
                  </a:cxn>
                </a:cxnLst>
                <a:rect l="T18" t="T19" r="T20" b="T21"/>
                <a:pathLst>
                  <a:path w="27" h="46">
                    <a:moveTo>
                      <a:pt x="27" y="46"/>
                    </a:moveTo>
                    <a:lnTo>
                      <a:pt x="27" y="46"/>
                    </a:lnTo>
                    <a:lnTo>
                      <a:pt x="0" y="46"/>
                    </a:lnTo>
                    <a:lnTo>
                      <a:pt x="0" y="0"/>
                    </a:lnTo>
                    <a:lnTo>
                      <a:pt x="27" y="0"/>
                    </a:lnTo>
                    <a:lnTo>
                      <a:pt x="27" y="46"/>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14" name="Freeform 183">
                <a:extLst>
                  <a:ext uri="{FF2B5EF4-FFF2-40B4-BE49-F238E27FC236}">
                    <a16:creationId xmlns:a16="http://schemas.microsoft.com/office/drawing/2014/main" id="{425C17B2-B8A5-4598-89BC-7762C4B4328F}"/>
                  </a:ext>
                </a:extLst>
              </p:cNvPr>
              <p:cNvSpPr>
                <a:spLocks/>
              </p:cNvSpPr>
              <p:nvPr/>
            </p:nvSpPr>
            <p:spPr bwMode="auto">
              <a:xfrm>
                <a:off x="6740525" y="4229100"/>
                <a:ext cx="11113" cy="19050"/>
              </a:xfrm>
              <a:custGeom>
                <a:avLst/>
                <a:gdLst>
                  <a:gd name="T0" fmla="*/ 2147483646 w 27"/>
                  <a:gd name="T1" fmla="*/ 2147483646 h 46"/>
                  <a:gd name="T2" fmla="*/ 2147483646 w 27"/>
                  <a:gd name="T3" fmla="*/ 2147483646 h 46"/>
                  <a:gd name="T4" fmla="*/ 0 w 27"/>
                  <a:gd name="T5" fmla="*/ 2147483646 h 46"/>
                  <a:gd name="T6" fmla="*/ 0 w 27"/>
                  <a:gd name="T7" fmla="*/ 0 h 46"/>
                  <a:gd name="T8" fmla="*/ 2147483646 w 27"/>
                  <a:gd name="T9" fmla="*/ 0 h 46"/>
                  <a:gd name="T10" fmla="*/ 2147483646 w 27"/>
                  <a:gd name="T11" fmla="*/ 2147483646 h 46"/>
                  <a:gd name="T12" fmla="*/ 0 60000 65536"/>
                  <a:gd name="T13" fmla="*/ 0 60000 65536"/>
                  <a:gd name="T14" fmla="*/ 0 60000 65536"/>
                  <a:gd name="T15" fmla="*/ 0 60000 65536"/>
                  <a:gd name="T16" fmla="*/ 0 60000 65536"/>
                  <a:gd name="T17" fmla="*/ 0 60000 65536"/>
                  <a:gd name="T18" fmla="*/ 0 w 27"/>
                  <a:gd name="T19" fmla="*/ 0 h 46"/>
                  <a:gd name="T20" fmla="*/ 27 w 27"/>
                  <a:gd name="T21" fmla="*/ 46 h 46"/>
                </a:gdLst>
                <a:ahLst/>
                <a:cxnLst>
                  <a:cxn ang="T12">
                    <a:pos x="T0" y="T1"/>
                  </a:cxn>
                  <a:cxn ang="T13">
                    <a:pos x="T2" y="T3"/>
                  </a:cxn>
                  <a:cxn ang="T14">
                    <a:pos x="T4" y="T5"/>
                  </a:cxn>
                  <a:cxn ang="T15">
                    <a:pos x="T6" y="T7"/>
                  </a:cxn>
                  <a:cxn ang="T16">
                    <a:pos x="T8" y="T9"/>
                  </a:cxn>
                  <a:cxn ang="T17">
                    <a:pos x="T10" y="T11"/>
                  </a:cxn>
                </a:cxnLst>
                <a:rect l="T18" t="T19" r="T20" b="T21"/>
                <a:pathLst>
                  <a:path w="27" h="46">
                    <a:moveTo>
                      <a:pt x="27" y="46"/>
                    </a:moveTo>
                    <a:lnTo>
                      <a:pt x="27" y="46"/>
                    </a:lnTo>
                    <a:lnTo>
                      <a:pt x="0" y="46"/>
                    </a:lnTo>
                    <a:lnTo>
                      <a:pt x="0" y="0"/>
                    </a:lnTo>
                    <a:lnTo>
                      <a:pt x="27" y="0"/>
                    </a:lnTo>
                    <a:lnTo>
                      <a:pt x="27" y="46"/>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15" name="Freeform 184">
                <a:extLst>
                  <a:ext uri="{FF2B5EF4-FFF2-40B4-BE49-F238E27FC236}">
                    <a16:creationId xmlns:a16="http://schemas.microsoft.com/office/drawing/2014/main" id="{A631B47C-DF16-4594-897D-12BD82679273}"/>
                  </a:ext>
                </a:extLst>
              </p:cNvPr>
              <p:cNvSpPr>
                <a:spLocks/>
              </p:cNvSpPr>
              <p:nvPr/>
            </p:nvSpPr>
            <p:spPr bwMode="auto">
              <a:xfrm>
                <a:off x="6497638" y="3892550"/>
                <a:ext cx="165100" cy="44450"/>
              </a:xfrm>
              <a:custGeom>
                <a:avLst/>
                <a:gdLst>
                  <a:gd name="T0" fmla="*/ 2147483646 w 393"/>
                  <a:gd name="T1" fmla="*/ 2147483646 h 107"/>
                  <a:gd name="T2" fmla="*/ 2147483646 w 393"/>
                  <a:gd name="T3" fmla="*/ 2147483646 h 107"/>
                  <a:gd name="T4" fmla="*/ 2147483646 w 393"/>
                  <a:gd name="T5" fmla="*/ 2147483646 h 107"/>
                  <a:gd name="T6" fmla="*/ 2147483646 w 393"/>
                  <a:gd name="T7" fmla="*/ 2147483646 h 107"/>
                  <a:gd name="T8" fmla="*/ 0 w 393"/>
                  <a:gd name="T9" fmla="*/ 2147483646 h 107"/>
                  <a:gd name="T10" fmla="*/ 0 w 393"/>
                  <a:gd name="T11" fmla="*/ 0 h 107"/>
                  <a:gd name="T12" fmla="*/ 2147483646 w 393"/>
                  <a:gd name="T13" fmla="*/ 0 h 107"/>
                  <a:gd name="T14" fmla="*/ 2147483646 w 393"/>
                  <a:gd name="T15" fmla="*/ 2147483646 h 107"/>
                  <a:gd name="T16" fmla="*/ 2147483646 w 393"/>
                  <a:gd name="T17" fmla="*/ 2147483646 h 107"/>
                  <a:gd name="T18" fmla="*/ 2147483646 w 393"/>
                  <a:gd name="T19" fmla="*/ 2147483646 h 1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3"/>
                  <a:gd name="T31" fmla="*/ 0 h 107"/>
                  <a:gd name="T32" fmla="*/ 393 w 393"/>
                  <a:gd name="T33" fmla="*/ 107 h 10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3" h="107">
                    <a:moveTo>
                      <a:pt x="393" y="107"/>
                    </a:moveTo>
                    <a:lnTo>
                      <a:pt x="393" y="107"/>
                    </a:lnTo>
                    <a:lnTo>
                      <a:pt x="332" y="107"/>
                    </a:lnTo>
                    <a:lnTo>
                      <a:pt x="256" y="27"/>
                    </a:lnTo>
                    <a:lnTo>
                      <a:pt x="0" y="27"/>
                    </a:lnTo>
                    <a:lnTo>
                      <a:pt x="0" y="0"/>
                    </a:lnTo>
                    <a:lnTo>
                      <a:pt x="268" y="0"/>
                    </a:lnTo>
                    <a:lnTo>
                      <a:pt x="343" y="80"/>
                    </a:lnTo>
                    <a:lnTo>
                      <a:pt x="393" y="80"/>
                    </a:lnTo>
                    <a:lnTo>
                      <a:pt x="393" y="107"/>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16" name="Freeform 185">
                <a:extLst>
                  <a:ext uri="{FF2B5EF4-FFF2-40B4-BE49-F238E27FC236}">
                    <a16:creationId xmlns:a16="http://schemas.microsoft.com/office/drawing/2014/main" id="{303E898C-3DBD-47EF-AB63-6E41A835BA12}"/>
                  </a:ext>
                </a:extLst>
              </p:cNvPr>
              <p:cNvSpPr>
                <a:spLocks/>
              </p:cNvSpPr>
              <p:nvPr/>
            </p:nvSpPr>
            <p:spPr bwMode="auto">
              <a:xfrm>
                <a:off x="6775450" y="3925888"/>
                <a:ext cx="52388" cy="11113"/>
              </a:xfrm>
              <a:custGeom>
                <a:avLst/>
                <a:gdLst>
                  <a:gd name="T0" fmla="*/ 2147483646 w 126"/>
                  <a:gd name="T1" fmla="*/ 2147483646 h 27"/>
                  <a:gd name="T2" fmla="*/ 2147483646 w 126"/>
                  <a:gd name="T3" fmla="*/ 2147483646 h 27"/>
                  <a:gd name="T4" fmla="*/ 0 w 126"/>
                  <a:gd name="T5" fmla="*/ 2147483646 h 27"/>
                  <a:gd name="T6" fmla="*/ 0 w 126"/>
                  <a:gd name="T7" fmla="*/ 0 h 27"/>
                  <a:gd name="T8" fmla="*/ 2147483646 w 126"/>
                  <a:gd name="T9" fmla="*/ 0 h 27"/>
                  <a:gd name="T10" fmla="*/ 2147483646 w 126"/>
                  <a:gd name="T11" fmla="*/ 2147483646 h 27"/>
                  <a:gd name="T12" fmla="*/ 0 60000 65536"/>
                  <a:gd name="T13" fmla="*/ 0 60000 65536"/>
                  <a:gd name="T14" fmla="*/ 0 60000 65536"/>
                  <a:gd name="T15" fmla="*/ 0 60000 65536"/>
                  <a:gd name="T16" fmla="*/ 0 60000 65536"/>
                  <a:gd name="T17" fmla="*/ 0 60000 65536"/>
                  <a:gd name="T18" fmla="*/ 0 w 126"/>
                  <a:gd name="T19" fmla="*/ 0 h 27"/>
                  <a:gd name="T20" fmla="*/ 126 w 126"/>
                  <a:gd name="T21" fmla="*/ 27 h 27"/>
                </a:gdLst>
                <a:ahLst/>
                <a:cxnLst>
                  <a:cxn ang="T12">
                    <a:pos x="T0" y="T1"/>
                  </a:cxn>
                  <a:cxn ang="T13">
                    <a:pos x="T2" y="T3"/>
                  </a:cxn>
                  <a:cxn ang="T14">
                    <a:pos x="T4" y="T5"/>
                  </a:cxn>
                  <a:cxn ang="T15">
                    <a:pos x="T6" y="T7"/>
                  </a:cxn>
                  <a:cxn ang="T16">
                    <a:pos x="T8" y="T9"/>
                  </a:cxn>
                  <a:cxn ang="T17">
                    <a:pos x="T10" y="T11"/>
                  </a:cxn>
                </a:cxnLst>
                <a:rect l="T18" t="T19" r="T20" b="T21"/>
                <a:pathLst>
                  <a:path w="126" h="27">
                    <a:moveTo>
                      <a:pt x="126" y="27"/>
                    </a:moveTo>
                    <a:lnTo>
                      <a:pt x="126" y="27"/>
                    </a:lnTo>
                    <a:lnTo>
                      <a:pt x="0" y="27"/>
                    </a:lnTo>
                    <a:lnTo>
                      <a:pt x="0" y="0"/>
                    </a:lnTo>
                    <a:lnTo>
                      <a:pt x="126" y="0"/>
                    </a:lnTo>
                    <a:lnTo>
                      <a:pt x="126" y="27"/>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17" name="Freeform 186">
                <a:extLst>
                  <a:ext uri="{FF2B5EF4-FFF2-40B4-BE49-F238E27FC236}">
                    <a16:creationId xmlns:a16="http://schemas.microsoft.com/office/drawing/2014/main" id="{2657EBDF-D26A-4572-92D8-EECC27EEE3C4}"/>
                  </a:ext>
                </a:extLst>
              </p:cNvPr>
              <p:cNvSpPr>
                <a:spLocks/>
              </p:cNvSpPr>
              <p:nvPr/>
            </p:nvSpPr>
            <p:spPr bwMode="auto">
              <a:xfrm>
                <a:off x="6483350" y="3965575"/>
                <a:ext cx="180975" cy="39688"/>
              </a:xfrm>
              <a:custGeom>
                <a:avLst/>
                <a:gdLst>
                  <a:gd name="T0" fmla="*/ 2147483646 w 433"/>
                  <a:gd name="T1" fmla="*/ 2147483646 h 94"/>
                  <a:gd name="T2" fmla="*/ 2147483646 w 433"/>
                  <a:gd name="T3" fmla="*/ 2147483646 h 94"/>
                  <a:gd name="T4" fmla="*/ 2147483646 w 433"/>
                  <a:gd name="T5" fmla="*/ 2147483646 h 94"/>
                  <a:gd name="T6" fmla="*/ 2147483646 w 433"/>
                  <a:gd name="T7" fmla="*/ 2147483646 h 94"/>
                  <a:gd name="T8" fmla="*/ 0 w 433"/>
                  <a:gd name="T9" fmla="*/ 2147483646 h 94"/>
                  <a:gd name="T10" fmla="*/ 0 w 433"/>
                  <a:gd name="T11" fmla="*/ 0 h 94"/>
                  <a:gd name="T12" fmla="*/ 2147483646 w 433"/>
                  <a:gd name="T13" fmla="*/ 0 h 94"/>
                  <a:gd name="T14" fmla="*/ 2147483646 w 433"/>
                  <a:gd name="T15" fmla="*/ 2147483646 h 94"/>
                  <a:gd name="T16" fmla="*/ 2147483646 w 433"/>
                  <a:gd name="T17" fmla="*/ 2147483646 h 94"/>
                  <a:gd name="T18" fmla="*/ 2147483646 w 433"/>
                  <a:gd name="T19" fmla="*/ 2147483646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3"/>
                  <a:gd name="T31" fmla="*/ 0 h 94"/>
                  <a:gd name="T32" fmla="*/ 433 w 433"/>
                  <a:gd name="T33" fmla="*/ 94 h 9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3" h="94">
                    <a:moveTo>
                      <a:pt x="433" y="94"/>
                    </a:moveTo>
                    <a:lnTo>
                      <a:pt x="433" y="94"/>
                    </a:lnTo>
                    <a:lnTo>
                      <a:pt x="336" y="94"/>
                    </a:lnTo>
                    <a:lnTo>
                      <a:pt x="265" y="26"/>
                    </a:lnTo>
                    <a:lnTo>
                      <a:pt x="0" y="26"/>
                    </a:lnTo>
                    <a:lnTo>
                      <a:pt x="0" y="0"/>
                    </a:lnTo>
                    <a:lnTo>
                      <a:pt x="276" y="0"/>
                    </a:lnTo>
                    <a:lnTo>
                      <a:pt x="347" y="68"/>
                    </a:lnTo>
                    <a:lnTo>
                      <a:pt x="433" y="68"/>
                    </a:lnTo>
                    <a:lnTo>
                      <a:pt x="433" y="94"/>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18" name="Freeform 187">
                <a:extLst>
                  <a:ext uri="{FF2B5EF4-FFF2-40B4-BE49-F238E27FC236}">
                    <a16:creationId xmlns:a16="http://schemas.microsoft.com/office/drawing/2014/main" id="{64886136-0672-4AEB-B271-963B2F284870}"/>
                  </a:ext>
                </a:extLst>
              </p:cNvPr>
              <p:cNvSpPr>
                <a:spLocks/>
              </p:cNvSpPr>
              <p:nvPr/>
            </p:nvSpPr>
            <p:spPr bwMode="auto">
              <a:xfrm>
                <a:off x="6440488" y="4127500"/>
                <a:ext cx="222250" cy="39688"/>
              </a:xfrm>
              <a:custGeom>
                <a:avLst/>
                <a:gdLst>
                  <a:gd name="T0" fmla="*/ 2147483646 w 532"/>
                  <a:gd name="T1" fmla="*/ 2147483646 h 94"/>
                  <a:gd name="T2" fmla="*/ 2147483646 w 532"/>
                  <a:gd name="T3" fmla="*/ 2147483646 h 94"/>
                  <a:gd name="T4" fmla="*/ 0 w 532"/>
                  <a:gd name="T5" fmla="*/ 2147483646 h 94"/>
                  <a:gd name="T6" fmla="*/ 0 w 532"/>
                  <a:gd name="T7" fmla="*/ 2147483646 h 94"/>
                  <a:gd name="T8" fmla="*/ 2147483646 w 532"/>
                  <a:gd name="T9" fmla="*/ 2147483646 h 94"/>
                  <a:gd name="T10" fmla="*/ 2147483646 w 532"/>
                  <a:gd name="T11" fmla="*/ 0 h 94"/>
                  <a:gd name="T12" fmla="*/ 2147483646 w 532"/>
                  <a:gd name="T13" fmla="*/ 0 h 94"/>
                  <a:gd name="T14" fmla="*/ 2147483646 w 532"/>
                  <a:gd name="T15" fmla="*/ 2147483646 h 94"/>
                  <a:gd name="T16" fmla="*/ 2147483646 w 532"/>
                  <a:gd name="T17" fmla="*/ 2147483646 h 94"/>
                  <a:gd name="T18" fmla="*/ 2147483646 w 532"/>
                  <a:gd name="T19" fmla="*/ 2147483646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32"/>
                  <a:gd name="T31" fmla="*/ 0 h 94"/>
                  <a:gd name="T32" fmla="*/ 532 w 532"/>
                  <a:gd name="T33" fmla="*/ 94 h 9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32" h="94">
                    <a:moveTo>
                      <a:pt x="270" y="94"/>
                    </a:moveTo>
                    <a:lnTo>
                      <a:pt x="270" y="94"/>
                    </a:lnTo>
                    <a:lnTo>
                      <a:pt x="0" y="94"/>
                    </a:lnTo>
                    <a:lnTo>
                      <a:pt x="0" y="68"/>
                    </a:lnTo>
                    <a:lnTo>
                      <a:pt x="262" y="68"/>
                    </a:lnTo>
                    <a:lnTo>
                      <a:pt x="370" y="0"/>
                    </a:lnTo>
                    <a:lnTo>
                      <a:pt x="532" y="0"/>
                    </a:lnTo>
                    <a:lnTo>
                      <a:pt x="532" y="27"/>
                    </a:lnTo>
                    <a:lnTo>
                      <a:pt x="377" y="27"/>
                    </a:lnTo>
                    <a:lnTo>
                      <a:pt x="270" y="94"/>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19" name="Freeform 188">
                <a:extLst>
                  <a:ext uri="{FF2B5EF4-FFF2-40B4-BE49-F238E27FC236}">
                    <a16:creationId xmlns:a16="http://schemas.microsoft.com/office/drawing/2014/main" id="{5957D0C7-912E-449C-94FC-8F73CA2100F2}"/>
                  </a:ext>
                </a:extLst>
              </p:cNvPr>
              <p:cNvSpPr>
                <a:spLocks/>
              </p:cNvSpPr>
              <p:nvPr/>
            </p:nvSpPr>
            <p:spPr bwMode="auto">
              <a:xfrm>
                <a:off x="6775450" y="4127500"/>
                <a:ext cx="52388" cy="11113"/>
              </a:xfrm>
              <a:custGeom>
                <a:avLst/>
                <a:gdLst>
                  <a:gd name="T0" fmla="*/ 2147483646 w 126"/>
                  <a:gd name="T1" fmla="*/ 2147483646 h 27"/>
                  <a:gd name="T2" fmla="*/ 2147483646 w 126"/>
                  <a:gd name="T3" fmla="*/ 2147483646 h 27"/>
                  <a:gd name="T4" fmla="*/ 0 w 126"/>
                  <a:gd name="T5" fmla="*/ 2147483646 h 27"/>
                  <a:gd name="T6" fmla="*/ 0 w 126"/>
                  <a:gd name="T7" fmla="*/ 0 h 27"/>
                  <a:gd name="T8" fmla="*/ 2147483646 w 126"/>
                  <a:gd name="T9" fmla="*/ 0 h 27"/>
                  <a:gd name="T10" fmla="*/ 2147483646 w 126"/>
                  <a:gd name="T11" fmla="*/ 2147483646 h 27"/>
                  <a:gd name="T12" fmla="*/ 0 60000 65536"/>
                  <a:gd name="T13" fmla="*/ 0 60000 65536"/>
                  <a:gd name="T14" fmla="*/ 0 60000 65536"/>
                  <a:gd name="T15" fmla="*/ 0 60000 65536"/>
                  <a:gd name="T16" fmla="*/ 0 60000 65536"/>
                  <a:gd name="T17" fmla="*/ 0 60000 65536"/>
                  <a:gd name="T18" fmla="*/ 0 w 126"/>
                  <a:gd name="T19" fmla="*/ 0 h 27"/>
                  <a:gd name="T20" fmla="*/ 126 w 126"/>
                  <a:gd name="T21" fmla="*/ 27 h 27"/>
                </a:gdLst>
                <a:ahLst/>
                <a:cxnLst>
                  <a:cxn ang="T12">
                    <a:pos x="T0" y="T1"/>
                  </a:cxn>
                  <a:cxn ang="T13">
                    <a:pos x="T2" y="T3"/>
                  </a:cxn>
                  <a:cxn ang="T14">
                    <a:pos x="T4" y="T5"/>
                  </a:cxn>
                  <a:cxn ang="T15">
                    <a:pos x="T6" y="T7"/>
                  </a:cxn>
                  <a:cxn ang="T16">
                    <a:pos x="T8" y="T9"/>
                  </a:cxn>
                  <a:cxn ang="T17">
                    <a:pos x="T10" y="T11"/>
                  </a:cxn>
                </a:cxnLst>
                <a:rect l="T18" t="T19" r="T20" b="T21"/>
                <a:pathLst>
                  <a:path w="126" h="27">
                    <a:moveTo>
                      <a:pt x="126" y="27"/>
                    </a:moveTo>
                    <a:lnTo>
                      <a:pt x="126" y="27"/>
                    </a:lnTo>
                    <a:lnTo>
                      <a:pt x="0" y="27"/>
                    </a:lnTo>
                    <a:lnTo>
                      <a:pt x="0" y="0"/>
                    </a:lnTo>
                    <a:lnTo>
                      <a:pt x="126" y="0"/>
                    </a:lnTo>
                    <a:lnTo>
                      <a:pt x="126" y="27"/>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20" name="Freeform 189">
                <a:extLst>
                  <a:ext uri="{FF2B5EF4-FFF2-40B4-BE49-F238E27FC236}">
                    <a16:creationId xmlns:a16="http://schemas.microsoft.com/office/drawing/2014/main" id="{9D870F14-254B-4C68-8BDE-961D593403E3}"/>
                  </a:ext>
                </a:extLst>
              </p:cNvPr>
              <p:cNvSpPr>
                <a:spLocks/>
              </p:cNvSpPr>
              <p:nvPr/>
            </p:nvSpPr>
            <p:spPr bwMode="auto">
              <a:xfrm>
                <a:off x="6435725" y="4179888"/>
                <a:ext cx="227013" cy="36513"/>
              </a:xfrm>
              <a:custGeom>
                <a:avLst/>
                <a:gdLst>
                  <a:gd name="T0" fmla="*/ 2147483646 w 543"/>
                  <a:gd name="T1" fmla="*/ 2147483646 h 85"/>
                  <a:gd name="T2" fmla="*/ 2147483646 w 543"/>
                  <a:gd name="T3" fmla="*/ 2147483646 h 85"/>
                  <a:gd name="T4" fmla="*/ 0 w 543"/>
                  <a:gd name="T5" fmla="*/ 2147483646 h 85"/>
                  <a:gd name="T6" fmla="*/ 0 w 543"/>
                  <a:gd name="T7" fmla="*/ 2147483646 h 85"/>
                  <a:gd name="T8" fmla="*/ 2147483646 w 543"/>
                  <a:gd name="T9" fmla="*/ 2147483646 h 85"/>
                  <a:gd name="T10" fmla="*/ 2147483646 w 543"/>
                  <a:gd name="T11" fmla="*/ 0 h 85"/>
                  <a:gd name="T12" fmla="*/ 2147483646 w 543"/>
                  <a:gd name="T13" fmla="*/ 0 h 85"/>
                  <a:gd name="T14" fmla="*/ 2147483646 w 543"/>
                  <a:gd name="T15" fmla="*/ 2147483646 h 85"/>
                  <a:gd name="T16" fmla="*/ 2147483646 w 543"/>
                  <a:gd name="T17" fmla="*/ 2147483646 h 85"/>
                  <a:gd name="T18" fmla="*/ 2147483646 w 543"/>
                  <a:gd name="T19" fmla="*/ 2147483646 h 8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43"/>
                  <a:gd name="T31" fmla="*/ 0 h 85"/>
                  <a:gd name="T32" fmla="*/ 543 w 543"/>
                  <a:gd name="T33" fmla="*/ 85 h 8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43" h="85">
                    <a:moveTo>
                      <a:pt x="284" y="85"/>
                    </a:moveTo>
                    <a:lnTo>
                      <a:pt x="284" y="85"/>
                    </a:lnTo>
                    <a:lnTo>
                      <a:pt x="0" y="85"/>
                    </a:lnTo>
                    <a:lnTo>
                      <a:pt x="0" y="58"/>
                    </a:lnTo>
                    <a:lnTo>
                      <a:pt x="277" y="58"/>
                    </a:lnTo>
                    <a:lnTo>
                      <a:pt x="377" y="0"/>
                    </a:lnTo>
                    <a:lnTo>
                      <a:pt x="543" y="0"/>
                    </a:lnTo>
                    <a:lnTo>
                      <a:pt x="543" y="27"/>
                    </a:lnTo>
                    <a:lnTo>
                      <a:pt x="384" y="27"/>
                    </a:lnTo>
                    <a:lnTo>
                      <a:pt x="284" y="85"/>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21" name="Freeform 190">
                <a:extLst>
                  <a:ext uri="{FF2B5EF4-FFF2-40B4-BE49-F238E27FC236}">
                    <a16:creationId xmlns:a16="http://schemas.microsoft.com/office/drawing/2014/main" id="{D5DFAFE2-5579-4F29-BDB9-86D5AB09FE4D}"/>
                  </a:ext>
                </a:extLst>
              </p:cNvPr>
              <p:cNvSpPr>
                <a:spLocks/>
              </p:cNvSpPr>
              <p:nvPr/>
            </p:nvSpPr>
            <p:spPr bwMode="auto">
              <a:xfrm>
                <a:off x="6775450" y="4179888"/>
                <a:ext cx="52388" cy="12700"/>
              </a:xfrm>
              <a:custGeom>
                <a:avLst/>
                <a:gdLst>
                  <a:gd name="T0" fmla="*/ 2147483646 w 126"/>
                  <a:gd name="T1" fmla="*/ 2147483646 h 27"/>
                  <a:gd name="T2" fmla="*/ 2147483646 w 126"/>
                  <a:gd name="T3" fmla="*/ 2147483646 h 27"/>
                  <a:gd name="T4" fmla="*/ 0 w 126"/>
                  <a:gd name="T5" fmla="*/ 2147483646 h 27"/>
                  <a:gd name="T6" fmla="*/ 0 w 126"/>
                  <a:gd name="T7" fmla="*/ 0 h 27"/>
                  <a:gd name="T8" fmla="*/ 2147483646 w 126"/>
                  <a:gd name="T9" fmla="*/ 0 h 27"/>
                  <a:gd name="T10" fmla="*/ 2147483646 w 126"/>
                  <a:gd name="T11" fmla="*/ 2147483646 h 27"/>
                  <a:gd name="T12" fmla="*/ 0 60000 65536"/>
                  <a:gd name="T13" fmla="*/ 0 60000 65536"/>
                  <a:gd name="T14" fmla="*/ 0 60000 65536"/>
                  <a:gd name="T15" fmla="*/ 0 60000 65536"/>
                  <a:gd name="T16" fmla="*/ 0 60000 65536"/>
                  <a:gd name="T17" fmla="*/ 0 60000 65536"/>
                  <a:gd name="T18" fmla="*/ 0 w 126"/>
                  <a:gd name="T19" fmla="*/ 0 h 27"/>
                  <a:gd name="T20" fmla="*/ 126 w 126"/>
                  <a:gd name="T21" fmla="*/ 27 h 27"/>
                </a:gdLst>
                <a:ahLst/>
                <a:cxnLst>
                  <a:cxn ang="T12">
                    <a:pos x="T0" y="T1"/>
                  </a:cxn>
                  <a:cxn ang="T13">
                    <a:pos x="T2" y="T3"/>
                  </a:cxn>
                  <a:cxn ang="T14">
                    <a:pos x="T4" y="T5"/>
                  </a:cxn>
                  <a:cxn ang="T15">
                    <a:pos x="T6" y="T7"/>
                  </a:cxn>
                  <a:cxn ang="T16">
                    <a:pos x="T8" y="T9"/>
                  </a:cxn>
                  <a:cxn ang="T17">
                    <a:pos x="T10" y="T11"/>
                  </a:cxn>
                </a:cxnLst>
                <a:rect l="T18" t="T19" r="T20" b="T21"/>
                <a:pathLst>
                  <a:path w="126" h="27">
                    <a:moveTo>
                      <a:pt x="126" y="27"/>
                    </a:moveTo>
                    <a:lnTo>
                      <a:pt x="126" y="27"/>
                    </a:lnTo>
                    <a:lnTo>
                      <a:pt x="0" y="27"/>
                    </a:lnTo>
                    <a:lnTo>
                      <a:pt x="0" y="0"/>
                    </a:lnTo>
                    <a:lnTo>
                      <a:pt x="126" y="0"/>
                    </a:lnTo>
                    <a:lnTo>
                      <a:pt x="126" y="27"/>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22" name="Freeform 192">
                <a:extLst>
                  <a:ext uri="{FF2B5EF4-FFF2-40B4-BE49-F238E27FC236}">
                    <a16:creationId xmlns:a16="http://schemas.microsoft.com/office/drawing/2014/main" id="{82B04455-BF44-4161-98CC-75A6EA51C828}"/>
                  </a:ext>
                </a:extLst>
              </p:cNvPr>
              <p:cNvSpPr>
                <a:spLocks/>
              </p:cNvSpPr>
              <p:nvPr/>
            </p:nvSpPr>
            <p:spPr bwMode="auto">
              <a:xfrm>
                <a:off x="6532563" y="4070350"/>
                <a:ext cx="34925" cy="34925"/>
              </a:xfrm>
              <a:custGeom>
                <a:avLst/>
                <a:gdLst>
                  <a:gd name="T0" fmla="*/ 2147483646 w 83"/>
                  <a:gd name="T1" fmla="*/ 2147483646 h 83"/>
                  <a:gd name="T2" fmla="*/ 2147483646 w 83"/>
                  <a:gd name="T3" fmla="*/ 2147483646 h 83"/>
                  <a:gd name="T4" fmla="*/ 2147483646 w 83"/>
                  <a:gd name="T5" fmla="*/ 2147483646 h 83"/>
                  <a:gd name="T6" fmla="*/ 0 w 83"/>
                  <a:gd name="T7" fmla="*/ 2147483646 h 83"/>
                  <a:gd name="T8" fmla="*/ 2147483646 w 83"/>
                  <a:gd name="T9" fmla="*/ 0 h 83"/>
                  <a:gd name="T10" fmla="*/ 2147483646 w 83"/>
                  <a:gd name="T11" fmla="*/ 2147483646 h 83"/>
                  <a:gd name="T12" fmla="*/ 0 60000 65536"/>
                  <a:gd name="T13" fmla="*/ 0 60000 65536"/>
                  <a:gd name="T14" fmla="*/ 0 60000 65536"/>
                  <a:gd name="T15" fmla="*/ 0 60000 65536"/>
                  <a:gd name="T16" fmla="*/ 0 60000 65536"/>
                  <a:gd name="T17" fmla="*/ 0 60000 65536"/>
                  <a:gd name="T18" fmla="*/ 0 w 83"/>
                  <a:gd name="T19" fmla="*/ 0 h 83"/>
                  <a:gd name="T20" fmla="*/ 83 w 83"/>
                  <a:gd name="T21" fmla="*/ 83 h 83"/>
                </a:gdLst>
                <a:ahLst/>
                <a:cxnLst>
                  <a:cxn ang="T12">
                    <a:pos x="T0" y="T1"/>
                  </a:cxn>
                  <a:cxn ang="T13">
                    <a:pos x="T2" y="T3"/>
                  </a:cxn>
                  <a:cxn ang="T14">
                    <a:pos x="T4" y="T5"/>
                  </a:cxn>
                  <a:cxn ang="T15">
                    <a:pos x="T6" y="T7"/>
                  </a:cxn>
                  <a:cxn ang="T16">
                    <a:pos x="T8" y="T9"/>
                  </a:cxn>
                  <a:cxn ang="T17">
                    <a:pos x="T10" y="T11"/>
                  </a:cxn>
                </a:cxnLst>
                <a:rect l="T18" t="T19" r="T20" b="T21"/>
                <a:pathLst>
                  <a:path w="83" h="83">
                    <a:moveTo>
                      <a:pt x="83" y="42"/>
                    </a:moveTo>
                    <a:lnTo>
                      <a:pt x="83" y="42"/>
                    </a:lnTo>
                    <a:cubicBezTo>
                      <a:pt x="83" y="65"/>
                      <a:pt x="65" y="83"/>
                      <a:pt x="42" y="83"/>
                    </a:cubicBezTo>
                    <a:cubicBezTo>
                      <a:pt x="19" y="83"/>
                      <a:pt x="0" y="65"/>
                      <a:pt x="0" y="42"/>
                    </a:cubicBezTo>
                    <a:cubicBezTo>
                      <a:pt x="0" y="19"/>
                      <a:pt x="19" y="0"/>
                      <a:pt x="42" y="0"/>
                    </a:cubicBezTo>
                    <a:cubicBezTo>
                      <a:pt x="65" y="0"/>
                      <a:pt x="83" y="19"/>
                      <a:pt x="83" y="42"/>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23" name="Freeform 193">
                <a:extLst>
                  <a:ext uri="{FF2B5EF4-FFF2-40B4-BE49-F238E27FC236}">
                    <a16:creationId xmlns:a16="http://schemas.microsoft.com/office/drawing/2014/main" id="{42247E2A-A44B-4B38-9490-A06AE308A197}"/>
                  </a:ext>
                </a:extLst>
              </p:cNvPr>
              <p:cNvSpPr>
                <a:spLocks/>
              </p:cNvSpPr>
              <p:nvPr/>
            </p:nvSpPr>
            <p:spPr bwMode="auto">
              <a:xfrm>
                <a:off x="6816725" y="3879850"/>
                <a:ext cx="66675" cy="354013"/>
              </a:xfrm>
              <a:custGeom>
                <a:avLst/>
                <a:gdLst>
                  <a:gd name="T0" fmla="*/ 2147483646 w 159"/>
                  <a:gd name="T1" fmla="*/ 2147483646 h 840"/>
                  <a:gd name="T2" fmla="*/ 2147483646 w 159"/>
                  <a:gd name="T3" fmla="*/ 2147483646 h 840"/>
                  <a:gd name="T4" fmla="*/ 0 w 159"/>
                  <a:gd name="T5" fmla="*/ 2147483646 h 840"/>
                  <a:gd name="T6" fmla="*/ 0 w 159"/>
                  <a:gd name="T7" fmla="*/ 0 h 840"/>
                  <a:gd name="T8" fmla="*/ 2147483646 w 159"/>
                  <a:gd name="T9" fmla="*/ 0 h 840"/>
                  <a:gd name="T10" fmla="*/ 2147483646 w 159"/>
                  <a:gd name="T11" fmla="*/ 2147483646 h 840"/>
                  <a:gd name="T12" fmla="*/ 2147483646 w 159"/>
                  <a:gd name="T13" fmla="*/ 2147483646 h 840"/>
                  <a:gd name="T14" fmla="*/ 2147483646 w 159"/>
                  <a:gd name="T15" fmla="*/ 2147483646 h 840"/>
                  <a:gd name="T16" fmla="*/ 2147483646 w 159"/>
                  <a:gd name="T17" fmla="*/ 2147483646 h 840"/>
                  <a:gd name="T18" fmla="*/ 2147483646 w 159"/>
                  <a:gd name="T19" fmla="*/ 2147483646 h 8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9"/>
                  <a:gd name="T31" fmla="*/ 0 h 840"/>
                  <a:gd name="T32" fmla="*/ 159 w 159"/>
                  <a:gd name="T33" fmla="*/ 840 h 8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9" h="840">
                    <a:moveTo>
                      <a:pt x="159" y="840"/>
                    </a:moveTo>
                    <a:lnTo>
                      <a:pt x="159" y="840"/>
                    </a:lnTo>
                    <a:lnTo>
                      <a:pt x="0" y="840"/>
                    </a:lnTo>
                    <a:lnTo>
                      <a:pt x="0" y="0"/>
                    </a:lnTo>
                    <a:lnTo>
                      <a:pt x="159" y="0"/>
                    </a:lnTo>
                    <a:lnTo>
                      <a:pt x="159" y="53"/>
                    </a:lnTo>
                    <a:lnTo>
                      <a:pt x="53" y="53"/>
                    </a:lnTo>
                    <a:lnTo>
                      <a:pt x="53" y="787"/>
                    </a:lnTo>
                    <a:lnTo>
                      <a:pt x="159" y="787"/>
                    </a:lnTo>
                    <a:lnTo>
                      <a:pt x="159" y="84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24" name="Freeform 194">
                <a:extLst>
                  <a:ext uri="{FF2B5EF4-FFF2-40B4-BE49-F238E27FC236}">
                    <a16:creationId xmlns:a16="http://schemas.microsoft.com/office/drawing/2014/main" id="{0ED5610D-411D-4DB6-B714-D50ED7C14BE5}"/>
                  </a:ext>
                </a:extLst>
              </p:cNvPr>
              <p:cNvSpPr>
                <a:spLocks/>
              </p:cNvSpPr>
              <p:nvPr/>
            </p:nvSpPr>
            <p:spPr bwMode="auto">
              <a:xfrm>
                <a:off x="6856413" y="3919538"/>
                <a:ext cx="41275" cy="4763"/>
              </a:xfrm>
              <a:custGeom>
                <a:avLst/>
                <a:gdLst>
                  <a:gd name="T0" fmla="*/ 2147483646 w 97"/>
                  <a:gd name="T1" fmla="*/ 2147483646 h 13"/>
                  <a:gd name="T2" fmla="*/ 2147483646 w 97"/>
                  <a:gd name="T3" fmla="*/ 2147483646 h 13"/>
                  <a:gd name="T4" fmla="*/ 0 w 97"/>
                  <a:gd name="T5" fmla="*/ 2147483646 h 13"/>
                  <a:gd name="T6" fmla="*/ 0 w 97"/>
                  <a:gd name="T7" fmla="*/ 0 h 13"/>
                  <a:gd name="T8" fmla="*/ 2147483646 w 97"/>
                  <a:gd name="T9" fmla="*/ 0 h 13"/>
                  <a:gd name="T10" fmla="*/ 2147483646 w 97"/>
                  <a:gd name="T11" fmla="*/ 2147483646 h 13"/>
                  <a:gd name="T12" fmla="*/ 0 60000 65536"/>
                  <a:gd name="T13" fmla="*/ 0 60000 65536"/>
                  <a:gd name="T14" fmla="*/ 0 60000 65536"/>
                  <a:gd name="T15" fmla="*/ 0 60000 65536"/>
                  <a:gd name="T16" fmla="*/ 0 60000 65536"/>
                  <a:gd name="T17" fmla="*/ 0 60000 65536"/>
                  <a:gd name="T18" fmla="*/ 0 w 97"/>
                  <a:gd name="T19" fmla="*/ 0 h 13"/>
                  <a:gd name="T20" fmla="*/ 97 w 97"/>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97" h="13">
                    <a:moveTo>
                      <a:pt x="97" y="13"/>
                    </a:moveTo>
                    <a:lnTo>
                      <a:pt x="97" y="13"/>
                    </a:lnTo>
                    <a:lnTo>
                      <a:pt x="0" y="13"/>
                    </a:lnTo>
                    <a:lnTo>
                      <a:pt x="0" y="0"/>
                    </a:lnTo>
                    <a:lnTo>
                      <a:pt x="97" y="0"/>
                    </a:lnTo>
                    <a:lnTo>
                      <a:pt x="97" y="13"/>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25" name="Freeform 195">
                <a:extLst>
                  <a:ext uri="{FF2B5EF4-FFF2-40B4-BE49-F238E27FC236}">
                    <a16:creationId xmlns:a16="http://schemas.microsoft.com/office/drawing/2014/main" id="{ED98B543-518A-4AED-9C8C-CCB13E59297D}"/>
                  </a:ext>
                </a:extLst>
              </p:cNvPr>
              <p:cNvSpPr>
                <a:spLocks/>
              </p:cNvSpPr>
              <p:nvPr/>
            </p:nvSpPr>
            <p:spPr bwMode="auto">
              <a:xfrm>
                <a:off x="6856413" y="3935413"/>
                <a:ext cx="41275" cy="6350"/>
              </a:xfrm>
              <a:custGeom>
                <a:avLst/>
                <a:gdLst>
                  <a:gd name="T0" fmla="*/ 2147483646 w 97"/>
                  <a:gd name="T1" fmla="*/ 2147483646 h 13"/>
                  <a:gd name="T2" fmla="*/ 2147483646 w 97"/>
                  <a:gd name="T3" fmla="*/ 2147483646 h 13"/>
                  <a:gd name="T4" fmla="*/ 0 w 97"/>
                  <a:gd name="T5" fmla="*/ 2147483646 h 13"/>
                  <a:gd name="T6" fmla="*/ 0 w 97"/>
                  <a:gd name="T7" fmla="*/ 0 h 13"/>
                  <a:gd name="T8" fmla="*/ 2147483646 w 97"/>
                  <a:gd name="T9" fmla="*/ 0 h 13"/>
                  <a:gd name="T10" fmla="*/ 2147483646 w 97"/>
                  <a:gd name="T11" fmla="*/ 2147483646 h 13"/>
                  <a:gd name="T12" fmla="*/ 0 60000 65536"/>
                  <a:gd name="T13" fmla="*/ 0 60000 65536"/>
                  <a:gd name="T14" fmla="*/ 0 60000 65536"/>
                  <a:gd name="T15" fmla="*/ 0 60000 65536"/>
                  <a:gd name="T16" fmla="*/ 0 60000 65536"/>
                  <a:gd name="T17" fmla="*/ 0 60000 65536"/>
                  <a:gd name="T18" fmla="*/ 0 w 97"/>
                  <a:gd name="T19" fmla="*/ 0 h 13"/>
                  <a:gd name="T20" fmla="*/ 97 w 97"/>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97" h="13">
                    <a:moveTo>
                      <a:pt x="97" y="13"/>
                    </a:moveTo>
                    <a:lnTo>
                      <a:pt x="97" y="13"/>
                    </a:lnTo>
                    <a:lnTo>
                      <a:pt x="0" y="13"/>
                    </a:lnTo>
                    <a:lnTo>
                      <a:pt x="0" y="0"/>
                    </a:lnTo>
                    <a:lnTo>
                      <a:pt x="97" y="0"/>
                    </a:lnTo>
                    <a:lnTo>
                      <a:pt x="97" y="13"/>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26" name="Freeform 196">
                <a:extLst>
                  <a:ext uri="{FF2B5EF4-FFF2-40B4-BE49-F238E27FC236}">
                    <a16:creationId xmlns:a16="http://schemas.microsoft.com/office/drawing/2014/main" id="{E05B9E97-20F6-4B7D-BAFE-137B17B8200C}"/>
                  </a:ext>
                </a:extLst>
              </p:cNvPr>
              <p:cNvSpPr>
                <a:spLocks/>
              </p:cNvSpPr>
              <p:nvPr/>
            </p:nvSpPr>
            <p:spPr bwMode="auto">
              <a:xfrm>
                <a:off x="6856413" y="3951288"/>
                <a:ext cx="41275" cy="6350"/>
              </a:xfrm>
              <a:custGeom>
                <a:avLst/>
                <a:gdLst>
                  <a:gd name="T0" fmla="*/ 2147483646 w 97"/>
                  <a:gd name="T1" fmla="*/ 2147483646 h 14"/>
                  <a:gd name="T2" fmla="*/ 2147483646 w 97"/>
                  <a:gd name="T3" fmla="*/ 2147483646 h 14"/>
                  <a:gd name="T4" fmla="*/ 0 w 97"/>
                  <a:gd name="T5" fmla="*/ 2147483646 h 14"/>
                  <a:gd name="T6" fmla="*/ 0 w 97"/>
                  <a:gd name="T7" fmla="*/ 0 h 14"/>
                  <a:gd name="T8" fmla="*/ 2147483646 w 97"/>
                  <a:gd name="T9" fmla="*/ 0 h 14"/>
                  <a:gd name="T10" fmla="*/ 2147483646 w 97"/>
                  <a:gd name="T11" fmla="*/ 2147483646 h 14"/>
                  <a:gd name="T12" fmla="*/ 0 60000 65536"/>
                  <a:gd name="T13" fmla="*/ 0 60000 65536"/>
                  <a:gd name="T14" fmla="*/ 0 60000 65536"/>
                  <a:gd name="T15" fmla="*/ 0 60000 65536"/>
                  <a:gd name="T16" fmla="*/ 0 60000 65536"/>
                  <a:gd name="T17" fmla="*/ 0 60000 65536"/>
                  <a:gd name="T18" fmla="*/ 0 w 97"/>
                  <a:gd name="T19" fmla="*/ 0 h 14"/>
                  <a:gd name="T20" fmla="*/ 97 w 97"/>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97" h="14">
                    <a:moveTo>
                      <a:pt x="97" y="14"/>
                    </a:moveTo>
                    <a:lnTo>
                      <a:pt x="97" y="14"/>
                    </a:lnTo>
                    <a:lnTo>
                      <a:pt x="0" y="14"/>
                    </a:lnTo>
                    <a:lnTo>
                      <a:pt x="0" y="0"/>
                    </a:lnTo>
                    <a:lnTo>
                      <a:pt x="97" y="0"/>
                    </a:lnTo>
                    <a:lnTo>
                      <a:pt x="97" y="14"/>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27" name="Freeform 197">
                <a:extLst>
                  <a:ext uri="{FF2B5EF4-FFF2-40B4-BE49-F238E27FC236}">
                    <a16:creationId xmlns:a16="http://schemas.microsoft.com/office/drawing/2014/main" id="{1C279C12-9470-4FB8-A32D-3A49C4269A86}"/>
                  </a:ext>
                </a:extLst>
              </p:cNvPr>
              <p:cNvSpPr>
                <a:spLocks/>
              </p:cNvSpPr>
              <p:nvPr/>
            </p:nvSpPr>
            <p:spPr bwMode="auto">
              <a:xfrm>
                <a:off x="6856413" y="3968750"/>
                <a:ext cx="41275" cy="4763"/>
              </a:xfrm>
              <a:custGeom>
                <a:avLst/>
                <a:gdLst>
                  <a:gd name="T0" fmla="*/ 2147483646 w 97"/>
                  <a:gd name="T1" fmla="*/ 2147483646 h 14"/>
                  <a:gd name="T2" fmla="*/ 2147483646 w 97"/>
                  <a:gd name="T3" fmla="*/ 2147483646 h 14"/>
                  <a:gd name="T4" fmla="*/ 0 w 97"/>
                  <a:gd name="T5" fmla="*/ 2147483646 h 14"/>
                  <a:gd name="T6" fmla="*/ 0 w 97"/>
                  <a:gd name="T7" fmla="*/ 0 h 14"/>
                  <a:gd name="T8" fmla="*/ 2147483646 w 97"/>
                  <a:gd name="T9" fmla="*/ 0 h 14"/>
                  <a:gd name="T10" fmla="*/ 2147483646 w 97"/>
                  <a:gd name="T11" fmla="*/ 2147483646 h 14"/>
                  <a:gd name="T12" fmla="*/ 0 60000 65536"/>
                  <a:gd name="T13" fmla="*/ 0 60000 65536"/>
                  <a:gd name="T14" fmla="*/ 0 60000 65536"/>
                  <a:gd name="T15" fmla="*/ 0 60000 65536"/>
                  <a:gd name="T16" fmla="*/ 0 60000 65536"/>
                  <a:gd name="T17" fmla="*/ 0 60000 65536"/>
                  <a:gd name="T18" fmla="*/ 0 w 97"/>
                  <a:gd name="T19" fmla="*/ 0 h 14"/>
                  <a:gd name="T20" fmla="*/ 97 w 97"/>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97" h="14">
                    <a:moveTo>
                      <a:pt x="97" y="14"/>
                    </a:moveTo>
                    <a:lnTo>
                      <a:pt x="97" y="14"/>
                    </a:lnTo>
                    <a:lnTo>
                      <a:pt x="0" y="14"/>
                    </a:lnTo>
                    <a:lnTo>
                      <a:pt x="0" y="0"/>
                    </a:lnTo>
                    <a:lnTo>
                      <a:pt x="97" y="0"/>
                    </a:lnTo>
                    <a:lnTo>
                      <a:pt x="97" y="14"/>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28" name="Freeform 198">
                <a:extLst>
                  <a:ext uri="{FF2B5EF4-FFF2-40B4-BE49-F238E27FC236}">
                    <a16:creationId xmlns:a16="http://schemas.microsoft.com/office/drawing/2014/main" id="{2CD78874-FF7B-4D94-8E90-8734630894E2}"/>
                  </a:ext>
                </a:extLst>
              </p:cNvPr>
              <p:cNvSpPr>
                <a:spLocks/>
              </p:cNvSpPr>
              <p:nvPr/>
            </p:nvSpPr>
            <p:spPr bwMode="auto">
              <a:xfrm>
                <a:off x="6856413" y="3984625"/>
                <a:ext cx="41275" cy="6350"/>
              </a:xfrm>
              <a:custGeom>
                <a:avLst/>
                <a:gdLst>
                  <a:gd name="T0" fmla="*/ 2147483646 w 97"/>
                  <a:gd name="T1" fmla="*/ 2147483646 h 13"/>
                  <a:gd name="T2" fmla="*/ 2147483646 w 97"/>
                  <a:gd name="T3" fmla="*/ 2147483646 h 13"/>
                  <a:gd name="T4" fmla="*/ 0 w 97"/>
                  <a:gd name="T5" fmla="*/ 2147483646 h 13"/>
                  <a:gd name="T6" fmla="*/ 0 w 97"/>
                  <a:gd name="T7" fmla="*/ 0 h 13"/>
                  <a:gd name="T8" fmla="*/ 2147483646 w 97"/>
                  <a:gd name="T9" fmla="*/ 0 h 13"/>
                  <a:gd name="T10" fmla="*/ 2147483646 w 97"/>
                  <a:gd name="T11" fmla="*/ 2147483646 h 13"/>
                  <a:gd name="T12" fmla="*/ 0 60000 65536"/>
                  <a:gd name="T13" fmla="*/ 0 60000 65536"/>
                  <a:gd name="T14" fmla="*/ 0 60000 65536"/>
                  <a:gd name="T15" fmla="*/ 0 60000 65536"/>
                  <a:gd name="T16" fmla="*/ 0 60000 65536"/>
                  <a:gd name="T17" fmla="*/ 0 60000 65536"/>
                  <a:gd name="T18" fmla="*/ 0 w 97"/>
                  <a:gd name="T19" fmla="*/ 0 h 13"/>
                  <a:gd name="T20" fmla="*/ 97 w 97"/>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97" h="13">
                    <a:moveTo>
                      <a:pt x="97" y="13"/>
                    </a:moveTo>
                    <a:lnTo>
                      <a:pt x="97" y="13"/>
                    </a:lnTo>
                    <a:lnTo>
                      <a:pt x="0" y="13"/>
                    </a:lnTo>
                    <a:lnTo>
                      <a:pt x="0" y="0"/>
                    </a:lnTo>
                    <a:lnTo>
                      <a:pt x="97" y="0"/>
                    </a:lnTo>
                    <a:lnTo>
                      <a:pt x="97" y="13"/>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29" name="Freeform 199">
                <a:extLst>
                  <a:ext uri="{FF2B5EF4-FFF2-40B4-BE49-F238E27FC236}">
                    <a16:creationId xmlns:a16="http://schemas.microsoft.com/office/drawing/2014/main" id="{6A9468A3-A628-4B5B-AC72-95D209CC90D3}"/>
                  </a:ext>
                </a:extLst>
              </p:cNvPr>
              <p:cNvSpPr>
                <a:spLocks/>
              </p:cNvSpPr>
              <p:nvPr/>
            </p:nvSpPr>
            <p:spPr bwMode="auto">
              <a:xfrm>
                <a:off x="6856413" y="4002088"/>
                <a:ext cx="41275" cy="4763"/>
              </a:xfrm>
              <a:custGeom>
                <a:avLst/>
                <a:gdLst>
                  <a:gd name="T0" fmla="*/ 2147483646 w 97"/>
                  <a:gd name="T1" fmla="*/ 2147483646 h 13"/>
                  <a:gd name="T2" fmla="*/ 2147483646 w 97"/>
                  <a:gd name="T3" fmla="*/ 2147483646 h 13"/>
                  <a:gd name="T4" fmla="*/ 0 w 97"/>
                  <a:gd name="T5" fmla="*/ 2147483646 h 13"/>
                  <a:gd name="T6" fmla="*/ 0 w 97"/>
                  <a:gd name="T7" fmla="*/ 0 h 13"/>
                  <a:gd name="T8" fmla="*/ 2147483646 w 97"/>
                  <a:gd name="T9" fmla="*/ 0 h 13"/>
                  <a:gd name="T10" fmla="*/ 2147483646 w 97"/>
                  <a:gd name="T11" fmla="*/ 2147483646 h 13"/>
                  <a:gd name="T12" fmla="*/ 0 60000 65536"/>
                  <a:gd name="T13" fmla="*/ 0 60000 65536"/>
                  <a:gd name="T14" fmla="*/ 0 60000 65536"/>
                  <a:gd name="T15" fmla="*/ 0 60000 65536"/>
                  <a:gd name="T16" fmla="*/ 0 60000 65536"/>
                  <a:gd name="T17" fmla="*/ 0 60000 65536"/>
                  <a:gd name="T18" fmla="*/ 0 w 97"/>
                  <a:gd name="T19" fmla="*/ 0 h 13"/>
                  <a:gd name="T20" fmla="*/ 97 w 97"/>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97" h="13">
                    <a:moveTo>
                      <a:pt x="97" y="13"/>
                    </a:moveTo>
                    <a:lnTo>
                      <a:pt x="97" y="13"/>
                    </a:lnTo>
                    <a:lnTo>
                      <a:pt x="0" y="13"/>
                    </a:lnTo>
                    <a:lnTo>
                      <a:pt x="0" y="0"/>
                    </a:lnTo>
                    <a:lnTo>
                      <a:pt x="97" y="0"/>
                    </a:lnTo>
                    <a:lnTo>
                      <a:pt x="97" y="13"/>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30" name="Freeform 200">
                <a:extLst>
                  <a:ext uri="{FF2B5EF4-FFF2-40B4-BE49-F238E27FC236}">
                    <a16:creationId xmlns:a16="http://schemas.microsoft.com/office/drawing/2014/main" id="{F30BF9F5-F711-4720-9248-3CC4211BD485}"/>
                  </a:ext>
                </a:extLst>
              </p:cNvPr>
              <p:cNvSpPr>
                <a:spLocks/>
              </p:cNvSpPr>
              <p:nvPr/>
            </p:nvSpPr>
            <p:spPr bwMode="auto">
              <a:xfrm>
                <a:off x="6856413" y="4017963"/>
                <a:ext cx="41275" cy="4763"/>
              </a:xfrm>
              <a:custGeom>
                <a:avLst/>
                <a:gdLst>
                  <a:gd name="T0" fmla="*/ 2147483646 w 97"/>
                  <a:gd name="T1" fmla="*/ 2147483646 h 13"/>
                  <a:gd name="T2" fmla="*/ 2147483646 w 97"/>
                  <a:gd name="T3" fmla="*/ 2147483646 h 13"/>
                  <a:gd name="T4" fmla="*/ 0 w 97"/>
                  <a:gd name="T5" fmla="*/ 2147483646 h 13"/>
                  <a:gd name="T6" fmla="*/ 0 w 97"/>
                  <a:gd name="T7" fmla="*/ 0 h 13"/>
                  <a:gd name="T8" fmla="*/ 2147483646 w 97"/>
                  <a:gd name="T9" fmla="*/ 0 h 13"/>
                  <a:gd name="T10" fmla="*/ 2147483646 w 97"/>
                  <a:gd name="T11" fmla="*/ 2147483646 h 13"/>
                  <a:gd name="T12" fmla="*/ 0 60000 65536"/>
                  <a:gd name="T13" fmla="*/ 0 60000 65536"/>
                  <a:gd name="T14" fmla="*/ 0 60000 65536"/>
                  <a:gd name="T15" fmla="*/ 0 60000 65536"/>
                  <a:gd name="T16" fmla="*/ 0 60000 65536"/>
                  <a:gd name="T17" fmla="*/ 0 60000 65536"/>
                  <a:gd name="T18" fmla="*/ 0 w 97"/>
                  <a:gd name="T19" fmla="*/ 0 h 13"/>
                  <a:gd name="T20" fmla="*/ 97 w 97"/>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97" h="13">
                    <a:moveTo>
                      <a:pt x="97" y="13"/>
                    </a:moveTo>
                    <a:lnTo>
                      <a:pt x="97" y="13"/>
                    </a:lnTo>
                    <a:lnTo>
                      <a:pt x="0" y="13"/>
                    </a:lnTo>
                    <a:lnTo>
                      <a:pt x="0" y="0"/>
                    </a:lnTo>
                    <a:lnTo>
                      <a:pt x="97" y="0"/>
                    </a:lnTo>
                    <a:lnTo>
                      <a:pt x="97" y="13"/>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31" name="Freeform 201">
                <a:extLst>
                  <a:ext uri="{FF2B5EF4-FFF2-40B4-BE49-F238E27FC236}">
                    <a16:creationId xmlns:a16="http://schemas.microsoft.com/office/drawing/2014/main" id="{D5C5E155-B490-4F0D-965E-CA0D77872AD5}"/>
                  </a:ext>
                </a:extLst>
              </p:cNvPr>
              <p:cNvSpPr>
                <a:spLocks/>
              </p:cNvSpPr>
              <p:nvPr/>
            </p:nvSpPr>
            <p:spPr bwMode="auto">
              <a:xfrm>
                <a:off x="6856413" y="4033838"/>
                <a:ext cx="41275" cy="6350"/>
              </a:xfrm>
              <a:custGeom>
                <a:avLst/>
                <a:gdLst>
                  <a:gd name="T0" fmla="*/ 2147483646 w 97"/>
                  <a:gd name="T1" fmla="*/ 2147483646 h 14"/>
                  <a:gd name="T2" fmla="*/ 2147483646 w 97"/>
                  <a:gd name="T3" fmla="*/ 2147483646 h 14"/>
                  <a:gd name="T4" fmla="*/ 0 w 97"/>
                  <a:gd name="T5" fmla="*/ 2147483646 h 14"/>
                  <a:gd name="T6" fmla="*/ 0 w 97"/>
                  <a:gd name="T7" fmla="*/ 0 h 14"/>
                  <a:gd name="T8" fmla="*/ 2147483646 w 97"/>
                  <a:gd name="T9" fmla="*/ 0 h 14"/>
                  <a:gd name="T10" fmla="*/ 2147483646 w 97"/>
                  <a:gd name="T11" fmla="*/ 2147483646 h 14"/>
                  <a:gd name="T12" fmla="*/ 0 60000 65536"/>
                  <a:gd name="T13" fmla="*/ 0 60000 65536"/>
                  <a:gd name="T14" fmla="*/ 0 60000 65536"/>
                  <a:gd name="T15" fmla="*/ 0 60000 65536"/>
                  <a:gd name="T16" fmla="*/ 0 60000 65536"/>
                  <a:gd name="T17" fmla="*/ 0 60000 65536"/>
                  <a:gd name="T18" fmla="*/ 0 w 97"/>
                  <a:gd name="T19" fmla="*/ 0 h 14"/>
                  <a:gd name="T20" fmla="*/ 97 w 97"/>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97" h="14">
                    <a:moveTo>
                      <a:pt x="97" y="14"/>
                    </a:moveTo>
                    <a:lnTo>
                      <a:pt x="97" y="14"/>
                    </a:lnTo>
                    <a:lnTo>
                      <a:pt x="0" y="14"/>
                    </a:lnTo>
                    <a:lnTo>
                      <a:pt x="0" y="0"/>
                    </a:lnTo>
                    <a:lnTo>
                      <a:pt x="97" y="0"/>
                    </a:lnTo>
                    <a:lnTo>
                      <a:pt x="97" y="14"/>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32" name="Freeform 202">
                <a:extLst>
                  <a:ext uri="{FF2B5EF4-FFF2-40B4-BE49-F238E27FC236}">
                    <a16:creationId xmlns:a16="http://schemas.microsoft.com/office/drawing/2014/main" id="{2D1B0511-6647-498D-B674-879D8B1C5B3E}"/>
                  </a:ext>
                </a:extLst>
              </p:cNvPr>
              <p:cNvSpPr>
                <a:spLocks/>
              </p:cNvSpPr>
              <p:nvPr/>
            </p:nvSpPr>
            <p:spPr bwMode="auto">
              <a:xfrm>
                <a:off x="6856413" y="4051300"/>
                <a:ext cx="41275" cy="4763"/>
              </a:xfrm>
              <a:custGeom>
                <a:avLst/>
                <a:gdLst>
                  <a:gd name="T0" fmla="*/ 2147483646 w 97"/>
                  <a:gd name="T1" fmla="*/ 2147483646 h 13"/>
                  <a:gd name="T2" fmla="*/ 2147483646 w 97"/>
                  <a:gd name="T3" fmla="*/ 2147483646 h 13"/>
                  <a:gd name="T4" fmla="*/ 0 w 97"/>
                  <a:gd name="T5" fmla="*/ 2147483646 h 13"/>
                  <a:gd name="T6" fmla="*/ 0 w 97"/>
                  <a:gd name="T7" fmla="*/ 0 h 13"/>
                  <a:gd name="T8" fmla="*/ 2147483646 w 97"/>
                  <a:gd name="T9" fmla="*/ 0 h 13"/>
                  <a:gd name="T10" fmla="*/ 2147483646 w 97"/>
                  <a:gd name="T11" fmla="*/ 2147483646 h 13"/>
                  <a:gd name="T12" fmla="*/ 0 60000 65536"/>
                  <a:gd name="T13" fmla="*/ 0 60000 65536"/>
                  <a:gd name="T14" fmla="*/ 0 60000 65536"/>
                  <a:gd name="T15" fmla="*/ 0 60000 65536"/>
                  <a:gd name="T16" fmla="*/ 0 60000 65536"/>
                  <a:gd name="T17" fmla="*/ 0 60000 65536"/>
                  <a:gd name="T18" fmla="*/ 0 w 97"/>
                  <a:gd name="T19" fmla="*/ 0 h 13"/>
                  <a:gd name="T20" fmla="*/ 97 w 97"/>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97" h="13">
                    <a:moveTo>
                      <a:pt x="97" y="13"/>
                    </a:moveTo>
                    <a:lnTo>
                      <a:pt x="97" y="13"/>
                    </a:lnTo>
                    <a:lnTo>
                      <a:pt x="0" y="13"/>
                    </a:lnTo>
                    <a:lnTo>
                      <a:pt x="0" y="0"/>
                    </a:lnTo>
                    <a:lnTo>
                      <a:pt x="97" y="0"/>
                    </a:lnTo>
                    <a:lnTo>
                      <a:pt x="97" y="13"/>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33" name="Freeform 203">
                <a:extLst>
                  <a:ext uri="{FF2B5EF4-FFF2-40B4-BE49-F238E27FC236}">
                    <a16:creationId xmlns:a16="http://schemas.microsoft.com/office/drawing/2014/main" id="{9E5F277F-24BC-4540-8B0A-72BFCFDFB423}"/>
                  </a:ext>
                </a:extLst>
              </p:cNvPr>
              <p:cNvSpPr>
                <a:spLocks/>
              </p:cNvSpPr>
              <p:nvPr/>
            </p:nvSpPr>
            <p:spPr bwMode="auto">
              <a:xfrm>
                <a:off x="6856413" y="4067175"/>
                <a:ext cx="41275" cy="6350"/>
              </a:xfrm>
              <a:custGeom>
                <a:avLst/>
                <a:gdLst>
                  <a:gd name="T0" fmla="*/ 2147483646 w 97"/>
                  <a:gd name="T1" fmla="*/ 2147483646 h 13"/>
                  <a:gd name="T2" fmla="*/ 2147483646 w 97"/>
                  <a:gd name="T3" fmla="*/ 2147483646 h 13"/>
                  <a:gd name="T4" fmla="*/ 0 w 97"/>
                  <a:gd name="T5" fmla="*/ 2147483646 h 13"/>
                  <a:gd name="T6" fmla="*/ 0 w 97"/>
                  <a:gd name="T7" fmla="*/ 0 h 13"/>
                  <a:gd name="T8" fmla="*/ 2147483646 w 97"/>
                  <a:gd name="T9" fmla="*/ 0 h 13"/>
                  <a:gd name="T10" fmla="*/ 2147483646 w 97"/>
                  <a:gd name="T11" fmla="*/ 2147483646 h 13"/>
                  <a:gd name="T12" fmla="*/ 0 60000 65536"/>
                  <a:gd name="T13" fmla="*/ 0 60000 65536"/>
                  <a:gd name="T14" fmla="*/ 0 60000 65536"/>
                  <a:gd name="T15" fmla="*/ 0 60000 65536"/>
                  <a:gd name="T16" fmla="*/ 0 60000 65536"/>
                  <a:gd name="T17" fmla="*/ 0 60000 65536"/>
                  <a:gd name="T18" fmla="*/ 0 w 97"/>
                  <a:gd name="T19" fmla="*/ 0 h 13"/>
                  <a:gd name="T20" fmla="*/ 97 w 97"/>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97" h="13">
                    <a:moveTo>
                      <a:pt x="97" y="13"/>
                    </a:moveTo>
                    <a:lnTo>
                      <a:pt x="97" y="13"/>
                    </a:lnTo>
                    <a:lnTo>
                      <a:pt x="0" y="13"/>
                    </a:lnTo>
                    <a:lnTo>
                      <a:pt x="0" y="0"/>
                    </a:lnTo>
                    <a:lnTo>
                      <a:pt x="97" y="0"/>
                    </a:lnTo>
                    <a:lnTo>
                      <a:pt x="97" y="13"/>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34" name="Freeform 204">
                <a:extLst>
                  <a:ext uri="{FF2B5EF4-FFF2-40B4-BE49-F238E27FC236}">
                    <a16:creationId xmlns:a16="http://schemas.microsoft.com/office/drawing/2014/main" id="{10A6362D-CBB1-4C55-99FB-06A74A5EE5AB}"/>
                  </a:ext>
                </a:extLst>
              </p:cNvPr>
              <p:cNvSpPr>
                <a:spLocks/>
              </p:cNvSpPr>
              <p:nvPr/>
            </p:nvSpPr>
            <p:spPr bwMode="auto">
              <a:xfrm>
                <a:off x="6856413" y="4084638"/>
                <a:ext cx="41275" cy="4763"/>
              </a:xfrm>
              <a:custGeom>
                <a:avLst/>
                <a:gdLst>
                  <a:gd name="T0" fmla="*/ 2147483646 w 97"/>
                  <a:gd name="T1" fmla="*/ 2147483646 h 13"/>
                  <a:gd name="T2" fmla="*/ 2147483646 w 97"/>
                  <a:gd name="T3" fmla="*/ 2147483646 h 13"/>
                  <a:gd name="T4" fmla="*/ 0 w 97"/>
                  <a:gd name="T5" fmla="*/ 2147483646 h 13"/>
                  <a:gd name="T6" fmla="*/ 0 w 97"/>
                  <a:gd name="T7" fmla="*/ 0 h 13"/>
                  <a:gd name="T8" fmla="*/ 2147483646 w 97"/>
                  <a:gd name="T9" fmla="*/ 0 h 13"/>
                  <a:gd name="T10" fmla="*/ 2147483646 w 97"/>
                  <a:gd name="T11" fmla="*/ 2147483646 h 13"/>
                  <a:gd name="T12" fmla="*/ 0 60000 65536"/>
                  <a:gd name="T13" fmla="*/ 0 60000 65536"/>
                  <a:gd name="T14" fmla="*/ 0 60000 65536"/>
                  <a:gd name="T15" fmla="*/ 0 60000 65536"/>
                  <a:gd name="T16" fmla="*/ 0 60000 65536"/>
                  <a:gd name="T17" fmla="*/ 0 60000 65536"/>
                  <a:gd name="T18" fmla="*/ 0 w 97"/>
                  <a:gd name="T19" fmla="*/ 0 h 13"/>
                  <a:gd name="T20" fmla="*/ 97 w 97"/>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97" h="13">
                    <a:moveTo>
                      <a:pt x="97" y="13"/>
                    </a:moveTo>
                    <a:lnTo>
                      <a:pt x="97" y="13"/>
                    </a:lnTo>
                    <a:lnTo>
                      <a:pt x="0" y="13"/>
                    </a:lnTo>
                    <a:lnTo>
                      <a:pt x="0" y="0"/>
                    </a:lnTo>
                    <a:lnTo>
                      <a:pt x="97" y="0"/>
                    </a:lnTo>
                    <a:lnTo>
                      <a:pt x="97" y="13"/>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35" name="Freeform 205">
                <a:extLst>
                  <a:ext uri="{FF2B5EF4-FFF2-40B4-BE49-F238E27FC236}">
                    <a16:creationId xmlns:a16="http://schemas.microsoft.com/office/drawing/2014/main" id="{DC0943FB-0F4D-4210-B51A-D6CA5DE9C72B}"/>
                  </a:ext>
                </a:extLst>
              </p:cNvPr>
              <p:cNvSpPr>
                <a:spLocks/>
              </p:cNvSpPr>
              <p:nvPr/>
            </p:nvSpPr>
            <p:spPr bwMode="auto">
              <a:xfrm>
                <a:off x="6856413" y="4100513"/>
                <a:ext cx="41275" cy="6350"/>
              </a:xfrm>
              <a:custGeom>
                <a:avLst/>
                <a:gdLst>
                  <a:gd name="T0" fmla="*/ 2147483646 w 97"/>
                  <a:gd name="T1" fmla="*/ 2147483646 h 14"/>
                  <a:gd name="T2" fmla="*/ 2147483646 w 97"/>
                  <a:gd name="T3" fmla="*/ 2147483646 h 14"/>
                  <a:gd name="T4" fmla="*/ 0 w 97"/>
                  <a:gd name="T5" fmla="*/ 2147483646 h 14"/>
                  <a:gd name="T6" fmla="*/ 0 w 97"/>
                  <a:gd name="T7" fmla="*/ 0 h 14"/>
                  <a:gd name="T8" fmla="*/ 2147483646 w 97"/>
                  <a:gd name="T9" fmla="*/ 0 h 14"/>
                  <a:gd name="T10" fmla="*/ 2147483646 w 97"/>
                  <a:gd name="T11" fmla="*/ 2147483646 h 14"/>
                  <a:gd name="T12" fmla="*/ 0 60000 65536"/>
                  <a:gd name="T13" fmla="*/ 0 60000 65536"/>
                  <a:gd name="T14" fmla="*/ 0 60000 65536"/>
                  <a:gd name="T15" fmla="*/ 0 60000 65536"/>
                  <a:gd name="T16" fmla="*/ 0 60000 65536"/>
                  <a:gd name="T17" fmla="*/ 0 60000 65536"/>
                  <a:gd name="T18" fmla="*/ 0 w 97"/>
                  <a:gd name="T19" fmla="*/ 0 h 14"/>
                  <a:gd name="T20" fmla="*/ 97 w 97"/>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97" h="14">
                    <a:moveTo>
                      <a:pt x="97" y="14"/>
                    </a:moveTo>
                    <a:lnTo>
                      <a:pt x="97" y="14"/>
                    </a:lnTo>
                    <a:lnTo>
                      <a:pt x="0" y="14"/>
                    </a:lnTo>
                    <a:lnTo>
                      <a:pt x="0" y="0"/>
                    </a:lnTo>
                    <a:lnTo>
                      <a:pt x="97" y="0"/>
                    </a:lnTo>
                    <a:lnTo>
                      <a:pt x="97" y="14"/>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36" name="Freeform 206">
                <a:extLst>
                  <a:ext uri="{FF2B5EF4-FFF2-40B4-BE49-F238E27FC236}">
                    <a16:creationId xmlns:a16="http://schemas.microsoft.com/office/drawing/2014/main" id="{56F57AEA-86B5-4BAD-BB07-CDFC90ED13ED}"/>
                  </a:ext>
                </a:extLst>
              </p:cNvPr>
              <p:cNvSpPr>
                <a:spLocks/>
              </p:cNvSpPr>
              <p:nvPr/>
            </p:nvSpPr>
            <p:spPr bwMode="auto">
              <a:xfrm>
                <a:off x="6856413" y="4143375"/>
                <a:ext cx="41275" cy="4763"/>
              </a:xfrm>
              <a:custGeom>
                <a:avLst/>
                <a:gdLst>
                  <a:gd name="T0" fmla="*/ 2147483646 w 97"/>
                  <a:gd name="T1" fmla="*/ 2147483646 h 13"/>
                  <a:gd name="T2" fmla="*/ 2147483646 w 97"/>
                  <a:gd name="T3" fmla="*/ 2147483646 h 13"/>
                  <a:gd name="T4" fmla="*/ 0 w 97"/>
                  <a:gd name="T5" fmla="*/ 2147483646 h 13"/>
                  <a:gd name="T6" fmla="*/ 0 w 97"/>
                  <a:gd name="T7" fmla="*/ 0 h 13"/>
                  <a:gd name="T8" fmla="*/ 2147483646 w 97"/>
                  <a:gd name="T9" fmla="*/ 0 h 13"/>
                  <a:gd name="T10" fmla="*/ 2147483646 w 97"/>
                  <a:gd name="T11" fmla="*/ 2147483646 h 13"/>
                  <a:gd name="T12" fmla="*/ 0 60000 65536"/>
                  <a:gd name="T13" fmla="*/ 0 60000 65536"/>
                  <a:gd name="T14" fmla="*/ 0 60000 65536"/>
                  <a:gd name="T15" fmla="*/ 0 60000 65536"/>
                  <a:gd name="T16" fmla="*/ 0 60000 65536"/>
                  <a:gd name="T17" fmla="*/ 0 60000 65536"/>
                  <a:gd name="T18" fmla="*/ 0 w 97"/>
                  <a:gd name="T19" fmla="*/ 0 h 13"/>
                  <a:gd name="T20" fmla="*/ 97 w 97"/>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97" h="13">
                    <a:moveTo>
                      <a:pt x="97" y="13"/>
                    </a:moveTo>
                    <a:lnTo>
                      <a:pt x="97" y="13"/>
                    </a:lnTo>
                    <a:lnTo>
                      <a:pt x="0" y="13"/>
                    </a:lnTo>
                    <a:lnTo>
                      <a:pt x="0" y="0"/>
                    </a:lnTo>
                    <a:lnTo>
                      <a:pt x="97" y="0"/>
                    </a:lnTo>
                    <a:lnTo>
                      <a:pt x="97" y="13"/>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37" name="Freeform 207">
                <a:extLst>
                  <a:ext uri="{FF2B5EF4-FFF2-40B4-BE49-F238E27FC236}">
                    <a16:creationId xmlns:a16="http://schemas.microsoft.com/office/drawing/2014/main" id="{8F91623E-3EBD-4E6A-A1D2-AF0CAB159B78}"/>
                  </a:ext>
                </a:extLst>
              </p:cNvPr>
              <p:cNvSpPr>
                <a:spLocks/>
              </p:cNvSpPr>
              <p:nvPr/>
            </p:nvSpPr>
            <p:spPr bwMode="auto">
              <a:xfrm>
                <a:off x="6856413" y="4159250"/>
                <a:ext cx="41275" cy="6350"/>
              </a:xfrm>
              <a:custGeom>
                <a:avLst/>
                <a:gdLst>
                  <a:gd name="T0" fmla="*/ 2147483646 w 97"/>
                  <a:gd name="T1" fmla="*/ 2147483646 h 13"/>
                  <a:gd name="T2" fmla="*/ 2147483646 w 97"/>
                  <a:gd name="T3" fmla="*/ 2147483646 h 13"/>
                  <a:gd name="T4" fmla="*/ 0 w 97"/>
                  <a:gd name="T5" fmla="*/ 2147483646 h 13"/>
                  <a:gd name="T6" fmla="*/ 0 w 97"/>
                  <a:gd name="T7" fmla="*/ 0 h 13"/>
                  <a:gd name="T8" fmla="*/ 2147483646 w 97"/>
                  <a:gd name="T9" fmla="*/ 0 h 13"/>
                  <a:gd name="T10" fmla="*/ 2147483646 w 97"/>
                  <a:gd name="T11" fmla="*/ 2147483646 h 13"/>
                  <a:gd name="T12" fmla="*/ 0 60000 65536"/>
                  <a:gd name="T13" fmla="*/ 0 60000 65536"/>
                  <a:gd name="T14" fmla="*/ 0 60000 65536"/>
                  <a:gd name="T15" fmla="*/ 0 60000 65536"/>
                  <a:gd name="T16" fmla="*/ 0 60000 65536"/>
                  <a:gd name="T17" fmla="*/ 0 60000 65536"/>
                  <a:gd name="T18" fmla="*/ 0 w 97"/>
                  <a:gd name="T19" fmla="*/ 0 h 13"/>
                  <a:gd name="T20" fmla="*/ 97 w 97"/>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97" h="13">
                    <a:moveTo>
                      <a:pt x="97" y="13"/>
                    </a:moveTo>
                    <a:lnTo>
                      <a:pt x="97" y="13"/>
                    </a:lnTo>
                    <a:lnTo>
                      <a:pt x="0" y="13"/>
                    </a:lnTo>
                    <a:lnTo>
                      <a:pt x="0" y="0"/>
                    </a:lnTo>
                    <a:lnTo>
                      <a:pt x="97" y="0"/>
                    </a:lnTo>
                    <a:lnTo>
                      <a:pt x="97" y="13"/>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38" name="Freeform 208">
                <a:extLst>
                  <a:ext uri="{FF2B5EF4-FFF2-40B4-BE49-F238E27FC236}">
                    <a16:creationId xmlns:a16="http://schemas.microsoft.com/office/drawing/2014/main" id="{42FC0BB4-0154-44C6-BDA4-BB474161BA72}"/>
                  </a:ext>
                </a:extLst>
              </p:cNvPr>
              <p:cNvSpPr>
                <a:spLocks/>
              </p:cNvSpPr>
              <p:nvPr/>
            </p:nvSpPr>
            <p:spPr bwMode="auto">
              <a:xfrm>
                <a:off x="6856413" y="4176713"/>
                <a:ext cx="41275" cy="4763"/>
              </a:xfrm>
              <a:custGeom>
                <a:avLst/>
                <a:gdLst>
                  <a:gd name="T0" fmla="*/ 2147483646 w 97"/>
                  <a:gd name="T1" fmla="*/ 2147483646 h 14"/>
                  <a:gd name="T2" fmla="*/ 2147483646 w 97"/>
                  <a:gd name="T3" fmla="*/ 2147483646 h 14"/>
                  <a:gd name="T4" fmla="*/ 0 w 97"/>
                  <a:gd name="T5" fmla="*/ 2147483646 h 14"/>
                  <a:gd name="T6" fmla="*/ 0 w 97"/>
                  <a:gd name="T7" fmla="*/ 0 h 14"/>
                  <a:gd name="T8" fmla="*/ 2147483646 w 97"/>
                  <a:gd name="T9" fmla="*/ 0 h 14"/>
                  <a:gd name="T10" fmla="*/ 2147483646 w 97"/>
                  <a:gd name="T11" fmla="*/ 2147483646 h 14"/>
                  <a:gd name="T12" fmla="*/ 0 60000 65536"/>
                  <a:gd name="T13" fmla="*/ 0 60000 65536"/>
                  <a:gd name="T14" fmla="*/ 0 60000 65536"/>
                  <a:gd name="T15" fmla="*/ 0 60000 65536"/>
                  <a:gd name="T16" fmla="*/ 0 60000 65536"/>
                  <a:gd name="T17" fmla="*/ 0 60000 65536"/>
                  <a:gd name="T18" fmla="*/ 0 w 97"/>
                  <a:gd name="T19" fmla="*/ 0 h 14"/>
                  <a:gd name="T20" fmla="*/ 97 w 97"/>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97" h="14">
                    <a:moveTo>
                      <a:pt x="97" y="14"/>
                    </a:moveTo>
                    <a:lnTo>
                      <a:pt x="97" y="14"/>
                    </a:lnTo>
                    <a:lnTo>
                      <a:pt x="0" y="14"/>
                    </a:lnTo>
                    <a:lnTo>
                      <a:pt x="0" y="0"/>
                    </a:lnTo>
                    <a:lnTo>
                      <a:pt x="97" y="0"/>
                    </a:lnTo>
                    <a:lnTo>
                      <a:pt x="97" y="14"/>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39" name="Freeform 209">
                <a:extLst>
                  <a:ext uri="{FF2B5EF4-FFF2-40B4-BE49-F238E27FC236}">
                    <a16:creationId xmlns:a16="http://schemas.microsoft.com/office/drawing/2014/main" id="{B7C445B8-164F-4499-BF9C-E6D1043FCF5B}"/>
                  </a:ext>
                </a:extLst>
              </p:cNvPr>
              <p:cNvSpPr>
                <a:spLocks/>
              </p:cNvSpPr>
              <p:nvPr/>
            </p:nvSpPr>
            <p:spPr bwMode="auto">
              <a:xfrm>
                <a:off x="6856413" y="4192588"/>
                <a:ext cx="41275" cy="6350"/>
              </a:xfrm>
              <a:custGeom>
                <a:avLst/>
                <a:gdLst>
                  <a:gd name="T0" fmla="*/ 2147483646 w 97"/>
                  <a:gd name="T1" fmla="*/ 2147483646 h 14"/>
                  <a:gd name="T2" fmla="*/ 2147483646 w 97"/>
                  <a:gd name="T3" fmla="*/ 2147483646 h 14"/>
                  <a:gd name="T4" fmla="*/ 0 w 97"/>
                  <a:gd name="T5" fmla="*/ 2147483646 h 14"/>
                  <a:gd name="T6" fmla="*/ 0 w 97"/>
                  <a:gd name="T7" fmla="*/ 0 h 14"/>
                  <a:gd name="T8" fmla="*/ 2147483646 w 97"/>
                  <a:gd name="T9" fmla="*/ 0 h 14"/>
                  <a:gd name="T10" fmla="*/ 2147483646 w 97"/>
                  <a:gd name="T11" fmla="*/ 2147483646 h 14"/>
                  <a:gd name="T12" fmla="*/ 0 60000 65536"/>
                  <a:gd name="T13" fmla="*/ 0 60000 65536"/>
                  <a:gd name="T14" fmla="*/ 0 60000 65536"/>
                  <a:gd name="T15" fmla="*/ 0 60000 65536"/>
                  <a:gd name="T16" fmla="*/ 0 60000 65536"/>
                  <a:gd name="T17" fmla="*/ 0 60000 65536"/>
                  <a:gd name="T18" fmla="*/ 0 w 97"/>
                  <a:gd name="T19" fmla="*/ 0 h 14"/>
                  <a:gd name="T20" fmla="*/ 97 w 97"/>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97" h="14">
                    <a:moveTo>
                      <a:pt x="97" y="14"/>
                    </a:moveTo>
                    <a:lnTo>
                      <a:pt x="97" y="14"/>
                    </a:lnTo>
                    <a:lnTo>
                      <a:pt x="0" y="14"/>
                    </a:lnTo>
                    <a:lnTo>
                      <a:pt x="0" y="0"/>
                    </a:lnTo>
                    <a:lnTo>
                      <a:pt x="97" y="0"/>
                    </a:lnTo>
                    <a:lnTo>
                      <a:pt x="97" y="14"/>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40" name="Freeform 210">
                <a:extLst>
                  <a:ext uri="{FF2B5EF4-FFF2-40B4-BE49-F238E27FC236}">
                    <a16:creationId xmlns:a16="http://schemas.microsoft.com/office/drawing/2014/main" id="{61D5DCBD-13CA-459C-8C33-F7FCE94087C9}"/>
                  </a:ext>
                </a:extLst>
              </p:cNvPr>
              <p:cNvSpPr>
                <a:spLocks/>
              </p:cNvSpPr>
              <p:nvPr/>
            </p:nvSpPr>
            <p:spPr bwMode="auto">
              <a:xfrm>
                <a:off x="6229350" y="3881438"/>
                <a:ext cx="47625" cy="73025"/>
              </a:xfrm>
              <a:custGeom>
                <a:avLst/>
                <a:gdLst>
                  <a:gd name="T0" fmla="*/ 2147483646 w 114"/>
                  <a:gd name="T1" fmla="*/ 2147483646 h 174"/>
                  <a:gd name="T2" fmla="*/ 2147483646 w 114"/>
                  <a:gd name="T3" fmla="*/ 2147483646 h 174"/>
                  <a:gd name="T4" fmla="*/ 2147483646 w 114"/>
                  <a:gd name="T5" fmla="*/ 2147483646 h 174"/>
                  <a:gd name="T6" fmla="*/ 2147483646 w 114"/>
                  <a:gd name="T7" fmla="*/ 2147483646 h 174"/>
                  <a:gd name="T8" fmla="*/ 2147483646 w 114"/>
                  <a:gd name="T9" fmla="*/ 2147483646 h 174"/>
                  <a:gd name="T10" fmla="*/ 2147483646 w 114"/>
                  <a:gd name="T11" fmla="*/ 2147483646 h 174"/>
                  <a:gd name="T12" fmla="*/ 2147483646 w 114"/>
                  <a:gd name="T13" fmla="*/ 2147483646 h 174"/>
                  <a:gd name="T14" fmla="*/ 0 w 114"/>
                  <a:gd name="T15" fmla="*/ 2147483646 h 174"/>
                  <a:gd name="T16" fmla="*/ 2147483646 w 114"/>
                  <a:gd name="T17" fmla="*/ 2147483646 h 174"/>
                  <a:gd name="T18" fmla="*/ 2147483646 w 114"/>
                  <a:gd name="T19" fmla="*/ 0 h 174"/>
                  <a:gd name="T20" fmla="*/ 2147483646 w 114"/>
                  <a:gd name="T21" fmla="*/ 2147483646 h 174"/>
                  <a:gd name="T22" fmla="*/ 2147483646 w 114"/>
                  <a:gd name="T23" fmla="*/ 2147483646 h 174"/>
                  <a:gd name="T24" fmla="*/ 2147483646 w 114"/>
                  <a:gd name="T25" fmla="*/ 2147483646 h 174"/>
                  <a:gd name="T26" fmla="*/ 2147483646 w 114"/>
                  <a:gd name="T27" fmla="*/ 2147483646 h 174"/>
                  <a:gd name="T28" fmla="*/ 2147483646 w 114"/>
                  <a:gd name="T29" fmla="*/ 2147483646 h 174"/>
                  <a:gd name="T30" fmla="*/ 2147483646 w 114"/>
                  <a:gd name="T31" fmla="*/ 2147483646 h 174"/>
                  <a:gd name="T32" fmla="*/ 2147483646 w 114"/>
                  <a:gd name="T33" fmla="*/ 2147483646 h 174"/>
                  <a:gd name="T34" fmla="*/ 2147483646 w 114"/>
                  <a:gd name="T35" fmla="*/ 2147483646 h 174"/>
                  <a:gd name="T36" fmla="*/ 2147483646 w 114"/>
                  <a:gd name="T37" fmla="*/ 2147483646 h 174"/>
                  <a:gd name="T38" fmla="*/ 2147483646 w 114"/>
                  <a:gd name="T39" fmla="*/ 2147483646 h 174"/>
                  <a:gd name="T40" fmla="*/ 2147483646 w 114"/>
                  <a:gd name="T41" fmla="*/ 2147483646 h 174"/>
                  <a:gd name="T42" fmla="*/ 2147483646 w 114"/>
                  <a:gd name="T43" fmla="*/ 2147483646 h 174"/>
                  <a:gd name="T44" fmla="*/ 2147483646 w 114"/>
                  <a:gd name="T45" fmla="*/ 2147483646 h 1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4"/>
                  <a:gd name="T70" fmla="*/ 0 h 174"/>
                  <a:gd name="T71" fmla="*/ 114 w 114"/>
                  <a:gd name="T72" fmla="*/ 174 h 1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4" h="174">
                    <a:moveTo>
                      <a:pt x="1" y="129"/>
                    </a:moveTo>
                    <a:lnTo>
                      <a:pt x="1" y="129"/>
                    </a:lnTo>
                    <a:cubicBezTo>
                      <a:pt x="15" y="140"/>
                      <a:pt x="30" y="146"/>
                      <a:pt x="47" y="146"/>
                    </a:cubicBezTo>
                    <a:cubicBezTo>
                      <a:pt x="57" y="146"/>
                      <a:pt x="64" y="144"/>
                      <a:pt x="69" y="141"/>
                    </a:cubicBezTo>
                    <a:cubicBezTo>
                      <a:pt x="74" y="137"/>
                      <a:pt x="77" y="133"/>
                      <a:pt x="77" y="128"/>
                    </a:cubicBezTo>
                    <a:cubicBezTo>
                      <a:pt x="77" y="123"/>
                      <a:pt x="75" y="119"/>
                      <a:pt x="71" y="115"/>
                    </a:cubicBezTo>
                    <a:cubicBezTo>
                      <a:pt x="67" y="111"/>
                      <a:pt x="57" y="105"/>
                      <a:pt x="40" y="98"/>
                    </a:cubicBezTo>
                    <a:cubicBezTo>
                      <a:pt x="13" y="87"/>
                      <a:pt x="0" y="71"/>
                      <a:pt x="0" y="49"/>
                    </a:cubicBezTo>
                    <a:cubicBezTo>
                      <a:pt x="0" y="34"/>
                      <a:pt x="6" y="21"/>
                      <a:pt x="18" y="13"/>
                    </a:cubicBezTo>
                    <a:cubicBezTo>
                      <a:pt x="30" y="4"/>
                      <a:pt x="46" y="0"/>
                      <a:pt x="66" y="0"/>
                    </a:cubicBezTo>
                    <a:cubicBezTo>
                      <a:pt x="82" y="0"/>
                      <a:pt x="96" y="2"/>
                      <a:pt x="107" y="6"/>
                    </a:cubicBezTo>
                    <a:lnTo>
                      <a:pt x="107" y="40"/>
                    </a:lnTo>
                    <a:cubicBezTo>
                      <a:pt x="96" y="32"/>
                      <a:pt x="83" y="28"/>
                      <a:pt x="67" y="28"/>
                    </a:cubicBezTo>
                    <a:cubicBezTo>
                      <a:pt x="59" y="28"/>
                      <a:pt x="51" y="30"/>
                      <a:pt x="46" y="33"/>
                    </a:cubicBezTo>
                    <a:cubicBezTo>
                      <a:pt x="41" y="37"/>
                      <a:pt x="38" y="41"/>
                      <a:pt x="38" y="46"/>
                    </a:cubicBezTo>
                    <a:cubicBezTo>
                      <a:pt x="38" y="51"/>
                      <a:pt x="40" y="55"/>
                      <a:pt x="44" y="58"/>
                    </a:cubicBezTo>
                    <a:cubicBezTo>
                      <a:pt x="47" y="62"/>
                      <a:pt x="56" y="67"/>
                      <a:pt x="71" y="73"/>
                    </a:cubicBezTo>
                    <a:cubicBezTo>
                      <a:pt x="87" y="80"/>
                      <a:pt x="99" y="88"/>
                      <a:pt x="105" y="96"/>
                    </a:cubicBezTo>
                    <a:cubicBezTo>
                      <a:pt x="111" y="104"/>
                      <a:pt x="114" y="113"/>
                      <a:pt x="114" y="124"/>
                    </a:cubicBezTo>
                    <a:cubicBezTo>
                      <a:pt x="114" y="141"/>
                      <a:pt x="109" y="153"/>
                      <a:pt x="97" y="161"/>
                    </a:cubicBezTo>
                    <a:cubicBezTo>
                      <a:pt x="86" y="170"/>
                      <a:pt x="70" y="174"/>
                      <a:pt x="48" y="174"/>
                    </a:cubicBezTo>
                    <a:cubicBezTo>
                      <a:pt x="29" y="174"/>
                      <a:pt x="13" y="171"/>
                      <a:pt x="1" y="165"/>
                    </a:cubicBezTo>
                    <a:lnTo>
                      <a:pt x="1" y="129"/>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41" name="Freeform 211">
                <a:extLst>
                  <a:ext uri="{FF2B5EF4-FFF2-40B4-BE49-F238E27FC236}">
                    <a16:creationId xmlns:a16="http://schemas.microsoft.com/office/drawing/2014/main" id="{70220BA9-7688-45C2-850A-7A8709B0D24D}"/>
                  </a:ext>
                </a:extLst>
              </p:cNvPr>
              <p:cNvSpPr>
                <a:spLocks/>
              </p:cNvSpPr>
              <p:nvPr/>
            </p:nvSpPr>
            <p:spPr bwMode="auto">
              <a:xfrm>
                <a:off x="6286500" y="3881438"/>
                <a:ext cx="47625" cy="73025"/>
              </a:xfrm>
              <a:custGeom>
                <a:avLst/>
                <a:gdLst>
                  <a:gd name="T0" fmla="*/ 2147483646 w 115"/>
                  <a:gd name="T1" fmla="*/ 2147483646 h 174"/>
                  <a:gd name="T2" fmla="*/ 2147483646 w 115"/>
                  <a:gd name="T3" fmla="*/ 2147483646 h 174"/>
                  <a:gd name="T4" fmla="*/ 2147483646 w 115"/>
                  <a:gd name="T5" fmla="*/ 2147483646 h 174"/>
                  <a:gd name="T6" fmla="*/ 2147483646 w 115"/>
                  <a:gd name="T7" fmla="*/ 2147483646 h 174"/>
                  <a:gd name="T8" fmla="*/ 2147483646 w 115"/>
                  <a:gd name="T9" fmla="*/ 2147483646 h 174"/>
                  <a:gd name="T10" fmla="*/ 2147483646 w 115"/>
                  <a:gd name="T11" fmla="*/ 2147483646 h 174"/>
                  <a:gd name="T12" fmla="*/ 2147483646 w 115"/>
                  <a:gd name="T13" fmla="*/ 2147483646 h 174"/>
                  <a:gd name="T14" fmla="*/ 0 w 115"/>
                  <a:gd name="T15" fmla="*/ 2147483646 h 174"/>
                  <a:gd name="T16" fmla="*/ 2147483646 w 115"/>
                  <a:gd name="T17" fmla="*/ 2147483646 h 174"/>
                  <a:gd name="T18" fmla="*/ 2147483646 w 115"/>
                  <a:gd name="T19" fmla="*/ 0 h 174"/>
                  <a:gd name="T20" fmla="*/ 2147483646 w 115"/>
                  <a:gd name="T21" fmla="*/ 2147483646 h 174"/>
                  <a:gd name="T22" fmla="*/ 2147483646 w 115"/>
                  <a:gd name="T23" fmla="*/ 2147483646 h 174"/>
                  <a:gd name="T24" fmla="*/ 2147483646 w 115"/>
                  <a:gd name="T25" fmla="*/ 2147483646 h 174"/>
                  <a:gd name="T26" fmla="*/ 2147483646 w 115"/>
                  <a:gd name="T27" fmla="*/ 2147483646 h 174"/>
                  <a:gd name="T28" fmla="*/ 2147483646 w 115"/>
                  <a:gd name="T29" fmla="*/ 2147483646 h 174"/>
                  <a:gd name="T30" fmla="*/ 2147483646 w 115"/>
                  <a:gd name="T31" fmla="*/ 2147483646 h 174"/>
                  <a:gd name="T32" fmla="*/ 2147483646 w 115"/>
                  <a:gd name="T33" fmla="*/ 2147483646 h 174"/>
                  <a:gd name="T34" fmla="*/ 2147483646 w 115"/>
                  <a:gd name="T35" fmla="*/ 2147483646 h 174"/>
                  <a:gd name="T36" fmla="*/ 2147483646 w 115"/>
                  <a:gd name="T37" fmla="*/ 2147483646 h 174"/>
                  <a:gd name="T38" fmla="*/ 2147483646 w 115"/>
                  <a:gd name="T39" fmla="*/ 2147483646 h 174"/>
                  <a:gd name="T40" fmla="*/ 2147483646 w 115"/>
                  <a:gd name="T41" fmla="*/ 2147483646 h 174"/>
                  <a:gd name="T42" fmla="*/ 2147483646 w 115"/>
                  <a:gd name="T43" fmla="*/ 2147483646 h 174"/>
                  <a:gd name="T44" fmla="*/ 2147483646 w 115"/>
                  <a:gd name="T45" fmla="*/ 2147483646 h 1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5"/>
                  <a:gd name="T70" fmla="*/ 0 h 174"/>
                  <a:gd name="T71" fmla="*/ 115 w 115"/>
                  <a:gd name="T72" fmla="*/ 174 h 1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5" h="174">
                    <a:moveTo>
                      <a:pt x="1" y="129"/>
                    </a:moveTo>
                    <a:lnTo>
                      <a:pt x="1" y="129"/>
                    </a:lnTo>
                    <a:cubicBezTo>
                      <a:pt x="15" y="140"/>
                      <a:pt x="30" y="146"/>
                      <a:pt x="47" y="146"/>
                    </a:cubicBezTo>
                    <a:cubicBezTo>
                      <a:pt x="57" y="146"/>
                      <a:pt x="64" y="144"/>
                      <a:pt x="69" y="141"/>
                    </a:cubicBezTo>
                    <a:cubicBezTo>
                      <a:pt x="74" y="137"/>
                      <a:pt x="77" y="133"/>
                      <a:pt x="77" y="128"/>
                    </a:cubicBezTo>
                    <a:cubicBezTo>
                      <a:pt x="77" y="123"/>
                      <a:pt x="75" y="119"/>
                      <a:pt x="71" y="115"/>
                    </a:cubicBezTo>
                    <a:cubicBezTo>
                      <a:pt x="67" y="111"/>
                      <a:pt x="57" y="105"/>
                      <a:pt x="40" y="98"/>
                    </a:cubicBezTo>
                    <a:cubicBezTo>
                      <a:pt x="14" y="87"/>
                      <a:pt x="0" y="71"/>
                      <a:pt x="0" y="49"/>
                    </a:cubicBezTo>
                    <a:cubicBezTo>
                      <a:pt x="0" y="34"/>
                      <a:pt x="6" y="21"/>
                      <a:pt x="18" y="13"/>
                    </a:cubicBezTo>
                    <a:cubicBezTo>
                      <a:pt x="30" y="4"/>
                      <a:pt x="46" y="0"/>
                      <a:pt x="66" y="0"/>
                    </a:cubicBezTo>
                    <a:cubicBezTo>
                      <a:pt x="82" y="0"/>
                      <a:pt x="96" y="2"/>
                      <a:pt x="107" y="6"/>
                    </a:cubicBezTo>
                    <a:lnTo>
                      <a:pt x="107" y="40"/>
                    </a:lnTo>
                    <a:cubicBezTo>
                      <a:pt x="96" y="32"/>
                      <a:pt x="83" y="28"/>
                      <a:pt x="67" y="28"/>
                    </a:cubicBezTo>
                    <a:cubicBezTo>
                      <a:pt x="59" y="28"/>
                      <a:pt x="52" y="30"/>
                      <a:pt x="46" y="33"/>
                    </a:cubicBezTo>
                    <a:cubicBezTo>
                      <a:pt x="41" y="37"/>
                      <a:pt x="38" y="41"/>
                      <a:pt x="38" y="46"/>
                    </a:cubicBezTo>
                    <a:cubicBezTo>
                      <a:pt x="38" y="51"/>
                      <a:pt x="40" y="55"/>
                      <a:pt x="44" y="58"/>
                    </a:cubicBezTo>
                    <a:cubicBezTo>
                      <a:pt x="47" y="62"/>
                      <a:pt x="56" y="67"/>
                      <a:pt x="71" y="73"/>
                    </a:cubicBezTo>
                    <a:cubicBezTo>
                      <a:pt x="87" y="80"/>
                      <a:pt x="99" y="88"/>
                      <a:pt x="105" y="96"/>
                    </a:cubicBezTo>
                    <a:cubicBezTo>
                      <a:pt x="111" y="104"/>
                      <a:pt x="115" y="113"/>
                      <a:pt x="115" y="124"/>
                    </a:cubicBezTo>
                    <a:cubicBezTo>
                      <a:pt x="115" y="141"/>
                      <a:pt x="109" y="153"/>
                      <a:pt x="97" y="161"/>
                    </a:cubicBezTo>
                    <a:cubicBezTo>
                      <a:pt x="86" y="170"/>
                      <a:pt x="70" y="174"/>
                      <a:pt x="48" y="174"/>
                    </a:cubicBezTo>
                    <a:cubicBezTo>
                      <a:pt x="29" y="174"/>
                      <a:pt x="13" y="171"/>
                      <a:pt x="1" y="165"/>
                    </a:cubicBezTo>
                    <a:lnTo>
                      <a:pt x="1" y="129"/>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42" name="Freeform 212">
                <a:extLst>
                  <a:ext uri="{FF2B5EF4-FFF2-40B4-BE49-F238E27FC236}">
                    <a16:creationId xmlns:a16="http://schemas.microsoft.com/office/drawing/2014/main" id="{A452E359-4012-4020-8DD1-C71CB370C602}"/>
                  </a:ext>
                </a:extLst>
              </p:cNvPr>
              <p:cNvSpPr>
                <a:spLocks noEditPoints="1"/>
              </p:cNvSpPr>
              <p:nvPr/>
            </p:nvSpPr>
            <p:spPr bwMode="auto">
              <a:xfrm>
                <a:off x="6346825" y="3881438"/>
                <a:ext cx="61913" cy="71438"/>
              </a:xfrm>
              <a:custGeom>
                <a:avLst/>
                <a:gdLst>
                  <a:gd name="T0" fmla="*/ 2147483646 w 148"/>
                  <a:gd name="T1" fmla="*/ 2147483646 h 168"/>
                  <a:gd name="T2" fmla="*/ 2147483646 w 148"/>
                  <a:gd name="T3" fmla="*/ 2147483646 h 168"/>
                  <a:gd name="T4" fmla="*/ 2147483646 w 148"/>
                  <a:gd name="T5" fmla="*/ 2147483646 h 168"/>
                  <a:gd name="T6" fmla="*/ 2147483646 w 148"/>
                  <a:gd name="T7" fmla="*/ 2147483646 h 168"/>
                  <a:gd name="T8" fmla="*/ 2147483646 w 148"/>
                  <a:gd name="T9" fmla="*/ 2147483646 h 168"/>
                  <a:gd name="T10" fmla="*/ 2147483646 w 148"/>
                  <a:gd name="T11" fmla="*/ 2147483646 h 168"/>
                  <a:gd name="T12" fmla="*/ 2147483646 w 148"/>
                  <a:gd name="T13" fmla="*/ 2147483646 h 168"/>
                  <a:gd name="T14" fmla="*/ 2147483646 w 148"/>
                  <a:gd name="T15" fmla="*/ 2147483646 h 168"/>
                  <a:gd name="T16" fmla="*/ 2147483646 w 148"/>
                  <a:gd name="T17" fmla="*/ 2147483646 h 168"/>
                  <a:gd name="T18" fmla="*/ 0 w 148"/>
                  <a:gd name="T19" fmla="*/ 2147483646 h 168"/>
                  <a:gd name="T20" fmla="*/ 0 w 148"/>
                  <a:gd name="T21" fmla="*/ 2147483646 h 168"/>
                  <a:gd name="T22" fmla="*/ 0 w 148"/>
                  <a:gd name="T23" fmla="*/ 0 h 168"/>
                  <a:gd name="T24" fmla="*/ 2147483646 w 148"/>
                  <a:gd name="T25" fmla="*/ 0 h 168"/>
                  <a:gd name="T26" fmla="*/ 2147483646 w 148"/>
                  <a:gd name="T27" fmla="*/ 2147483646 h 168"/>
                  <a:gd name="T28" fmla="*/ 2147483646 w 148"/>
                  <a:gd name="T29" fmla="*/ 2147483646 h 168"/>
                  <a:gd name="T30" fmla="*/ 2147483646 w 148"/>
                  <a:gd name="T31" fmla="*/ 2147483646 h 168"/>
                  <a:gd name="T32" fmla="*/ 0 w 148"/>
                  <a:gd name="T33" fmla="*/ 2147483646 h 1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8"/>
                  <a:gd name="T52" fmla="*/ 0 h 168"/>
                  <a:gd name="T53" fmla="*/ 148 w 148"/>
                  <a:gd name="T54" fmla="*/ 168 h 16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8" h="168">
                    <a:moveTo>
                      <a:pt x="36" y="29"/>
                    </a:moveTo>
                    <a:lnTo>
                      <a:pt x="36" y="29"/>
                    </a:lnTo>
                    <a:lnTo>
                      <a:pt x="36" y="139"/>
                    </a:lnTo>
                    <a:lnTo>
                      <a:pt x="55" y="139"/>
                    </a:lnTo>
                    <a:cubicBezTo>
                      <a:pt x="72" y="139"/>
                      <a:pt x="86" y="134"/>
                      <a:pt x="95" y="124"/>
                    </a:cubicBezTo>
                    <a:cubicBezTo>
                      <a:pt x="105" y="113"/>
                      <a:pt x="110" y="100"/>
                      <a:pt x="110" y="82"/>
                    </a:cubicBezTo>
                    <a:cubicBezTo>
                      <a:pt x="110" y="66"/>
                      <a:pt x="105" y="53"/>
                      <a:pt x="95" y="43"/>
                    </a:cubicBezTo>
                    <a:cubicBezTo>
                      <a:pt x="85" y="34"/>
                      <a:pt x="71" y="29"/>
                      <a:pt x="55" y="29"/>
                    </a:cubicBezTo>
                    <a:lnTo>
                      <a:pt x="36" y="29"/>
                    </a:lnTo>
                    <a:close/>
                    <a:moveTo>
                      <a:pt x="0" y="168"/>
                    </a:moveTo>
                    <a:lnTo>
                      <a:pt x="0" y="168"/>
                    </a:lnTo>
                    <a:lnTo>
                      <a:pt x="0" y="0"/>
                    </a:lnTo>
                    <a:lnTo>
                      <a:pt x="58" y="0"/>
                    </a:lnTo>
                    <a:cubicBezTo>
                      <a:pt x="118" y="0"/>
                      <a:pt x="148" y="27"/>
                      <a:pt x="148" y="82"/>
                    </a:cubicBezTo>
                    <a:cubicBezTo>
                      <a:pt x="148" y="108"/>
                      <a:pt x="139" y="129"/>
                      <a:pt x="123" y="145"/>
                    </a:cubicBezTo>
                    <a:cubicBezTo>
                      <a:pt x="106" y="160"/>
                      <a:pt x="84" y="168"/>
                      <a:pt x="58" y="168"/>
                    </a:cubicBezTo>
                    <a:lnTo>
                      <a:pt x="0" y="16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43" name="Freeform 213">
                <a:extLst>
                  <a:ext uri="{FF2B5EF4-FFF2-40B4-BE49-F238E27FC236}">
                    <a16:creationId xmlns:a16="http://schemas.microsoft.com/office/drawing/2014/main" id="{0E8D2331-274C-4B29-911B-0683F93E7186}"/>
                  </a:ext>
                </a:extLst>
              </p:cNvPr>
              <p:cNvSpPr>
                <a:spLocks/>
              </p:cNvSpPr>
              <p:nvPr/>
            </p:nvSpPr>
            <p:spPr bwMode="auto">
              <a:xfrm>
                <a:off x="6624638" y="4268788"/>
                <a:ext cx="58738" cy="57150"/>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1" y="139"/>
                      <a:pt x="0" y="107"/>
                      <a:pt x="0" y="69"/>
                    </a:cubicBezTo>
                    <a:cubicBezTo>
                      <a:pt x="0" y="31"/>
                      <a:pt x="31" y="0"/>
                      <a:pt x="69" y="0"/>
                    </a:cubicBezTo>
                    <a:cubicBezTo>
                      <a:pt x="108" y="0"/>
                      <a:pt x="139" y="31"/>
                      <a:pt x="139" y="69"/>
                    </a:cubicBezTo>
                    <a:cubicBezTo>
                      <a:pt x="139" y="107"/>
                      <a:pt x="108" y="139"/>
                      <a:pt x="69" y="139"/>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44" name="Freeform 214">
                <a:extLst>
                  <a:ext uri="{FF2B5EF4-FFF2-40B4-BE49-F238E27FC236}">
                    <a16:creationId xmlns:a16="http://schemas.microsoft.com/office/drawing/2014/main" id="{7CC5D523-C080-4D43-99D0-666B41EFD6D3}"/>
                  </a:ext>
                </a:extLst>
              </p:cNvPr>
              <p:cNvSpPr>
                <a:spLocks/>
              </p:cNvSpPr>
              <p:nvPr/>
            </p:nvSpPr>
            <p:spPr bwMode="auto">
              <a:xfrm>
                <a:off x="6737350" y="4270375"/>
                <a:ext cx="58738" cy="58738"/>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1" y="139"/>
                      <a:pt x="0" y="108"/>
                      <a:pt x="0" y="70"/>
                    </a:cubicBezTo>
                    <a:cubicBezTo>
                      <a:pt x="0" y="31"/>
                      <a:pt x="31" y="0"/>
                      <a:pt x="69" y="0"/>
                    </a:cubicBezTo>
                    <a:cubicBezTo>
                      <a:pt x="108" y="0"/>
                      <a:pt x="139" y="31"/>
                      <a:pt x="139" y="70"/>
                    </a:cubicBezTo>
                    <a:cubicBezTo>
                      <a:pt x="139" y="108"/>
                      <a:pt x="108" y="139"/>
                      <a:pt x="69" y="139"/>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45" name="Freeform 215">
                <a:extLst>
                  <a:ext uri="{FF2B5EF4-FFF2-40B4-BE49-F238E27FC236}">
                    <a16:creationId xmlns:a16="http://schemas.microsoft.com/office/drawing/2014/main" id="{719787E9-0109-486C-8A7F-EADC22EAC6FC}"/>
                  </a:ext>
                </a:extLst>
              </p:cNvPr>
              <p:cNvSpPr>
                <a:spLocks/>
              </p:cNvSpPr>
              <p:nvPr/>
            </p:nvSpPr>
            <p:spPr bwMode="auto">
              <a:xfrm>
                <a:off x="6778625" y="3994150"/>
                <a:ext cx="46038" cy="11113"/>
              </a:xfrm>
              <a:custGeom>
                <a:avLst/>
                <a:gdLst>
                  <a:gd name="T0" fmla="*/ 2147483646 w 107"/>
                  <a:gd name="T1" fmla="*/ 2147483646 h 26"/>
                  <a:gd name="T2" fmla="*/ 2147483646 w 107"/>
                  <a:gd name="T3" fmla="*/ 2147483646 h 26"/>
                  <a:gd name="T4" fmla="*/ 0 w 107"/>
                  <a:gd name="T5" fmla="*/ 2147483646 h 26"/>
                  <a:gd name="T6" fmla="*/ 0 w 107"/>
                  <a:gd name="T7" fmla="*/ 0 h 26"/>
                  <a:gd name="T8" fmla="*/ 2147483646 w 107"/>
                  <a:gd name="T9" fmla="*/ 0 h 26"/>
                  <a:gd name="T10" fmla="*/ 2147483646 w 107"/>
                  <a:gd name="T11" fmla="*/ 2147483646 h 26"/>
                  <a:gd name="T12" fmla="*/ 0 60000 65536"/>
                  <a:gd name="T13" fmla="*/ 0 60000 65536"/>
                  <a:gd name="T14" fmla="*/ 0 60000 65536"/>
                  <a:gd name="T15" fmla="*/ 0 60000 65536"/>
                  <a:gd name="T16" fmla="*/ 0 60000 65536"/>
                  <a:gd name="T17" fmla="*/ 0 60000 65536"/>
                  <a:gd name="T18" fmla="*/ 0 w 107"/>
                  <a:gd name="T19" fmla="*/ 0 h 26"/>
                  <a:gd name="T20" fmla="*/ 107 w 107"/>
                  <a:gd name="T21" fmla="*/ 26 h 26"/>
                </a:gdLst>
                <a:ahLst/>
                <a:cxnLst>
                  <a:cxn ang="T12">
                    <a:pos x="T0" y="T1"/>
                  </a:cxn>
                  <a:cxn ang="T13">
                    <a:pos x="T2" y="T3"/>
                  </a:cxn>
                  <a:cxn ang="T14">
                    <a:pos x="T4" y="T5"/>
                  </a:cxn>
                  <a:cxn ang="T15">
                    <a:pos x="T6" y="T7"/>
                  </a:cxn>
                  <a:cxn ang="T16">
                    <a:pos x="T8" y="T9"/>
                  </a:cxn>
                  <a:cxn ang="T17">
                    <a:pos x="T10" y="T11"/>
                  </a:cxn>
                </a:cxnLst>
                <a:rect l="T18" t="T19" r="T20" b="T21"/>
                <a:pathLst>
                  <a:path w="107" h="26">
                    <a:moveTo>
                      <a:pt x="107" y="26"/>
                    </a:moveTo>
                    <a:lnTo>
                      <a:pt x="107" y="26"/>
                    </a:lnTo>
                    <a:lnTo>
                      <a:pt x="0" y="26"/>
                    </a:lnTo>
                    <a:lnTo>
                      <a:pt x="0" y="0"/>
                    </a:lnTo>
                    <a:lnTo>
                      <a:pt x="107" y="0"/>
                    </a:lnTo>
                    <a:lnTo>
                      <a:pt x="107" y="26"/>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sp>
            <p:nvSpPr>
              <p:cNvPr id="146" name="Freeform 216">
                <a:extLst>
                  <a:ext uri="{FF2B5EF4-FFF2-40B4-BE49-F238E27FC236}">
                    <a16:creationId xmlns:a16="http://schemas.microsoft.com/office/drawing/2014/main" id="{A4489F6F-5CCF-4CC7-9A6C-ADD1ED5F46D8}"/>
                  </a:ext>
                </a:extLst>
              </p:cNvPr>
              <p:cNvSpPr>
                <a:spLocks/>
              </p:cNvSpPr>
              <p:nvPr/>
            </p:nvSpPr>
            <p:spPr bwMode="auto">
              <a:xfrm>
                <a:off x="6850063" y="3890963"/>
                <a:ext cx="11113" cy="331788"/>
              </a:xfrm>
              <a:custGeom>
                <a:avLst/>
                <a:gdLst>
                  <a:gd name="T0" fmla="*/ 2147483646 w 26"/>
                  <a:gd name="T1" fmla="*/ 2147483646 h 788"/>
                  <a:gd name="T2" fmla="*/ 2147483646 w 26"/>
                  <a:gd name="T3" fmla="*/ 2147483646 h 788"/>
                  <a:gd name="T4" fmla="*/ 0 w 26"/>
                  <a:gd name="T5" fmla="*/ 2147483646 h 788"/>
                  <a:gd name="T6" fmla="*/ 0 w 26"/>
                  <a:gd name="T7" fmla="*/ 0 h 788"/>
                  <a:gd name="T8" fmla="*/ 2147483646 w 26"/>
                  <a:gd name="T9" fmla="*/ 0 h 788"/>
                  <a:gd name="T10" fmla="*/ 2147483646 w 26"/>
                  <a:gd name="T11" fmla="*/ 2147483646 h 788"/>
                  <a:gd name="T12" fmla="*/ 0 60000 65536"/>
                  <a:gd name="T13" fmla="*/ 0 60000 65536"/>
                  <a:gd name="T14" fmla="*/ 0 60000 65536"/>
                  <a:gd name="T15" fmla="*/ 0 60000 65536"/>
                  <a:gd name="T16" fmla="*/ 0 60000 65536"/>
                  <a:gd name="T17" fmla="*/ 0 60000 65536"/>
                  <a:gd name="T18" fmla="*/ 0 w 26"/>
                  <a:gd name="T19" fmla="*/ 0 h 788"/>
                  <a:gd name="T20" fmla="*/ 26 w 26"/>
                  <a:gd name="T21" fmla="*/ 788 h 788"/>
                </a:gdLst>
                <a:ahLst/>
                <a:cxnLst>
                  <a:cxn ang="T12">
                    <a:pos x="T0" y="T1"/>
                  </a:cxn>
                  <a:cxn ang="T13">
                    <a:pos x="T2" y="T3"/>
                  </a:cxn>
                  <a:cxn ang="T14">
                    <a:pos x="T4" y="T5"/>
                  </a:cxn>
                  <a:cxn ang="T15">
                    <a:pos x="T6" y="T7"/>
                  </a:cxn>
                  <a:cxn ang="T16">
                    <a:pos x="T8" y="T9"/>
                  </a:cxn>
                  <a:cxn ang="T17">
                    <a:pos x="T10" y="T11"/>
                  </a:cxn>
                </a:cxnLst>
                <a:rect l="T18" t="T19" r="T20" b="T21"/>
                <a:pathLst>
                  <a:path w="26" h="788">
                    <a:moveTo>
                      <a:pt x="26" y="788"/>
                    </a:moveTo>
                    <a:lnTo>
                      <a:pt x="26" y="788"/>
                    </a:lnTo>
                    <a:lnTo>
                      <a:pt x="0" y="788"/>
                    </a:lnTo>
                    <a:lnTo>
                      <a:pt x="0" y="0"/>
                    </a:lnTo>
                    <a:lnTo>
                      <a:pt x="26" y="0"/>
                    </a:lnTo>
                    <a:lnTo>
                      <a:pt x="26" y="7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2140" b="0" i="0" u="none" strike="noStrike" kern="1200" cap="none" spc="0" normalizeH="0" baseline="0" noProof="0">
                  <a:ln>
                    <a:noFill/>
                  </a:ln>
                  <a:effectLst/>
                  <a:uLnTx/>
                  <a:uFillTx/>
                  <a:latin typeface="Calibri" panose="020F0502020204030204"/>
                  <a:ea typeface="等线" panose="02010600030101010101" pitchFamily="2" charset="-122"/>
                  <a:cs typeface="+mn-cs"/>
                </a:endParaRPr>
              </a:p>
            </p:txBody>
          </p:sp>
        </p:grpSp>
        <p:pic>
          <p:nvPicPr>
            <p:cNvPr id="79" name="图形 78">
              <a:extLst>
                <a:ext uri="{FF2B5EF4-FFF2-40B4-BE49-F238E27FC236}">
                  <a16:creationId xmlns:a16="http://schemas.microsoft.com/office/drawing/2014/main" id="{4F5DF8B4-B764-46A0-B2E5-9F458705BA2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42768" y="1715993"/>
              <a:ext cx="370997" cy="370997"/>
            </a:xfrm>
            <a:prstGeom prst="rect">
              <a:avLst/>
            </a:prstGeom>
          </p:spPr>
        </p:pic>
        <p:pic>
          <p:nvPicPr>
            <p:cNvPr id="80" name="图形 79">
              <a:extLst>
                <a:ext uri="{FF2B5EF4-FFF2-40B4-BE49-F238E27FC236}">
                  <a16:creationId xmlns:a16="http://schemas.microsoft.com/office/drawing/2014/main" id="{1575FAE6-C0AC-461E-936D-DE98C2D2944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99813" y="1743638"/>
              <a:ext cx="315707" cy="315707"/>
            </a:xfrm>
            <a:prstGeom prst="rect">
              <a:avLst/>
            </a:prstGeom>
          </p:spPr>
        </p:pic>
        <p:sp>
          <p:nvSpPr>
            <p:cNvPr id="81" name="文本框 5">
              <a:extLst>
                <a:ext uri="{FF2B5EF4-FFF2-40B4-BE49-F238E27FC236}">
                  <a16:creationId xmlns:a16="http://schemas.microsoft.com/office/drawing/2014/main" id="{906B176A-5C71-43CF-B259-63A6A17778F6}"/>
                </a:ext>
              </a:extLst>
            </p:cNvPr>
            <p:cNvSpPr txBox="1">
              <a:spLocks noChangeArrowheads="1"/>
            </p:cNvSpPr>
            <p:nvPr/>
          </p:nvSpPr>
          <p:spPr bwMode="auto">
            <a:xfrm>
              <a:off x="6976810" y="2091936"/>
              <a:ext cx="334940" cy="20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552" tIns="54276" rIns="108552" bIns="54276">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effectLst/>
                  <a:uLnTx/>
                  <a:uFillTx/>
                  <a:latin typeface="Calibri" panose="020F0502020204030204"/>
                  <a:ea typeface="宋体" panose="02010600030101010101" pitchFamily="2" charset="-122"/>
                  <a:cs typeface="+mn-cs"/>
                </a:rPr>
                <a:t>CPU</a:t>
              </a:r>
            </a:p>
          </p:txBody>
        </p:sp>
        <p:sp>
          <p:nvSpPr>
            <p:cNvPr id="82" name="文本框 5">
              <a:extLst>
                <a:ext uri="{FF2B5EF4-FFF2-40B4-BE49-F238E27FC236}">
                  <a16:creationId xmlns:a16="http://schemas.microsoft.com/office/drawing/2014/main" id="{7DE320DF-F1E9-4A91-B571-1D63E171AC2F}"/>
                </a:ext>
              </a:extLst>
            </p:cNvPr>
            <p:cNvSpPr txBox="1">
              <a:spLocks noChangeArrowheads="1"/>
            </p:cNvSpPr>
            <p:nvPr/>
          </p:nvSpPr>
          <p:spPr bwMode="auto">
            <a:xfrm>
              <a:off x="7559846" y="2091936"/>
              <a:ext cx="347232" cy="20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552" tIns="54276" rIns="108552" bIns="54276">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effectLst/>
                  <a:uLnTx/>
                  <a:uFillTx/>
                  <a:latin typeface="Calibri" panose="020F0502020204030204"/>
                  <a:ea typeface="宋体" panose="02010600030101010101" pitchFamily="2" charset="-122"/>
                  <a:cs typeface="+mn-cs"/>
                </a:rPr>
                <a:t>NPU</a:t>
              </a:r>
            </a:p>
          </p:txBody>
        </p:sp>
        <p:sp>
          <p:nvSpPr>
            <p:cNvPr id="83" name="文本框 5">
              <a:extLst>
                <a:ext uri="{FF2B5EF4-FFF2-40B4-BE49-F238E27FC236}">
                  <a16:creationId xmlns:a16="http://schemas.microsoft.com/office/drawing/2014/main" id="{2427DDD6-D906-4645-A1D1-18C5B6CD6B3E}"/>
                </a:ext>
              </a:extLst>
            </p:cNvPr>
            <p:cNvSpPr txBox="1">
              <a:spLocks noChangeArrowheads="1"/>
            </p:cNvSpPr>
            <p:nvPr/>
          </p:nvSpPr>
          <p:spPr bwMode="auto">
            <a:xfrm>
              <a:off x="8162684" y="2091936"/>
              <a:ext cx="346114" cy="20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552" tIns="54276" rIns="108552" bIns="54276">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effectLst/>
                  <a:uLnTx/>
                  <a:uFillTx/>
                  <a:latin typeface="Calibri" panose="020F0502020204030204"/>
                  <a:ea typeface="宋体" panose="02010600030101010101" pitchFamily="2" charset="-122"/>
                  <a:cs typeface="+mn-cs"/>
                </a:rPr>
                <a:t>GPU</a:t>
              </a:r>
            </a:p>
          </p:txBody>
        </p:sp>
        <p:grpSp>
          <p:nvGrpSpPr>
            <p:cNvPr id="84" name="组合 83">
              <a:extLst>
                <a:ext uri="{FF2B5EF4-FFF2-40B4-BE49-F238E27FC236}">
                  <a16:creationId xmlns:a16="http://schemas.microsoft.com/office/drawing/2014/main" id="{070D7E72-7B69-41A8-9756-354271EFEEC5}"/>
                </a:ext>
              </a:extLst>
            </p:cNvPr>
            <p:cNvGrpSpPr/>
            <p:nvPr/>
          </p:nvGrpSpPr>
          <p:grpSpPr>
            <a:xfrm>
              <a:off x="8141014" y="1726435"/>
              <a:ext cx="381498" cy="350113"/>
              <a:chOff x="5260425" y="837041"/>
              <a:chExt cx="699280" cy="699280"/>
            </a:xfrm>
            <a:solidFill>
              <a:schemeClr val="tx1"/>
            </a:solidFill>
          </p:grpSpPr>
          <p:pic>
            <p:nvPicPr>
              <p:cNvPr id="95" name="图形 94">
                <a:extLst>
                  <a:ext uri="{FF2B5EF4-FFF2-40B4-BE49-F238E27FC236}">
                    <a16:creationId xmlns:a16="http://schemas.microsoft.com/office/drawing/2014/main" id="{8514D33B-A3A9-4C8B-A1FE-5887C530E91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60425" y="837041"/>
                <a:ext cx="699280" cy="699280"/>
              </a:xfrm>
              <a:prstGeom prst="rect">
                <a:avLst/>
              </a:prstGeom>
            </p:spPr>
          </p:pic>
          <p:sp>
            <p:nvSpPr>
              <p:cNvPr id="96" name="矩形 95">
                <a:extLst>
                  <a:ext uri="{FF2B5EF4-FFF2-40B4-BE49-F238E27FC236}">
                    <a16:creationId xmlns:a16="http://schemas.microsoft.com/office/drawing/2014/main" id="{B60A2C58-48A9-40A1-8BC6-9F171EAA6E40}"/>
                  </a:ext>
                </a:extLst>
              </p:cNvPr>
              <p:cNvSpPr/>
              <p:nvPr/>
            </p:nvSpPr>
            <p:spPr>
              <a:xfrm>
                <a:off x="5487537" y="1056688"/>
                <a:ext cx="235276" cy="2412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chemeClr val="tx1"/>
                    </a:solidFill>
                    <a:effectLst/>
                    <a:uLnTx/>
                    <a:uFillTx/>
                    <a:latin typeface="Calibri" panose="020F0502020204030204"/>
                    <a:ea typeface="等线" panose="02010600030101010101" pitchFamily="2" charset="-122"/>
                    <a:cs typeface="+mn-cs"/>
                  </a:rPr>
                  <a:t>G</a:t>
                </a:r>
                <a:endParaRPr kumimoji="0" lang="zh-CN" altLang="en-US" sz="1200" b="1" i="0" u="none" strike="noStrike" kern="1200" cap="none" spc="0" normalizeH="0" baseline="0" noProof="0" dirty="0">
                  <a:ln>
                    <a:noFill/>
                  </a:ln>
                  <a:solidFill>
                    <a:schemeClr val="tx1"/>
                  </a:solidFill>
                  <a:effectLst/>
                  <a:uLnTx/>
                  <a:uFillTx/>
                  <a:latin typeface="Calibri" panose="020F0502020204030204"/>
                  <a:ea typeface="等线" panose="02010600030101010101" pitchFamily="2" charset="-122"/>
                  <a:cs typeface="+mn-cs"/>
                </a:endParaRPr>
              </a:p>
            </p:txBody>
          </p:sp>
        </p:grpSp>
        <p:sp>
          <p:nvSpPr>
            <p:cNvPr id="85" name="文本框 5">
              <a:extLst>
                <a:ext uri="{FF2B5EF4-FFF2-40B4-BE49-F238E27FC236}">
                  <a16:creationId xmlns:a16="http://schemas.microsoft.com/office/drawing/2014/main" id="{58EB5EC2-2EEB-4EB1-AC0A-ED076B318AC0}"/>
                </a:ext>
              </a:extLst>
            </p:cNvPr>
            <p:cNvSpPr txBox="1">
              <a:spLocks noChangeArrowheads="1"/>
            </p:cNvSpPr>
            <p:nvPr/>
          </p:nvSpPr>
          <p:spPr bwMode="auto">
            <a:xfrm>
              <a:off x="10739658" y="2091936"/>
              <a:ext cx="438902" cy="20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552" tIns="54276" rIns="108552" bIns="54276">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effectLst/>
                  <a:uLnTx/>
                  <a:uFillTx/>
                  <a:latin typeface="Calibri" panose="020F0502020204030204"/>
                  <a:ea typeface="宋体" panose="02010600030101010101" pitchFamily="2" charset="-122"/>
                  <a:cs typeface="+mn-cs"/>
                </a:rPr>
                <a:t>Switch</a:t>
              </a:r>
            </a:p>
          </p:txBody>
        </p:sp>
        <p:sp>
          <p:nvSpPr>
            <p:cNvPr id="86" name="文本框 85">
              <a:extLst>
                <a:ext uri="{FF2B5EF4-FFF2-40B4-BE49-F238E27FC236}">
                  <a16:creationId xmlns:a16="http://schemas.microsoft.com/office/drawing/2014/main" id="{BF5510C0-65D4-4D20-A3E5-092CD17686B9}"/>
                </a:ext>
              </a:extLst>
            </p:cNvPr>
            <p:cNvSpPr txBox="1"/>
            <p:nvPr/>
          </p:nvSpPr>
          <p:spPr>
            <a:xfrm>
              <a:off x="6733980" y="3178431"/>
              <a:ext cx="4990808" cy="276999"/>
            </a:xfrm>
            <a:prstGeom prst="rect">
              <a:avLst/>
            </a:prstGeom>
            <a:noFill/>
          </p:spPr>
          <p:txBody>
            <a:bodyPr wrap="square">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effectLst/>
                  <a:uLnTx/>
                  <a:uFillTx/>
                  <a:latin typeface="Calibri" panose="020F0502020204030204"/>
                  <a:ea typeface="等线" panose="02010600030101010101" pitchFamily="2" charset="-122"/>
                  <a:cs typeface="+mn-cs"/>
                </a:rPr>
                <a:t>UPI + PCIe + CXL + InfiniBand/</a:t>
              </a:r>
              <a:r>
                <a:rPr kumimoji="0" lang="en-US" altLang="zh-CN" sz="1200" b="0" i="0" u="none" strike="noStrike" kern="1200" cap="none" spc="0" normalizeH="0" baseline="0" noProof="0" dirty="0" err="1">
                  <a:ln>
                    <a:noFill/>
                  </a:ln>
                  <a:effectLst/>
                  <a:uLnTx/>
                  <a:uFillTx/>
                  <a:latin typeface="Calibri" panose="020F0502020204030204"/>
                  <a:ea typeface="等线" panose="02010600030101010101" pitchFamily="2" charset="-122"/>
                  <a:cs typeface="+mn-cs"/>
                </a:rPr>
                <a:t>RoCE</a:t>
              </a:r>
              <a:r>
                <a:rPr kumimoji="0" lang="en-US" altLang="zh-CN" sz="1200" b="0" i="0" u="none" strike="noStrike" kern="1200" cap="none" spc="0" normalizeH="0" baseline="0" noProof="0" dirty="0">
                  <a:ln>
                    <a:noFill/>
                  </a:ln>
                  <a:effectLst/>
                  <a:uLnTx/>
                  <a:uFillTx/>
                  <a:latin typeface="Calibri" panose="020F0502020204030204"/>
                  <a:ea typeface="等线" panose="02010600030101010101" pitchFamily="2" charset="-122"/>
                  <a:cs typeface="+mn-cs"/>
                </a:rPr>
                <a:t> + </a:t>
              </a:r>
              <a:r>
                <a:rPr kumimoji="0" lang="en-US" altLang="zh-CN" sz="1200" b="0" i="0" u="none" strike="noStrike" kern="1200" cap="none" spc="0" normalizeH="0" baseline="0" noProof="0" dirty="0" err="1">
                  <a:ln>
                    <a:noFill/>
                  </a:ln>
                  <a:effectLst/>
                  <a:uLnTx/>
                  <a:uFillTx/>
                  <a:latin typeface="Calibri" panose="020F0502020204030204"/>
                  <a:ea typeface="等线" panose="02010600030101010101" pitchFamily="2" charset="-122"/>
                  <a:cs typeface="+mn-cs"/>
                </a:rPr>
                <a:t>NVLink</a:t>
              </a:r>
              <a:r>
                <a:rPr kumimoji="0" lang="en-US" altLang="zh-CN" sz="1200" b="0" i="0" u="none" strike="noStrike" kern="1200" cap="none" spc="0" normalizeH="0" baseline="0" noProof="0" dirty="0">
                  <a:ln>
                    <a:noFill/>
                  </a:ln>
                  <a:effectLst/>
                  <a:uLnTx/>
                  <a:uFillTx/>
                  <a:latin typeface="Calibri" panose="020F0502020204030204"/>
                  <a:ea typeface="等线" panose="02010600030101010101" pitchFamily="2" charset="-122"/>
                  <a:cs typeface="+mn-cs"/>
                </a:rPr>
                <a:t> + </a:t>
              </a:r>
              <a:r>
                <a:rPr kumimoji="0" lang="en-US" altLang="zh-CN" sz="1200" b="0" i="0" u="none" strike="noStrike" kern="1200" cap="none" spc="0" normalizeH="0" baseline="0" noProof="0" dirty="0" err="1">
                  <a:ln>
                    <a:noFill/>
                  </a:ln>
                  <a:effectLst/>
                  <a:uLnTx/>
                  <a:uFillTx/>
                  <a:latin typeface="Calibri" panose="020F0502020204030204"/>
                  <a:ea typeface="等线" panose="02010600030101010101" pitchFamily="2" charset="-122"/>
                  <a:cs typeface="+mn-cs"/>
                </a:rPr>
                <a:t>NoF</a:t>
              </a:r>
              <a:r>
                <a:rPr kumimoji="0" lang="en-US" altLang="zh-CN" sz="1200" b="0" i="0" u="none" strike="noStrike" kern="1200" cap="none" spc="0" normalizeH="0" baseline="0" noProof="0" dirty="0">
                  <a:ln>
                    <a:noFill/>
                  </a:ln>
                  <a:effectLst/>
                  <a:uLnTx/>
                  <a:uFillTx/>
                  <a:latin typeface="Calibri" panose="020F0502020204030204"/>
                  <a:ea typeface="等线" panose="02010600030101010101" pitchFamily="2" charset="-122"/>
                  <a:cs typeface="+mn-cs"/>
                </a:rPr>
                <a:t> + </a:t>
              </a:r>
              <a:r>
                <a:rPr kumimoji="0" lang="en-US" altLang="zh-CN" sz="1200" b="0" i="0" u="none" strike="noStrike" kern="1200" cap="none" spc="0" normalizeH="0" baseline="0" noProof="0" dirty="0" err="1">
                  <a:ln>
                    <a:noFill/>
                  </a:ln>
                  <a:effectLst/>
                  <a:uLnTx/>
                  <a:uFillTx/>
                  <a:latin typeface="Calibri" panose="020F0502020204030204"/>
                  <a:ea typeface="等线" panose="02010600030101010101" pitchFamily="2" charset="-122"/>
                  <a:cs typeface="+mn-cs"/>
                </a:rPr>
                <a:t>FCoE</a:t>
              </a:r>
              <a:r>
                <a:rPr kumimoji="0" lang="en-US" altLang="zh-CN" sz="1200" b="0" i="0" u="none" strike="noStrike" kern="1200" cap="none" spc="0" normalizeH="0" baseline="0" noProof="0" dirty="0">
                  <a:ln>
                    <a:noFill/>
                  </a:ln>
                  <a:effectLst/>
                  <a:uLnTx/>
                  <a:uFillTx/>
                  <a:latin typeface="Calibri" panose="020F0502020204030204"/>
                  <a:ea typeface="等线" panose="02010600030101010101" pitchFamily="2" charset="-122"/>
                  <a:cs typeface="+mn-cs"/>
                </a:rPr>
                <a:t> + </a:t>
              </a:r>
              <a:r>
                <a:rPr kumimoji="0" lang="en-US" altLang="zh-CN" sz="1200" b="0" i="0" u="none" strike="noStrike" kern="1200" cap="none" spc="0" normalizeH="0" baseline="0" noProof="0" dirty="0" err="1">
                  <a:ln>
                    <a:noFill/>
                  </a:ln>
                  <a:effectLst/>
                  <a:uLnTx/>
                  <a:uFillTx/>
                  <a:latin typeface="Calibri" panose="020F0502020204030204"/>
                  <a:ea typeface="等线" panose="02010600030101010101" pitchFamily="2" charset="-122"/>
                  <a:cs typeface="+mn-cs"/>
                </a:rPr>
                <a:t>gRPC</a:t>
              </a:r>
              <a:r>
                <a:rPr kumimoji="0" lang="en-US" altLang="zh-CN" sz="1200" b="0" i="0" u="none" strike="noStrike" kern="1200" cap="none" spc="0" normalizeH="0" baseline="0" noProof="0" dirty="0">
                  <a:ln>
                    <a:noFill/>
                  </a:ln>
                  <a:effectLst/>
                  <a:uLnTx/>
                  <a:uFillTx/>
                  <a:latin typeface="Calibri" panose="020F0502020204030204"/>
                  <a:ea typeface="等线" panose="02010600030101010101" pitchFamily="2" charset="-122"/>
                  <a:cs typeface="+mn-cs"/>
                </a:rPr>
                <a:t> … </a:t>
              </a:r>
              <a:endParaRPr kumimoji="0" lang="zh-CN" altLang="en-US" sz="1200" b="0" i="0" u="none" strike="noStrike" kern="1200" cap="none" spc="0" normalizeH="0" baseline="0" noProof="0" dirty="0">
                <a:ln>
                  <a:noFill/>
                </a:ln>
                <a:effectLst/>
                <a:uLnTx/>
                <a:uFillTx/>
                <a:latin typeface="Calibri" panose="020F0502020204030204"/>
                <a:ea typeface="等线" panose="02010600030101010101" pitchFamily="2" charset="-122"/>
                <a:cs typeface="+mn-cs"/>
              </a:endParaRPr>
            </a:p>
          </p:txBody>
        </p:sp>
        <p:sp>
          <p:nvSpPr>
            <p:cNvPr id="87" name="文本框 86">
              <a:extLst>
                <a:ext uri="{FF2B5EF4-FFF2-40B4-BE49-F238E27FC236}">
                  <a16:creationId xmlns:a16="http://schemas.microsoft.com/office/drawing/2014/main" id="{275C3AAF-771C-4BBD-A01A-F5C2B56D2A86}"/>
                </a:ext>
              </a:extLst>
            </p:cNvPr>
            <p:cNvSpPr txBox="1"/>
            <p:nvPr/>
          </p:nvSpPr>
          <p:spPr>
            <a:xfrm>
              <a:off x="8051631" y="2484778"/>
              <a:ext cx="2255426" cy="492443"/>
            </a:xfrm>
            <a:prstGeom prst="rect">
              <a:avLst/>
            </a:prstGeom>
            <a:noFill/>
          </p:spPr>
          <p:txBody>
            <a:bodyPr wrap="none" lIns="0" tIns="0" rIns="0" bIns="0" rtlCol="0">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3200" b="1" i="0" u="none" strike="noStrike" kern="1200" cap="none" spc="0" normalizeH="0" baseline="0" noProof="0" dirty="0" err="1">
                  <a:ln>
                    <a:noFill/>
                  </a:ln>
                  <a:solidFill>
                    <a:srgbClr val="C00000"/>
                  </a:solidFill>
                  <a:effectLst/>
                  <a:uLnTx/>
                  <a:uFillTx/>
                  <a:latin typeface="Microsoft YaHei" panose="020B0503020204020204" pitchFamily="34" charset="-122"/>
                  <a:ea typeface="Microsoft YaHei" panose="020B0503020204020204" pitchFamily="34" charset="-122"/>
                  <a:cs typeface="+mn-cs"/>
                </a:rPr>
                <a:t>UnifiedBus</a:t>
              </a:r>
              <a:endParaRPr kumimoji="1" lang="zh-CN" altLang="en-US" sz="32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endParaRPr>
            </a:p>
          </p:txBody>
        </p:sp>
        <p:sp>
          <p:nvSpPr>
            <p:cNvPr id="88" name="文本框 87">
              <a:extLst>
                <a:ext uri="{FF2B5EF4-FFF2-40B4-BE49-F238E27FC236}">
                  <a16:creationId xmlns:a16="http://schemas.microsoft.com/office/drawing/2014/main" id="{7B635B35-FE61-4737-BB0F-7FA35F65F28E}"/>
                </a:ext>
              </a:extLst>
            </p:cNvPr>
            <p:cNvSpPr txBox="1"/>
            <p:nvPr/>
          </p:nvSpPr>
          <p:spPr>
            <a:xfrm>
              <a:off x="6733980" y="1363578"/>
              <a:ext cx="5146345" cy="184666"/>
            </a:xfrm>
            <a:prstGeom prst="rect">
              <a:avLst/>
            </a:prstGeom>
            <a:noFill/>
          </p:spPr>
          <p:txBody>
            <a:bodyPr wrap="none" lIns="0" tIns="0" rIns="0" bIns="0" rtlCol="0">
              <a:spAutoFit/>
            </a:bodyPr>
            <a:lstStyle/>
            <a:p>
              <a:pPr lvl="0">
                <a:defRPr/>
              </a:pPr>
              <a:r>
                <a:rPr kumimoji="1" lang="en-US" altLang="zh-CN" sz="1200" b="1" dirty="0">
                  <a:latin typeface="Microsoft YaHei" panose="020B0503020204020204" pitchFamily="34" charset="-122"/>
                  <a:ea typeface="Microsoft YaHei" panose="020B0503020204020204" pitchFamily="34" charset="-122"/>
                </a:rPr>
                <a:t>A unified interconnect to cover common bus</a:t>
              </a:r>
              <a:r>
                <a:rPr kumimoji="1" lang="zh-CN" altLang="en-US" sz="1200" b="1" dirty="0">
                  <a:latin typeface="Microsoft YaHei" panose="020B0503020204020204" pitchFamily="34" charset="-122"/>
                  <a:ea typeface="Microsoft YaHei" panose="020B0503020204020204" pitchFamily="34" charset="-122"/>
                </a:rPr>
                <a:t> </a:t>
              </a:r>
              <a:r>
                <a:rPr kumimoji="1" lang="en-US" altLang="zh-CN" sz="1200" b="1" dirty="0">
                  <a:latin typeface="Microsoft YaHei" panose="020B0503020204020204" pitchFamily="34" charset="-122"/>
                  <a:ea typeface="Microsoft YaHei" panose="020B0503020204020204" pitchFamily="34" charset="-122"/>
                </a:rPr>
                <a:t>&amp;</a:t>
              </a:r>
              <a:r>
                <a:rPr kumimoji="1" lang="zh-CN" altLang="en-US" sz="1200" b="1" dirty="0">
                  <a:latin typeface="Microsoft YaHei" panose="020B0503020204020204" pitchFamily="34" charset="-122"/>
                  <a:ea typeface="Microsoft YaHei" panose="020B0503020204020204" pitchFamily="34" charset="-122"/>
                </a:rPr>
                <a:t> </a:t>
              </a:r>
              <a:r>
                <a:rPr kumimoji="1" lang="en-US" altLang="zh-CN" sz="1200" b="1" dirty="0">
                  <a:latin typeface="Microsoft YaHei" panose="020B0503020204020204" pitchFamily="34" charset="-122"/>
                  <a:ea typeface="Microsoft YaHei" panose="020B0503020204020204" pitchFamily="34" charset="-122"/>
                </a:rPr>
                <a:t>network scenarios.</a:t>
              </a:r>
              <a:endParaRPr kumimoji="1" lang="en-US" altLang="zh-CN" sz="1200" b="1"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mn-cs"/>
              </a:endParaRPr>
            </a:p>
          </p:txBody>
        </p:sp>
        <p:grpSp>
          <p:nvGrpSpPr>
            <p:cNvPr id="89" name="组合 88">
              <a:extLst>
                <a:ext uri="{FF2B5EF4-FFF2-40B4-BE49-F238E27FC236}">
                  <a16:creationId xmlns:a16="http://schemas.microsoft.com/office/drawing/2014/main" id="{ED46BF72-5594-4A6F-8FB8-1A05FF5C33AA}"/>
                </a:ext>
              </a:extLst>
            </p:cNvPr>
            <p:cNvGrpSpPr/>
            <p:nvPr/>
          </p:nvGrpSpPr>
          <p:grpSpPr>
            <a:xfrm>
              <a:off x="8840821" y="1779107"/>
              <a:ext cx="376402" cy="235172"/>
              <a:chOff x="11896890" y="2818784"/>
              <a:chExt cx="1000054" cy="634484"/>
            </a:xfrm>
            <a:solidFill>
              <a:schemeClr val="bg1"/>
            </a:solidFill>
          </p:grpSpPr>
          <p:sp>
            <p:nvSpPr>
              <p:cNvPr id="90" name="任意多边形: 形状 89">
                <a:extLst>
                  <a:ext uri="{FF2B5EF4-FFF2-40B4-BE49-F238E27FC236}">
                    <a16:creationId xmlns:a16="http://schemas.microsoft.com/office/drawing/2014/main" id="{38ECC8A5-E243-40B5-B591-4F4464BED2FE}"/>
                  </a:ext>
                </a:extLst>
              </p:cNvPr>
              <p:cNvSpPr/>
              <p:nvPr/>
            </p:nvSpPr>
            <p:spPr>
              <a:xfrm>
                <a:off x="11896890" y="2818784"/>
                <a:ext cx="985465" cy="634484"/>
              </a:xfrm>
              <a:custGeom>
                <a:avLst/>
                <a:gdLst>
                  <a:gd name="connsiteX0" fmla="*/ 80937 w 498073"/>
                  <a:gd name="connsiteY0" fmla="*/ 13974 h 318288"/>
                  <a:gd name="connsiteX1" fmla="*/ 423362 w 498073"/>
                  <a:gd name="connsiteY1" fmla="*/ 13974 h 318288"/>
                  <a:gd name="connsiteX2" fmla="*/ 485621 w 498073"/>
                  <a:gd name="connsiteY2" fmla="*/ 60552 h 318288"/>
                  <a:gd name="connsiteX3" fmla="*/ 485621 w 498073"/>
                  <a:gd name="connsiteY3" fmla="*/ 262394 h 318288"/>
                  <a:gd name="connsiteX4" fmla="*/ 423362 w 498073"/>
                  <a:gd name="connsiteY4" fmla="*/ 308972 h 318288"/>
                  <a:gd name="connsiteX5" fmla="*/ 397421 w 498073"/>
                  <a:gd name="connsiteY5" fmla="*/ 308972 h 318288"/>
                  <a:gd name="connsiteX6" fmla="*/ 397421 w 498073"/>
                  <a:gd name="connsiteY6" fmla="*/ 308972 h 318288"/>
                  <a:gd name="connsiteX7" fmla="*/ 397421 w 498073"/>
                  <a:gd name="connsiteY7" fmla="*/ 270157 h 318288"/>
                  <a:gd name="connsiteX8" fmla="*/ 106878 w 498073"/>
                  <a:gd name="connsiteY8" fmla="*/ 270157 h 318288"/>
                  <a:gd name="connsiteX9" fmla="*/ 106878 w 498073"/>
                  <a:gd name="connsiteY9" fmla="*/ 308972 h 318288"/>
                  <a:gd name="connsiteX10" fmla="*/ 80937 w 498073"/>
                  <a:gd name="connsiteY10" fmla="*/ 308972 h 318288"/>
                  <a:gd name="connsiteX11" fmla="*/ 18678 w 498073"/>
                  <a:gd name="connsiteY11" fmla="*/ 262394 h 318288"/>
                  <a:gd name="connsiteX12" fmla="*/ 18678 w 498073"/>
                  <a:gd name="connsiteY12" fmla="*/ 60552 h 318288"/>
                  <a:gd name="connsiteX13" fmla="*/ 80937 w 498073"/>
                  <a:gd name="connsiteY13" fmla="*/ 13974 h 3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8073" h="318288">
                    <a:moveTo>
                      <a:pt x="80937" y="13974"/>
                    </a:moveTo>
                    <a:lnTo>
                      <a:pt x="423362" y="13974"/>
                    </a:lnTo>
                    <a:cubicBezTo>
                      <a:pt x="457747" y="13974"/>
                      <a:pt x="485621" y="34828"/>
                      <a:pt x="485621" y="60552"/>
                    </a:cubicBezTo>
                    <a:lnTo>
                      <a:pt x="485621" y="262394"/>
                    </a:lnTo>
                    <a:cubicBezTo>
                      <a:pt x="485621" y="288118"/>
                      <a:pt x="457747" y="308972"/>
                      <a:pt x="423362" y="308972"/>
                    </a:cubicBezTo>
                    <a:lnTo>
                      <a:pt x="397421" y="308972"/>
                    </a:lnTo>
                    <a:lnTo>
                      <a:pt x="397421" y="308972"/>
                    </a:lnTo>
                    <a:lnTo>
                      <a:pt x="397421" y="270157"/>
                    </a:lnTo>
                    <a:lnTo>
                      <a:pt x="106878" y="270157"/>
                    </a:lnTo>
                    <a:lnTo>
                      <a:pt x="106878" y="308972"/>
                    </a:lnTo>
                    <a:lnTo>
                      <a:pt x="80937" y="308972"/>
                    </a:lnTo>
                    <a:cubicBezTo>
                      <a:pt x="46552" y="308972"/>
                      <a:pt x="18678" y="288118"/>
                      <a:pt x="18678" y="262394"/>
                    </a:cubicBezTo>
                    <a:lnTo>
                      <a:pt x="18678" y="60552"/>
                    </a:lnTo>
                    <a:cubicBezTo>
                      <a:pt x="18678" y="34828"/>
                      <a:pt x="46552" y="13974"/>
                      <a:pt x="80937" y="13974"/>
                    </a:cubicBezTo>
                    <a:close/>
                  </a:path>
                </a:pathLst>
              </a:custGeom>
              <a:grpFill/>
              <a:ln w="22860" cap="rnd">
                <a:solidFill>
                  <a:schemeClr val="tx1"/>
                </a:solidFill>
                <a:prstDash val="solid"/>
                <a:round/>
              </a:ln>
            </p:spPr>
            <p:txBody>
              <a:bodyPr rtlCol="0" anchor="ctr"/>
              <a:lstStyle/>
              <a:p>
                <a:endParaRPr lang="zh-CN" altLang="en-US"/>
              </a:p>
            </p:txBody>
          </p:sp>
          <p:sp>
            <p:nvSpPr>
              <p:cNvPr id="91" name="任意多边形: 形状 90">
                <a:extLst>
                  <a:ext uri="{FF2B5EF4-FFF2-40B4-BE49-F238E27FC236}">
                    <a16:creationId xmlns:a16="http://schemas.microsoft.com/office/drawing/2014/main" id="{7F0AF367-EA6E-4739-8EF5-3C37D08B0A66}"/>
                  </a:ext>
                </a:extLst>
              </p:cNvPr>
              <p:cNvSpPr/>
              <p:nvPr/>
            </p:nvSpPr>
            <p:spPr>
              <a:xfrm>
                <a:off x="11911480" y="3007986"/>
                <a:ext cx="985464" cy="46425"/>
              </a:xfrm>
              <a:custGeom>
                <a:avLst/>
                <a:gdLst>
                  <a:gd name="connsiteX0" fmla="*/ 18678 w 498073"/>
                  <a:gd name="connsiteY0" fmla="*/ 13974 h 23289"/>
                  <a:gd name="connsiteX1" fmla="*/ 86097 w 498073"/>
                  <a:gd name="connsiteY1" fmla="*/ 13974 h 23289"/>
                  <a:gd name="connsiteX2" fmla="*/ 412986 w 498073"/>
                  <a:gd name="connsiteY2" fmla="*/ 13974 h 23289"/>
                  <a:gd name="connsiteX3" fmla="*/ 480405 w 498073"/>
                  <a:gd name="connsiteY3" fmla="*/ 13974 h 23289"/>
                </a:gdLst>
                <a:ahLst/>
                <a:cxnLst>
                  <a:cxn ang="0">
                    <a:pos x="connsiteX0" y="connsiteY0"/>
                  </a:cxn>
                  <a:cxn ang="0">
                    <a:pos x="connsiteX1" y="connsiteY1"/>
                  </a:cxn>
                  <a:cxn ang="0">
                    <a:pos x="connsiteX2" y="connsiteY2"/>
                  </a:cxn>
                  <a:cxn ang="0">
                    <a:pos x="connsiteX3" y="connsiteY3"/>
                  </a:cxn>
                </a:cxnLst>
                <a:rect l="l" t="t" r="r" b="b"/>
                <a:pathLst>
                  <a:path w="498073" h="23289">
                    <a:moveTo>
                      <a:pt x="18678" y="13974"/>
                    </a:moveTo>
                    <a:lnTo>
                      <a:pt x="86097" y="13974"/>
                    </a:lnTo>
                    <a:moveTo>
                      <a:pt x="412986" y="13974"/>
                    </a:moveTo>
                    <a:lnTo>
                      <a:pt x="480405" y="13974"/>
                    </a:lnTo>
                  </a:path>
                </a:pathLst>
              </a:custGeom>
              <a:grpFill/>
              <a:ln w="22860" cap="rnd">
                <a:solidFill>
                  <a:schemeClr val="tx1"/>
                </a:solidFill>
                <a:prstDash val="solid"/>
                <a:round/>
              </a:ln>
            </p:spPr>
            <p:txBody>
              <a:bodyPr rtlCol="0" anchor="ctr"/>
              <a:lstStyle/>
              <a:p>
                <a:endParaRPr lang="zh-CN" altLang="en-US"/>
              </a:p>
            </p:txBody>
          </p:sp>
          <p:sp>
            <p:nvSpPr>
              <p:cNvPr id="92" name="任意多边形: 形状 91">
                <a:extLst>
                  <a:ext uri="{FF2B5EF4-FFF2-40B4-BE49-F238E27FC236}">
                    <a16:creationId xmlns:a16="http://schemas.microsoft.com/office/drawing/2014/main" id="{787BB91B-6477-4E29-A74D-4F3C101B81D9}"/>
                  </a:ext>
                </a:extLst>
              </p:cNvPr>
              <p:cNvSpPr/>
              <p:nvPr/>
            </p:nvSpPr>
            <p:spPr>
              <a:xfrm>
                <a:off x="12065459" y="2822284"/>
                <a:ext cx="677506" cy="139277"/>
              </a:xfrm>
              <a:custGeom>
                <a:avLst/>
                <a:gdLst>
                  <a:gd name="connsiteX0" fmla="*/ 18678 w 342425"/>
                  <a:gd name="connsiteY0" fmla="*/ 13974 h 69868"/>
                  <a:gd name="connsiteX1" fmla="*/ 18678 w 342425"/>
                  <a:gd name="connsiteY1" fmla="*/ 60552 h 69868"/>
                  <a:gd name="connsiteX2" fmla="*/ 122443 w 342425"/>
                  <a:gd name="connsiteY2" fmla="*/ 13974 h 69868"/>
                  <a:gd name="connsiteX3" fmla="*/ 122443 w 342425"/>
                  <a:gd name="connsiteY3" fmla="*/ 60552 h 69868"/>
                  <a:gd name="connsiteX4" fmla="*/ 226208 w 342425"/>
                  <a:gd name="connsiteY4" fmla="*/ 13974 h 69868"/>
                  <a:gd name="connsiteX5" fmla="*/ 226208 w 342425"/>
                  <a:gd name="connsiteY5" fmla="*/ 60552 h 69868"/>
                  <a:gd name="connsiteX6" fmla="*/ 329973 w 342425"/>
                  <a:gd name="connsiteY6" fmla="*/ 13974 h 69868"/>
                  <a:gd name="connsiteX7" fmla="*/ 329973 w 342425"/>
                  <a:gd name="connsiteY7" fmla="*/ 60552 h 6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425" h="69868">
                    <a:moveTo>
                      <a:pt x="18678" y="13974"/>
                    </a:moveTo>
                    <a:lnTo>
                      <a:pt x="18678" y="60552"/>
                    </a:lnTo>
                    <a:moveTo>
                      <a:pt x="122443" y="13974"/>
                    </a:moveTo>
                    <a:lnTo>
                      <a:pt x="122443" y="60552"/>
                    </a:lnTo>
                    <a:moveTo>
                      <a:pt x="226208" y="13974"/>
                    </a:moveTo>
                    <a:lnTo>
                      <a:pt x="226208" y="60552"/>
                    </a:lnTo>
                    <a:moveTo>
                      <a:pt x="329973" y="13974"/>
                    </a:moveTo>
                    <a:lnTo>
                      <a:pt x="329973" y="60552"/>
                    </a:lnTo>
                  </a:path>
                </a:pathLst>
              </a:custGeom>
              <a:grpFill/>
              <a:ln w="22860" cap="rnd">
                <a:solidFill>
                  <a:schemeClr val="tx1"/>
                </a:solidFill>
                <a:prstDash val="solid"/>
                <a:round/>
              </a:ln>
            </p:spPr>
            <p:txBody>
              <a:bodyPr rtlCol="0" anchor="ctr"/>
              <a:lstStyle/>
              <a:p>
                <a:endParaRPr lang="zh-CN" altLang="en-US"/>
              </a:p>
            </p:txBody>
          </p:sp>
          <p:sp>
            <p:nvSpPr>
              <p:cNvPr id="93" name="任意多边形: 形状 92">
                <a:extLst>
                  <a:ext uri="{FF2B5EF4-FFF2-40B4-BE49-F238E27FC236}">
                    <a16:creationId xmlns:a16="http://schemas.microsoft.com/office/drawing/2014/main" id="{2BF35435-9993-4645-99AF-987A4923B89E}"/>
                  </a:ext>
                </a:extLst>
              </p:cNvPr>
              <p:cNvSpPr/>
              <p:nvPr/>
            </p:nvSpPr>
            <p:spPr>
              <a:xfrm>
                <a:off x="12229703" y="3240114"/>
                <a:ext cx="349019" cy="123802"/>
              </a:xfrm>
              <a:custGeom>
                <a:avLst/>
                <a:gdLst>
                  <a:gd name="connsiteX0" fmla="*/ 18678 w 176400"/>
                  <a:gd name="connsiteY0" fmla="*/ 13974 h 62105"/>
                  <a:gd name="connsiteX1" fmla="*/ 18678 w 176400"/>
                  <a:gd name="connsiteY1" fmla="*/ 52789 h 62105"/>
                  <a:gd name="connsiteX2" fmla="*/ 91313 w 176400"/>
                  <a:gd name="connsiteY2" fmla="*/ 13974 h 62105"/>
                  <a:gd name="connsiteX3" fmla="*/ 91313 w 176400"/>
                  <a:gd name="connsiteY3" fmla="*/ 52789 h 62105"/>
                  <a:gd name="connsiteX4" fmla="*/ 163949 w 176400"/>
                  <a:gd name="connsiteY4" fmla="*/ 13974 h 62105"/>
                  <a:gd name="connsiteX5" fmla="*/ 163949 w 176400"/>
                  <a:gd name="connsiteY5" fmla="*/ 52789 h 62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400" h="62105">
                    <a:moveTo>
                      <a:pt x="18678" y="13974"/>
                    </a:moveTo>
                    <a:lnTo>
                      <a:pt x="18678" y="52789"/>
                    </a:lnTo>
                    <a:moveTo>
                      <a:pt x="91313" y="13974"/>
                    </a:moveTo>
                    <a:lnTo>
                      <a:pt x="91313" y="52789"/>
                    </a:lnTo>
                    <a:moveTo>
                      <a:pt x="163949" y="13974"/>
                    </a:moveTo>
                    <a:lnTo>
                      <a:pt x="163949" y="52789"/>
                    </a:lnTo>
                  </a:path>
                </a:pathLst>
              </a:custGeom>
              <a:grpFill/>
              <a:ln w="22860" cap="rnd">
                <a:solidFill>
                  <a:schemeClr val="tx1"/>
                </a:solidFill>
                <a:prstDash val="solid"/>
                <a:round/>
              </a:ln>
            </p:spPr>
            <p:txBody>
              <a:bodyPr rtlCol="0" anchor="ctr"/>
              <a:lstStyle/>
              <a:p>
                <a:endParaRPr lang="zh-CN" altLang="en-US"/>
              </a:p>
            </p:txBody>
          </p:sp>
          <p:sp>
            <p:nvSpPr>
              <p:cNvPr id="94" name="任意多边形: 形状 93">
                <a:extLst>
                  <a:ext uri="{FF2B5EF4-FFF2-40B4-BE49-F238E27FC236}">
                    <a16:creationId xmlns:a16="http://schemas.microsoft.com/office/drawing/2014/main" id="{12333403-C25A-42B2-8C54-C2CEC8E1CE83}"/>
                  </a:ext>
                </a:extLst>
              </p:cNvPr>
              <p:cNvSpPr/>
              <p:nvPr/>
            </p:nvSpPr>
            <p:spPr>
              <a:xfrm>
                <a:off x="12219438" y="3224639"/>
                <a:ext cx="369548" cy="139277"/>
              </a:xfrm>
              <a:custGeom>
                <a:avLst/>
                <a:gdLst>
                  <a:gd name="connsiteX0" fmla="*/ 23866 w 186777"/>
                  <a:gd name="connsiteY0" fmla="*/ 13974 h 69868"/>
                  <a:gd name="connsiteX1" fmla="*/ 29054 w 186777"/>
                  <a:gd name="connsiteY1" fmla="*/ 17855 h 69868"/>
                  <a:gd name="connsiteX2" fmla="*/ 29054 w 186777"/>
                  <a:gd name="connsiteY2" fmla="*/ 56671 h 69868"/>
                  <a:gd name="connsiteX3" fmla="*/ 23866 w 186777"/>
                  <a:gd name="connsiteY3" fmla="*/ 60552 h 69868"/>
                  <a:gd name="connsiteX4" fmla="*/ 18678 w 186777"/>
                  <a:gd name="connsiteY4" fmla="*/ 56671 h 69868"/>
                  <a:gd name="connsiteX5" fmla="*/ 18678 w 186777"/>
                  <a:gd name="connsiteY5" fmla="*/ 17855 h 69868"/>
                  <a:gd name="connsiteX6" fmla="*/ 23866 w 186777"/>
                  <a:gd name="connsiteY6" fmla="*/ 13974 h 69868"/>
                  <a:gd name="connsiteX7" fmla="*/ 96502 w 186777"/>
                  <a:gd name="connsiteY7" fmla="*/ 13974 h 69868"/>
                  <a:gd name="connsiteX8" fmla="*/ 101690 w 186777"/>
                  <a:gd name="connsiteY8" fmla="*/ 17855 h 69868"/>
                  <a:gd name="connsiteX9" fmla="*/ 101690 w 186777"/>
                  <a:gd name="connsiteY9" fmla="*/ 56671 h 69868"/>
                  <a:gd name="connsiteX10" fmla="*/ 96502 w 186777"/>
                  <a:gd name="connsiteY10" fmla="*/ 60552 h 69868"/>
                  <a:gd name="connsiteX11" fmla="*/ 91313 w 186777"/>
                  <a:gd name="connsiteY11" fmla="*/ 56671 h 69868"/>
                  <a:gd name="connsiteX12" fmla="*/ 91313 w 186777"/>
                  <a:gd name="connsiteY12" fmla="*/ 17855 h 69868"/>
                  <a:gd name="connsiteX13" fmla="*/ 96502 w 186777"/>
                  <a:gd name="connsiteY13" fmla="*/ 13974 h 69868"/>
                  <a:gd name="connsiteX14" fmla="*/ 169137 w 186777"/>
                  <a:gd name="connsiteY14" fmla="*/ 13974 h 69868"/>
                  <a:gd name="connsiteX15" fmla="*/ 174326 w 186777"/>
                  <a:gd name="connsiteY15" fmla="*/ 17855 h 69868"/>
                  <a:gd name="connsiteX16" fmla="*/ 174326 w 186777"/>
                  <a:gd name="connsiteY16" fmla="*/ 56671 h 69868"/>
                  <a:gd name="connsiteX17" fmla="*/ 169137 w 186777"/>
                  <a:gd name="connsiteY17" fmla="*/ 60552 h 69868"/>
                  <a:gd name="connsiteX18" fmla="*/ 163949 w 186777"/>
                  <a:gd name="connsiteY18" fmla="*/ 56671 h 69868"/>
                  <a:gd name="connsiteX19" fmla="*/ 163949 w 186777"/>
                  <a:gd name="connsiteY19" fmla="*/ 17855 h 69868"/>
                  <a:gd name="connsiteX20" fmla="*/ 169137 w 186777"/>
                  <a:gd name="connsiteY20" fmla="*/ 13974 h 6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6777" h="69868">
                    <a:moveTo>
                      <a:pt x="23866" y="13974"/>
                    </a:moveTo>
                    <a:cubicBezTo>
                      <a:pt x="26731" y="13974"/>
                      <a:pt x="29054" y="15712"/>
                      <a:pt x="29054" y="17855"/>
                    </a:cubicBezTo>
                    <a:lnTo>
                      <a:pt x="29054" y="56671"/>
                    </a:lnTo>
                    <a:cubicBezTo>
                      <a:pt x="29054" y="58814"/>
                      <a:pt x="26731" y="60552"/>
                      <a:pt x="23866" y="60552"/>
                    </a:cubicBezTo>
                    <a:cubicBezTo>
                      <a:pt x="21001" y="60552"/>
                      <a:pt x="18678" y="58814"/>
                      <a:pt x="18678" y="56671"/>
                    </a:cubicBezTo>
                    <a:lnTo>
                      <a:pt x="18678" y="17855"/>
                    </a:lnTo>
                    <a:cubicBezTo>
                      <a:pt x="18678" y="15712"/>
                      <a:pt x="21001" y="13974"/>
                      <a:pt x="23866" y="13974"/>
                    </a:cubicBezTo>
                    <a:close/>
                    <a:moveTo>
                      <a:pt x="96502" y="13974"/>
                    </a:moveTo>
                    <a:cubicBezTo>
                      <a:pt x="99367" y="13974"/>
                      <a:pt x="101690" y="15712"/>
                      <a:pt x="101690" y="17855"/>
                    </a:cubicBezTo>
                    <a:lnTo>
                      <a:pt x="101690" y="56671"/>
                    </a:lnTo>
                    <a:cubicBezTo>
                      <a:pt x="101690" y="58814"/>
                      <a:pt x="99367" y="60552"/>
                      <a:pt x="96502" y="60552"/>
                    </a:cubicBezTo>
                    <a:cubicBezTo>
                      <a:pt x="93637" y="60552"/>
                      <a:pt x="91313" y="58814"/>
                      <a:pt x="91313" y="56671"/>
                    </a:cubicBezTo>
                    <a:lnTo>
                      <a:pt x="91313" y="17855"/>
                    </a:lnTo>
                    <a:cubicBezTo>
                      <a:pt x="91313" y="15712"/>
                      <a:pt x="93637" y="13974"/>
                      <a:pt x="96502" y="13974"/>
                    </a:cubicBezTo>
                    <a:close/>
                    <a:moveTo>
                      <a:pt x="169137" y="13974"/>
                    </a:moveTo>
                    <a:cubicBezTo>
                      <a:pt x="172002" y="13974"/>
                      <a:pt x="174326" y="15712"/>
                      <a:pt x="174326" y="17855"/>
                    </a:cubicBezTo>
                    <a:lnTo>
                      <a:pt x="174326" y="56671"/>
                    </a:lnTo>
                    <a:cubicBezTo>
                      <a:pt x="174326" y="58814"/>
                      <a:pt x="172002" y="60552"/>
                      <a:pt x="169137" y="60552"/>
                    </a:cubicBezTo>
                    <a:cubicBezTo>
                      <a:pt x="166272" y="60552"/>
                      <a:pt x="163949" y="58814"/>
                      <a:pt x="163949" y="56671"/>
                    </a:cubicBezTo>
                    <a:lnTo>
                      <a:pt x="163949" y="17855"/>
                    </a:lnTo>
                    <a:cubicBezTo>
                      <a:pt x="163949" y="15712"/>
                      <a:pt x="166272" y="13974"/>
                      <a:pt x="169137" y="13974"/>
                    </a:cubicBezTo>
                    <a:close/>
                  </a:path>
                </a:pathLst>
              </a:custGeom>
              <a:grpFill/>
              <a:ln w="22860" cap="flat">
                <a:solidFill>
                  <a:schemeClr val="tx1"/>
                </a:solidFill>
                <a:prstDash val="solid"/>
                <a:round/>
              </a:ln>
            </p:spPr>
            <p:txBody>
              <a:bodyPr rtlCol="0" anchor="ctr"/>
              <a:lstStyle/>
              <a:p>
                <a:endParaRPr lang="zh-CN" altLang="en-US" dirty="0"/>
              </a:p>
            </p:txBody>
          </p:sp>
        </p:grpSp>
        <p:sp>
          <p:nvSpPr>
            <p:cNvPr id="193" name="矩形 192">
              <a:extLst>
                <a:ext uri="{FF2B5EF4-FFF2-40B4-BE49-F238E27FC236}">
                  <a16:creationId xmlns:a16="http://schemas.microsoft.com/office/drawing/2014/main" id="{67B089D4-B460-47DA-8EB3-FAB88A2663F4}"/>
                </a:ext>
              </a:extLst>
            </p:cNvPr>
            <p:cNvSpPr/>
            <p:nvPr/>
          </p:nvSpPr>
          <p:spPr>
            <a:xfrm>
              <a:off x="7664087" y="1833938"/>
              <a:ext cx="128357" cy="1207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chemeClr val="tx1"/>
                  </a:solidFill>
                  <a:effectLst/>
                  <a:uLnTx/>
                  <a:uFillTx/>
                  <a:latin typeface="Calibri" panose="020F0502020204030204"/>
                  <a:ea typeface="等线" panose="02010600030101010101" pitchFamily="2" charset="-122"/>
                  <a:cs typeface="+mn-cs"/>
                </a:rPr>
                <a:t>N</a:t>
              </a:r>
              <a:endParaRPr kumimoji="0" lang="zh-CN" altLang="en-US" sz="1200" b="1" i="0" u="none" strike="noStrike" kern="1200" cap="none" spc="0" normalizeH="0" baseline="0" noProof="0" dirty="0">
                <a:ln>
                  <a:noFill/>
                </a:ln>
                <a:solidFill>
                  <a:schemeClr val="tx1"/>
                </a:solidFill>
                <a:effectLst/>
                <a:uLnTx/>
                <a:uFillTx/>
                <a:latin typeface="Calibri" panose="020F0502020204030204"/>
                <a:ea typeface="等线" panose="02010600030101010101" pitchFamily="2" charset="-122"/>
                <a:cs typeface="+mn-cs"/>
              </a:endParaRPr>
            </a:p>
          </p:txBody>
        </p:sp>
      </p:grpSp>
      <p:pic>
        <p:nvPicPr>
          <p:cNvPr id="194" name="Picture 6" descr="https://www.unifiedbus.com/assets/arch2-light.D3-LpLKH.png">
            <a:extLst>
              <a:ext uri="{FF2B5EF4-FFF2-40B4-BE49-F238E27FC236}">
                <a16:creationId xmlns:a16="http://schemas.microsoft.com/office/drawing/2014/main" id="{4E4AD6DD-4FC1-4725-AE19-31005DC2770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82785" y="3494003"/>
            <a:ext cx="5069833" cy="2475053"/>
          </a:xfrm>
          <a:prstGeom prst="rect">
            <a:avLst/>
          </a:prstGeom>
          <a:noFill/>
          <a:extLst>
            <a:ext uri="{909E8E84-426E-40DD-AFC4-6F175D3DCCD1}">
              <a14:hiddenFill xmlns:a14="http://schemas.microsoft.com/office/drawing/2010/main">
                <a:solidFill>
                  <a:srgbClr val="FFFFFF"/>
                </a:solidFill>
              </a14:hiddenFill>
            </a:ext>
          </a:extLst>
        </p:spPr>
      </p:pic>
      <p:sp>
        <p:nvSpPr>
          <p:cNvPr id="195" name="矩形 194">
            <a:extLst>
              <a:ext uri="{FF2B5EF4-FFF2-40B4-BE49-F238E27FC236}">
                <a16:creationId xmlns:a16="http://schemas.microsoft.com/office/drawing/2014/main" id="{C43DBA84-75D6-4D89-81D2-73734CF9A1D3}"/>
              </a:ext>
            </a:extLst>
          </p:cNvPr>
          <p:cNvSpPr/>
          <p:nvPr/>
        </p:nvSpPr>
        <p:spPr>
          <a:xfrm>
            <a:off x="8178455" y="5969056"/>
            <a:ext cx="1771639" cy="276999"/>
          </a:xfrm>
          <a:prstGeom prst="rect">
            <a:avLst/>
          </a:prstGeom>
        </p:spPr>
        <p:txBody>
          <a:bodyPr wrap="none">
            <a:spAutoFit/>
          </a:bodyPr>
          <a:lstStyle/>
          <a:p>
            <a:pPr>
              <a:defRPr/>
            </a:pPr>
            <a:r>
              <a:rPr kumimoji="1" lang="en-US" altLang="zh-CN" sz="1200" b="1" dirty="0">
                <a:latin typeface="Microsoft YaHei" panose="020B0503020204020204" pitchFamily="34" charset="-122"/>
                <a:ea typeface="Microsoft YaHei" panose="020B0503020204020204" pitchFamily="34" charset="-122"/>
              </a:rPr>
              <a:t>UB</a:t>
            </a:r>
            <a:r>
              <a:rPr kumimoji="1" lang="zh-CN" altLang="en-US" sz="1200" b="1" dirty="0">
                <a:latin typeface="Microsoft YaHei" panose="020B0503020204020204" pitchFamily="34" charset="-122"/>
                <a:ea typeface="Microsoft YaHei" panose="020B0503020204020204" pitchFamily="34" charset="-122"/>
              </a:rPr>
              <a:t> </a:t>
            </a:r>
            <a:r>
              <a:rPr kumimoji="1" lang="en-US" altLang="zh-CN" sz="1200" b="1" dirty="0">
                <a:latin typeface="Microsoft YaHei" panose="020B0503020204020204" pitchFamily="34" charset="-122"/>
                <a:ea typeface="Microsoft YaHei" panose="020B0503020204020204" pitchFamily="34" charset="-122"/>
              </a:rPr>
              <a:t>Domain</a:t>
            </a:r>
            <a:r>
              <a:rPr kumimoji="1" lang="zh-CN" altLang="en-US" sz="1200" b="1" dirty="0">
                <a:latin typeface="Microsoft YaHei" panose="020B0503020204020204" pitchFamily="34" charset="-122"/>
                <a:ea typeface="Microsoft YaHei" panose="020B0503020204020204" pitchFamily="34" charset="-122"/>
              </a:rPr>
              <a:t> </a:t>
            </a:r>
            <a:r>
              <a:rPr kumimoji="1" lang="en-US" altLang="zh-CN" sz="1200" b="1" dirty="0">
                <a:latin typeface="Microsoft YaHei" panose="020B0503020204020204" pitchFamily="34" charset="-122"/>
                <a:ea typeface="Microsoft YaHei" panose="020B0503020204020204" pitchFamily="34" charset="-122"/>
              </a:rPr>
              <a:t>Diagram</a:t>
            </a:r>
          </a:p>
        </p:txBody>
      </p:sp>
    </p:spTree>
    <p:extLst>
      <p:ext uri="{BB962C8B-B14F-4D97-AF65-F5344CB8AC3E}">
        <p14:creationId xmlns:p14="http://schemas.microsoft.com/office/powerpoint/2010/main" val="3432984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矩形: 圆角 207">
            <a:extLst>
              <a:ext uri="{FF2B5EF4-FFF2-40B4-BE49-F238E27FC236}">
                <a16:creationId xmlns:a16="http://schemas.microsoft.com/office/drawing/2014/main" id="{188E1FE6-92CB-46AE-9980-59354C3DA19D}"/>
              </a:ext>
            </a:extLst>
          </p:cNvPr>
          <p:cNvSpPr/>
          <p:nvPr/>
        </p:nvSpPr>
        <p:spPr>
          <a:xfrm>
            <a:off x="865814" y="1856509"/>
            <a:ext cx="10320292" cy="4062715"/>
          </a:xfrm>
          <a:prstGeom prst="roundRect">
            <a:avLst>
              <a:gd name="adj" fmla="val 3853"/>
            </a:avLst>
          </a:prstGeom>
          <a:solidFill>
            <a:schemeClr val="bg1">
              <a:lumMod val="95000"/>
            </a:schemeClr>
          </a:solidFill>
          <a:ln w="254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103" name="标题 1">
            <a:extLst>
              <a:ext uri="{FF2B5EF4-FFF2-40B4-BE49-F238E27FC236}">
                <a16:creationId xmlns:a16="http://schemas.microsoft.com/office/drawing/2014/main" id="{2AD3965F-0FB0-45B4-AF0A-8C7BE62857FB}"/>
              </a:ext>
            </a:extLst>
          </p:cNvPr>
          <p:cNvSpPr>
            <a:spLocks noGrp="1"/>
          </p:cNvSpPr>
          <p:nvPr>
            <p:ph type="title"/>
          </p:nvPr>
        </p:nvSpPr>
        <p:spPr>
          <a:xfrm>
            <a:off x="561005" y="275992"/>
            <a:ext cx="11208246" cy="798839"/>
          </a:xfrm>
        </p:spPr>
        <p:txBody>
          <a:bodyPr wrap="square">
            <a:noAutofit/>
          </a:bodyPr>
          <a:lstStyle/>
          <a:p>
            <a:r>
              <a:rPr lang="en-US" altLang="zh-CN" dirty="0">
                <a:cs typeface="Huawei Sans" panose="020C0503030203020204" pitchFamily="34" charset="0"/>
              </a:rPr>
              <a:t>We Build Innovation Platforms Together with the Academic Community</a:t>
            </a:r>
            <a:endParaRPr lang="zh-CN" altLang="en-US" dirty="0"/>
          </a:p>
        </p:txBody>
      </p:sp>
      <p:sp>
        <p:nvSpPr>
          <p:cNvPr id="197" name="Rectangle 2">
            <a:extLst>
              <a:ext uri="{FF2B5EF4-FFF2-40B4-BE49-F238E27FC236}">
                <a16:creationId xmlns:a16="http://schemas.microsoft.com/office/drawing/2014/main" id="{CAA5AF49-D4C8-40B8-BDC7-8FC7D683D98A}"/>
              </a:ext>
            </a:extLst>
          </p:cNvPr>
          <p:cNvSpPr txBox="1">
            <a:spLocks noChangeArrowheads="1"/>
          </p:cNvSpPr>
          <p:nvPr/>
        </p:nvSpPr>
        <p:spPr bwMode="auto">
          <a:xfrm>
            <a:off x="0" y="879521"/>
            <a:ext cx="12196764" cy="1146561"/>
          </a:xfrm>
          <a:prstGeom prst="rect">
            <a:avLst/>
          </a:prstGeom>
          <a:noFill/>
          <a:ln w="9525" algn="ctr">
            <a:noFill/>
            <a:miter lim="800000"/>
            <a:headEnd/>
            <a:tailEnd/>
          </a:ln>
          <a:effectLst/>
        </p:spPr>
        <p:txBody>
          <a:bodyPr vert="horz" wrap="square" lIns="91320" tIns="45659" rIns="91320" bIns="45659" numCol="1" anchor="ctr" anchorCtr="0" compatLnSpc="1">
            <a:prstTxWarp prst="textNoShape">
              <a:avLst/>
            </a:prstTxWarp>
          </a:bodyPr>
          <a:lstStyle>
            <a:lvl1pPr algn="l" rtl="0" fontAlgn="base">
              <a:spcBef>
                <a:spcPct val="0"/>
              </a:spcBef>
              <a:spcAft>
                <a:spcPct val="0"/>
              </a:spcAft>
              <a:defRPr sz="3500" b="1">
                <a:solidFill>
                  <a:srgbClr val="990000"/>
                </a:solidFill>
                <a:latin typeface="+mj-lt"/>
                <a:ea typeface="+mj-ea"/>
                <a:cs typeface="+mj-cs"/>
              </a:defRPr>
            </a:lvl1pPr>
            <a:lvl2pPr algn="l" rtl="0" fontAlgn="base">
              <a:spcBef>
                <a:spcPct val="0"/>
              </a:spcBef>
              <a:spcAft>
                <a:spcPct val="0"/>
              </a:spcAft>
              <a:defRPr sz="3500" b="1">
                <a:solidFill>
                  <a:srgbClr val="990000"/>
                </a:solidFill>
                <a:latin typeface="Arial" pitchFamily="34" charset="0"/>
                <a:ea typeface="黑体" pitchFamily="49" charset="-122"/>
              </a:defRPr>
            </a:lvl2pPr>
            <a:lvl3pPr algn="l" rtl="0" fontAlgn="base">
              <a:spcBef>
                <a:spcPct val="0"/>
              </a:spcBef>
              <a:spcAft>
                <a:spcPct val="0"/>
              </a:spcAft>
              <a:defRPr sz="3500" b="1">
                <a:solidFill>
                  <a:srgbClr val="990000"/>
                </a:solidFill>
                <a:latin typeface="Arial" pitchFamily="34" charset="0"/>
                <a:ea typeface="黑体" pitchFamily="49" charset="-122"/>
              </a:defRPr>
            </a:lvl3pPr>
            <a:lvl4pPr algn="l" rtl="0" fontAlgn="base">
              <a:spcBef>
                <a:spcPct val="0"/>
              </a:spcBef>
              <a:spcAft>
                <a:spcPct val="0"/>
              </a:spcAft>
              <a:defRPr sz="3500" b="1">
                <a:solidFill>
                  <a:srgbClr val="990000"/>
                </a:solidFill>
                <a:latin typeface="Arial" pitchFamily="34" charset="0"/>
                <a:ea typeface="黑体" pitchFamily="49" charset="-122"/>
              </a:defRPr>
            </a:lvl4pPr>
            <a:lvl5pPr algn="l" rtl="0" fontAlgn="base">
              <a:spcBef>
                <a:spcPct val="0"/>
              </a:spcBef>
              <a:spcAft>
                <a:spcPct val="0"/>
              </a:spcAft>
              <a:defRPr sz="3500" b="1">
                <a:solidFill>
                  <a:srgbClr val="990000"/>
                </a:solidFill>
                <a:latin typeface="Arial" pitchFamily="34" charset="0"/>
                <a:ea typeface="黑体" pitchFamily="49" charset="-122"/>
              </a:defRPr>
            </a:lvl5pPr>
            <a:lvl6pPr marL="457050" algn="l" rtl="0" fontAlgn="base">
              <a:spcBef>
                <a:spcPct val="0"/>
              </a:spcBef>
              <a:spcAft>
                <a:spcPct val="0"/>
              </a:spcAft>
              <a:defRPr sz="3500" b="1">
                <a:solidFill>
                  <a:srgbClr val="990000"/>
                </a:solidFill>
                <a:latin typeface="Arial" pitchFamily="34" charset="0"/>
                <a:ea typeface="黑体" pitchFamily="49" charset="-122"/>
              </a:defRPr>
            </a:lvl6pPr>
            <a:lvl7pPr marL="914095" algn="l" rtl="0" fontAlgn="base">
              <a:spcBef>
                <a:spcPct val="0"/>
              </a:spcBef>
              <a:spcAft>
                <a:spcPct val="0"/>
              </a:spcAft>
              <a:defRPr sz="3500" b="1">
                <a:solidFill>
                  <a:srgbClr val="990000"/>
                </a:solidFill>
                <a:latin typeface="Arial" pitchFamily="34" charset="0"/>
                <a:ea typeface="黑体" pitchFamily="49" charset="-122"/>
              </a:defRPr>
            </a:lvl7pPr>
            <a:lvl8pPr marL="1371143" algn="l" rtl="0" fontAlgn="base">
              <a:spcBef>
                <a:spcPct val="0"/>
              </a:spcBef>
              <a:spcAft>
                <a:spcPct val="0"/>
              </a:spcAft>
              <a:defRPr sz="3500" b="1">
                <a:solidFill>
                  <a:srgbClr val="990000"/>
                </a:solidFill>
                <a:latin typeface="Arial" pitchFamily="34" charset="0"/>
                <a:ea typeface="黑体" pitchFamily="49" charset="-122"/>
              </a:defRPr>
            </a:lvl8pPr>
            <a:lvl9pPr marL="1828190" algn="l" rtl="0" fontAlgn="base">
              <a:spcBef>
                <a:spcPct val="0"/>
              </a:spcBef>
              <a:spcAft>
                <a:spcPct val="0"/>
              </a:spcAft>
              <a:defRPr sz="3500" b="1">
                <a:solidFill>
                  <a:srgbClr val="990000"/>
                </a:solidFill>
                <a:latin typeface="Arial" pitchFamily="34" charset="0"/>
                <a:ea typeface="黑体" pitchFamily="49" charset="-122"/>
              </a:defRPr>
            </a:lvl9pPr>
          </a:lstStyle>
          <a:p>
            <a:pPr marL="0" marR="0" lvl="0" indent="0" algn="ctr" defTabSz="914400" rtl="0" eaLnBrk="1" fontAlgn="base" latinLnBrk="0" hangingPunct="1">
              <a:lnSpc>
                <a:spcPct val="130000"/>
              </a:lnSpc>
              <a:spcBef>
                <a:spcPts val="600"/>
              </a:spcBef>
              <a:spcAft>
                <a:spcPct val="0"/>
              </a:spcAft>
              <a:buClrTx/>
              <a:buSzTx/>
              <a:buFontTx/>
              <a:buNone/>
              <a:tabLst/>
              <a:defRPr/>
            </a:pPr>
            <a:r>
              <a:rPr kumimoji="0" lang="en-US" altLang="zh-CN" sz="1800" b="1" i="0" u="none" strike="noStrike" kern="1200" cap="none" spc="0" normalizeH="0" baseline="0" noProof="0" dirty="0">
                <a:ln>
                  <a:noFill/>
                </a:ln>
                <a:solidFill>
                  <a:srgbClr val="282828"/>
                </a:solidFill>
                <a:effectLst/>
                <a:uLnTx/>
                <a:uFillTx/>
                <a:latin typeface="Huawei Sans" panose="020C0503030203020204" pitchFamily="34" charset="0"/>
                <a:ea typeface="微软雅黑" panose="020B0503020204020204" pitchFamily="34" charset="-122"/>
                <a:cs typeface="Huawei Sans" panose="020C0503030203020204" pitchFamily="34" charset="0"/>
              </a:rPr>
              <a:t>The First Systematic Open Innovation Platform Designed for </a:t>
            </a:r>
            <a:r>
              <a:rPr kumimoji="0" lang="en-US" altLang="zh-CN" sz="1800" b="1" i="0" u="none" strike="noStrike" kern="1200" cap="none" spc="0" normalizeH="0" baseline="0" noProof="0" dirty="0" err="1">
                <a:ln>
                  <a:noFill/>
                </a:ln>
                <a:solidFill>
                  <a:srgbClr val="282828"/>
                </a:solidFill>
                <a:effectLst/>
                <a:uLnTx/>
                <a:uFillTx/>
                <a:latin typeface="Huawei Sans" panose="020C0503030203020204" pitchFamily="34" charset="0"/>
                <a:ea typeface="微软雅黑" panose="020B0503020204020204" pitchFamily="34" charset="-122"/>
                <a:cs typeface="Huawei Sans" panose="020C0503030203020204" pitchFamily="34" charset="0"/>
              </a:rPr>
              <a:t>SuperPod</a:t>
            </a:r>
            <a:r>
              <a:rPr kumimoji="0" lang="en-US" altLang="zh-CN" sz="1800" b="1" i="0" u="none" strike="noStrike" kern="1200" cap="none" spc="0" normalizeH="0" baseline="0" noProof="0" dirty="0">
                <a:ln>
                  <a:noFill/>
                </a:ln>
                <a:solidFill>
                  <a:srgbClr val="282828"/>
                </a:solidFill>
                <a:effectLst/>
                <a:uLnTx/>
                <a:uFillTx/>
                <a:latin typeface="Huawei Sans" panose="020C0503030203020204" pitchFamily="34" charset="0"/>
                <a:ea typeface="微软雅黑" panose="020B0503020204020204" pitchFamily="34" charset="-122"/>
                <a:cs typeface="Huawei Sans" panose="020C0503030203020204" pitchFamily="34" charset="0"/>
              </a:rPr>
              <a:t> Networks</a:t>
            </a:r>
          </a:p>
          <a:p>
            <a:pPr marL="0" marR="0" lvl="0" indent="0" algn="ctr" defTabSz="914400" rtl="0" eaLnBrk="1" fontAlgn="base" latinLnBrk="0" hangingPunct="1">
              <a:lnSpc>
                <a:spcPct val="130000"/>
              </a:lnSpc>
              <a:spcBef>
                <a:spcPts val="600"/>
              </a:spcBef>
              <a:spcAft>
                <a:spcPct val="0"/>
              </a:spcAft>
              <a:buClrTx/>
              <a:buSzTx/>
              <a:buFontTx/>
              <a:buNone/>
              <a:tabLst/>
              <a:defRPr/>
            </a:pPr>
            <a:r>
              <a:rPr kumimoji="0" lang="en-US" altLang="zh-CN" sz="1600" b="0" i="0" u="none" strike="noStrike" kern="1200" cap="none" spc="0" normalizeH="0" baseline="0" noProof="0" dirty="0">
                <a:ln>
                  <a:noFill/>
                </a:ln>
                <a:solidFill>
                  <a:srgbClr val="282828"/>
                </a:solidFill>
                <a:effectLst/>
                <a:uLnTx/>
                <a:uFillTx/>
                <a:latin typeface="Huawei Sans" panose="020C0503030203020204" pitchFamily="34" charset="0"/>
                <a:ea typeface="微软雅黑" panose="020B0503020204020204" pitchFamily="34" charset="-122"/>
                <a:cs typeface="Huawei Sans" panose="020C0503030203020204" pitchFamily="34" charset="0"/>
              </a:rPr>
              <a:t>Driving innovation in architectures, protocols, algorithms, memory semantics, and programmable hardware.</a:t>
            </a:r>
          </a:p>
        </p:txBody>
      </p:sp>
      <p:sp>
        <p:nvSpPr>
          <p:cNvPr id="207" name="矩形: 圆角 206">
            <a:extLst>
              <a:ext uri="{FF2B5EF4-FFF2-40B4-BE49-F238E27FC236}">
                <a16:creationId xmlns:a16="http://schemas.microsoft.com/office/drawing/2014/main" id="{ACF363BC-3228-4B06-BA4C-3F9EF670EE5C}"/>
              </a:ext>
            </a:extLst>
          </p:cNvPr>
          <p:cNvSpPr/>
          <p:nvPr/>
        </p:nvSpPr>
        <p:spPr>
          <a:xfrm>
            <a:off x="2548904" y="2136277"/>
            <a:ext cx="2966642" cy="977110"/>
          </a:xfrm>
          <a:prstGeom prst="roundRect">
            <a:avLst>
              <a:gd name="adj" fmla="val 4295"/>
            </a:avLst>
          </a:prstGeom>
          <a:solidFill>
            <a:srgbClr val="90BCE8"/>
          </a:solidFill>
          <a:ln w="12700" cap="flat" cmpd="sng" algn="ctr">
            <a:noFill/>
            <a:prstDash val="solid"/>
            <a:miter lim="800000"/>
          </a:ln>
          <a:effectLst/>
        </p:spPr>
        <p:txBody>
          <a:bodyPr wrap="none" rtlCol="0" anchor="ctr"/>
          <a:lstStyle/>
          <a:p>
            <a:pPr marL="0" marR="0" lvl="0" indent="0" algn="ctr" defTabSz="912607" rtl="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282828"/>
                </a:solidFill>
                <a:effectLst/>
                <a:uLnTx/>
                <a:uFillTx/>
                <a:latin typeface="Huawei Sans" panose="020C0503030203020204" pitchFamily="34" charset="0"/>
                <a:ea typeface="微软雅黑"/>
                <a:cs typeface="Huawei Sans" panose="020C0503030203020204" pitchFamily="34" charset="0"/>
              </a:rPr>
              <a:t>UB Simulation Platform</a:t>
            </a:r>
            <a:endParaRPr kumimoji="0" lang="zh-CN" altLang="en-US" sz="1600" b="1" i="0" u="none" strike="noStrike" kern="0" cap="none" spc="0" normalizeH="0" baseline="0" noProof="0" dirty="0">
              <a:ln>
                <a:noFill/>
              </a:ln>
              <a:solidFill>
                <a:srgbClr val="282828"/>
              </a:solidFill>
              <a:effectLst/>
              <a:uLnTx/>
              <a:uFillTx/>
              <a:latin typeface="Huawei Sans" panose="020C0503030203020204" pitchFamily="34" charset="0"/>
              <a:ea typeface="微软雅黑"/>
              <a:cs typeface="Huawei Sans" panose="020C0503030203020204" pitchFamily="34" charset="0"/>
            </a:endParaRPr>
          </a:p>
        </p:txBody>
      </p:sp>
      <p:sp>
        <p:nvSpPr>
          <p:cNvPr id="209" name="矩形 208">
            <a:extLst>
              <a:ext uri="{FF2B5EF4-FFF2-40B4-BE49-F238E27FC236}">
                <a16:creationId xmlns:a16="http://schemas.microsoft.com/office/drawing/2014/main" id="{05EB675D-CF0E-48C4-808B-69FABF71B2DE}"/>
              </a:ext>
            </a:extLst>
          </p:cNvPr>
          <p:cNvSpPr/>
          <p:nvPr/>
        </p:nvSpPr>
        <p:spPr>
          <a:xfrm>
            <a:off x="561005" y="5919224"/>
            <a:ext cx="10907188" cy="523220"/>
          </a:xfrm>
          <a:prstGeom prst="rect">
            <a:avLst/>
          </a:prstGeom>
          <a:noFill/>
        </p:spPr>
        <p:txBody>
          <a:bodyPr wrap="square" anchor="ctr">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2800" b="1" i="0" u="none" strike="noStrike" kern="1200" cap="none" spc="0" normalizeH="0" baseline="0" noProof="0" dirty="0">
                <a:ln>
                  <a:noFill/>
                </a:ln>
                <a:solidFill>
                  <a:srgbClr val="C00000"/>
                </a:solidFill>
                <a:effectLst/>
                <a:uLnTx/>
                <a:uFillTx/>
                <a:latin typeface="Huawei Sans" panose="020C0503030203020204" pitchFamily="34" charset="0"/>
                <a:ea typeface="微软雅黑"/>
                <a:cs typeface="Huawei Sans" panose="020C0503030203020204" pitchFamily="34" charset="0"/>
              </a:rPr>
              <a:t>Openness · Innovation · Collaboration · Success </a:t>
            </a:r>
            <a:endParaRPr kumimoji="1" lang="zh-CN" altLang="en-US" sz="2800" b="1" i="0" u="none" strike="noStrike" kern="1200" cap="none" spc="0" normalizeH="0" baseline="0" noProof="0" dirty="0">
              <a:ln>
                <a:noFill/>
              </a:ln>
              <a:solidFill>
                <a:srgbClr val="C00000"/>
              </a:solidFill>
              <a:effectLst/>
              <a:uLnTx/>
              <a:uFillTx/>
              <a:latin typeface="Huawei Sans" panose="020C0503030203020204" pitchFamily="34" charset="0"/>
              <a:ea typeface="微软雅黑"/>
              <a:cs typeface="Huawei Sans" panose="020C0503030203020204" pitchFamily="34" charset="0"/>
            </a:endParaRPr>
          </a:p>
        </p:txBody>
      </p:sp>
      <p:cxnSp>
        <p:nvCxnSpPr>
          <p:cNvPr id="210" name="直接连接符 209">
            <a:extLst>
              <a:ext uri="{FF2B5EF4-FFF2-40B4-BE49-F238E27FC236}">
                <a16:creationId xmlns:a16="http://schemas.microsoft.com/office/drawing/2014/main" id="{C6652B3A-71DF-4798-8F9C-B7EE68567E33}"/>
              </a:ext>
            </a:extLst>
          </p:cNvPr>
          <p:cNvCxnSpPr>
            <a:cxnSpLocks/>
          </p:cNvCxnSpPr>
          <p:nvPr/>
        </p:nvCxnSpPr>
        <p:spPr>
          <a:xfrm flipV="1">
            <a:off x="4509783" y="1991358"/>
            <a:ext cx="6820493" cy="69448"/>
          </a:xfrm>
          <a:prstGeom prst="line">
            <a:avLst/>
          </a:prstGeom>
          <a:solidFill>
            <a:srgbClr val="FFFFFF"/>
          </a:solidFill>
          <a:ln w="6350" cap="flat" cmpd="sng" algn="ctr">
            <a:noFill/>
            <a:prstDash val="solid"/>
            <a:miter lim="800000"/>
          </a:ln>
          <a:effectLst/>
        </p:spPr>
      </p:cxnSp>
      <p:sp>
        <p:nvSpPr>
          <p:cNvPr id="211" name="矩形: 圆角 210">
            <a:extLst>
              <a:ext uri="{FF2B5EF4-FFF2-40B4-BE49-F238E27FC236}">
                <a16:creationId xmlns:a16="http://schemas.microsoft.com/office/drawing/2014/main" id="{0C11E44D-F298-443B-9CAA-5F26888EC456}"/>
              </a:ext>
            </a:extLst>
          </p:cNvPr>
          <p:cNvSpPr/>
          <p:nvPr/>
        </p:nvSpPr>
        <p:spPr>
          <a:xfrm>
            <a:off x="6513651" y="2136277"/>
            <a:ext cx="2966642" cy="977110"/>
          </a:xfrm>
          <a:prstGeom prst="roundRect">
            <a:avLst>
              <a:gd name="adj" fmla="val 4295"/>
            </a:avLst>
          </a:prstGeom>
          <a:solidFill>
            <a:srgbClr val="90BCE8"/>
          </a:solidFill>
          <a:ln w="12700" cap="flat" cmpd="sng" algn="ctr">
            <a:noFill/>
            <a:prstDash val="solid"/>
            <a:miter lim="800000"/>
          </a:ln>
          <a:effectLst/>
        </p:spPr>
        <p:txBody>
          <a:bodyPr wrap="none" rtlCol="0" anchor="ctr"/>
          <a:lstStyle/>
          <a:p>
            <a:pPr marL="0" marR="0" lvl="0" indent="0" algn="ctr" defTabSz="912607" rtl="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282828"/>
                </a:solidFill>
                <a:effectLst/>
                <a:uLnTx/>
                <a:uFillTx/>
                <a:latin typeface="Huawei Sans" panose="020C0503030203020204" pitchFamily="34" charset="0"/>
                <a:ea typeface="微软雅黑"/>
                <a:cs typeface="Huawei Sans" panose="020C0503030203020204" pitchFamily="34" charset="0"/>
              </a:rPr>
              <a:t>UB Protocol </a:t>
            </a:r>
          </a:p>
          <a:p>
            <a:pPr marL="0" marR="0" lvl="0" indent="0" algn="ctr" defTabSz="912607" rtl="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282828"/>
                </a:solidFill>
                <a:effectLst/>
                <a:uLnTx/>
                <a:uFillTx/>
                <a:latin typeface="Huawei Sans" panose="020C0503030203020204" pitchFamily="34" charset="0"/>
                <a:ea typeface="微软雅黑"/>
                <a:cs typeface="Huawei Sans" panose="020C0503030203020204" pitchFamily="34" charset="0"/>
              </a:rPr>
              <a:t>Verification Platform</a:t>
            </a:r>
          </a:p>
        </p:txBody>
      </p:sp>
      <p:sp>
        <p:nvSpPr>
          <p:cNvPr id="212" name="矩形: 圆角 211">
            <a:extLst>
              <a:ext uri="{FF2B5EF4-FFF2-40B4-BE49-F238E27FC236}">
                <a16:creationId xmlns:a16="http://schemas.microsoft.com/office/drawing/2014/main" id="{11A51E85-DA6E-4EA6-B258-8A26DBF414D0}"/>
              </a:ext>
            </a:extLst>
          </p:cNvPr>
          <p:cNvSpPr/>
          <p:nvPr/>
        </p:nvSpPr>
        <p:spPr>
          <a:xfrm>
            <a:off x="4531278" y="3385208"/>
            <a:ext cx="2966642" cy="888282"/>
          </a:xfrm>
          <a:prstGeom prst="roundRect">
            <a:avLst>
              <a:gd name="adj" fmla="val 4295"/>
            </a:avLst>
          </a:prstGeom>
          <a:solidFill>
            <a:schemeClr val="accent1">
              <a:lumMod val="60000"/>
              <a:lumOff val="40000"/>
            </a:schemeClr>
          </a:solidFill>
          <a:ln w="12700" cap="flat" cmpd="sng" algn="ctr">
            <a:noFill/>
            <a:prstDash val="solid"/>
            <a:miter lim="800000"/>
          </a:ln>
          <a:effectLst/>
        </p:spPr>
        <p:txBody>
          <a:bodyPr wrap="none" rtlCol="0" anchor="ctr"/>
          <a:lstStyle/>
          <a:p>
            <a:pPr marL="0" marR="0" lvl="0" indent="0" algn="ctr" defTabSz="912607" rtl="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err="1">
                <a:ln>
                  <a:noFill/>
                </a:ln>
                <a:solidFill>
                  <a:srgbClr val="282828"/>
                </a:solidFill>
                <a:effectLst/>
                <a:uLnTx/>
                <a:uFillTx/>
                <a:latin typeface="Huawei Sans" panose="020C0503030203020204" pitchFamily="34" charset="0"/>
                <a:ea typeface="微软雅黑"/>
                <a:cs typeface="Huawei Sans" panose="020C0503030203020204" pitchFamily="34" charset="0"/>
              </a:rPr>
              <a:t>SuperPod</a:t>
            </a:r>
            <a:r>
              <a:rPr kumimoji="0" lang="en-US" altLang="zh-CN" sz="1600" b="1" i="0" u="none" strike="noStrike" kern="0" cap="none" spc="0" normalizeH="0" baseline="0" noProof="0" dirty="0">
                <a:ln>
                  <a:noFill/>
                </a:ln>
                <a:solidFill>
                  <a:srgbClr val="282828"/>
                </a:solidFill>
                <a:effectLst/>
                <a:uLnTx/>
                <a:uFillTx/>
                <a:latin typeface="Huawei Sans" panose="020C0503030203020204" pitchFamily="34" charset="0"/>
                <a:ea typeface="微软雅黑"/>
                <a:cs typeface="Huawei Sans" panose="020C0503030203020204" pitchFamily="34" charset="0"/>
              </a:rPr>
              <a:t> Networking </a:t>
            </a:r>
          </a:p>
          <a:p>
            <a:pPr marL="0" marR="0" lvl="0" indent="0" algn="ctr" defTabSz="912607" rtl="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282828"/>
                </a:solidFill>
                <a:effectLst/>
                <a:uLnTx/>
                <a:uFillTx/>
                <a:latin typeface="Huawei Sans" panose="020C0503030203020204" pitchFamily="34" charset="0"/>
                <a:ea typeface="微软雅黑"/>
                <a:cs typeface="Huawei Sans" panose="020C0503030203020204" pitchFamily="34" charset="0"/>
              </a:rPr>
              <a:t>Innovation Platform</a:t>
            </a:r>
            <a:endParaRPr kumimoji="0" lang="zh-CN" altLang="en-US" sz="1600" b="1" i="0" u="none" strike="noStrike" kern="0" cap="none" spc="0" normalizeH="0" baseline="0" noProof="0" dirty="0">
              <a:ln>
                <a:noFill/>
              </a:ln>
              <a:solidFill>
                <a:srgbClr val="282828"/>
              </a:solidFill>
              <a:effectLst/>
              <a:uLnTx/>
              <a:uFillTx/>
              <a:latin typeface="Huawei Sans" panose="020C0503030203020204" pitchFamily="34" charset="0"/>
              <a:ea typeface="微软雅黑"/>
              <a:cs typeface="Huawei Sans" panose="020C0503030203020204" pitchFamily="34" charset="0"/>
            </a:endParaRPr>
          </a:p>
        </p:txBody>
      </p:sp>
      <p:sp>
        <p:nvSpPr>
          <p:cNvPr id="213" name="矩形: 圆角 212">
            <a:extLst>
              <a:ext uri="{FF2B5EF4-FFF2-40B4-BE49-F238E27FC236}">
                <a16:creationId xmlns:a16="http://schemas.microsoft.com/office/drawing/2014/main" id="{D6327FD9-9C13-447D-A0D1-6F547CE36ECE}"/>
              </a:ext>
            </a:extLst>
          </p:cNvPr>
          <p:cNvSpPr/>
          <p:nvPr/>
        </p:nvSpPr>
        <p:spPr>
          <a:xfrm>
            <a:off x="1065583" y="3385208"/>
            <a:ext cx="2966642" cy="888282"/>
          </a:xfrm>
          <a:prstGeom prst="roundRect">
            <a:avLst>
              <a:gd name="adj" fmla="val 4295"/>
            </a:avLst>
          </a:prstGeom>
          <a:solidFill>
            <a:schemeClr val="accent1">
              <a:lumMod val="60000"/>
              <a:lumOff val="40000"/>
            </a:schemeClr>
          </a:solidFill>
          <a:ln w="12700" cap="flat" cmpd="sng" algn="ctr">
            <a:noFill/>
            <a:prstDash val="solid"/>
            <a:miter lim="800000"/>
          </a:ln>
          <a:effectLst/>
        </p:spPr>
        <p:txBody>
          <a:bodyPr wrap="none" rtlCol="0" anchor="ctr"/>
          <a:lstStyle/>
          <a:p>
            <a:pPr marL="0" marR="0" lvl="0" indent="0" algn="ctr" defTabSz="912607" rtl="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282828"/>
                </a:solidFill>
                <a:effectLst/>
                <a:uLnTx/>
                <a:uFillTx/>
                <a:latin typeface="Huawei Sans" panose="020C0503030203020204" pitchFamily="34" charset="0"/>
                <a:ea typeface="微软雅黑"/>
                <a:cs typeface="Huawei Sans" panose="020C0503030203020204" pitchFamily="34" charset="0"/>
              </a:rPr>
              <a:t>Scale-Up </a:t>
            </a:r>
          </a:p>
          <a:p>
            <a:pPr marL="0" marR="0" lvl="0" indent="0" algn="ctr" defTabSz="912607" rtl="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282828"/>
                </a:solidFill>
                <a:effectLst/>
                <a:uLnTx/>
                <a:uFillTx/>
                <a:latin typeface="Huawei Sans" panose="020C0503030203020204" pitchFamily="34" charset="0"/>
                <a:ea typeface="微软雅黑"/>
                <a:cs typeface="Huawei Sans" panose="020C0503030203020204" pitchFamily="34" charset="0"/>
              </a:rPr>
              <a:t>Prototype Platform</a:t>
            </a:r>
            <a:endParaRPr kumimoji="0" lang="zh-CN" altLang="en-US" sz="1600" b="1" i="0" u="none" strike="noStrike" kern="0" cap="none" spc="0" normalizeH="0" baseline="0" noProof="0" dirty="0">
              <a:ln>
                <a:noFill/>
              </a:ln>
              <a:solidFill>
                <a:srgbClr val="282828"/>
              </a:solidFill>
              <a:effectLst/>
              <a:uLnTx/>
              <a:uFillTx/>
              <a:latin typeface="Huawei Sans" panose="020C0503030203020204" pitchFamily="34" charset="0"/>
              <a:ea typeface="微软雅黑"/>
              <a:cs typeface="Huawei Sans" panose="020C0503030203020204" pitchFamily="34" charset="0"/>
            </a:endParaRPr>
          </a:p>
        </p:txBody>
      </p:sp>
      <p:sp>
        <p:nvSpPr>
          <p:cNvPr id="214" name="矩形: 圆角 213">
            <a:extLst>
              <a:ext uri="{FF2B5EF4-FFF2-40B4-BE49-F238E27FC236}">
                <a16:creationId xmlns:a16="http://schemas.microsoft.com/office/drawing/2014/main" id="{23C1781B-8FF4-4505-A16E-9AF8199EB4BA}"/>
              </a:ext>
            </a:extLst>
          </p:cNvPr>
          <p:cNvSpPr/>
          <p:nvPr/>
        </p:nvSpPr>
        <p:spPr>
          <a:xfrm>
            <a:off x="7996973" y="3385208"/>
            <a:ext cx="2966642" cy="888282"/>
          </a:xfrm>
          <a:prstGeom prst="roundRect">
            <a:avLst>
              <a:gd name="adj" fmla="val 4295"/>
            </a:avLst>
          </a:prstGeom>
          <a:solidFill>
            <a:schemeClr val="accent1">
              <a:lumMod val="60000"/>
              <a:lumOff val="40000"/>
            </a:schemeClr>
          </a:solidFill>
          <a:ln w="12700" cap="flat" cmpd="sng" algn="ctr">
            <a:noFill/>
            <a:prstDash val="solid"/>
            <a:miter lim="800000"/>
          </a:ln>
          <a:effectLst/>
        </p:spPr>
        <p:txBody>
          <a:bodyPr wrap="none" rtlCol="0" anchor="ctr"/>
          <a:lstStyle/>
          <a:p>
            <a:pPr marL="0" marR="0" lvl="0" indent="0" algn="ctr" defTabSz="912607" rtl="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282828"/>
                </a:solidFill>
                <a:effectLst/>
                <a:uLnTx/>
                <a:uFillTx/>
                <a:latin typeface="Huawei Sans" panose="020C0503030203020204" pitchFamily="34" charset="0"/>
                <a:ea typeface="微软雅黑"/>
                <a:cs typeface="Huawei Sans" panose="020C0503030203020204" pitchFamily="34" charset="0"/>
              </a:rPr>
              <a:t>Scale-Out </a:t>
            </a:r>
          </a:p>
          <a:p>
            <a:pPr marL="0" marR="0" lvl="0" indent="0" algn="ctr" defTabSz="912607" rtl="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282828"/>
                </a:solidFill>
                <a:effectLst/>
                <a:uLnTx/>
                <a:uFillTx/>
                <a:latin typeface="Huawei Sans" panose="020C0503030203020204" pitchFamily="34" charset="0"/>
                <a:ea typeface="微软雅黑"/>
                <a:cs typeface="Huawei Sans" panose="020C0503030203020204" pitchFamily="34" charset="0"/>
              </a:rPr>
              <a:t>Prototype Platform</a:t>
            </a:r>
          </a:p>
        </p:txBody>
      </p:sp>
      <p:sp>
        <p:nvSpPr>
          <p:cNvPr id="9" name="矩形 8">
            <a:extLst>
              <a:ext uri="{FF2B5EF4-FFF2-40B4-BE49-F238E27FC236}">
                <a16:creationId xmlns:a16="http://schemas.microsoft.com/office/drawing/2014/main" id="{9F6BC2C6-28C8-4000-897B-E86E0ECF277A}"/>
              </a:ext>
            </a:extLst>
          </p:cNvPr>
          <p:cNvSpPr/>
          <p:nvPr/>
        </p:nvSpPr>
        <p:spPr>
          <a:xfrm>
            <a:off x="3819552" y="5515168"/>
            <a:ext cx="4557658" cy="369332"/>
          </a:xfrm>
          <a:prstGeom prst="rect">
            <a:avLst/>
          </a:prstGeom>
        </p:spPr>
        <p:txBody>
          <a:bodyPr wrap="none">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282828"/>
                </a:solidFill>
                <a:effectLst/>
                <a:uLnTx/>
                <a:uFillTx/>
                <a:latin typeface="Arial"/>
                <a:ea typeface="微软雅黑"/>
                <a:cs typeface="+mn-cs"/>
              </a:rPr>
              <a:t>Jointly released with academic partners</a:t>
            </a:r>
            <a:endParaRPr kumimoji="0" lang="zh-CN" altLang="en-US" sz="1800" b="1" i="0" u="none" strike="noStrike" kern="1200" cap="none" spc="0" normalizeH="0" baseline="0" noProof="0" dirty="0">
              <a:ln>
                <a:noFill/>
              </a:ln>
              <a:solidFill>
                <a:srgbClr val="282828"/>
              </a:solidFill>
              <a:effectLst/>
              <a:uLnTx/>
              <a:uFillTx/>
              <a:latin typeface="Arial"/>
              <a:ea typeface="微软雅黑"/>
              <a:cs typeface="+mn-cs"/>
            </a:endParaRPr>
          </a:p>
        </p:txBody>
      </p:sp>
      <p:grpSp>
        <p:nvGrpSpPr>
          <p:cNvPr id="2" name="组合 1">
            <a:extLst>
              <a:ext uri="{FF2B5EF4-FFF2-40B4-BE49-F238E27FC236}">
                <a16:creationId xmlns:a16="http://schemas.microsoft.com/office/drawing/2014/main" id="{E3C380AE-3453-4FAB-AF96-27C8E28262F8}"/>
              </a:ext>
            </a:extLst>
          </p:cNvPr>
          <p:cNvGrpSpPr/>
          <p:nvPr/>
        </p:nvGrpSpPr>
        <p:grpSpPr>
          <a:xfrm>
            <a:off x="2003834" y="4393344"/>
            <a:ext cx="7378616" cy="1149258"/>
            <a:chOff x="879880" y="4153466"/>
            <a:chExt cx="9677360" cy="1507299"/>
          </a:xfrm>
        </p:grpSpPr>
        <p:pic>
          <p:nvPicPr>
            <p:cNvPr id="5124" name="Picture 4" descr="https://bkimg.cdn.bcebos.com/pic/1ad5ad6eddc451da81cb271017ab4566d01608249488">
              <a:extLst>
                <a:ext uri="{FF2B5EF4-FFF2-40B4-BE49-F238E27FC236}">
                  <a16:creationId xmlns:a16="http://schemas.microsoft.com/office/drawing/2014/main" id="{B6E01877-A51C-44A3-A58C-F58383CB34BD}"/>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163087" y="4318043"/>
              <a:ext cx="1826805" cy="1217871"/>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https://bkimg.cdn.bcebos.com/pic/9825bc315c6034a85edfe28edf415e540923dd54d838">
              <a:extLst>
                <a:ext uri="{FF2B5EF4-FFF2-40B4-BE49-F238E27FC236}">
                  <a16:creationId xmlns:a16="http://schemas.microsoft.com/office/drawing/2014/main" id="{D71F0E9D-2DBC-4A82-A49C-360C46243D56}"/>
                </a:ext>
              </a:extLst>
            </p:cNvPr>
            <p:cNvPicPr>
              <a:picLocks noChangeAspect="1" noChangeArrowheads="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r="72866"/>
            <a:stretch/>
          </p:blipFill>
          <p:spPr bwMode="auto">
            <a:xfrm>
              <a:off x="9330015" y="4318043"/>
              <a:ext cx="1227225" cy="1211528"/>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9756AB69-A1DB-44C1-8328-4E567871D6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73826" y="4323303"/>
              <a:ext cx="1167627" cy="1167627"/>
            </a:xfrm>
            <a:prstGeom prst="rect">
              <a:avLst/>
            </a:prstGeom>
          </p:spPr>
        </p:pic>
        <p:pic>
          <p:nvPicPr>
            <p:cNvPr id="7" name="图片 6">
              <a:extLst>
                <a:ext uri="{FF2B5EF4-FFF2-40B4-BE49-F238E27FC236}">
                  <a16:creationId xmlns:a16="http://schemas.microsoft.com/office/drawing/2014/main" id="{0146DDD4-88CB-41FA-92C2-DDF5A120BA6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15546" y="4153466"/>
              <a:ext cx="1507299" cy="1507299"/>
            </a:xfrm>
            <a:prstGeom prst="rect">
              <a:avLst/>
            </a:prstGeom>
          </p:spPr>
        </p:pic>
        <p:pic>
          <p:nvPicPr>
            <p:cNvPr id="5132" name="Picture 12" descr="Home - 6G@HK">
              <a:extLst>
                <a:ext uri="{FF2B5EF4-FFF2-40B4-BE49-F238E27FC236}">
                  <a16:creationId xmlns:a16="http://schemas.microsoft.com/office/drawing/2014/main" id="{51240812-0CCD-48E5-82D0-5ECB111FB342}"/>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28364" r="8581" b="25853"/>
            <a:stretch/>
          </p:blipFill>
          <p:spPr bwMode="auto">
            <a:xfrm>
              <a:off x="879880" y="4430898"/>
              <a:ext cx="2992504" cy="99881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440684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标题 1">
            <a:extLst>
              <a:ext uri="{FF2B5EF4-FFF2-40B4-BE49-F238E27FC236}">
                <a16:creationId xmlns:a16="http://schemas.microsoft.com/office/drawing/2014/main" id="{2AD3965F-0FB0-45B4-AF0A-8C7BE62857FB}"/>
              </a:ext>
            </a:extLst>
          </p:cNvPr>
          <p:cNvSpPr>
            <a:spLocks noGrp="1"/>
          </p:cNvSpPr>
          <p:nvPr>
            <p:ph type="title"/>
          </p:nvPr>
        </p:nvSpPr>
        <p:spPr>
          <a:xfrm>
            <a:off x="561005" y="275992"/>
            <a:ext cx="11208246" cy="798839"/>
          </a:xfrm>
        </p:spPr>
        <p:txBody>
          <a:bodyPr wrap="square">
            <a:noAutofit/>
          </a:bodyPr>
          <a:lstStyle/>
          <a:p>
            <a:r>
              <a:rPr lang="en-US" altLang="zh-CN" dirty="0">
                <a:cs typeface="Huawei Sans" panose="020C0503030203020204" pitchFamily="34" charset="0"/>
              </a:rPr>
              <a:t>UB Simulation Platform: </a:t>
            </a:r>
            <a:br>
              <a:rPr lang="en-US" altLang="zh-CN" dirty="0">
                <a:cs typeface="Huawei Sans" panose="020C0503030203020204" pitchFamily="34" charset="0"/>
              </a:rPr>
            </a:br>
            <a:r>
              <a:rPr lang="en-US" altLang="zh-CN" dirty="0">
                <a:cs typeface="Huawei Sans" panose="020C0503030203020204" pitchFamily="34" charset="0"/>
              </a:rPr>
              <a:t>A UnifiedBus Specification Compliant Network Simulator</a:t>
            </a:r>
            <a:endParaRPr lang="zh-CN" altLang="en-US" dirty="0"/>
          </a:p>
        </p:txBody>
      </p:sp>
      <p:sp>
        <p:nvSpPr>
          <p:cNvPr id="12" name="矩形: 圆角 11">
            <a:extLst>
              <a:ext uri="{FF2B5EF4-FFF2-40B4-BE49-F238E27FC236}">
                <a16:creationId xmlns:a16="http://schemas.microsoft.com/office/drawing/2014/main" id="{A5BCA3AF-E663-4E77-B21C-D535CCC359D4}"/>
              </a:ext>
            </a:extLst>
          </p:cNvPr>
          <p:cNvSpPr/>
          <p:nvPr/>
        </p:nvSpPr>
        <p:spPr>
          <a:xfrm>
            <a:off x="6417973" y="1491904"/>
            <a:ext cx="5639671" cy="3782899"/>
          </a:xfrm>
          <a:prstGeom prst="roundRect">
            <a:avLst>
              <a:gd name="adj" fmla="val 2506"/>
            </a:avLst>
          </a:prstGeom>
          <a:solidFill>
            <a:schemeClr val="bg2">
              <a:lumMod val="10000"/>
              <a:lumOff val="9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78"/>
            <a:endParaRPr lang="zh-CN" altLang="en-US" sz="1600" kern="0" dirty="0">
              <a:latin typeface="+mn-ea"/>
              <a:cs typeface="Huawei Sans" panose="020C0503030203020204" pitchFamily="34" charset="0"/>
            </a:endParaRPr>
          </a:p>
        </p:txBody>
      </p:sp>
      <p:grpSp>
        <p:nvGrpSpPr>
          <p:cNvPr id="13" name="组合 12">
            <a:extLst>
              <a:ext uri="{FF2B5EF4-FFF2-40B4-BE49-F238E27FC236}">
                <a16:creationId xmlns:a16="http://schemas.microsoft.com/office/drawing/2014/main" id="{47B983AC-3E21-4AE8-8AD3-9F2740B05C1F}"/>
              </a:ext>
            </a:extLst>
          </p:cNvPr>
          <p:cNvGrpSpPr/>
          <p:nvPr/>
        </p:nvGrpSpPr>
        <p:grpSpPr>
          <a:xfrm>
            <a:off x="6506853" y="1570860"/>
            <a:ext cx="5465768" cy="3427536"/>
            <a:chOff x="8115300" y="2744548"/>
            <a:chExt cx="7126635" cy="4469052"/>
          </a:xfrm>
          <a:effectLst/>
        </p:grpSpPr>
        <p:sp>
          <p:nvSpPr>
            <p:cNvPr id="14" name="矩形 13">
              <a:extLst>
                <a:ext uri="{FF2B5EF4-FFF2-40B4-BE49-F238E27FC236}">
                  <a16:creationId xmlns:a16="http://schemas.microsoft.com/office/drawing/2014/main" id="{2F4F9A11-2663-45F7-8922-DC58E2843AFF}"/>
                </a:ext>
              </a:extLst>
            </p:cNvPr>
            <p:cNvSpPr/>
            <p:nvPr/>
          </p:nvSpPr>
          <p:spPr>
            <a:xfrm>
              <a:off x="8123236" y="4060852"/>
              <a:ext cx="4167432" cy="2595357"/>
            </a:xfrm>
            <a:prstGeom prst="rect">
              <a:avLst/>
            </a:prstGeom>
            <a:solidFill>
              <a:srgbClr val="FFFFFF"/>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100" i="0" u="none" strike="noStrike" kern="0" cap="none" spc="0" normalizeH="0" baseline="0" noProof="0" dirty="0">
                <a:ln>
                  <a:noFill/>
                </a:ln>
                <a:effectLst/>
                <a:uLnTx/>
                <a:uFillTx/>
                <a:latin typeface="+mn-ea"/>
                <a:cs typeface="Huawei Sans" panose="020C0503030203020204" pitchFamily="34" charset="0"/>
              </a:endParaRPr>
            </a:p>
          </p:txBody>
        </p:sp>
        <p:sp>
          <p:nvSpPr>
            <p:cNvPr id="15" name="任意多边形: 形状 14">
              <a:extLst>
                <a:ext uri="{FF2B5EF4-FFF2-40B4-BE49-F238E27FC236}">
                  <a16:creationId xmlns:a16="http://schemas.microsoft.com/office/drawing/2014/main" id="{C5AF7746-1F2F-45D4-BB5E-9AD52763F83C}"/>
                </a:ext>
              </a:extLst>
            </p:cNvPr>
            <p:cNvSpPr/>
            <p:nvPr/>
          </p:nvSpPr>
          <p:spPr>
            <a:xfrm>
              <a:off x="11834389" y="2868442"/>
              <a:ext cx="3304011" cy="4203682"/>
            </a:xfrm>
            <a:custGeom>
              <a:avLst/>
              <a:gdLst>
                <a:gd name="connsiteX0" fmla="*/ 597549 w 2647515"/>
                <a:gd name="connsiteY0" fmla="*/ 0 h 2515983"/>
                <a:gd name="connsiteX1" fmla="*/ 2647515 w 2647515"/>
                <a:gd name="connsiteY1" fmla="*/ 0 h 2515983"/>
                <a:gd name="connsiteX2" fmla="*/ 2647515 w 2647515"/>
                <a:gd name="connsiteY2" fmla="*/ 2224452 h 2515983"/>
                <a:gd name="connsiteX3" fmla="*/ 597549 w 2647515"/>
                <a:gd name="connsiteY3" fmla="*/ 2224452 h 2515983"/>
                <a:gd name="connsiteX4" fmla="*/ 597549 w 2647515"/>
                <a:gd name="connsiteY4" fmla="*/ 2221820 h 2515983"/>
                <a:gd name="connsiteX5" fmla="*/ 0 w 2647515"/>
                <a:gd name="connsiteY5" fmla="*/ 2515983 h 2515983"/>
                <a:gd name="connsiteX6" fmla="*/ 0 w 2647515"/>
                <a:gd name="connsiteY6" fmla="*/ 2182913 h 2515983"/>
                <a:gd name="connsiteX7" fmla="*/ 597549 w 2647515"/>
                <a:gd name="connsiteY7" fmla="*/ 147304 h 2515983"/>
                <a:gd name="connsiteX0" fmla="*/ 603899 w 2653865"/>
                <a:gd name="connsiteY0" fmla="*/ 0 h 2395305"/>
                <a:gd name="connsiteX1" fmla="*/ 2653865 w 2653865"/>
                <a:gd name="connsiteY1" fmla="*/ 0 h 2395305"/>
                <a:gd name="connsiteX2" fmla="*/ 2653865 w 2653865"/>
                <a:gd name="connsiteY2" fmla="*/ 2224452 h 2395305"/>
                <a:gd name="connsiteX3" fmla="*/ 603899 w 2653865"/>
                <a:gd name="connsiteY3" fmla="*/ 2224452 h 2395305"/>
                <a:gd name="connsiteX4" fmla="*/ 603899 w 2653865"/>
                <a:gd name="connsiteY4" fmla="*/ 2221820 h 2395305"/>
                <a:gd name="connsiteX5" fmla="*/ 0 w 2653865"/>
                <a:gd name="connsiteY5" fmla="*/ 2395305 h 2395305"/>
                <a:gd name="connsiteX6" fmla="*/ 6350 w 2653865"/>
                <a:gd name="connsiteY6" fmla="*/ 2182913 h 2395305"/>
                <a:gd name="connsiteX7" fmla="*/ 603899 w 2653865"/>
                <a:gd name="connsiteY7" fmla="*/ 147304 h 2395305"/>
                <a:gd name="connsiteX8" fmla="*/ 603899 w 2653865"/>
                <a:gd name="connsiteY8" fmla="*/ 0 h 2395305"/>
                <a:gd name="connsiteX0" fmla="*/ 648158 w 2698124"/>
                <a:gd name="connsiteY0" fmla="*/ 0 h 2395305"/>
                <a:gd name="connsiteX1" fmla="*/ 2698124 w 2698124"/>
                <a:gd name="connsiteY1" fmla="*/ 0 h 2395305"/>
                <a:gd name="connsiteX2" fmla="*/ 2698124 w 2698124"/>
                <a:gd name="connsiteY2" fmla="*/ 2224452 h 2395305"/>
                <a:gd name="connsiteX3" fmla="*/ 648158 w 2698124"/>
                <a:gd name="connsiteY3" fmla="*/ 2224452 h 2395305"/>
                <a:gd name="connsiteX4" fmla="*/ 648158 w 2698124"/>
                <a:gd name="connsiteY4" fmla="*/ 2221820 h 2395305"/>
                <a:gd name="connsiteX5" fmla="*/ 44259 w 2698124"/>
                <a:gd name="connsiteY5" fmla="*/ 2395305 h 2395305"/>
                <a:gd name="connsiteX6" fmla="*/ 0 w 2698124"/>
                <a:gd name="connsiteY6" fmla="*/ 1303853 h 2395305"/>
                <a:gd name="connsiteX7" fmla="*/ 648158 w 2698124"/>
                <a:gd name="connsiteY7" fmla="*/ 147304 h 2395305"/>
                <a:gd name="connsiteX8" fmla="*/ 648158 w 2698124"/>
                <a:gd name="connsiteY8" fmla="*/ 0 h 2395305"/>
                <a:gd name="connsiteX0" fmla="*/ 654507 w 2704473"/>
                <a:gd name="connsiteY0" fmla="*/ 0 h 2224452"/>
                <a:gd name="connsiteX1" fmla="*/ 2704473 w 2704473"/>
                <a:gd name="connsiteY1" fmla="*/ 0 h 2224452"/>
                <a:gd name="connsiteX2" fmla="*/ 2704473 w 2704473"/>
                <a:gd name="connsiteY2" fmla="*/ 2224452 h 2224452"/>
                <a:gd name="connsiteX3" fmla="*/ 654507 w 2704473"/>
                <a:gd name="connsiteY3" fmla="*/ 2224452 h 2224452"/>
                <a:gd name="connsiteX4" fmla="*/ 654507 w 2704473"/>
                <a:gd name="connsiteY4" fmla="*/ 2221820 h 2224452"/>
                <a:gd name="connsiteX5" fmla="*/ 0 w 2704473"/>
                <a:gd name="connsiteY5" fmla="*/ 1501000 h 2224452"/>
                <a:gd name="connsiteX6" fmla="*/ 6349 w 2704473"/>
                <a:gd name="connsiteY6" fmla="*/ 1303853 h 2224452"/>
                <a:gd name="connsiteX7" fmla="*/ 654507 w 2704473"/>
                <a:gd name="connsiteY7" fmla="*/ 147304 h 2224452"/>
                <a:gd name="connsiteX8" fmla="*/ 654507 w 2704473"/>
                <a:gd name="connsiteY8" fmla="*/ 0 h 2224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4473" h="2224452">
                  <a:moveTo>
                    <a:pt x="654507" y="0"/>
                  </a:moveTo>
                  <a:lnTo>
                    <a:pt x="2704473" y="0"/>
                  </a:lnTo>
                  <a:lnTo>
                    <a:pt x="2704473" y="2224452"/>
                  </a:lnTo>
                  <a:lnTo>
                    <a:pt x="654507" y="2224452"/>
                  </a:lnTo>
                  <a:lnTo>
                    <a:pt x="654507" y="2221820"/>
                  </a:lnTo>
                  <a:lnTo>
                    <a:pt x="0" y="1501000"/>
                  </a:lnTo>
                  <a:lnTo>
                    <a:pt x="6349" y="1303853"/>
                  </a:lnTo>
                  <a:lnTo>
                    <a:pt x="654507" y="147304"/>
                  </a:lnTo>
                  <a:lnTo>
                    <a:pt x="654507" y="0"/>
                  </a:lnTo>
                  <a:close/>
                </a:path>
              </a:pathLst>
            </a:custGeom>
            <a:solidFill>
              <a:srgbClr val="FBE7E8"/>
            </a:solidFill>
            <a:ln w="12700" cap="flat" cmpd="sng" algn="ctr">
              <a:solidFill>
                <a:srgbClr val="1D1D1A"/>
              </a:solidFill>
              <a:prstDash val="dash"/>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100" i="0" u="none" strike="noStrike" kern="0" cap="none" spc="0" normalizeH="0" baseline="0" noProof="0">
                <a:ln>
                  <a:noFill/>
                </a:ln>
                <a:effectLst/>
                <a:uLnTx/>
                <a:uFillTx/>
                <a:latin typeface="+mn-ea"/>
                <a:cs typeface="Huawei Sans" panose="020C0503030203020204" pitchFamily="34" charset="0"/>
              </a:endParaRPr>
            </a:p>
          </p:txBody>
        </p:sp>
        <p:sp>
          <p:nvSpPr>
            <p:cNvPr id="16" name="矩形 15">
              <a:extLst>
                <a:ext uri="{FF2B5EF4-FFF2-40B4-BE49-F238E27FC236}">
                  <a16:creationId xmlns:a16="http://schemas.microsoft.com/office/drawing/2014/main" id="{687CFED0-4B03-4565-8EAC-F20AA22C321A}"/>
                </a:ext>
              </a:extLst>
            </p:cNvPr>
            <p:cNvSpPr/>
            <p:nvPr/>
          </p:nvSpPr>
          <p:spPr>
            <a:xfrm>
              <a:off x="12731304" y="2895868"/>
              <a:ext cx="2510631" cy="341105"/>
            </a:xfrm>
            <a:prstGeom prst="rect">
              <a:avLst/>
            </a:prstGeom>
          </p:spPr>
          <p:txBody>
            <a:bodyPr wrap="none">
              <a:spAutoFit/>
            </a:bodyPr>
            <a:lstStyle/>
            <a:p>
              <a:pPr defTabSz="914478">
                <a:defRPr/>
              </a:pPr>
              <a:r>
                <a:rPr lang="en-US" altLang="zh-CN" sz="1100" dirty="0">
                  <a:latin typeface="+mn-ea"/>
                  <a:cs typeface="Huawei Sans" panose="020C0503030203020204" pitchFamily="34" charset="0"/>
                </a:rPr>
                <a:t>UnifiedBus Protocol Stack</a:t>
              </a:r>
              <a:endParaRPr lang="zh-CN" altLang="en-US" sz="1100" dirty="0">
                <a:latin typeface="+mn-ea"/>
                <a:cs typeface="Huawei Sans" panose="020C0503030203020204" pitchFamily="34" charset="0"/>
              </a:endParaRPr>
            </a:p>
          </p:txBody>
        </p:sp>
        <p:sp>
          <p:nvSpPr>
            <p:cNvPr id="17" name="矩形 16">
              <a:extLst>
                <a:ext uri="{FF2B5EF4-FFF2-40B4-BE49-F238E27FC236}">
                  <a16:creationId xmlns:a16="http://schemas.microsoft.com/office/drawing/2014/main" id="{1F399DB1-3321-41BF-A779-C05FC4EE1AFE}"/>
                </a:ext>
              </a:extLst>
            </p:cNvPr>
            <p:cNvSpPr/>
            <p:nvPr/>
          </p:nvSpPr>
          <p:spPr>
            <a:xfrm>
              <a:off x="12767541" y="3960285"/>
              <a:ext cx="2276291" cy="700343"/>
            </a:xfrm>
            <a:prstGeom prst="rect">
              <a:avLst/>
            </a:prstGeom>
            <a:solidFill>
              <a:srgbClr val="FFFFFF"/>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Transaction Layer</a:t>
              </a:r>
              <a:endParaRPr kumimoji="0" lang="zh-CN" altLang="en-US" sz="1100" i="0" u="none" strike="noStrike" kern="0" cap="none" spc="0" normalizeH="0" baseline="0" noProof="0" dirty="0">
                <a:ln>
                  <a:noFill/>
                </a:ln>
                <a:effectLst/>
                <a:uLnTx/>
                <a:uFillTx/>
                <a:latin typeface="+mn-ea"/>
                <a:cs typeface="Huawei Sans" panose="020C0503030203020204" pitchFamily="34" charset="0"/>
              </a:endParaRPr>
            </a:p>
          </p:txBody>
        </p:sp>
        <p:sp>
          <p:nvSpPr>
            <p:cNvPr id="18" name="矩形 17">
              <a:extLst>
                <a:ext uri="{FF2B5EF4-FFF2-40B4-BE49-F238E27FC236}">
                  <a16:creationId xmlns:a16="http://schemas.microsoft.com/office/drawing/2014/main" id="{4C54867D-4867-4B47-A8F0-C135A3DA452B}"/>
                </a:ext>
              </a:extLst>
            </p:cNvPr>
            <p:cNvSpPr/>
            <p:nvPr/>
          </p:nvSpPr>
          <p:spPr>
            <a:xfrm>
              <a:off x="12767541" y="4710316"/>
              <a:ext cx="2276291" cy="700343"/>
            </a:xfrm>
            <a:prstGeom prst="rect">
              <a:avLst/>
            </a:prstGeom>
            <a:solidFill>
              <a:srgbClr val="FFFFFF"/>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Transport Layer</a:t>
              </a:r>
              <a:endParaRPr kumimoji="0" lang="zh-CN" altLang="en-US" sz="1100" i="0" u="none" strike="noStrike" kern="0" cap="none" spc="0" normalizeH="0" baseline="0" noProof="0" dirty="0">
                <a:ln>
                  <a:noFill/>
                </a:ln>
                <a:effectLst/>
                <a:uLnTx/>
                <a:uFillTx/>
                <a:latin typeface="+mn-ea"/>
                <a:cs typeface="Huawei Sans" panose="020C0503030203020204" pitchFamily="34" charset="0"/>
              </a:endParaRPr>
            </a:p>
          </p:txBody>
        </p:sp>
        <p:sp>
          <p:nvSpPr>
            <p:cNvPr id="19" name="矩形 18">
              <a:extLst>
                <a:ext uri="{FF2B5EF4-FFF2-40B4-BE49-F238E27FC236}">
                  <a16:creationId xmlns:a16="http://schemas.microsoft.com/office/drawing/2014/main" id="{0F68BF62-EB4C-45F7-9946-04D01B90A8A4}"/>
                </a:ext>
              </a:extLst>
            </p:cNvPr>
            <p:cNvSpPr/>
            <p:nvPr/>
          </p:nvSpPr>
          <p:spPr>
            <a:xfrm>
              <a:off x="12767541" y="5461223"/>
              <a:ext cx="2276291" cy="700343"/>
            </a:xfrm>
            <a:prstGeom prst="rect">
              <a:avLst/>
            </a:prstGeom>
            <a:solidFill>
              <a:srgbClr val="FFFFFF"/>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Network Layer</a:t>
              </a:r>
              <a:endParaRPr kumimoji="0" lang="zh-CN" altLang="en-US" sz="1100" i="0" u="none" strike="noStrike" kern="0" cap="none" spc="0" normalizeH="0" baseline="0" noProof="0" dirty="0">
                <a:ln>
                  <a:noFill/>
                </a:ln>
                <a:effectLst/>
                <a:uLnTx/>
                <a:uFillTx/>
                <a:latin typeface="+mn-ea"/>
                <a:cs typeface="Huawei Sans" panose="020C0503030203020204" pitchFamily="34" charset="0"/>
              </a:endParaRPr>
            </a:p>
          </p:txBody>
        </p:sp>
        <p:sp>
          <p:nvSpPr>
            <p:cNvPr id="20" name="矩形 19">
              <a:extLst>
                <a:ext uri="{FF2B5EF4-FFF2-40B4-BE49-F238E27FC236}">
                  <a16:creationId xmlns:a16="http://schemas.microsoft.com/office/drawing/2014/main" id="{9CC4E593-7F85-4ACC-8CA5-5A5F7BB4EDAB}"/>
                </a:ext>
              </a:extLst>
            </p:cNvPr>
            <p:cNvSpPr/>
            <p:nvPr/>
          </p:nvSpPr>
          <p:spPr>
            <a:xfrm>
              <a:off x="12767541" y="6205200"/>
              <a:ext cx="2276291" cy="700342"/>
            </a:xfrm>
            <a:prstGeom prst="rect">
              <a:avLst/>
            </a:prstGeom>
            <a:solidFill>
              <a:srgbClr val="FFFFFF"/>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Datalink Layer</a:t>
              </a:r>
              <a:endParaRPr kumimoji="0" lang="zh-CN" altLang="en-US" sz="1100" i="0" u="none" strike="noStrike" kern="0" cap="none" spc="0" normalizeH="0" baseline="0" noProof="0" dirty="0">
                <a:ln>
                  <a:noFill/>
                </a:ln>
                <a:effectLst/>
                <a:uLnTx/>
                <a:uFillTx/>
                <a:latin typeface="+mn-ea"/>
                <a:cs typeface="Huawei Sans" panose="020C0503030203020204" pitchFamily="34" charset="0"/>
              </a:endParaRPr>
            </a:p>
          </p:txBody>
        </p:sp>
        <p:sp>
          <p:nvSpPr>
            <p:cNvPr id="21" name="矩形 20">
              <a:extLst>
                <a:ext uri="{FF2B5EF4-FFF2-40B4-BE49-F238E27FC236}">
                  <a16:creationId xmlns:a16="http://schemas.microsoft.com/office/drawing/2014/main" id="{3243D386-90BF-447D-B13F-0C80C5B8B3CE}"/>
                </a:ext>
              </a:extLst>
            </p:cNvPr>
            <p:cNvSpPr/>
            <p:nvPr/>
          </p:nvSpPr>
          <p:spPr>
            <a:xfrm>
              <a:off x="12767541" y="3270689"/>
              <a:ext cx="2276291" cy="631469"/>
            </a:xfrm>
            <a:prstGeom prst="rect">
              <a:avLst/>
            </a:prstGeom>
            <a:solidFill>
              <a:srgbClr val="FFFFFF"/>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Function Layer</a:t>
              </a:r>
              <a:endParaRPr kumimoji="0" lang="zh-CN" altLang="en-US" sz="1100" i="0" u="none" strike="noStrike" kern="0" cap="none" spc="0" normalizeH="0" baseline="0" noProof="0" dirty="0">
                <a:ln>
                  <a:noFill/>
                </a:ln>
                <a:effectLst/>
                <a:uLnTx/>
                <a:uFillTx/>
                <a:latin typeface="+mn-ea"/>
                <a:cs typeface="Huawei Sans" panose="020C0503030203020204" pitchFamily="34" charset="0"/>
              </a:endParaRPr>
            </a:p>
          </p:txBody>
        </p:sp>
        <p:grpSp>
          <p:nvGrpSpPr>
            <p:cNvPr id="22" name="组合 21">
              <a:extLst>
                <a:ext uri="{FF2B5EF4-FFF2-40B4-BE49-F238E27FC236}">
                  <a16:creationId xmlns:a16="http://schemas.microsoft.com/office/drawing/2014/main" id="{8164346A-6820-4134-9F9A-7EB4ED2B63A5}"/>
                </a:ext>
              </a:extLst>
            </p:cNvPr>
            <p:cNvGrpSpPr/>
            <p:nvPr/>
          </p:nvGrpSpPr>
          <p:grpSpPr>
            <a:xfrm>
              <a:off x="12943081" y="3551295"/>
              <a:ext cx="1952522" cy="298783"/>
              <a:chOff x="9590163" y="1464175"/>
              <a:chExt cx="1522618" cy="267234"/>
            </a:xfrm>
          </p:grpSpPr>
          <p:sp>
            <p:nvSpPr>
              <p:cNvPr id="98" name="矩形 97">
                <a:extLst>
                  <a:ext uri="{FF2B5EF4-FFF2-40B4-BE49-F238E27FC236}">
                    <a16:creationId xmlns:a16="http://schemas.microsoft.com/office/drawing/2014/main" id="{06383369-ED35-4EA0-88A7-BDD968F4E66B}"/>
                  </a:ext>
                </a:extLst>
              </p:cNvPr>
              <p:cNvSpPr/>
              <p:nvPr/>
            </p:nvSpPr>
            <p:spPr>
              <a:xfrm>
                <a:off x="9590163" y="1464175"/>
                <a:ext cx="633061" cy="267234"/>
              </a:xfrm>
              <a:prstGeom prst="rect">
                <a:avLst/>
              </a:prstGeom>
              <a:solidFill>
                <a:srgbClr val="FFFFFF"/>
              </a:solidFill>
              <a:ln w="9525" cap="flat" cmpd="sng" algn="ctr">
                <a:solidFill>
                  <a:srgbClr val="1D1D1A"/>
                </a:solidFill>
                <a:prstDash val="sysDash"/>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URMA</a:t>
                </a:r>
                <a:endParaRPr kumimoji="0" lang="zh-CN" altLang="en-US" sz="1100" i="0" u="none" strike="noStrike" kern="0" cap="none" spc="0" normalizeH="0" baseline="0" noProof="0" dirty="0">
                  <a:ln>
                    <a:noFill/>
                  </a:ln>
                  <a:effectLst/>
                  <a:uLnTx/>
                  <a:uFillTx/>
                  <a:latin typeface="+mn-ea"/>
                  <a:cs typeface="Huawei Sans" panose="020C0503030203020204" pitchFamily="34" charset="0"/>
                </a:endParaRPr>
              </a:p>
            </p:txBody>
          </p:sp>
          <p:sp>
            <p:nvSpPr>
              <p:cNvPr id="99" name="矩形 98">
                <a:extLst>
                  <a:ext uri="{FF2B5EF4-FFF2-40B4-BE49-F238E27FC236}">
                    <a16:creationId xmlns:a16="http://schemas.microsoft.com/office/drawing/2014/main" id="{1FDC6F2B-6C6E-4341-A341-620F56208718}"/>
                  </a:ext>
                </a:extLst>
              </p:cNvPr>
              <p:cNvSpPr/>
              <p:nvPr/>
            </p:nvSpPr>
            <p:spPr>
              <a:xfrm>
                <a:off x="10301302" y="1464175"/>
                <a:ext cx="811479" cy="267234"/>
              </a:xfrm>
              <a:prstGeom prst="rect">
                <a:avLst/>
              </a:prstGeom>
              <a:solidFill>
                <a:srgbClr val="FFFFFF"/>
              </a:solidFill>
              <a:ln w="9525" cap="flat" cmpd="sng" algn="ctr">
                <a:solidFill>
                  <a:srgbClr val="1D1D1A"/>
                </a:solidFill>
                <a:prstDash val="sysDash"/>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Load/Store</a:t>
                </a:r>
                <a:endParaRPr kumimoji="0" lang="zh-CN" altLang="en-US" sz="1100" i="0" u="none" strike="noStrike" kern="0" cap="none" spc="0" normalizeH="0" baseline="0" noProof="0" dirty="0">
                  <a:ln>
                    <a:noFill/>
                  </a:ln>
                  <a:effectLst/>
                  <a:uLnTx/>
                  <a:uFillTx/>
                  <a:latin typeface="+mn-ea"/>
                  <a:cs typeface="Huawei Sans" panose="020C0503030203020204" pitchFamily="34" charset="0"/>
                </a:endParaRPr>
              </a:p>
            </p:txBody>
          </p:sp>
        </p:grpSp>
        <p:sp>
          <p:nvSpPr>
            <p:cNvPr id="23" name="矩形 22">
              <a:extLst>
                <a:ext uri="{FF2B5EF4-FFF2-40B4-BE49-F238E27FC236}">
                  <a16:creationId xmlns:a16="http://schemas.microsoft.com/office/drawing/2014/main" id="{56A75E5E-A361-44EF-BF02-3F6B19D325AB}"/>
                </a:ext>
              </a:extLst>
            </p:cNvPr>
            <p:cNvSpPr/>
            <p:nvPr/>
          </p:nvSpPr>
          <p:spPr>
            <a:xfrm>
              <a:off x="12855754" y="4252126"/>
              <a:ext cx="611354" cy="307331"/>
            </a:xfrm>
            <a:prstGeom prst="rect">
              <a:avLst/>
            </a:prstGeom>
            <a:noFill/>
            <a:ln>
              <a:solidFill>
                <a:srgbClr val="1D1D1A"/>
              </a:solidFill>
            </a:ln>
            <a:effectLst/>
          </p:spPr>
          <p:txBody>
            <a:bodyPr wrap="none" anchor="ctr">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Mode</a:t>
              </a:r>
              <a:endParaRPr kumimoji="0" lang="zh-CN" altLang="zh-CN" sz="1100" i="0" u="none" strike="noStrike" kern="0" cap="none" spc="0" normalizeH="0" baseline="0" noProof="0" dirty="0">
                <a:ln>
                  <a:noFill/>
                </a:ln>
                <a:effectLst/>
                <a:uLnTx/>
                <a:uFillTx/>
                <a:latin typeface="+mn-ea"/>
                <a:cs typeface="Huawei Sans" panose="020C0503030203020204" pitchFamily="34" charset="0"/>
              </a:endParaRPr>
            </a:p>
          </p:txBody>
        </p:sp>
        <p:sp>
          <p:nvSpPr>
            <p:cNvPr id="24" name="矩形 23">
              <a:extLst>
                <a:ext uri="{FF2B5EF4-FFF2-40B4-BE49-F238E27FC236}">
                  <a16:creationId xmlns:a16="http://schemas.microsoft.com/office/drawing/2014/main" id="{08C2AD4C-61C9-4BA6-AF36-8D3601556552}"/>
                </a:ext>
              </a:extLst>
            </p:cNvPr>
            <p:cNvSpPr/>
            <p:nvPr/>
          </p:nvSpPr>
          <p:spPr>
            <a:xfrm>
              <a:off x="13553770" y="4252344"/>
              <a:ext cx="755961" cy="307331"/>
            </a:xfrm>
            <a:prstGeom prst="rect">
              <a:avLst/>
            </a:prstGeom>
            <a:noFill/>
            <a:ln>
              <a:solidFill>
                <a:srgbClr val="1D1D1A"/>
              </a:solidFill>
            </a:ln>
            <a:effectLst/>
          </p:spPr>
          <p:txBody>
            <a:bodyPr wrap="none" anchor="ctr">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050" i="0" u="none" strike="noStrike" kern="0" cap="none" spc="0" normalizeH="0" baseline="0" noProof="0" dirty="0">
                  <a:ln>
                    <a:noFill/>
                  </a:ln>
                  <a:effectLst/>
                  <a:uLnTx/>
                  <a:uFillTx/>
                  <a:latin typeface="+mn-ea"/>
                  <a:cs typeface="Huawei Sans" panose="020C0503030203020204" pitchFamily="34" charset="0"/>
                </a:rPr>
                <a:t>Ordering</a:t>
              </a:r>
              <a:endParaRPr kumimoji="0" lang="zh-CN" altLang="zh-CN" sz="1050" i="0" u="none" strike="noStrike" kern="0" cap="none" spc="0" normalizeH="0" baseline="0" noProof="0" dirty="0">
                <a:ln>
                  <a:noFill/>
                </a:ln>
                <a:effectLst/>
                <a:uLnTx/>
                <a:uFillTx/>
                <a:latin typeface="+mn-ea"/>
                <a:cs typeface="Huawei Sans" panose="020C0503030203020204" pitchFamily="34" charset="0"/>
              </a:endParaRPr>
            </a:p>
          </p:txBody>
        </p:sp>
        <p:sp>
          <p:nvSpPr>
            <p:cNvPr id="25" name="矩形 24">
              <a:extLst>
                <a:ext uri="{FF2B5EF4-FFF2-40B4-BE49-F238E27FC236}">
                  <a16:creationId xmlns:a16="http://schemas.microsoft.com/office/drawing/2014/main" id="{4ECCCA94-CCF0-427A-BDF9-582E7CE373C8}"/>
                </a:ext>
              </a:extLst>
            </p:cNvPr>
            <p:cNvSpPr/>
            <p:nvPr/>
          </p:nvSpPr>
          <p:spPr>
            <a:xfrm>
              <a:off x="14406457" y="4252344"/>
              <a:ext cx="554728" cy="307331"/>
            </a:xfrm>
            <a:prstGeom prst="rect">
              <a:avLst/>
            </a:prstGeom>
            <a:noFill/>
            <a:ln>
              <a:solidFill>
                <a:srgbClr val="1D1D1A"/>
              </a:solidFill>
            </a:ln>
            <a:effectLst/>
          </p:spPr>
          <p:txBody>
            <a:bodyPr wrap="none" anchor="ctr">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W/R</a:t>
              </a:r>
              <a:endParaRPr kumimoji="0" lang="zh-CN" altLang="zh-CN" sz="1100" i="0" u="none" strike="noStrike" kern="0" cap="none" spc="0" normalizeH="0" baseline="0" noProof="0" dirty="0">
                <a:ln>
                  <a:noFill/>
                </a:ln>
                <a:effectLst/>
                <a:uLnTx/>
                <a:uFillTx/>
                <a:latin typeface="+mn-ea"/>
                <a:cs typeface="Huawei Sans" panose="020C0503030203020204" pitchFamily="34" charset="0"/>
              </a:endParaRPr>
            </a:p>
          </p:txBody>
        </p:sp>
        <p:grpSp>
          <p:nvGrpSpPr>
            <p:cNvPr id="26" name="组合 25">
              <a:extLst>
                <a:ext uri="{FF2B5EF4-FFF2-40B4-BE49-F238E27FC236}">
                  <a16:creationId xmlns:a16="http://schemas.microsoft.com/office/drawing/2014/main" id="{00A0510D-24F7-419F-93A6-8C3A5E32A31E}"/>
                </a:ext>
              </a:extLst>
            </p:cNvPr>
            <p:cNvGrpSpPr/>
            <p:nvPr/>
          </p:nvGrpSpPr>
          <p:grpSpPr>
            <a:xfrm>
              <a:off x="12823134" y="4999392"/>
              <a:ext cx="2169252" cy="311129"/>
              <a:chOff x="10038499" y="5423912"/>
              <a:chExt cx="1788578" cy="284881"/>
            </a:xfrm>
          </p:grpSpPr>
          <p:sp>
            <p:nvSpPr>
              <p:cNvPr id="95" name="矩形 94">
                <a:extLst>
                  <a:ext uri="{FF2B5EF4-FFF2-40B4-BE49-F238E27FC236}">
                    <a16:creationId xmlns:a16="http://schemas.microsoft.com/office/drawing/2014/main" id="{573CD09E-6F16-4E1D-A719-C5CF4B999FF1}"/>
                  </a:ext>
                </a:extLst>
              </p:cNvPr>
              <p:cNvSpPr/>
              <p:nvPr/>
            </p:nvSpPr>
            <p:spPr>
              <a:xfrm>
                <a:off x="10038499" y="5427389"/>
                <a:ext cx="813826" cy="281404"/>
              </a:xfrm>
              <a:prstGeom prst="rect">
                <a:avLst/>
              </a:prstGeom>
              <a:noFill/>
              <a:ln>
                <a:solidFill>
                  <a:srgbClr val="1D1D1A"/>
                </a:solidFill>
              </a:ln>
              <a:effectLst/>
            </p:spPr>
            <p:txBody>
              <a:bodyPr wrap="none" anchor="ctr">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Multipath</a:t>
                </a:r>
                <a:endParaRPr kumimoji="0" lang="zh-CN" altLang="zh-CN" sz="1100" i="0" u="none" strike="noStrike" kern="0" cap="none" spc="0" normalizeH="0" baseline="0" noProof="0" dirty="0">
                  <a:ln>
                    <a:noFill/>
                  </a:ln>
                  <a:effectLst/>
                  <a:uLnTx/>
                  <a:uFillTx/>
                  <a:latin typeface="+mn-ea"/>
                  <a:cs typeface="Huawei Sans" panose="020C0503030203020204" pitchFamily="34" charset="0"/>
                </a:endParaRPr>
              </a:p>
            </p:txBody>
          </p:sp>
          <p:sp>
            <p:nvSpPr>
              <p:cNvPr id="96" name="矩形 95">
                <a:extLst>
                  <a:ext uri="{FF2B5EF4-FFF2-40B4-BE49-F238E27FC236}">
                    <a16:creationId xmlns:a16="http://schemas.microsoft.com/office/drawing/2014/main" id="{2CC6FC4F-D5C7-4548-9941-143128ED17DD}"/>
                  </a:ext>
                </a:extLst>
              </p:cNvPr>
              <p:cNvSpPr/>
              <p:nvPr/>
            </p:nvSpPr>
            <p:spPr>
              <a:xfrm>
                <a:off x="10911765" y="5423912"/>
                <a:ext cx="389935" cy="281404"/>
              </a:xfrm>
              <a:prstGeom prst="rect">
                <a:avLst/>
              </a:prstGeom>
              <a:noFill/>
              <a:ln>
                <a:solidFill>
                  <a:srgbClr val="1D1D1A"/>
                </a:solidFill>
              </a:ln>
              <a:effectLst/>
            </p:spPr>
            <p:txBody>
              <a:bodyPr wrap="none" anchor="ctr">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CC</a:t>
                </a:r>
                <a:endParaRPr kumimoji="0" lang="zh-CN" altLang="zh-CN" sz="1100" i="0" u="none" strike="noStrike" kern="0" cap="none" spc="0" normalizeH="0" baseline="0" noProof="0" dirty="0">
                  <a:ln>
                    <a:noFill/>
                  </a:ln>
                  <a:effectLst/>
                  <a:uLnTx/>
                  <a:uFillTx/>
                  <a:latin typeface="+mn-ea"/>
                  <a:cs typeface="Huawei Sans" panose="020C0503030203020204" pitchFamily="34" charset="0"/>
                </a:endParaRPr>
              </a:p>
            </p:txBody>
          </p:sp>
          <p:sp>
            <p:nvSpPr>
              <p:cNvPr id="97" name="矩形 96">
                <a:extLst>
                  <a:ext uri="{FF2B5EF4-FFF2-40B4-BE49-F238E27FC236}">
                    <a16:creationId xmlns:a16="http://schemas.microsoft.com/office/drawing/2014/main" id="{0D97D6F1-F1AD-4CBF-A7E0-29359E64E90D}"/>
                  </a:ext>
                </a:extLst>
              </p:cNvPr>
              <p:cNvSpPr/>
              <p:nvPr/>
            </p:nvSpPr>
            <p:spPr>
              <a:xfrm>
                <a:off x="11344118" y="5423912"/>
                <a:ext cx="482959" cy="281404"/>
              </a:xfrm>
              <a:prstGeom prst="rect">
                <a:avLst/>
              </a:prstGeom>
              <a:noFill/>
              <a:ln>
                <a:solidFill>
                  <a:srgbClr val="1D1D1A"/>
                </a:solidFill>
              </a:ln>
              <a:effectLst/>
            </p:spPr>
            <p:txBody>
              <a:bodyPr wrap="none" anchor="ctr">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QoS</a:t>
                </a:r>
                <a:endParaRPr kumimoji="0" lang="zh-CN" altLang="zh-CN" sz="1100" i="0" u="none" strike="noStrike" kern="0" cap="none" spc="0" normalizeH="0" baseline="0" noProof="0" dirty="0">
                  <a:ln>
                    <a:noFill/>
                  </a:ln>
                  <a:effectLst/>
                  <a:uLnTx/>
                  <a:uFillTx/>
                  <a:latin typeface="+mn-ea"/>
                  <a:cs typeface="Huawei Sans" panose="020C0503030203020204" pitchFamily="34" charset="0"/>
                </a:endParaRPr>
              </a:p>
            </p:txBody>
          </p:sp>
        </p:grpSp>
        <p:grpSp>
          <p:nvGrpSpPr>
            <p:cNvPr id="27" name="组合 26">
              <a:extLst>
                <a:ext uri="{FF2B5EF4-FFF2-40B4-BE49-F238E27FC236}">
                  <a16:creationId xmlns:a16="http://schemas.microsoft.com/office/drawing/2014/main" id="{D7AF7335-2010-4A98-88BC-15461D1860F8}"/>
                </a:ext>
              </a:extLst>
            </p:cNvPr>
            <p:cNvGrpSpPr/>
            <p:nvPr/>
          </p:nvGrpSpPr>
          <p:grpSpPr>
            <a:xfrm>
              <a:off x="12823135" y="5723552"/>
              <a:ext cx="2169251" cy="315057"/>
              <a:chOff x="10038499" y="5423912"/>
              <a:chExt cx="1788577" cy="288478"/>
            </a:xfrm>
          </p:grpSpPr>
          <p:sp>
            <p:nvSpPr>
              <p:cNvPr id="92" name="矩形 91">
                <a:extLst>
                  <a:ext uri="{FF2B5EF4-FFF2-40B4-BE49-F238E27FC236}">
                    <a16:creationId xmlns:a16="http://schemas.microsoft.com/office/drawing/2014/main" id="{F56E222F-C759-44CF-96AE-53E458DD431B}"/>
                  </a:ext>
                </a:extLst>
              </p:cNvPr>
              <p:cNvSpPr/>
              <p:nvPr/>
            </p:nvSpPr>
            <p:spPr>
              <a:xfrm>
                <a:off x="10038499" y="5427388"/>
                <a:ext cx="577157" cy="285002"/>
              </a:xfrm>
              <a:prstGeom prst="rect">
                <a:avLst/>
              </a:prstGeom>
              <a:noFill/>
              <a:ln>
                <a:solidFill>
                  <a:srgbClr val="1D1D1A"/>
                </a:solidFill>
              </a:ln>
              <a:effectLst/>
            </p:spPr>
            <p:txBody>
              <a:bodyPr wrap="none" anchor="ctr">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err="1">
                    <a:ln>
                      <a:noFill/>
                    </a:ln>
                    <a:effectLst/>
                    <a:uLnTx/>
                    <a:uFillTx/>
                    <a:latin typeface="+mn-ea"/>
                    <a:cs typeface="Huawei Sans" panose="020C0503030203020204" pitchFamily="34" charset="0"/>
                  </a:rPr>
                  <a:t>Addr</a:t>
                </a:r>
                <a:endParaRPr kumimoji="0" lang="zh-CN" altLang="zh-CN" sz="1100" i="0" u="none" strike="noStrike" kern="0" cap="none" spc="0" normalizeH="0" baseline="0" noProof="0" dirty="0">
                  <a:ln>
                    <a:noFill/>
                  </a:ln>
                  <a:effectLst/>
                  <a:uLnTx/>
                  <a:uFillTx/>
                  <a:latin typeface="+mn-ea"/>
                  <a:cs typeface="Huawei Sans" panose="020C0503030203020204" pitchFamily="34" charset="0"/>
                </a:endParaRPr>
              </a:p>
            </p:txBody>
          </p:sp>
          <p:sp>
            <p:nvSpPr>
              <p:cNvPr id="93" name="矩形 92">
                <a:extLst>
                  <a:ext uri="{FF2B5EF4-FFF2-40B4-BE49-F238E27FC236}">
                    <a16:creationId xmlns:a16="http://schemas.microsoft.com/office/drawing/2014/main" id="{36CB1C24-7503-489A-8FC4-3DD48B2F2836}"/>
                  </a:ext>
                </a:extLst>
              </p:cNvPr>
              <p:cNvSpPr/>
              <p:nvPr/>
            </p:nvSpPr>
            <p:spPr>
              <a:xfrm>
                <a:off x="10667943" y="5423912"/>
                <a:ext cx="650341" cy="281404"/>
              </a:xfrm>
              <a:prstGeom prst="rect">
                <a:avLst/>
              </a:prstGeom>
              <a:noFill/>
              <a:ln>
                <a:solidFill>
                  <a:srgbClr val="1D1D1A"/>
                </a:solidFill>
              </a:ln>
              <a:effectLst/>
            </p:spPr>
            <p:txBody>
              <a:bodyPr wrap="none" anchor="ctr">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Routing</a:t>
                </a:r>
                <a:endParaRPr kumimoji="0" lang="zh-CN" altLang="zh-CN" sz="1100" i="0" u="none" strike="noStrike" kern="0" cap="none" spc="0" normalizeH="0" baseline="0" noProof="0" dirty="0">
                  <a:ln>
                    <a:noFill/>
                  </a:ln>
                  <a:effectLst/>
                  <a:uLnTx/>
                  <a:uFillTx/>
                  <a:latin typeface="+mn-ea"/>
                  <a:cs typeface="Huawei Sans" panose="020C0503030203020204" pitchFamily="34" charset="0"/>
                </a:endParaRPr>
              </a:p>
            </p:txBody>
          </p:sp>
          <p:sp>
            <p:nvSpPr>
              <p:cNvPr id="94" name="矩形 93">
                <a:extLst>
                  <a:ext uri="{FF2B5EF4-FFF2-40B4-BE49-F238E27FC236}">
                    <a16:creationId xmlns:a16="http://schemas.microsoft.com/office/drawing/2014/main" id="{D4E4CAB9-2660-43C8-86A1-24E202EB28DF}"/>
                  </a:ext>
                </a:extLst>
              </p:cNvPr>
              <p:cNvSpPr/>
              <p:nvPr/>
            </p:nvSpPr>
            <p:spPr>
              <a:xfrm>
                <a:off x="11363618" y="5423912"/>
                <a:ext cx="463458" cy="281404"/>
              </a:xfrm>
              <a:prstGeom prst="rect">
                <a:avLst/>
              </a:prstGeom>
              <a:noFill/>
              <a:ln>
                <a:solidFill>
                  <a:srgbClr val="1D1D1A"/>
                </a:solidFill>
              </a:ln>
              <a:effectLst/>
            </p:spPr>
            <p:txBody>
              <a:bodyPr wrap="none" anchor="ctr">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PS</a:t>
                </a:r>
                <a:endParaRPr kumimoji="0" lang="zh-CN" altLang="zh-CN" sz="1100" i="0" u="none" strike="noStrike" kern="0" cap="none" spc="0" normalizeH="0" baseline="0" noProof="0" dirty="0">
                  <a:ln>
                    <a:noFill/>
                  </a:ln>
                  <a:effectLst/>
                  <a:uLnTx/>
                  <a:uFillTx/>
                  <a:latin typeface="+mn-ea"/>
                  <a:cs typeface="Huawei Sans" panose="020C0503030203020204" pitchFamily="34" charset="0"/>
                </a:endParaRPr>
              </a:p>
            </p:txBody>
          </p:sp>
        </p:grpSp>
        <p:grpSp>
          <p:nvGrpSpPr>
            <p:cNvPr id="28" name="组合 27">
              <a:extLst>
                <a:ext uri="{FF2B5EF4-FFF2-40B4-BE49-F238E27FC236}">
                  <a16:creationId xmlns:a16="http://schemas.microsoft.com/office/drawing/2014/main" id="{B0325F16-3B13-4AA0-BF0D-01E146255CCE}"/>
                </a:ext>
              </a:extLst>
            </p:cNvPr>
            <p:cNvGrpSpPr/>
            <p:nvPr/>
          </p:nvGrpSpPr>
          <p:grpSpPr>
            <a:xfrm>
              <a:off x="12823134" y="6483832"/>
              <a:ext cx="2169252" cy="311129"/>
              <a:chOff x="10038499" y="5423912"/>
              <a:chExt cx="1788578" cy="284881"/>
            </a:xfrm>
          </p:grpSpPr>
          <p:sp>
            <p:nvSpPr>
              <p:cNvPr id="89" name="矩形 88">
                <a:extLst>
                  <a:ext uri="{FF2B5EF4-FFF2-40B4-BE49-F238E27FC236}">
                    <a16:creationId xmlns:a16="http://schemas.microsoft.com/office/drawing/2014/main" id="{6BDD4A38-C35D-4051-B1A7-435CB4B36541}"/>
                  </a:ext>
                </a:extLst>
              </p:cNvPr>
              <p:cNvSpPr/>
              <p:nvPr/>
            </p:nvSpPr>
            <p:spPr>
              <a:xfrm>
                <a:off x="10038499" y="5427389"/>
                <a:ext cx="443594" cy="281404"/>
              </a:xfrm>
              <a:prstGeom prst="rect">
                <a:avLst/>
              </a:prstGeom>
              <a:noFill/>
              <a:ln>
                <a:solidFill>
                  <a:srgbClr val="1D1D1A"/>
                </a:solidFill>
              </a:ln>
              <a:effectLst/>
            </p:spPr>
            <p:txBody>
              <a:bodyPr wrap="none" anchor="ctr">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PFC</a:t>
                </a:r>
                <a:endParaRPr kumimoji="0" lang="zh-CN" altLang="zh-CN" sz="1100" i="0" u="none" strike="noStrike" kern="0" cap="none" spc="0" normalizeH="0" baseline="0" noProof="0" dirty="0">
                  <a:ln>
                    <a:noFill/>
                  </a:ln>
                  <a:effectLst/>
                  <a:uLnTx/>
                  <a:uFillTx/>
                  <a:latin typeface="+mn-ea"/>
                  <a:cs typeface="Huawei Sans" panose="020C0503030203020204" pitchFamily="34" charset="0"/>
                </a:endParaRPr>
              </a:p>
            </p:txBody>
          </p:sp>
          <p:sp>
            <p:nvSpPr>
              <p:cNvPr id="90" name="矩形 89">
                <a:extLst>
                  <a:ext uri="{FF2B5EF4-FFF2-40B4-BE49-F238E27FC236}">
                    <a16:creationId xmlns:a16="http://schemas.microsoft.com/office/drawing/2014/main" id="{0F8D6AAC-1691-412C-9728-F7FE4B619FCB}"/>
                  </a:ext>
                </a:extLst>
              </p:cNvPr>
              <p:cNvSpPr/>
              <p:nvPr/>
            </p:nvSpPr>
            <p:spPr>
              <a:xfrm>
                <a:off x="10559447" y="5423912"/>
                <a:ext cx="654771" cy="281404"/>
              </a:xfrm>
              <a:prstGeom prst="rect">
                <a:avLst/>
              </a:prstGeom>
              <a:noFill/>
              <a:ln>
                <a:solidFill>
                  <a:srgbClr val="1D1D1A"/>
                </a:solidFill>
              </a:ln>
              <a:effectLst/>
            </p:spPr>
            <p:txBody>
              <a:bodyPr wrap="none" anchor="ctr">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CBFC</a:t>
                </a:r>
                <a:endParaRPr kumimoji="0" lang="zh-CN" altLang="zh-CN" sz="1100" i="0" u="none" strike="noStrike" kern="0" cap="none" spc="0" normalizeH="0" baseline="0" noProof="0" dirty="0">
                  <a:ln>
                    <a:noFill/>
                  </a:ln>
                  <a:effectLst/>
                  <a:uLnTx/>
                  <a:uFillTx/>
                  <a:latin typeface="+mn-ea"/>
                  <a:cs typeface="Huawei Sans" panose="020C0503030203020204" pitchFamily="34" charset="0"/>
                </a:endParaRPr>
              </a:p>
            </p:txBody>
          </p:sp>
          <p:sp>
            <p:nvSpPr>
              <p:cNvPr id="91" name="矩形 90">
                <a:extLst>
                  <a:ext uri="{FF2B5EF4-FFF2-40B4-BE49-F238E27FC236}">
                    <a16:creationId xmlns:a16="http://schemas.microsoft.com/office/drawing/2014/main" id="{97F26507-B322-42A7-9A7F-998D18F3FCD6}"/>
                  </a:ext>
                </a:extLst>
              </p:cNvPr>
              <p:cNvSpPr/>
              <p:nvPr/>
            </p:nvSpPr>
            <p:spPr>
              <a:xfrm>
                <a:off x="11264219" y="5423912"/>
                <a:ext cx="562858" cy="281404"/>
              </a:xfrm>
              <a:prstGeom prst="rect">
                <a:avLst/>
              </a:prstGeom>
              <a:noFill/>
              <a:ln>
                <a:solidFill>
                  <a:srgbClr val="1D1D1A"/>
                </a:solidFill>
              </a:ln>
              <a:effectLst/>
            </p:spPr>
            <p:txBody>
              <a:bodyPr wrap="none" anchor="ctr">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VL</a:t>
                </a:r>
                <a:endParaRPr kumimoji="0" lang="zh-CN" altLang="zh-CN" sz="1100" i="0" u="none" strike="noStrike" kern="0" cap="none" spc="0" normalizeH="0" baseline="0" noProof="0" dirty="0">
                  <a:ln>
                    <a:noFill/>
                  </a:ln>
                  <a:effectLst/>
                  <a:uLnTx/>
                  <a:uFillTx/>
                  <a:latin typeface="+mn-ea"/>
                  <a:cs typeface="Huawei Sans" panose="020C0503030203020204" pitchFamily="34" charset="0"/>
                </a:endParaRPr>
              </a:p>
            </p:txBody>
          </p:sp>
        </p:grpSp>
        <p:sp>
          <p:nvSpPr>
            <p:cNvPr id="29" name="矩形: 圆角 21">
              <a:extLst>
                <a:ext uri="{FF2B5EF4-FFF2-40B4-BE49-F238E27FC236}">
                  <a16:creationId xmlns:a16="http://schemas.microsoft.com/office/drawing/2014/main" id="{04DB98DD-A89D-464B-8531-31AFDF9A288B}"/>
                </a:ext>
              </a:extLst>
            </p:cNvPr>
            <p:cNvSpPr/>
            <p:nvPr/>
          </p:nvSpPr>
          <p:spPr>
            <a:xfrm>
              <a:off x="8123236" y="2764198"/>
              <a:ext cx="4167432" cy="1243656"/>
            </a:xfrm>
            <a:prstGeom prst="rect">
              <a:avLst/>
            </a:prstGeom>
            <a:solidFill>
              <a:schemeClr val="accent6">
                <a:lumMod val="20000"/>
                <a:lumOff val="80000"/>
              </a:schemeClr>
            </a:solidFill>
            <a:ln w="12700" cap="flat" cmpd="sng" algn="ctr">
              <a:solidFill>
                <a:srgbClr val="1D1D1A"/>
              </a:solidFill>
              <a:prstDash val="dash"/>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100" i="0" u="none" strike="noStrike" kern="0" cap="none" spc="0" normalizeH="0" baseline="0" noProof="0">
                <a:ln>
                  <a:noFill/>
                </a:ln>
                <a:effectLst/>
                <a:uLnTx/>
                <a:uFillTx/>
                <a:latin typeface="+mn-ea"/>
                <a:cs typeface="Huawei Sans" panose="020C0503030203020204" pitchFamily="34" charset="0"/>
              </a:endParaRPr>
            </a:p>
          </p:txBody>
        </p:sp>
        <p:pic>
          <p:nvPicPr>
            <p:cNvPr id="30" name="图片 29">
              <a:extLst>
                <a:ext uri="{FF2B5EF4-FFF2-40B4-BE49-F238E27FC236}">
                  <a16:creationId xmlns:a16="http://schemas.microsoft.com/office/drawing/2014/main" id="{00A55DB8-A055-4733-9B74-3B7B39E66BB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2112343" y="5104160"/>
              <a:ext cx="618961" cy="612997"/>
            </a:xfrm>
            <a:prstGeom prst="rect">
              <a:avLst/>
            </a:prstGeom>
          </p:spPr>
        </p:pic>
        <p:cxnSp>
          <p:nvCxnSpPr>
            <p:cNvPr id="31" name="直接连接符 30">
              <a:extLst>
                <a:ext uri="{FF2B5EF4-FFF2-40B4-BE49-F238E27FC236}">
                  <a16:creationId xmlns:a16="http://schemas.microsoft.com/office/drawing/2014/main" id="{9754348E-7B93-474C-A484-FC5BF8A67E12}"/>
                </a:ext>
              </a:extLst>
            </p:cNvPr>
            <p:cNvCxnSpPr>
              <a:stCxn id="48" idx="3"/>
              <a:endCxn id="82" idx="1"/>
            </p:cNvCxnSpPr>
            <p:nvPr/>
          </p:nvCxnSpPr>
          <p:spPr>
            <a:xfrm>
              <a:off x="11128914" y="5509203"/>
              <a:ext cx="306541" cy="0"/>
            </a:xfrm>
            <a:prstGeom prst="line">
              <a:avLst/>
            </a:prstGeom>
            <a:noFill/>
            <a:ln w="15875" cap="flat" cmpd="sng" algn="ctr">
              <a:solidFill>
                <a:srgbClr val="E9002F"/>
              </a:solidFill>
              <a:prstDash val="solid"/>
              <a:miter lim="800000"/>
            </a:ln>
            <a:effectLst/>
          </p:spPr>
        </p:cxnSp>
        <p:cxnSp>
          <p:nvCxnSpPr>
            <p:cNvPr id="32" name="直接连接符 31">
              <a:extLst>
                <a:ext uri="{FF2B5EF4-FFF2-40B4-BE49-F238E27FC236}">
                  <a16:creationId xmlns:a16="http://schemas.microsoft.com/office/drawing/2014/main" id="{B2C824FE-0271-4DEC-B8DD-2E37AD479D97}"/>
                </a:ext>
              </a:extLst>
            </p:cNvPr>
            <p:cNvCxnSpPr>
              <a:cxnSpLocks/>
              <a:stCxn id="48" idx="2"/>
              <a:endCxn id="53" idx="0"/>
            </p:cNvCxnSpPr>
            <p:nvPr/>
          </p:nvCxnSpPr>
          <p:spPr>
            <a:xfrm>
              <a:off x="10823796" y="5726530"/>
              <a:ext cx="0" cy="308880"/>
            </a:xfrm>
            <a:prstGeom prst="line">
              <a:avLst/>
            </a:prstGeom>
            <a:noFill/>
            <a:ln w="15875" cap="flat" cmpd="sng" algn="ctr">
              <a:solidFill>
                <a:srgbClr val="E9002F"/>
              </a:solidFill>
              <a:prstDash val="solid"/>
              <a:miter lim="800000"/>
            </a:ln>
            <a:effectLst/>
          </p:spPr>
        </p:cxnSp>
        <p:cxnSp>
          <p:nvCxnSpPr>
            <p:cNvPr id="33" name="直接连接符 32">
              <a:extLst>
                <a:ext uri="{FF2B5EF4-FFF2-40B4-BE49-F238E27FC236}">
                  <a16:creationId xmlns:a16="http://schemas.microsoft.com/office/drawing/2014/main" id="{5FD60EA0-1062-4FD5-8E9C-E5CA30DF9226}"/>
                </a:ext>
              </a:extLst>
            </p:cNvPr>
            <p:cNvCxnSpPr>
              <a:cxnSpLocks/>
              <a:stCxn id="56" idx="1"/>
              <a:endCxn id="53" idx="3"/>
            </p:cNvCxnSpPr>
            <p:nvPr/>
          </p:nvCxnSpPr>
          <p:spPr>
            <a:xfrm flipH="1">
              <a:off x="11128914" y="6252738"/>
              <a:ext cx="306541" cy="0"/>
            </a:xfrm>
            <a:prstGeom prst="line">
              <a:avLst/>
            </a:prstGeom>
            <a:noFill/>
            <a:ln w="15875" cap="flat" cmpd="sng" algn="ctr">
              <a:solidFill>
                <a:srgbClr val="E9002F"/>
              </a:solidFill>
              <a:prstDash val="solid"/>
              <a:miter lim="800000"/>
            </a:ln>
            <a:effectLst/>
          </p:spPr>
        </p:cxnSp>
        <p:cxnSp>
          <p:nvCxnSpPr>
            <p:cNvPr id="34" name="直接连接符 33">
              <a:extLst>
                <a:ext uri="{FF2B5EF4-FFF2-40B4-BE49-F238E27FC236}">
                  <a16:creationId xmlns:a16="http://schemas.microsoft.com/office/drawing/2014/main" id="{2D1989DE-DCD4-45DE-A3D9-A7AA85E2AE7F}"/>
                </a:ext>
              </a:extLst>
            </p:cNvPr>
            <p:cNvCxnSpPr>
              <a:cxnSpLocks/>
              <a:stCxn id="56" idx="0"/>
              <a:endCxn id="82" idx="2"/>
            </p:cNvCxnSpPr>
            <p:nvPr/>
          </p:nvCxnSpPr>
          <p:spPr>
            <a:xfrm flipV="1">
              <a:off x="11740571" y="5726530"/>
              <a:ext cx="0" cy="308880"/>
            </a:xfrm>
            <a:prstGeom prst="line">
              <a:avLst/>
            </a:prstGeom>
            <a:noFill/>
            <a:ln w="15875" cap="flat" cmpd="sng" algn="ctr">
              <a:solidFill>
                <a:srgbClr val="E9002F"/>
              </a:solidFill>
              <a:prstDash val="solid"/>
              <a:miter lim="800000"/>
            </a:ln>
            <a:effectLst/>
          </p:spPr>
        </p:cxnSp>
        <p:cxnSp>
          <p:nvCxnSpPr>
            <p:cNvPr id="35" name="直接连接符 34">
              <a:extLst>
                <a:ext uri="{FF2B5EF4-FFF2-40B4-BE49-F238E27FC236}">
                  <a16:creationId xmlns:a16="http://schemas.microsoft.com/office/drawing/2014/main" id="{86655C11-E4F4-4AC8-BD7B-9A9CD4754857}"/>
                </a:ext>
              </a:extLst>
            </p:cNvPr>
            <p:cNvCxnSpPr>
              <a:cxnSpLocks/>
              <a:stCxn id="48" idx="0"/>
              <a:endCxn id="45" idx="2"/>
            </p:cNvCxnSpPr>
            <p:nvPr/>
          </p:nvCxnSpPr>
          <p:spPr>
            <a:xfrm flipV="1">
              <a:off x="10823796" y="4965503"/>
              <a:ext cx="406323" cy="326372"/>
            </a:xfrm>
            <a:prstGeom prst="line">
              <a:avLst/>
            </a:prstGeom>
            <a:noFill/>
            <a:ln w="15875" cap="flat" cmpd="sng" algn="ctr">
              <a:solidFill>
                <a:srgbClr val="E9002F"/>
              </a:solidFill>
              <a:prstDash val="solid"/>
              <a:miter lim="800000"/>
            </a:ln>
            <a:effectLst/>
          </p:spPr>
        </p:cxnSp>
        <p:cxnSp>
          <p:nvCxnSpPr>
            <p:cNvPr id="36" name="直接连接符 35">
              <a:extLst>
                <a:ext uri="{FF2B5EF4-FFF2-40B4-BE49-F238E27FC236}">
                  <a16:creationId xmlns:a16="http://schemas.microsoft.com/office/drawing/2014/main" id="{A30F8F64-563A-47FD-BF09-DBF395300BD3}"/>
                </a:ext>
              </a:extLst>
            </p:cNvPr>
            <p:cNvCxnSpPr>
              <a:cxnSpLocks/>
              <a:stCxn id="82" idx="0"/>
              <a:endCxn id="45" idx="2"/>
            </p:cNvCxnSpPr>
            <p:nvPr/>
          </p:nvCxnSpPr>
          <p:spPr>
            <a:xfrm flipH="1" flipV="1">
              <a:off x="11230121" y="4965503"/>
              <a:ext cx="510449" cy="326372"/>
            </a:xfrm>
            <a:prstGeom prst="line">
              <a:avLst/>
            </a:prstGeom>
            <a:noFill/>
            <a:ln w="15875" cap="flat" cmpd="sng" algn="ctr">
              <a:solidFill>
                <a:srgbClr val="E9002F"/>
              </a:solidFill>
              <a:prstDash val="solid"/>
              <a:miter lim="800000"/>
            </a:ln>
            <a:effectLst/>
          </p:spPr>
        </p:cxnSp>
        <p:cxnSp>
          <p:nvCxnSpPr>
            <p:cNvPr id="37" name="直接连接符 36">
              <a:extLst>
                <a:ext uri="{FF2B5EF4-FFF2-40B4-BE49-F238E27FC236}">
                  <a16:creationId xmlns:a16="http://schemas.microsoft.com/office/drawing/2014/main" id="{0F05C166-5B43-4A59-9283-1B07595EE19D}"/>
                </a:ext>
              </a:extLst>
            </p:cNvPr>
            <p:cNvCxnSpPr>
              <a:cxnSpLocks/>
              <a:stCxn id="53" idx="0"/>
              <a:endCxn id="45" idx="2"/>
            </p:cNvCxnSpPr>
            <p:nvPr/>
          </p:nvCxnSpPr>
          <p:spPr>
            <a:xfrm flipV="1">
              <a:off x="10823796" y="4965503"/>
              <a:ext cx="406323" cy="1069907"/>
            </a:xfrm>
            <a:prstGeom prst="line">
              <a:avLst/>
            </a:prstGeom>
            <a:noFill/>
            <a:ln w="15875" cap="flat" cmpd="sng" algn="ctr">
              <a:solidFill>
                <a:srgbClr val="E9002F"/>
              </a:solidFill>
              <a:prstDash val="solid"/>
              <a:miter lim="800000"/>
            </a:ln>
            <a:effectLst/>
          </p:spPr>
        </p:cxnSp>
        <p:cxnSp>
          <p:nvCxnSpPr>
            <p:cNvPr id="38" name="直接连接符 37">
              <a:extLst>
                <a:ext uri="{FF2B5EF4-FFF2-40B4-BE49-F238E27FC236}">
                  <a16:creationId xmlns:a16="http://schemas.microsoft.com/office/drawing/2014/main" id="{F4C54E6B-FB37-466E-8C86-3BE0B370A793}"/>
                </a:ext>
              </a:extLst>
            </p:cNvPr>
            <p:cNvCxnSpPr>
              <a:cxnSpLocks/>
              <a:stCxn id="56" idx="0"/>
              <a:endCxn id="45" idx="2"/>
            </p:cNvCxnSpPr>
            <p:nvPr/>
          </p:nvCxnSpPr>
          <p:spPr>
            <a:xfrm flipH="1" flipV="1">
              <a:off x="11230121" y="4965503"/>
              <a:ext cx="510449" cy="1069907"/>
            </a:xfrm>
            <a:prstGeom prst="line">
              <a:avLst/>
            </a:prstGeom>
            <a:noFill/>
            <a:ln w="15875" cap="flat" cmpd="sng" algn="ctr">
              <a:solidFill>
                <a:srgbClr val="E9002F"/>
              </a:solidFill>
              <a:prstDash val="solid"/>
              <a:miter lim="800000"/>
            </a:ln>
            <a:effectLst/>
          </p:spPr>
        </p:cxnSp>
        <p:cxnSp>
          <p:nvCxnSpPr>
            <p:cNvPr id="39" name="直接连接符 38">
              <a:extLst>
                <a:ext uri="{FF2B5EF4-FFF2-40B4-BE49-F238E27FC236}">
                  <a16:creationId xmlns:a16="http://schemas.microsoft.com/office/drawing/2014/main" id="{5E6D8543-7DDC-459B-AC3A-EA42DC1245AD}"/>
                </a:ext>
              </a:extLst>
            </p:cNvPr>
            <p:cNvCxnSpPr>
              <a:cxnSpLocks/>
              <a:stCxn id="82" idx="3"/>
              <a:endCxn id="53" idx="1"/>
            </p:cNvCxnSpPr>
            <p:nvPr/>
          </p:nvCxnSpPr>
          <p:spPr>
            <a:xfrm flipH="1">
              <a:off x="10518681" y="5509203"/>
              <a:ext cx="1527003" cy="743536"/>
            </a:xfrm>
            <a:prstGeom prst="line">
              <a:avLst/>
            </a:prstGeom>
            <a:noFill/>
            <a:ln w="15875" cap="flat" cmpd="sng" algn="ctr">
              <a:solidFill>
                <a:srgbClr val="E9002F"/>
              </a:solidFill>
              <a:prstDash val="solid"/>
              <a:miter lim="800000"/>
            </a:ln>
            <a:effectLst/>
          </p:spPr>
        </p:cxnSp>
        <p:cxnSp>
          <p:nvCxnSpPr>
            <p:cNvPr id="40" name="直接连接符 39">
              <a:extLst>
                <a:ext uri="{FF2B5EF4-FFF2-40B4-BE49-F238E27FC236}">
                  <a16:creationId xmlns:a16="http://schemas.microsoft.com/office/drawing/2014/main" id="{7D7CF5C4-4CFD-46E3-93E7-7BCED9AC7289}"/>
                </a:ext>
              </a:extLst>
            </p:cNvPr>
            <p:cNvCxnSpPr>
              <a:cxnSpLocks/>
              <a:stCxn id="48" idx="1"/>
              <a:endCxn id="56" idx="3"/>
            </p:cNvCxnSpPr>
            <p:nvPr/>
          </p:nvCxnSpPr>
          <p:spPr>
            <a:xfrm>
              <a:off x="10518681" y="5509203"/>
              <a:ext cx="1527003" cy="743536"/>
            </a:xfrm>
            <a:prstGeom prst="line">
              <a:avLst/>
            </a:prstGeom>
            <a:noFill/>
            <a:ln w="15875" cap="flat" cmpd="sng" algn="ctr">
              <a:solidFill>
                <a:srgbClr val="E9002F"/>
              </a:solidFill>
              <a:prstDash val="solid"/>
              <a:miter lim="800000"/>
            </a:ln>
            <a:effectLst/>
          </p:spPr>
        </p:cxnSp>
        <p:sp>
          <p:nvSpPr>
            <p:cNvPr id="41" name="矩形 40">
              <a:extLst>
                <a:ext uri="{FF2B5EF4-FFF2-40B4-BE49-F238E27FC236}">
                  <a16:creationId xmlns:a16="http://schemas.microsoft.com/office/drawing/2014/main" id="{77B05D2E-51B7-439C-A7EC-50EF8DF25A76}"/>
                </a:ext>
              </a:extLst>
            </p:cNvPr>
            <p:cNvSpPr/>
            <p:nvPr/>
          </p:nvSpPr>
          <p:spPr>
            <a:xfrm>
              <a:off x="9034251" y="3055397"/>
              <a:ext cx="759652" cy="392734"/>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Routing</a:t>
              </a:r>
              <a:endParaRPr kumimoji="0" lang="zh-CN" altLang="en-US" sz="1100" i="0" u="none" strike="noStrike" kern="0" cap="none" spc="0" normalizeH="0" baseline="0" noProof="0" dirty="0">
                <a:ln>
                  <a:noFill/>
                </a:ln>
                <a:effectLst/>
                <a:uLnTx/>
                <a:uFillTx/>
                <a:latin typeface="+mn-ea"/>
                <a:cs typeface="Huawei Sans" panose="020C0503030203020204" pitchFamily="34" charset="0"/>
              </a:endParaRPr>
            </a:p>
          </p:txBody>
        </p:sp>
        <p:sp>
          <p:nvSpPr>
            <p:cNvPr id="42" name="矩形 41">
              <a:extLst>
                <a:ext uri="{FF2B5EF4-FFF2-40B4-BE49-F238E27FC236}">
                  <a16:creationId xmlns:a16="http://schemas.microsoft.com/office/drawing/2014/main" id="{817085FD-6180-424D-B432-B03D29C650BA}"/>
                </a:ext>
              </a:extLst>
            </p:cNvPr>
            <p:cNvSpPr/>
            <p:nvPr/>
          </p:nvSpPr>
          <p:spPr>
            <a:xfrm>
              <a:off x="8220860" y="3055397"/>
              <a:ext cx="765798" cy="392734"/>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Topo</a:t>
              </a:r>
              <a:endParaRPr kumimoji="0" lang="zh-CN" altLang="en-US" sz="1100" i="0" u="none" strike="noStrike" kern="0" cap="none" spc="0" normalizeH="0" baseline="0" noProof="0" dirty="0">
                <a:ln>
                  <a:noFill/>
                </a:ln>
                <a:effectLst/>
                <a:uLnTx/>
                <a:uFillTx/>
                <a:latin typeface="+mn-ea"/>
                <a:cs typeface="Huawei Sans" panose="020C0503030203020204" pitchFamily="34" charset="0"/>
              </a:endParaRPr>
            </a:p>
          </p:txBody>
        </p:sp>
        <p:grpSp>
          <p:nvGrpSpPr>
            <p:cNvPr id="43" name="组合 42">
              <a:extLst>
                <a:ext uri="{FF2B5EF4-FFF2-40B4-BE49-F238E27FC236}">
                  <a16:creationId xmlns:a16="http://schemas.microsoft.com/office/drawing/2014/main" id="{638A5E5E-5CC0-46BD-B955-8FEC41002522}"/>
                </a:ext>
              </a:extLst>
            </p:cNvPr>
            <p:cNvGrpSpPr/>
            <p:nvPr/>
          </p:nvGrpSpPr>
          <p:grpSpPr>
            <a:xfrm>
              <a:off x="9890779" y="3063391"/>
              <a:ext cx="1599839" cy="855557"/>
              <a:chOff x="9890780" y="3063391"/>
              <a:chExt cx="1375496" cy="855557"/>
            </a:xfrm>
          </p:grpSpPr>
          <p:sp>
            <p:nvSpPr>
              <p:cNvPr id="86" name="矩形 85">
                <a:extLst>
                  <a:ext uri="{FF2B5EF4-FFF2-40B4-BE49-F238E27FC236}">
                    <a16:creationId xmlns:a16="http://schemas.microsoft.com/office/drawing/2014/main" id="{A5C5F126-C936-4E77-B038-6F0B3A00D81B}"/>
                  </a:ext>
                </a:extLst>
              </p:cNvPr>
              <p:cNvSpPr/>
              <p:nvPr/>
            </p:nvSpPr>
            <p:spPr>
              <a:xfrm>
                <a:off x="9890781" y="3063391"/>
                <a:ext cx="767451" cy="392735"/>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Coll Ops</a:t>
                </a:r>
                <a:endParaRPr kumimoji="0" lang="zh-CN" altLang="en-US" sz="1100" i="0" u="none" strike="noStrike" kern="0" cap="none" spc="0" normalizeH="0" baseline="0" noProof="0" dirty="0">
                  <a:ln>
                    <a:noFill/>
                  </a:ln>
                  <a:effectLst/>
                  <a:uLnTx/>
                  <a:uFillTx/>
                  <a:latin typeface="+mn-ea"/>
                  <a:cs typeface="Huawei Sans" panose="020C0503030203020204" pitchFamily="34" charset="0"/>
                </a:endParaRPr>
              </a:p>
            </p:txBody>
          </p:sp>
          <p:sp>
            <p:nvSpPr>
              <p:cNvPr id="87" name="矩形 86">
                <a:extLst>
                  <a:ext uri="{FF2B5EF4-FFF2-40B4-BE49-F238E27FC236}">
                    <a16:creationId xmlns:a16="http://schemas.microsoft.com/office/drawing/2014/main" id="{A7EEA70D-8E60-4395-B259-0814161AE4B9}"/>
                  </a:ext>
                </a:extLst>
              </p:cNvPr>
              <p:cNvSpPr/>
              <p:nvPr/>
            </p:nvSpPr>
            <p:spPr>
              <a:xfrm>
                <a:off x="10695756" y="3063391"/>
                <a:ext cx="570520" cy="392733"/>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DAG</a:t>
                </a:r>
                <a:endParaRPr kumimoji="0" lang="zh-CN" altLang="en-US" sz="1100" i="0" u="none" strike="noStrike" kern="0" cap="none" spc="0" normalizeH="0" baseline="0" noProof="0" dirty="0">
                  <a:ln>
                    <a:noFill/>
                  </a:ln>
                  <a:effectLst/>
                  <a:uLnTx/>
                  <a:uFillTx/>
                  <a:latin typeface="+mn-ea"/>
                  <a:cs typeface="Huawei Sans" panose="020C0503030203020204" pitchFamily="34" charset="0"/>
                </a:endParaRPr>
              </a:p>
            </p:txBody>
          </p:sp>
          <p:sp>
            <p:nvSpPr>
              <p:cNvPr id="88" name="箭头: 五边形 17">
                <a:extLst>
                  <a:ext uri="{FF2B5EF4-FFF2-40B4-BE49-F238E27FC236}">
                    <a16:creationId xmlns:a16="http://schemas.microsoft.com/office/drawing/2014/main" id="{93372023-36DC-4A7D-B9DF-5CE5028F15B6}"/>
                  </a:ext>
                </a:extLst>
              </p:cNvPr>
              <p:cNvSpPr/>
              <p:nvPr/>
            </p:nvSpPr>
            <p:spPr>
              <a:xfrm>
                <a:off x="9890780" y="3537450"/>
                <a:ext cx="1375496" cy="381498"/>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Traffic Scripts</a:t>
                </a:r>
                <a:endParaRPr kumimoji="0" lang="zh-CN" altLang="en-US" sz="1100" i="0" u="none" strike="noStrike" kern="0" cap="none" spc="0" normalizeH="0" baseline="0" noProof="0" dirty="0">
                  <a:ln>
                    <a:noFill/>
                  </a:ln>
                  <a:effectLst/>
                  <a:uLnTx/>
                  <a:uFillTx/>
                  <a:latin typeface="+mn-ea"/>
                  <a:cs typeface="Huawei Sans" panose="020C0503030203020204" pitchFamily="34" charset="0"/>
                </a:endParaRPr>
              </a:p>
            </p:txBody>
          </p:sp>
        </p:grpSp>
        <p:sp>
          <p:nvSpPr>
            <p:cNvPr id="44" name="矩形 43">
              <a:extLst>
                <a:ext uri="{FF2B5EF4-FFF2-40B4-BE49-F238E27FC236}">
                  <a16:creationId xmlns:a16="http://schemas.microsoft.com/office/drawing/2014/main" id="{B2EBFEE0-B7A1-426A-BD81-E16F2BDE09E1}"/>
                </a:ext>
              </a:extLst>
            </p:cNvPr>
            <p:cNvSpPr/>
            <p:nvPr/>
          </p:nvSpPr>
          <p:spPr>
            <a:xfrm>
              <a:off x="8227922" y="2744548"/>
              <a:ext cx="2058281" cy="341105"/>
            </a:xfrm>
            <a:prstGeom prst="rect">
              <a:avLst/>
            </a:prstGeom>
          </p:spPr>
          <p:txBody>
            <a:bodyPr wrap="square">
              <a:spAutoFit/>
            </a:bodyPr>
            <a:lstStyle/>
            <a:p>
              <a:pPr defTabSz="914478">
                <a:defRPr/>
              </a:pPr>
              <a:r>
                <a:rPr lang="en-US" altLang="zh-CN" sz="1100" dirty="0">
                  <a:latin typeface="+mn-ea"/>
                  <a:cs typeface="Huawei Sans" panose="020C0503030203020204" pitchFamily="34" charset="0"/>
                </a:rPr>
                <a:t>ns-3-ub Tools</a:t>
              </a:r>
              <a:endParaRPr lang="zh-CN" altLang="en-US" sz="1100" dirty="0">
                <a:latin typeface="+mn-ea"/>
                <a:cs typeface="Huawei Sans" panose="020C0503030203020204" pitchFamily="34" charset="0"/>
              </a:endParaRPr>
            </a:p>
          </p:txBody>
        </p:sp>
        <p:sp>
          <p:nvSpPr>
            <p:cNvPr id="45" name="矩形 44">
              <a:extLst>
                <a:ext uri="{FF2B5EF4-FFF2-40B4-BE49-F238E27FC236}">
                  <a16:creationId xmlns:a16="http://schemas.microsoft.com/office/drawing/2014/main" id="{92FCDA95-D03A-4225-9C33-A7D42B28B2A0}"/>
                </a:ext>
              </a:extLst>
            </p:cNvPr>
            <p:cNvSpPr/>
            <p:nvPr/>
          </p:nvSpPr>
          <p:spPr>
            <a:xfrm>
              <a:off x="10783401" y="4530847"/>
              <a:ext cx="893440"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lang="en-US" altLang="zh-CN" sz="1100" dirty="0">
                  <a:latin typeface="+mn-ea"/>
                  <a:cs typeface="Huawei Sans" panose="020C0503030203020204" pitchFamily="34" charset="0"/>
                </a:rPr>
                <a:t>UBPU</a:t>
              </a:r>
            </a:p>
            <a:p>
              <a:pPr marL="0" marR="0" lvl="0" indent="0" algn="ctr" defTabSz="914478" eaLnBrk="1" fontAlgn="auto" latinLnBrk="0" hangingPunct="1">
                <a:lnSpc>
                  <a:spcPct val="100000"/>
                </a:lnSpc>
                <a:spcBef>
                  <a:spcPts val="0"/>
                </a:spcBef>
                <a:spcAft>
                  <a:spcPts val="0"/>
                </a:spcAft>
                <a:buClrTx/>
                <a:buSzTx/>
                <a:buFontTx/>
                <a:buNone/>
                <a:tabLst/>
                <a:defRPr/>
              </a:pPr>
              <a:r>
                <a:rPr lang="en-US" altLang="zh-CN" sz="1100" dirty="0">
                  <a:latin typeface="+mn-ea"/>
                  <a:cs typeface="Huawei Sans" panose="020C0503030203020204" pitchFamily="34" charset="0"/>
                </a:rPr>
                <a:t>(Switch)</a:t>
              </a:r>
            </a:p>
          </p:txBody>
        </p:sp>
        <p:sp>
          <p:nvSpPr>
            <p:cNvPr id="46" name="矩形 45">
              <a:extLst>
                <a:ext uri="{FF2B5EF4-FFF2-40B4-BE49-F238E27FC236}">
                  <a16:creationId xmlns:a16="http://schemas.microsoft.com/office/drawing/2014/main" id="{8D8FF0C9-5F56-4744-BD50-EF112A3D0AD4}"/>
                </a:ext>
              </a:extLst>
            </p:cNvPr>
            <p:cNvSpPr/>
            <p:nvPr/>
          </p:nvSpPr>
          <p:spPr>
            <a:xfrm>
              <a:off x="10433070" y="5233753"/>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1" lang="en-US" altLang="zh-CN" sz="1100" i="0" u="none" strike="noStrike" kern="0" cap="none" spc="0" normalizeH="0" baseline="0" noProof="0" dirty="0">
                  <a:ln>
                    <a:noFill/>
                  </a:ln>
                  <a:effectLst/>
                  <a:uLnTx/>
                  <a:uFillTx/>
                  <a:latin typeface="+mn-ea"/>
                  <a:cs typeface="Huawei Sans" panose="020C0503030203020204" pitchFamily="34" charset="0"/>
                </a:rPr>
                <a:t>UBPU</a:t>
              </a:r>
            </a:p>
          </p:txBody>
        </p:sp>
        <p:sp>
          <p:nvSpPr>
            <p:cNvPr id="47" name="矩形 46">
              <a:extLst>
                <a:ext uri="{FF2B5EF4-FFF2-40B4-BE49-F238E27FC236}">
                  <a16:creationId xmlns:a16="http://schemas.microsoft.com/office/drawing/2014/main" id="{B0239B5C-8A3B-479A-9A4C-C3070BC80741}"/>
                </a:ext>
              </a:extLst>
            </p:cNvPr>
            <p:cNvSpPr/>
            <p:nvPr/>
          </p:nvSpPr>
          <p:spPr>
            <a:xfrm>
              <a:off x="10475876" y="5265040"/>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1" lang="en-US" altLang="zh-CN" sz="1100" i="0" u="none" strike="noStrike" kern="0" cap="none" spc="0" normalizeH="0" baseline="0" noProof="0" dirty="0">
                  <a:ln>
                    <a:noFill/>
                  </a:ln>
                  <a:effectLst/>
                  <a:uLnTx/>
                  <a:uFillTx/>
                  <a:latin typeface="+mn-ea"/>
                  <a:cs typeface="Huawei Sans" panose="020C0503030203020204" pitchFamily="34" charset="0"/>
                </a:rPr>
                <a:t>UBPU</a:t>
              </a:r>
            </a:p>
          </p:txBody>
        </p:sp>
        <p:sp>
          <p:nvSpPr>
            <p:cNvPr id="48" name="矩形 47">
              <a:extLst>
                <a:ext uri="{FF2B5EF4-FFF2-40B4-BE49-F238E27FC236}">
                  <a16:creationId xmlns:a16="http://schemas.microsoft.com/office/drawing/2014/main" id="{6F62A640-F657-4CC2-A2B4-F6888E00C9DC}"/>
                </a:ext>
              </a:extLst>
            </p:cNvPr>
            <p:cNvSpPr/>
            <p:nvPr/>
          </p:nvSpPr>
          <p:spPr>
            <a:xfrm>
              <a:off x="10518681" y="5291874"/>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lang="en-US" altLang="zh-CN" sz="1100" dirty="0">
                  <a:latin typeface="+mn-ea"/>
                  <a:cs typeface="Huawei Sans" panose="020C0503030203020204" pitchFamily="34" charset="0"/>
                </a:rPr>
                <a:t>UBPU</a:t>
              </a:r>
            </a:p>
          </p:txBody>
        </p:sp>
        <p:sp>
          <p:nvSpPr>
            <p:cNvPr id="49" name="矩形 48">
              <a:extLst>
                <a:ext uri="{FF2B5EF4-FFF2-40B4-BE49-F238E27FC236}">
                  <a16:creationId xmlns:a16="http://schemas.microsoft.com/office/drawing/2014/main" id="{C0809340-2518-408E-9FDC-33446AE200FD}"/>
                </a:ext>
              </a:extLst>
            </p:cNvPr>
            <p:cNvSpPr/>
            <p:nvPr/>
          </p:nvSpPr>
          <p:spPr>
            <a:xfrm>
              <a:off x="11349842" y="5233753"/>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1" lang="en-US" altLang="zh-CN" sz="1100" i="0" u="none" strike="noStrike" kern="0" cap="none" spc="0" normalizeH="0" baseline="0" noProof="0" dirty="0">
                  <a:ln>
                    <a:noFill/>
                  </a:ln>
                  <a:effectLst/>
                  <a:uLnTx/>
                  <a:uFillTx/>
                  <a:latin typeface="+mn-ea"/>
                  <a:cs typeface="Huawei Sans" panose="020C0503030203020204" pitchFamily="34" charset="0"/>
                </a:rPr>
                <a:t>UBPU</a:t>
              </a:r>
            </a:p>
          </p:txBody>
        </p:sp>
        <p:sp>
          <p:nvSpPr>
            <p:cNvPr id="50" name="矩形 49">
              <a:extLst>
                <a:ext uri="{FF2B5EF4-FFF2-40B4-BE49-F238E27FC236}">
                  <a16:creationId xmlns:a16="http://schemas.microsoft.com/office/drawing/2014/main" id="{F8D90D0C-4BB7-4A07-BD61-DF83FF8457DB}"/>
                </a:ext>
              </a:extLst>
            </p:cNvPr>
            <p:cNvSpPr/>
            <p:nvPr/>
          </p:nvSpPr>
          <p:spPr>
            <a:xfrm>
              <a:off x="11392648" y="5265040"/>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1" lang="en-US" altLang="zh-CN" sz="1100" i="0" u="none" strike="noStrike" kern="0" cap="none" spc="0" normalizeH="0" baseline="0" noProof="0" dirty="0">
                  <a:ln>
                    <a:noFill/>
                  </a:ln>
                  <a:effectLst/>
                  <a:uLnTx/>
                  <a:uFillTx/>
                  <a:latin typeface="+mn-ea"/>
                  <a:cs typeface="Huawei Sans" panose="020C0503030203020204" pitchFamily="34" charset="0"/>
                </a:rPr>
                <a:t>UBPU</a:t>
              </a:r>
            </a:p>
          </p:txBody>
        </p:sp>
        <p:sp>
          <p:nvSpPr>
            <p:cNvPr id="51" name="矩形 50">
              <a:extLst>
                <a:ext uri="{FF2B5EF4-FFF2-40B4-BE49-F238E27FC236}">
                  <a16:creationId xmlns:a16="http://schemas.microsoft.com/office/drawing/2014/main" id="{97FFE6CA-DDE0-4C97-A051-B8DD2E5E7AB3}"/>
                </a:ext>
              </a:extLst>
            </p:cNvPr>
            <p:cNvSpPr/>
            <p:nvPr/>
          </p:nvSpPr>
          <p:spPr>
            <a:xfrm>
              <a:off x="10433070" y="5977289"/>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1" lang="en-US" altLang="zh-CN" sz="1100" i="0" u="none" strike="noStrike" kern="0" cap="none" spc="0" normalizeH="0" baseline="0" noProof="0" dirty="0">
                  <a:ln>
                    <a:noFill/>
                  </a:ln>
                  <a:effectLst/>
                  <a:uLnTx/>
                  <a:uFillTx/>
                  <a:latin typeface="+mn-ea"/>
                  <a:cs typeface="Huawei Sans" panose="020C0503030203020204" pitchFamily="34" charset="0"/>
                </a:rPr>
                <a:t>UBPU</a:t>
              </a:r>
            </a:p>
          </p:txBody>
        </p:sp>
        <p:sp>
          <p:nvSpPr>
            <p:cNvPr id="52" name="矩形 51">
              <a:extLst>
                <a:ext uri="{FF2B5EF4-FFF2-40B4-BE49-F238E27FC236}">
                  <a16:creationId xmlns:a16="http://schemas.microsoft.com/office/drawing/2014/main" id="{D5EBDE44-6A42-49CE-BB11-7DA0D54DA7C4}"/>
                </a:ext>
              </a:extLst>
            </p:cNvPr>
            <p:cNvSpPr/>
            <p:nvPr/>
          </p:nvSpPr>
          <p:spPr>
            <a:xfrm>
              <a:off x="10475876" y="6008575"/>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1" lang="en-US" altLang="zh-CN" sz="1100" i="0" u="none" strike="noStrike" kern="0" cap="none" spc="0" normalizeH="0" baseline="0" noProof="0" dirty="0">
                  <a:ln>
                    <a:noFill/>
                  </a:ln>
                  <a:effectLst/>
                  <a:uLnTx/>
                  <a:uFillTx/>
                  <a:latin typeface="+mn-ea"/>
                  <a:cs typeface="Huawei Sans" panose="020C0503030203020204" pitchFamily="34" charset="0"/>
                </a:rPr>
                <a:t>UBPU</a:t>
              </a:r>
            </a:p>
          </p:txBody>
        </p:sp>
        <p:sp>
          <p:nvSpPr>
            <p:cNvPr id="53" name="矩形 52">
              <a:extLst>
                <a:ext uri="{FF2B5EF4-FFF2-40B4-BE49-F238E27FC236}">
                  <a16:creationId xmlns:a16="http://schemas.microsoft.com/office/drawing/2014/main" id="{F962985E-5A59-4454-AEBE-E39FF7963EE3}"/>
                </a:ext>
              </a:extLst>
            </p:cNvPr>
            <p:cNvSpPr/>
            <p:nvPr/>
          </p:nvSpPr>
          <p:spPr>
            <a:xfrm>
              <a:off x="10518681" y="6035410"/>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lang="en-US" altLang="zh-CN" sz="1100" dirty="0">
                  <a:latin typeface="+mn-ea"/>
                  <a:cs typeface="Huawei Sans" panose="020C0503030203020204" pitchFamily="34" charset="0"/>
                </a:rPr>
                <a:t>UBPU</a:t>
              </a:r>
            </a:p>
          </p:txBody>
        </p:sp>
        <p:sp>
          <p:nvSpPr>
            <p:cNvPr id="54" name="矩形 53">
              <a:extLst>
                <a:ext uri="{FF2B5EF4-FFF2-40B4-BE49-F238E27FC236}">
                  <a16:creationId xmlns:a16="http://schemas.microsoft.com/office/drawing/2014/main" id="{48C2558C-EB7F-4E92-959E-B3A7E0697A71}"/>
                </a:ext>
              </a:extLst>
            </p:cNvPr>
            <p:cNvSpPr/>
            <p:nvPr/>
          </p:nvSpPr>
          <p:spPr>
            <a:xfrm>
              <a:off x="11349842" y="5977289"/>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1" lang="en-US" altLang="zh-CN" sz="1100" i="0" u="none" strike="noStrike" kern="0" cap="none" spc="0" normalizeH="0" baseline="0" noProof="0" dirty="0">
                  <a:ln>
                    <a:noFill/>
                  </a:ln>
                  <a:effectLst/>
                  <a:uLnTx/>
                  <a:uFillTx/>
                  <a:latin typeface="+mn-ea"/>
                  <a:cs typeface="Huawei Sans" panose="020C0503030203020204" pitchFamily="34" charset="0"/>
                </a:rPr>
                <a:t>UBPU</a:t>
              </a:r>
            </a:p>
          </p:txBody>
        </p:sp>
        <p:sp>
          <p:nvSpPr>
            <p:cNvPr id="55" name="矩形 54">
              <a:extLst>
                <a:ext uri="{FF2B5EF4-FFF2-40B4-BE49-F238E27FC236}">
                  <a16:creationId xmlns:a16="http://schemas.microsoft.com/office/drawing/2014/main" id="{C41DD038-CFEA-4235-81DB-1463919284E3}"/>
                </a:ext>
              </a:extLst>
            </p:cNvPr>
            <p:cNvSpPr/>
            <p:nvPr/>
          </p:nvSpPr>
          <p:spPr>
            <a:xfrm>
              <a:off x="11392648" y="6008575"/>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1" lang="en-US" altLang="zh-CN" sz="1100" i="0" u="none" strike="noStrike" kern="0" cap="none" spc="0" normalizeH="0" baseline="0" noProof="0" dirty="0">
                  <a:ln>
                    <a:noFill/>
                  </a:ln>
                  <a:effectLst/>
                  <a:uLnTx/>
                  <a:uFillTx/>
                  <a:latin typeface="+mn-ea"/>
                  <a:cs typeface="Huawei Sans" panose="020C0503030203020204" pitchFamily="34" charset="0"/>
                </a:rPr>
                <a:t>UBPU</a:t>
              </a:r>
            </a:p>
          </p:txBody>
        </p:sp>
        <p:sp>
          <p:nvSpPr>
            <p:cNvPr id="56" name="矩形 55">
              <a:extLst>
                <a:ext uri="{FF2B5EF4-FFF2-40B4-BE49-F238E27FC236}">
                  <a16:creationId xmlns:a16="http://schemas.microsoft.com/office/drawing/2014/main" id="{6E0D1A15-C4EB-41D2-BF8A-48059FA8AE17}"/>
                </a:ext>
              </a:extLst>
            </p:cNvPr>
            <p:cNvSpPr/>
            <p:nvPr/>
          </p:nvSpPr>
          <p:spPr>
            <a:xfrm>
              <a:off x="11435456" y="6035410"/>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lang="en-US" altLang="zh-CN" sz="1100" dirty="0">
                  <a:latin typeface="+mn-ea"/>
                  <a:cs typeface="Huawei Sans" panose="020C0503030203020204" pitchFamily="34" charset="0"/>
                </a:rPr>
                <a:t>UBPU</a:t>
              </a:r>
            </a:p>
          </p:txBody>
        </p:sp>
        <p:cxnSp>
          <p:nvCxnSpPr>
            <p:cNvPr id="57" name="直接连接符 56">
              <a:extLst>
                <a:ext uri="{FF2B5EF4-FFF2-40B4-BE49-F238E27FC236}">
                  <a16:creationId xmlns:a16="http://schemas.microsoft.com/office/drawing/2014/main" id="{3339E698-CAD3-46E1-8152-B58F0C8247FB}"/>
                </a:ext>
              </a:extLst>
            </p:cNvPr>
            <p:cNvCxnSpPr>
              <a:stCxn id="70" idx="3"/>
              <a:endCxn id="73" idx="1"/>
            </p:cNvCxnSpPr>
            <p:nvPr/>
          </p:nvCxnSpPr>
          <p:spPr>
            <a:xfrm>
              <a:off x="9182245" y="5509203"/>
              <a:ext cx="306541" cy="0"/>
            </a:xfrm>
            <a:prstGeom prst="line">
              <a:avLst/>
            </a:prstGeom>
            <a:noFill/>
            <a:ln w="15875" cap="flat" cmpd="sng" algn="ctr">
              <a:solidFill>
                <a:srgbClr val="E9002F"/>
              </a:solidFill>
              <a:prstDash val="solid"/>
              <a:miter lim="800000"/>
            </a:ln>
            <a:effectLst/>
          </p:spPr>
        </p:cxnSp>
        <p:cxnSp>
          <p:nvCxnSpPr>
            <p:cNvPr id="58" name="直接连接符 57">
              <a:extLst>
                <a:ext uri="{FF2B5EF4-FFF2-40B4-BE49-F238E27FC236}">
                  <a16:creationId xmlns:a16="http://schemas.microsoft.com/office/drawing/2014/main" id="{69FF0F10-9076-4E79-A46A-F7FFD55FE687}"/>
                </a:ext>
              </a:extLst>
            </p:cNvPr>
            <p:cNvCxnSpPr>
              <a:cxnSpLocks/>
              <a:stCxn id="70" idx="2"/>
              <a:endCxn id="76" idx="0"/>
            </p:cNvCxnSpPr>
            <p:nvPr/>
          </p:nvCxnSpPr>
          <p:spPr>
            <a:xfrm>
              <a:off x="8877131" y="5726530"/>
              <a:ext cx="0" cy="308880"/>
            </a:xfrm>
            <a:prstGeom prst="line">
              <a:avLst/>
            </a:prstGeom>
            <a:noFill/>
            <a:ln w="15875" cap="flat" cmpd="sng" algn="ctr">
              <a:solidFill>
                <a:srgbClr val="E9002F"/>
              </a:solidFill>
              <a:prstDash val="solid"/>
              <a:miter lim="800000"/>
            </a:ln>
            <a:effectLst/>
          </p:spPr>
        </p:cxnSp>
        <p:cxnSp>
          <p:nvCxnSpPr>
            <p:cNvPr id="59" name="直接连接符 58">
              <a:extLst>
                <a:ext uri="{FF2B5EF4-FFF2-40B4-BE49-F238E27FC236}">
                  <a16:creationId xmlns:a16="http://schemas.microsoft.com/office/drawing/2014/main" id="{A2EFBDCD-E7F9-42CD-8144-A57453FAA79B}"/>
                </a:ext>
              </a:extLst>
            </p:cNvPr>
            <p:cNvCxnSpPr>
              <a:cxnSpLocks/>
              <a:stCxn id="79" idx="1"/>
              <a:endCxn id="76" idx="3"/>
            </p:cNvCxnSpPr>
            <p:nvPr/>
          </p:nvCxnSpPr>
          <p:spPr>
            <a:xfrm flipH="1">
              <a:off x="9182245" y="6252738"/>
              <a:ext cx="306541" cy="0"/>
            </a:xfrm>
            <a:prstGeom prst="line">
              <a:avLst/>
            </a:prstGeom>
            <a:noFill/>
            <a:ln w="15875" cap="flat" cmpd="sng" algn="ctr">
              <a:solidFill>
                <a:srgbClr val="E9002F"/>
              </a:solidFill>
              <a:prstDash val="solid"/>
              <a:miter lim="800000"/>
            </a:ln>
            <a:effectLst/>
          </p:spPr>
        </p:cxnSp>
        <p:cxnSp>
          <p:nvCxnSpPr>
            <p:cNvPr id="60" name="直接连接符 59">
              <a:extLst>
                <a:ext uri="{FF2B5EF4-FFF2-40B4-BE49-F238E27FC236}">
                  <a16:creationId xmlns:a16="http://schemas.microsoft.com/office/drawing/2014/main" id="{CAAD20AA-C00F-4B05-8C74-B451067FD248}"/>
                </a:ext>
              </a:extLst>
            </p:cNvPr>
            <p:cNvCxnSpPr>
              <a:cxnSpLocks/>
              <a:stCxn id="79" idx="0"/>
              <a:endCxn id="73" idx="2"/>
            </p:cNvCxnSpPr>
            <p:nvPr/>
          </p:nvCxnSpPr>
          <p:spPr>
            <a:xfrm flipV="1">
              <a:off x="9793902" y="5726530"/>
              <a:ext cx="0" cy="308880"/>
            </a:xfrm>
            <a:prstGeom prst="line">
              <a:avLst/>
            </a:prstGeom>
            <a:noFill/>
            <a:ln w="15875" cap="flat" cmpd="sng" algn="ctr">
              <a:solidFill>
                <a:srgbClr val="E9002F"/>
              </a:solidFill>
              <a:prstDash val="solid"/>
              <a:miter lim="800000"/>
            </a:ln>
            <a:effectLst/>
          </p:spPr>
        </p:cxnSp>
        <p:cxnSp>
          <p:nvCxnSpPr>
            <p:cNvPr id="61" name="直接连接符 60">
              <a:extLst>
                <a:ext uri="{FF2B5EF4-FFF2-40B4-BE49-F238E27FC236}">
                  <a16:creationId xmlns:a16="http://schemas.microsoft.com/office/drawing/2014/main" id="{9477F23E-04EB-4A6E-B5E7-3D8D40FD0D86}"/>
                </a:ext>
              </a:extLst>
            </p:cNvPr>
            <p:cNvCxnSpPr>
              <a:cxnSpLocks/>
              <a:stCxn id="70" idx="0"/>
              <a:endCxn id="67" idx="2"/>
            </p:cNvCxnSpPr>
            <p:nvPr/>
          </p:nvCxnSpPr>
          <p:spPr>
            <a:xfrm flipV="1">
              <a:off x="8877131" y="4965503"/>
              <a:ext cx="406323" cy="326372"/>
            </a:xfrm>
            <a:prstGeom prst="line">
              <a:avLst/>
            </a:prstGeom>
            <a:noFill/>
            <a:ln w="15875" cap="flat" cmpd="sng" algn="ctr">
              <a:solidFill>
                <a:srgbClr val="E9002F"/>
              </a:solidFill>
              <a:prstDash val="solid"/>
              <a:miter lim="800000"/>
            </a:ln>
            <a:effectLst/>
          </p:spPr>
        </p:cxnSp>
        <p:cxnSp>
          <p:nvCxnSpPr>
            <p:cNvPr id="62" name="直接连接符 61">
              <a:extLst>
                <a:ext uri="{FF2B5EF4-FFF2-40B4-BE49-F238E27FC236}">
                  <a16:creationId xmlns:a16="http://schemas.microsoft.com/office/drawing/2014/main" id="{6906DAA0-3BD3-4C54-A44A-679F752B021D}"/>
                </a:ext>
              </a:extLst>
            </p:cNvPr>
            <p:cNvCxnSpPr>
              <a:cxnSpLocks/>
              <a:stCxn id="73" idx="0"/>
              <a:endCxn id="67" idx="2"/>
            </p:cNvCxnSpPr>
            <p:nvPr/>
          </p:nvCxnSpPr>
          <p:spPr>
            <a:xfrm flipH="1" flipV="1">
              <a:off x="9283453" y="4965503"/>
              <a:ext cx="510449" cy="326372"/>
            </a:xfrm>
            <a:prstGeom prst="line">
              <a:avLst/>
            </a:prstGeom>
            <a:noFill/>
            <a:ln w="15875" cap="flat" cmpd="sng" algn="ctr">
              <a:solidFill>
                <a:srgbClr val="E9002F"/>
              </a:solidFill>
              <a:prstDash val="solid"/>
              <a:miter lim="800000"/>
            </a:ln>
            <a:effectLst/>
          </p:spPr>
        </p:cxnSp>
        <p:cxnSp>
          <p:nvCxnSpPr>
            <p:cNvPr id="63" name="直接连接符 62">
              <a:extLst>
                <a:ext uri="{FF2B5EF4-FFF2-40B4-BE49-F238E27FC236}">
                  <a16:creationId xmlns:a16="http://schemas.microsoft.com/office/drawing/2014/main" id="{7F78F583-49C9-4DBF-9C43-C13BFD3885F2}"/>
                </a:ext>
              </a:extLst>
            </p:cNvPr>
            <p:cNvCxnSpPr>
              <a:cxnSpLocks/>
              <a:stCxn id="76" idx="0"/>
              <a:endCxn id="67" idx="2"/>
            </p:cNvCxnSpPr>
            <p:nvPr/>
          </p:nvCxnSpPr>
          <p:spPr>
            <a:xfrm flipV="1">
              <a:off x="8877131" y="4965503"/>
              <a:ext cx="406323" cy="1069907"/>
            </a:xfrm>
            <a:prstGeom prst="line">
              <a:avLst/>
            </a:prstGeom>
            <a:noFill/>
            <a:ln w="15875" cap="flat" cmpd="sng" algn="ctr">
              <a:solidFill>
                <a:srgbClr val="E9002F"/>
              </a:solidFill>
              <a:prstDash val="solid"/>
              <a:miter lim="800000"/>
            </a:ln>
            <a:effectLst/>
          </p:spPr>
        </p:cxnSp>
        <p:cxnSp>
          <p:nvCxnSpPr>
            <p:cNvPr id="64" name="直接连接符 63">
              <a:extLst>
                <a:ext uri="{FF2B5EF4-FFF2-40B4-BE49-F238E27FC236}">
                  <a16:creationId xmlns:a16="http://schemas.microsoft.com/office/drawing/2014/main" id="{11668EBE-064B-4CCD-B39E-EE2F24FE610E}"/>
                </a:ext>
              </a:extLst>
            </p:cNvPr>
            <p:cNvCxnSpPr>
              <a:cxnSpLocks/>
              <a:stCxn id="79" idx="0"/>
              <a:endCxn id="67" idx="2"/>
            </p:cNvCxnSpPr>
            <p:nvPr/>
          </p:nvCxnSpPr>
          <p:spPr>
            <a:xfrm flipH="1" flipV="1">
              <a:off x="9283453" y="4965503"/>
              <a:ext cx="510449" cy="1069907"/>
            </a:xfrm>
            <a:prstGeom prst="line">
              <a:avLst/>
            </a:prstGeom>
            <a:noFill/>
            <a:ln w="15875" cap="flat" cmpd="sng" algn="ctr">
              <a:solidFill>
                <a:srgbClr val="E9002F"/>
              </a:solidFill>
              <a:prstDash val="solid"/>
              <a:miter lim="800000"/>
            </a:ln>
            <a:effectLst/>
          </p:spPr>
        </p:cxnSp>
        <p:cxnSp>
          <p:nvCxnSpPr>
            <p:cNvPr id="65" name="直接连接符 64">
              <a:extLst>
                <a:ext uri="{FF2B5EF4-FFF2-40B4-BE49-F238E27FC236}">
                  <a16:creationId xmlns:a16="http://schemas.microsoft.com/office/drawing/2014/main" id="{847D09DC-1E26-4910-90E7-682DF44125C6}"/>
                </a:ext>
              </a:extLst>
            </p:cNvPr>
            <p:cNvCxnSpPr>
              <a:cxnSpLocks/>
              <a:stCxn id="73" idx="3"/>
              <a:endCxn id="76" idx="1"/>
            </p:cNvCxnSpPr>
            <p:nvPr/>
          </p:nvCxnSpPr>
          <p:spPr>
            <a:xfrm flipH="1">
              <a:off x="8572014" y="5509203"/>
              <a:ext cx="1527003" cy="743536"/>
            </a:xfrm>
            <a:prstGeom prst="line">
              <a:avLst/>
            </a:prstGeom>
            <a:noFill/>
            <a:ln w="15875" cap="flat" cmpd="sng" algn="ctr">
              <a:solidFill>
                <a:srgbClr val="E9002F"/>
              </a:solidFill>
              <a:prstDash val="solid"/>
              <a:miter lim="800000"/>
            </a:ln>
            <a:effectLst/>
          </p:spPr>
        </p:cxnSp>
        <p:cxnSp>
          <p:nvCxnSpPr>
            <p:cNvPr id="66" name="直接连接符 65">
              <a:extLst>
                <a:ext uri="{FF2B5EF4-FFF2-40B4-BE49-F238E27FC236}">
                  <a16:creationId xmlns:a16="http://schemas.microsoft.com/office/drawing/2014/main" id="{BEF38E98-E484-485F-A101-1E335BB535C3}"/>
                </a:ext>
              </a:extLst>
            </p:cNvPr>
            <p:cNvCxnSpPr>
              <a:cxnSpLocks/>
              <a:stCxn id="70" idx="1"/>
              <a:endCxn id="79" idx="3"/>
            </p:cNvCxnSpPr>
            <p:nvPr/>
          </p:nvCxnSpPr>
          <p:spPr>
            <a:xfrm>
              <a:off x="8572014" y="5509203"/>
              <a:ext cx="1527003" cy="743536"/>
            </a:xfrm>
            <a:prstGeom prst="line">
              <a:avLst/>
            </a:prstGeom>
            <a:noFill/>
            <a:ln w="15875" cap="flat" cmpd="sng" algn="ctr">
              <a:solidFill>
                <a:srgbClr val="E9002F"/>
              </a:solidFill>
              <a:prstDash val="solid"/>
              <a:miter lim="800000"/>
            </a:ln>
            <a:effectLst/>
          </p:spPr>
        </p:cxnSp>
        <p:sp>
          <p:nvSpPr>
            <p:cNvPr id="67" name="矩形 66">
              <a:extLst>
                <a:ext uri="{FF2B5EF4-FFF2-40B4-BE49-F238E27FC236}">
                  <a16:creationId xmlns:a16="http://schemas.microsoft.com/office/drawing/2014/main" id="{127CA9E3-75E6-4CAA-925A-917AF1D739F1}"/>
                </a:ext>
              </a:extLst>
            </p:cNvPr>
            <p:cNvSpPr/>
            <p:nvPr/>
          </p:nvSpPr>
          <p:spPr>
            <a:xfrm>
              <a:off x="8836733" y="4530847"/>
              <a:ext cx="893440"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lang="en-US" altLang="zh-CN" sz="1100" dirty="0">
                  <a:latin typeface="+mn-ea"/>
                  <a:cs typeface="Huawei Sans" panose="020C0503030203020204" pitchFamily="34" charset="0"/>
                </a:rPr>
                <a:t>UBPU</a:t>
              </a:r>
            </a:p>
            <a:p>
              <a:pPr marL="0" marR="0" lvl="0" indent="0" algn="ctr" defTabSz="914478" eaLnBrk="1" fontAlgn="auto" latinLnBrk="0" hangingPunct="1">
                <a:lnSpc>
                  <a:spcPct val="100000"/>
                </a:lnSpc>
                <a:spcBef>
                  <a:spcPts val="0"/>
                </a:spcBef>
                <a:spcAft>
                  <a:spcPts val="0"/>
                </a:spcAft>
                <a:buClrTx/>
                <a:buSzTx/>
                <a:buFontTx/>
                <a:buNone/>
                <a:tabLst/>
                <a:defRPr/>
              </a:pPr>
              <a:r>
                <a:rPr lang="en-US" altLang="zh-CN" sz="1100" dirty="0">
                  <a:latin typeface="+mn-ea"/>
                  <a:cs typeface="Huawei Sans" panose="020C0503030203020204" pitchFamily="34" charset="0"/>
                </a:rPr>
                <a:t>(Switch)</a:t>
              </a:r>
            </a:p>
          </p:txBody>
        </p:sp>
        <p:sp>
          <p:nvSpPr>
            <p:cNvPr id="68" name="矩形 67">
              <a:extLst>
                <a:ext uri="{FF2B5EF4-FFF2-40B4-BE49-F238E27FC236}">
                  <a16:creationId xmlns:a16="http://schemas.microsoft.com/office/drawing/2014/main" id="{A1CEA37D-5077-4B98-972E-3743FED00347}"/>
                </a:ext>
              </a:extLst>
            </p:cNvPr>
            <p:cNvSpPr/>
            <p:nvPr/>
          </p:nvSpPr>
          <p:spPr>
            <a:xfrm>
              <a:off x="8486403" y="5233753"/>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1" lang="en-US" altLang="zh-CN" sz="1100" i="0" u="none" strike="noStrike" kern="0" cap="none" spc="0" normalizeH="0" baseline="0" noProof="0" dirty="0">
                  <a:ln>
                    <a:noFill/>
                  </a:ln>
                  <a:effectLst/>
                  <a:uLnTx/>
                  <a:uFillTx/>
                  <a:latin typeface="+mn-ea"/>
                  <a:cs typeface="Huawei Sans" panose="020C0503030203020204" pitchFamily="34" charset="0"/>
                </a:rPr>
                <a:t>UBPU</a:t>
              </a:r>
            </a:p>
          </p:txBody>
        </p:sp>
        <p:sp>
          <p:nvSpPr>
            <p:cNvPr id="69" name="矩形 68">
              <a:extLst>
                <a:ext uri="{FF2B5EF4-FFF2-40B4-BE49-F238E27FC236}">
                  <a16:creationId xmlns:a16="http://schemas.microsoft.com/office/drawing/2014/main" id="{7CCECE4A-88C5-424F-A1D6-413D903EBD51}"/>
                </a:ext>
              </a:extLst>
            </p:cNvPr>
            <p:cNvSpPr/>
            <p:nvPr/>
          </p:nvSpPr>
          <p:spPr>
            <a:xfrm>
              <a:off x="8529210" y="5265040"/>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1" lang="en-US" altLang="zh-CN" sz="1100" i="0" u="none" strike="noStrike" kern="0" cap="none" spc="0" normalizeH="0" baseline="0" noProof="0" dirty="0">
                  <a:ln>
                    <a:noFill/>
                  </a:ln>
                  <a:effectLst/>
                  <a:uLnTx/>
                  <a:uFillTx/>
                  <a:latin typeface="+mn-ea"/>
                  <a:cs typeface="Huawei Sans" panose="020C0503030203020204" pitchFamily="34" charset="0"/>
                </a:rPr>
                <a:t>UBPU</a:t>
              </a:r>
            </a:p>
          </p:txBody>
        </p:sp>
        <p:sp>
          <p:nvSpPr>
            <p:cNvPr id="70" name="矩形 69">
              <a:extLst>
                <a:ext uri="{FF2B5EF4-FFF2-40B4-BE49-F238E27FC236}">
                  <a16:creationId xmlns:a16="http://schemas.microsoft.com/office/drawing/2014/main" id="{58FD6315-22BB-429E-89BA-309E99F3A218}"/>
                </a:ext>
              </a:extLst>
            </p:cNvPr>
            <p:cNvSpPr/>
            <p:nvPr/>
          </p:nvSpPr>
          <p:spPr>
            <a:xfrm>
              <a:off x="8572014" y="5291874"/>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lang="en-US" altLang="zh-CN" sz="1100" dirty="0">
                  <a:latin typeface="+mn-ea"/>
                  <a:cs typeface="Huawei Sans" panose="020C0503030203020204" pitchFamily="34" charset="0"/>
                </a:rPr>
                <a:t>UBPU</a:t>
              </a:r>
            </a:p>
          </p:txBody>
        </p:sp>
        <p:sp>
          <p:nvSpPr>
            <p:cNvPr id="71" name="矩形 70">
              <a:extLst>
                <a:ext uri="{FF2B5EF4-FFF2-40B4-BE49-F238E27FC236}">
                  <a16:creationId xmlns:a16="http://schemas.microsoft.com/office/drawing/2014/main" id="{BADDBC93-5F0F-4469-97E8-D4E0FAC1F292}"/>
                </a:ext>
              </a:extLst>
            </p:cNvPr>
            <p:cNvSpPr/>
            <p:nvPr/>
          </p:nvSpPr>
          <p:spPr>
            <a:xfrm>
              <a:off x="9403175" y="5233753"/>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1" lang="en-US" altLang="zh-CN" sz="1100" i="0" u="none" strike="noStrike" kern="0" cap="none" spc="0" normalizeH="0" baseline="0" noProof="0" dirty="0">
                  <a:ln>
                    <a:noFill/>
                  </a:ln>
                  <a:effectLst/>
                  <a:uLnTx/>
                  <a:uFillTx/>
                  <a:latin typeface="+mn-ea"/>
                  <a:cs typeface="Huawei Sans" panose="020C0503030203020204" pitchFamily="34" charset="0"/>
                </a:rPr>
                <a:t>UBPU</a:t>
              </a:r>
            </a:p>
          </p:txBody>
        </p:sp>
        <p:sp>
          <p:nvSpPr>
            <p:cNvPr id="72" name="矩形 71">
              <a:extLst>
                <a:ext uri="{FF2B5EF4-FFF2-40B4-BE49-F238E27FC236}">
                  <a16:creationId xmlns:a16="http://schemas.microsoft.com/office/drawing/2014/main" id="{D7E0F4F0-1D2F-4AFF-8E87-12FAD7EDC938}"/>
                </a:ext>
              </a:extLst>
            </p:cNvPr>
            <p:cNvSpPr/>
            <p:nvPr/>
          </p:nvSpPr>
          <p:spPr>
            <a:xfrm>
              <a:off x="9445981" y="5265040"/>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1" lang="en-US" altLang="zh-CN" sz="1100" i="0" u="none" strike="noStrike" kern="0" cap="none" spc="0" normalizeH="0" baseline="0" noProof="0" dirty="0">
                  <a:ln>
                    <a:noFill/>
                  </a:ln>
                  <a:effectLst/>
                  <a:uLnTx/>
                  <a:uFillTx/>
                  <a:latin typeface="+mn-ea"/>
                  <a:cs typeface="Huawei Sans" panose="020C0503030203020204" pitchFamily="34" charset="0"/>
                </a:rPr>
                <a:t>UBPU</a:t>
              </a:r>
            </a:p>
          </p:txBody>
        </p:sp>
        <p:sp>
          <p:nvSpPr>
            <p:cNvPr id="73" name="矩形 72">
              <a:extLst>
                <a:ext uri="{FF2B5EF4-FFF2-40B4-BE49-F238E27FC236}">
                  <a16:creationId xmlns:a16="http://schemas.microsoft.com/office/drawing/2014/main" id="{797ADFD5-E5B1-4281-8119-2CF46A3FA143}"/>
                </a:ext>
              </a:extLst>
            </p:cNvPr>
            <p:cNvSpPr/>
            <p:nvPr/>
          </p:nvSpPr>
          <p:spPr>
            <a:xfrm>
              <a:off x="9488787" y="5291874"/>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lang="en-US" altLang="zh-CN" sz="1100" dirty="0">
                  <a:latin typeface="+mn-ea"/>
                  <a:cs typeface="Huawei Sans" panose="020C0503030203020204" pitchFamily="34" charset="0"/>
                </a:rPr>
                <a:t>UBPU</a:t>
              </a:r>
            </a:p>
          </p:txBody>
        </p:sp>
        <p:sp>
          <p:nvSpPr>
            <p:cNvPr id="74" name="矩形 73">
              <a:extLst>
                <a:ext uri="{FF2B5EF4-FFF2-40B4-BE49-F238E27FC236}">
                  <a16:creationId xmlns:a16="http://schemas.microsoft.com/office/drawing/2014/main" id="{6DC84108-4E59-4C52-949B-7796DF34AA17}"/>
                </a:ext>
              </a:extLst>
            </p:cNvPr>
            <p:cNvSpPr/>
            <p:nvPr/>
          </p:nvSpPr>
          <p:spPr>
            <a:xfrm>
              <a:off x="8486403" y="5977289"/>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1" lang="en-US" altLang="zh-CN" sz="1100" i="0" u="none" strike="noStrike" kern="0" cap="none" spc="0" normalizeH="0" baseline="0" noProof="0" dirty="0">
                  <a:ln>
                    <a:noFill/>
                  </a:ln>
                  <a:effectLst/>
                  <a:uLnTx/>
                  <a:uFillTx/>
                  <a:latin typeface="+mn-ea"/>
                  <a:cs typeface="Huawei Sans" panose="020C0503030203020204" pitchFamily="34" charset="0"/>
                </a:rPr>
                <a:t>UBPU</a:t>
              </a:r>
            </a:p>
          </p:txBody>
        </p:sp>
        <p:sp>
          <p:nvSpPr>
            <p:cNvPr id="75" name="矩形 74">
              <a:extLst>
                <a:ext uri="{FF2B5EF4-FFF2-40B4-BE49-F238E27FC236}">
                  <a16:creationId xmlns:a16="http://schemas.microsoft.com/office/drawing/2014/main" id="{88D079B4-2545-47A2-9FBB-AE81C50D02D8}"/>
                </a:ext>
              </a:extLst>
            </p:cNvPr>
            <p:cNvSpPr/>
            <p:nvPr/>
          </p:nvSpPr>
          <p:spPr>
            <a:xfrm>
              <a:off x="8529210" y="6008575"/>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1" lang="en-US" altLang="zh-CN" sz="1100" i="0" u="none" strike="noStrike" kern="0" cap="none" spc="0" normalizeH="0" baseline="0" noProof="0" dirty="0">
                  <a:ln>
                    <a:noFill/>
                  </a:ln>
                  <a:effectLst/>
                  <a:uLnTx/>
                  <a:uFillTx/>
                  <a:latin typeface="+mn-ea"/>
                  <a:cs typeface="Huawei Sans" panose="020C0503030203020204" pitchFamily="34" charset="0"/>
                </a:rPr>
                <a:t>UBPU</a:t>
              </a:r>
            </a:p>
          </p:txBody>
        </p:sp>
        <p:sp>
          <p:nvSpPr>
            <p:cNvPr id="76" name="矩形 75">
              <a:extLst>
                <a:ext uri="{FF2B5EF4-FFF2-40B4-BE49-F238E27FC236}">
                  <a16:creationId xmlns:a16="http://schemas.microsoft.com/office/drawing/2014/main" id="{C06926AF-372B-4EA6-B5EC-F497E971628B}"/>
                </a:ext>
              </a:extLst>
            </p:cNvPr>
            <p:cNvSpPr/>
            <p:nvPr/>
          </p:nvSpPr>
          <p:spPr>
            <a:xfrm>
              <a:off x="8572014" y="6035410"/>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lang="en-US" altLang="zh-CN" sz="1100" dirty="0">
                  <a:latin typeface="+mn-ea"/>
                  <a:cs typeface="Huawei Sans" panose="020C0503030203020204" pitchFamily="34" charset="0"/>
                </a:rPr>
                <a:t>UBPU</a:t>
              </a:r>
            </a:p>
          </p:txBody>
        </p:sp>
        <p:sp>
          <p:nvSpPr>
            <p:cNvPr id="77" name="矩形 76">
              <a:extLst>
                <a:ext uri="{FF2B5EF4-FFF2-40B4-BE49-F238E27FC236}">
                  <a16:creationId xmlns:a16="http://schemas.microsoft.com/office/drawing/2014/main" id="{BAE39392-16FC-45A3-B8FB-4149DE584490}"/>
                </a:ext>
              </a:extLst>
            </p:cNvPr>
            <p:cNvSpPr/>
            <p:nvPr/>
          </p:nvSpPr>
          <p:spPr>
            <a:xfrm>
              <a:off x="9403175" y="5977289"/>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1" lang="en-US" altLang="zh-CN" sz="1100" i="0" u="none" strike="noStrike" kern="0" cap="none" spc="0" normalizeH="0" baseline="0" noProof="0" dirty="0">
                  <a:ln>
                    <a:noFill/>
                  </a:ln>
                  <a:effectLst/>
                  <a:uLnTx/>
                  <a:uFillTx/>
                  <a:latin typeface="+mn-ea"/>
                  <a:cs typeface="Huawei Sans" panose="020C0503030203020204" pitchFamily="34" charset="0"/>
                </a:rPr>
                <a:t>UBPU</a:t>
              </a:r>
            </a:p>
          </p:txBody>
        </p:sp>
        <p:sp>
          <p:nvSpPr>
            <p:cNvPr id="78" name="矩形 77">
              <a:extLst>
                <a:ext uri="{FF2B5EF4-FFF2-40B4-BE49-F238E27FC236}">
                  <a16:creationId xmlns:a16="http://schemas.microsoft.com/office/drawing/2014/main" id="{6A2970B2-EE2A-4670-B1A5-6ADCAF5B9637}"/>
                </a:ext>
              </a:extLst>
            </p:cNvPr>
            <p:cNvSpPr/>
            <p:nvPr/>
          </p:nvSpPr>
          <p:spPr>
            <a:xfrm>
              <a:off x="9445981" y="6008575"/>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1" lang="en-US" altLang="zh-CN" sz="1100" i="0" u="none" strike="noStrike" kern="0" cap="none" spc="0" normalizeH="0" baseline="0" noProof="0" dirty="0">
                  <a:ln>
                    <a:noFill/>
                  </a:ln>
                  <a:effectLst/>
                  <a:uLnTx/>
                  <a:uFillTx/>
                  <a:latin typeface="+mn-ea"/>
                  <a:cs typeface="Huawei Sans" panose="020C0503030203020204" pitchFamily="34" charset="0"/>
                </a:rPr>
                <a:t>UBPU</a:t>
              </a:r>
            </a:p>
          </p:txBody>
        </p:sp>
        <p:sp>
          <p:nvSpPr>
            <p:cNvPr id="79" name="矩形 78">
              <a:extLst>
                <a:ext uri="{FF2B5EF4-FFF2-40B4-BE49-F238E27FC236}">
                  <a16:creationId xmlns:a16="http://schemas.microsoft.com/office/drawing/2014/main" id="{61B4B2C3-9C9A-4BE9-B658-4C1B5B90E8EA}"/>
                </a:ext>
              </a:extLst>
            </p:cNvPr>
            <p:cNvSpPr/>
            <p:nvPr/>
          </p:nvSpPr>
          <p:spPr>
            <a:xfrm>
              <a:off x="9488787" y="6035410"/>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lang="en-US" altLang="zh-CN" sz="1100" dirty="0">
                  <a:latin typeface="+mn-ea"/>
                  <a:cs typeface="Huawei Sans" panose="020C0503030203020204" pitchFamily="34" charset="0"/>
                </a:rPr>
                <a:t>UBPU</a:t>
              </a:r>
            </a:p>
          </p:txBody>
        </p:sp>
        <p:cxnSp>
          <p:nvCxnSpPr>
            <p:cNvPr id="80" name="直接连接符 140">
              <a:extLst>
                <a:ext uri="{FF2B5EF4-FFF2-40B4-BE49-F238E27FC236}">
                  <a16:creationId xmlns:a16="http://schemas.microsoft.com/office/drawing/2014/main" id="{545ED1D1-71BF-4562-A096-E8BFAFFC0AE3}"/>
                </a:ext>
              </a:extLst>
            </p:cNvPr>
            <p:cNvCxnSpPr>
              <a:cxnSpLocks/>
              <a:stCxn id="45" idx="0"/>
              <a:endCxn id="67" idx="0"/>
            </p:cNvCxnSpPr>
            <p:nvPr/>
          </p:nvCxnSpPr>
          <p:spPr>
            <a:xfrm rot="16200000" flipV="1">
              <a:off x="10256534" y="3557513"/>
              <a:ext cx="13870" cy="1946667"/>
            </a:xfrm>
            <a:prstGeom prst="curvedConnector3">
              <a:avLst>
                <a:gd name="adj1" fmla="val 1800000"/>
              </a:avLst>
            </a:prstGeom>
            <a:noFill/>
            <a:ln w="15875" cap="flat" cmpd="sng" algn="ctr">
              <a:solidFill>
                <a:srgbClr val="E9002F"/>
              </a:solidFill>
              <a:prstDash val="solid"/>
              <a:miter lim="800000"/>
            </a:ln>
            <a:effectLst/>
          </p:spPr>
        </p:cxnSp>
        <p:sp>
          <p:nvSpPr>
            <p:cNvPr id="81" name="矩形 80">
              <a:extLst>
                <a:ext uri="{FF2B5EF4-FFF2-40B4-BE49-F238E27FC236}">
                  <a16:creationId xmlns:a16="http://schemas.microsoft.com/office/drawing/2014/main" id="{0E6AD544-4336-4E47-8A26-8B3BE0AE8C51}"/>
                </a:ext>
              </a:extLst>
            </p:cNvPr>
            <p:cNvSpPr/>
            <p:nvPr/>
          </p:nvSpPr>
          <p:spPr>
            <a:xfrm>
              <a:off x="8156653" y="4034582"/>
              <a:ext cx="1447431" cy="561819"/>
            </a:xfrm>
            <a:prstGeom prst="rect">
              <a:avLst/>
            </a:prstGeom>
          </p:spPr>
          <p:txBody>
            <a:bodyPr wrap="square">
              <a:spAutoFit/>
            </a:bodyPr>
            <a:lstStyle/>
            <a:p>
              <a:pPr algn="ctr" defTabSz="914478">
                <a:defRPr/>
              </a:pPr>
              <a:r>
                <a:rPr lang="en-US" altLang="zh-CN" sz="1100" dirty="0">
                  <a:latin typeface="+mn-ea"/>
                  <a:cs typeface="Huawei Sans" panose="020C0503030203020204" pitchFamily="34" charset="0"/>
                </a:rPr>
                <a:t>ns-3-ub</a:t>
              </a:r>
              <a:r>
                <a:rPr lang="zh-CN" altLang="en-US" sz="1100" dirty="0">
                  <a:latin typeface="+mn-ea"/>
                  <a:cs typeface="Huawei Sans" panose="020C0503030203020204" pitchFamily="34" charset="0"/>
                </a:rPr>
                <a:t> </a:t>
              </a:r>
              <a:r>
                <a:rPr lang="en-US" altLang="zh-CN" sz="1100" dirty="0">
                  <a:latin typeface="+mn-ea"/>
                  <a:cs typeface="Huawei Sans" panose="020C0503030203020204" pitchFamily="34" charset="0"/>
                </a:rPr>
                <a:t>model</a:t>
              </a:r>
              <a:endParaRPr lang="zh-CN" altLang="en-US" sz="1100" dirty="0">
                <a:latin typeface="+mn-ea"/>
                <a:cs typeface="Huawei Sans" panose="020C0503030203020204" pitchFamily="34" charset="0"/>
              </a:endParaRPr>
            </a:p>
          </p:txBody>
        </p:sp>
        <p:sp>
          <p:nvSpPr>
            <p:cNvPr id="82" name="矩形 81">
              <a:extLst>
                <a:ext uri="{FF2B5EF4-FFF2-40B4-BE49-F238E27FC236}">
                  <a16:creationId xmlns:a16="http://schemas.microsoft.com/office/drawing/2014/main" id="{A40A4A86-8420-475B-B696-1DDE1159321F}"/>
                </a:ext>
              </a:extLst>
            </p:cNvPr>
            <p:cNvSpPr/>
            <p:nvPr/>
          </p:nvSpPr>
          <p:spPr>
            <a:xfrm>
              <a:off x="11435456" y="5291874"/>
              <a:ext cx="610231" cy="434656"/>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lang="en-US" altLang="zh-CN" sz="1100" dirty="0">
                  <a:latin typeface="+mn-ea"/>
                  <a:cs typeface="Huawei Sans" panose="020C0503030203020204" pitchFamily="34" charset="0"/>
                </a:rPr>
                <a:t>UBPU</a:t>
              </a:r>
            </a:p>
          </p:txBody>
        </p:sp>
        <p:sp>
          <p:nvSpPr>
            <p:cNvPr id="83" name="箭头: 五边形 17">
              <a:extLst>
                <a:ext uri="{FF2B5EF4-FFF2-40B4-BE49-F238E27FC236}">
                  <a16:creationId xmlns:a16="http://schemas.microsoft.com/office/drawing/2014/main" id="{F32B0AF7-1C90-4A08-B561-4CDF474EFF51}"/>
                </a:ext>
              </a:extLst>
            </p:cNvPr>
            <p:cNvSpPr/>
            <p:nvPr/>
          </p:nvSpPr>
          <p:spPr>
            <a:xfrm>
              <a:off x="8222645" y="3537450"/>
              <a:ext cx="1571257" cy="381498"/>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Topo Scripts</a:t>
              </a:r>
              <a:endParaRPr kumimoji="0" lang="zh-CN" altLang="en-US" sz="1100" i="0" u="none" strike="noStrike" kern="0" cap="none" spc="0" normalizeH="0" baseline="0" noProof="0" dirty="0">
                <a:ln>
                  <a:noFill/>
                </a:ln>
                <a:effectLst/>
                <a:uLnTx/>
                <a:uFillTx/>
                <a:latin typeface="+mn-ea"/>
                <a:cs typeface="Huawei Sans" panose="020C0503030203020204" pitchFamily="34" charset="0"/>
              </a:endParaRPr>
            </a:p>
          </p:txBody>
        </p:sp>
        <p:sp>
          <p:nvSpPr>
            <p:cNvPr id="84" name="矩形 83">
              <a:extLst>
                <a:ext uri="{FF2B5EF4-FFF2-40B4-BE49-F238E27FC236}">
                  <a16:creationId xmlns:a16="http://schemas.microsoft.com/office/drawing/2014/main" id="{0C971A28-5383-4162-81E4-66E702197AF2}"/>
                </a:ext>
              </a:extLst>
            </p:cNvPr>
            <p:cNvSpPr/>
            <p:nvPr/>
          </p:nvSpPr>
          <p:spPr>
            <a:xfrm>
              <a:off x="8115300" y="6697164"/>
              <a:ext cx="4175367" cy="516436"/>
            </a:xfrm>
            <a:prstGeom prst="rect">
              <a:avLst/>
            </a:prstGeom>
            <a:solidFill>
              <a:srgbClr val="4472C4">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defTabSz="914400">
                <a:defRPr/>
              </a:pPr>
              <a:r>
                <a:rPr lang="en-US" altLang="zh-CN" sz="1100" kern="0" dirty="0">
                  <a:latin typeface="+mn-ea"/>
                  <a:cs typeface="Huawei Sans" panose="020C0503030203020204" pitchFamily="34" charset="0"/>
                </a:rPr>
                <a:t>ns-3</a:t>
              </a:r>
              <a:endParaRPr lang="zh-CN" altLang="en-US" sz="1100" kern="0" dirty="0">
                <a:latin typeface="+mn-ea"/>
                <a:cs typeface="Huawei Sans" panose="020C0503030203020204" pitchFamily="34" charset="0"/>
              </a:endParaRPr>
            </a:p>
          </p:txBody>
        </p:sp>
        <p:sp>
          <p:nvSpPr>
            <p:cNvPr id="85" name="矩形 84">
              <a:extLst>
                <a:ext uri="{FF2B5EF4-FFF2-40B4-BE49-F238E27FC236}">
                  <a16:creationId xmlns:a16="http://schemas.microsoft.com/office/drawing/2014/main" id="{629598CC-34BC-460C-A4B4-9AD0EA1E6866}"/>
                </a:ext>
              </a:extLst>
            </p:cNvPr>
            <p:cNvSpPr/>
            <p:nvPr/>
          </p:nvSpPr>
          <p:spPr>
            <a:xfrm>
              <a:off x="11581163" y="3063391"/>
              <a:ext cx="618961" cy="855557"/>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100" i="0" u="none" strike="noStrike" kern="0" cap="none" spc="0" normalizeH="0" baseline="0" noProof="0" dirty="0">
                  <a:ln>
                    <a:noFill/>
                  </a:ln>
                  <a:effectLst/>
                  <a:uLnTx/>
                  <a:uFillTx/>
                  <a:latin typeface="+mn-ea"/>
                  <a:cs typeface="Huawei Sans" panose="020C0503030203020204" pitchFamily="34" charset="0"/>
                </a:rPr>
                <a:t>Fault</a:t>
              </a:r>
            </a:p>
            <a:p>
              <a:pPr marL="0" marR="0" lvl="0" indent="0" algn="ctr" defTabSz="914478" eaLnBrk="1" fontAlgn="auto" latinLnBrk="0" hangingPunct="1">
                <a:lnSpc>
                  <a:spcPct val="100000"/>
                </a:lnSpc>
                <a:spcBef>
                  <a:spcPts val="0"/>
                </a:spcBef>
                <a:spcAft>
                  <a:spcPts val="0"/>
                </a:spcAft>
                <a:buClrTx/>
                <a:buSzTx/>
                <a:buFontTx/>
                <a:buNone/>
                <a:tabLst/>
                <a:defRPr/>
              </a:pPr>
              <a:r>
                <a:rPr lang="en-US" altLang="zh-CN" sz="1100" kern="0" dirty="0">
                  <a:latin typeface="+mn-ea"/>
                  <a:cs typeface="Huawei Sans" panose="020C0503030203020204" pitchFamily="34" charset="0"/>
                </a:rPr>
                <a:t>Inj.</a:t>
              </a:r>
              <a:endParaRPr kumimoji="0" lang="zh-CN" altLang="en-US" sz="1100" i="0" u="none" strike="noStrike" kern="0" cap="none" spc="0" normalizeH="0" baseline="0" noProof="0" dirty="0">
                <a:ln>
                  <a:noFill/>
                </a:ln>
                <a:effectLst/>
                <a:uLnTx/>
                <a:uFillTx/>
                <a:latin typeface="+mn-ea"/>
                <a:cs typeface="Huawei Sans" panose="020C0503030203020204" pitchFamily="34" charset="0"/>
              </a:endParaRPr>
            </a:p>
          </p:txBody>
        </p:sp>
      </p:grpSp>
      <p:sp>
        <p:nvSpPr>
          <p:cNvPr id="100" name="矩形 99">
            <a:extLst>
              <a:ext uri="{FF2B5EF4-FFF2-40B4-BE49-F238E27FC236}">
                <a16:creationId xmlns:a16="http://schemas.microsoft.com/office/drawing/2014/main" id="{2DE3D4F0-F24F-4C2A-AF04-CDF2DF20F116}"/>
              </a:ext>
            </a:extLst>
          </p:cNvPr>
          <p:cNvSpPr/>
          <p:nvPr/>
        </p:nvSpPr>
        <p:spPr>
          <a:xfrm>
            <a:off x="8317295" y="5018794"/>
            <a:ext cx="2204450" cy="261610"/>
          </a:xfrm>
          <a:prstGeom prst="rect">
            <a:avLst/>
          </a:prstGeom>
        </p:spPr>
        <p:txBody>
          <a:bodyPr wrap="none">
            <a:spAutoFit/>
          </a:bodyPr>
          <a:lstStyle/>
          <a:p>
            <a:r>
              <a:rPr lang="en-US" altLang="zh-CN" sz="1100" i="1" dirty="0">
                <a:latin typeface="+mn-ea"/>
                <a:cs typeface="Huawei Sans" panose="020C0503030203020204" pitchFamily="34" charset="0"/>
              </a:rPr>
              <a:t>ns-3-ub Architecture Diagram</a:t>
            </a:r>
            <a:endParaRPr lang="zh-CN" altLang="en-US" sz="1100" i="1" dirty="0">
              <a:latin typeface="+mn-ea"/>
              <a:cs typeface="Huawei Sans" panose="020C0503030203020204" pitchFamily="34" charset="0"/>
            </a:endParaRPr>
          </a:p>
        </p:txBody>
      </p:sp>
      <p:sp>
        <p:nvSpPr>
          <p:cNvPr id="101" name="矩形 100">
            <a:extLst>
              <a:ext uri="{FF2B5EF4-FFF2-40B4-BE49-F238E27FC236}">
                <a16:creationId xmlns:a16="http://schemas.microsoft.com/office/drawing/2014/main" id="{FCECE090-DB4E-4DF2-B449-C17F3487BF8B}"/>
              </a:ext>
            </a:extLst>
          </p:cNvPr>
          <p:cNvSpPr/>
          <p:nvPr/>
        </p:nvSpPr>
        <p:spPr>
          <a:xfrm>
            <a:off x="256360" y="6055284"/>
            <a:ext cx="11467016" cy="430887"/>
          </a:xfrm>
          <a:prstGeom prst="rect">
            <a:avLst/>
          </a:prstGeom>
        </p:spPr>
        <p:txBody>
          <a:bodyPr wrap="square">
            <a:spAutoFit/>
          </a:bodyPr>
          <a:lstStyle/>
          <a:p>
            <a:pPr lvl="0" defTabSz="914478">
              <a:defRPr/>
            </a:pPr>
            <a:r>
              <a:rPr lang="en-US" altLang="zh-CN" sz="1100" dirty="0">
                <a:solidFill>
                  <a:schemeClr val="tx1">
                    <a:lumMod val="50000"/>
                    <a:lumOff val="50000"/>
                  </a:schemeClr>
                </a:solidFill>
                <a:latin typeface="+mn-ea"/>
                <a:cs typeface="Huawei Sans" panose="020C0503030203020204" pitchFamily="34" charset="0"/>
              </a:rPr>
              <a:t>This project provides reference implementations for algorithms not defined in the specification (e.g., switch modeling, congestion marking, buffering, and arbitration).</a:t>
            </a:r>
          </a:p>
          <a:p>
            <a:pPr lvl="0" defTabSz="914478">
              <a:defRPr/>
            </a:pPr>
            <a:r>
              <a:rPr lang="en-US" altLang="zh-CN" sz="1100" dirty="0">
                <a:solidFill>
                  <a:schemeClr val="tx1">
                    <a:lumMod val="50000"/>
                    <a:lumOff val="50000"/>
                  </a:schemeClr>
                </a:solidFill>
                <a:latin typeface="+mn-ea"/>
                <a:cs typeface="Huawei Sans" panose="020C0503030203020204" pitchFamily="34" charset="0"/>
              </a:rPr>
              <a:t>Features out of scope: hardware modeling, physical layer, control plane behaviors (e.g., initialization, exception handling), memory management, and security policies.</a:t>
            </a:r>
          </a:p>
        </p:txBody>
      </p:sp>
      <p:sp>
        <p:nvSpPr>
          <p:cNvPr id="102" name="文本占位符 7">
            <a:extLst>
              <a:ext uri="{FF2B5EF4-FFF2-40B4-BE49-F238E27FC236}">
                <a16:creationId xmlns:a16="http://schemas.microsoft.com/office/drawing/2014/main" id="{657E6A59-7E65-4BAB-9B02-7933C0431EBE}"/>
              </a:ext>
            </a:extLst>
          </p:cNvPr>
          <p:cNvSpPr txBox="1">
            <a:spLocks/>
          </p:cNvSpPr>
          <p:nvPr/>
        </p:nvSpPr>
        <p:spPr>
          <a:xfrm>
            <a:off x="314922" y="1180928"/>
            <a:ext cx="8157283" cy="4191840"/>
          </a:xfrm>
          <a:prstGeom prst="rect">
            <a:avLst/>
          </a:prstGeom>
        </p:spPr>
        <p:txBody>
          <a:bodyPr/>
          <a:lstStyle>
            <a:lvl1pPr marL="268074" indent="-268074" algn="l" defTabSz="913759" rtl="0" eaLnBrk="1" latinLnBrk="0" hangingPunct="1">
              <a:lnSpc>
                <a:spcPct val="130000"/>
              </a:lnSpc>
              <a:spcBef>
                <a:spcPts val="0"/>
              </a:spcBef>
              <a:spcAft>
                <a:spcPts val="400"/>
              </a:spcAft>
              <a:buClr>
                <a:schemeClr val="tx1">
                  <a:lumMod val="50000"/>
                  <a:lumOff val="50000"/>
                </a:schemeClr>
              </a:buClr>
              <a:buSzPct val="100000"/>
              <a:buFont typeface="Wingdings 2" panose="05020102010507070707" pitchFamily="18" charset="2"/>
              <a:buChar char="¡"/>
              <a:defRPr sz="1798" kern="1200">
                <a:solidFill>
                  <a:schemeClr val="tx1"/>
                </a:solidFill>
                <a:latin typeface="+mn-lt"/>
                <a:ea typeface="+mn-ea"/>
                <a:cs typeface="+mn-cs"/>
              </a:defRPr>
            </a:lvl1pPr>
            <a:lvl2pPr marL="444144" indent="-176073" algn="l" defTabSz="913759" rtl="0" eaLnBrk="1" latinLnBrk="0" hangingPunct="1">
              <a:lnSpc>
                <a:spcPct val="130000"/>
              </a:lnSpc>
              <a:spcBef>
                <a:spcPts val="0"/>
              </a:spcBef>
              <a:spcAft>
                <a:spcPts val="400"/>
              </a:spcAft>
              <a:buClr>
                <a:schemeClr val="tx1">
                  <a:lumMod val="50000"/>
                  <a:lumOff val="50000"/>
                </a:schemeClr>
              </a:buClr>
              <a:buFont typeface="微软雅黑" panose="020B0503020204020204" pitchFamily="34" charset="-122"/>
              <a:buChar char="›"/>
              <a:defRPr sz="1598" kern="1200">
                <a:solidFill>
                  <a:schemeClr val="tx1"/>
                </a:solidFill>
                <a:latin typeface="+mn-lt"/>
                <a:ea typeface="+mn-ea"/>
                <a:cs typeface="+mn-cs"/>
              </a:defRPr>
            </a:lvl2pPr>
            <a:lvl3pPr marL="628148" indent="-184002" algn="l" defTabSz="913759" rtl="0" eaLnBrk="1" latinLnBrk="0" hangingPunct="1">
              <a:lnSpc>
                <a:spcPct val="130000"/>
              </a:lnSpc>
              <a:spcBef>
                <a:spcPts val="0"/>
              </a:spcBef>
              <a:spcAft>
                <a:spcPts val="400"/>
              </a:spcAft>
              <a:buClr>
                <a:schemeClr val="tx1">
                  <a:lumMod val="50000"/>
                  <a:lumOff val="50000"/>
                </a:schemeClr>
              </a:buClr>
              <a:buFont typeface="FrutigerNext LT Regular" panose="020B0503040504020204" pitchFamily="34" charset="0"/>
              <a:buChar char="»"/>
              <a:defRPr sz="1398" kern="1200">
                <a:solidFill>
                  <a:schemeClr val="tx1"/>
                </a:solidFill>
                <a:latin typeface="+mn-lt"/>
                <a:ea typeface="+mn-ea"/>
                <a:cs typeface="+mn-cs"/>
              </a:defRPr>
            </a:lvl3pPr>
            <a:lvl4pPr marL="1599080" indent="-228441" algn="l" defTabSz="913759" rtl="0" eaLnBrk="1" latinLnBrk="0" hangingPunct="1">
              <a:lnSpc>
                <a:spcPct val="130000"/>
              </a:lnSpc>
              <a:spcBef>
                <a:spcPts val="500"/>
              </a:spcBef>
              <a:spcAft>
                <a:spcPts val="300"/>
              </a:spcAft>
              <a:buFont typeface="Wingdings" panose="05000000000000000000" pitchFamily="2" charset="2"/>
              <a:buChar char="n"/>
              <a:defRPr sz="1798" kern="1200">
                <a:solidFill>
                  <a:schemeClr val="tx1">
                    <a:lumMod val="75000"/>
                    <a:lumOff val="25000"/>
                  </a:schemeClr>
                </a:solidFill>
                <a:latin typeface="+mn-lt"/>
                <a:ea typeface="+mn-ea"/>
                <a:cs typeface="+mn-cs"/>
              </a:defRPr>
            </a:lvl4pPr>
            <a:lvl5pPr marL="2055960" indent="-228441" algn="l" defTabSz="913759" rtl="0" eaLnBrk="1" latinLnBrk="0" hangingPunct="1">
              <a:lnSpc>
                <a:spcPct val="130000"/>
              </a:lnSpc>
              <a:spcBef>
                <a:spcPts val="500"/>
              </a:spcBef>
              <a:spcAft>
                <a:spcPts val="300"/>
              </a:spcAft>
              <a:buFont typeface="Wingdings" panose="05000000000000000000" pitchFamily="2" charset="2"/>
              <a:buChar char="n"/>
              <a:defRPr sz="1798" kern="1200">
                <a:solidFill>
                  <a:schemeClr val="tx1">
                    <a:lumMod val="75000"/>
                    <a:lumOff val="25000"/>
                  </a:schemeClr>
                </a:solidFill>
                <a:latin typeface="+mn-lt"/>
                <a:ea typeface="+mn-ea"/>
                <a:cs typeface="+mn-cs"/>
              </a:defRPr>
            </a:lvl5pPr>
            <a:lvl6pPr marL="2512839"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0"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a:lstStyle>
          <a:p>
            <a:pPr marL="0" indent="0" defTabSz="914034">
              <a:lnSpc>
                <a:spcPct val="150000"/>
              </a:lnSpc>
              <a:buNone/>
              <a:defRPr/>
            </a:pPr>
            <a:r>
              <a:rPr lang="en-US" altLang="zh-CN" sz="1400" b="1" dirty="0">
                <a:latin typeface="+mn-ea"/>
                <a:cs typeface="Huawei Sans" panose="020C0503030203020204" pitchFamily="34" charset="0"/>
              </a:rPr>
              <a:t>Supporting research into the following areas: </a:t>
            </a:r>
          </a:p>
          <a:p>
            <a:pPr defTabSz="914034">
              <a:lnSpc>
                <a:spcPct val="150000"/>
              </a:lnSpc>
              <a:defRPr/>
            </a:pPr>
            <a:r>
              <a:rPr lang="en-US" altLang="zh-CN" sz="1400" dirty="0">
                <a:latin typeface="+mn-ea"/>
                <a:cs typeface="Huawei Sans" panose="020C0503030203020204" pitchFamily="34" charset="0"/>
              </a:rPr>
              <a:t>High-reliability, low-cost, traffic-affinity topologies.</a:t>
            </a:r>
          </a:p>
          <a:p>
            <a:pPr defTabSz="914034">
              <a:lnSpc>
                <a:spcPct val="150000"/>
              </a:lnSpc>
              <a:defRPr/>
            </a:pPr>
            <a:r>
              <a:rPr lang="en-US" altLang="zh-CN" sz="1400" dirty="0">
                <a:latin typeface="+mn-ea"/>
                <a:cs typeface="Huawei Sans" panose="020C0503030203020204" pitchFamily="34" charset="0"/>
              </a:rPr>
              <a:t>Optimization for collective communication ops.</a:t>
            </a:r>
          </a:p>
          <a:p>
            <a:pPr defTabSz="914034">
              <a:lnSpc>
                <a:spcPct val="150000"/>
              </a:lnSpc>
              <a:defRPr/>
            </a:pPr>
            <a:r>
              <a:rPr lang="en-US" altLang="zh-CN" sz="1400" dirty="0">
                <a:latin typeface="+mn-ea"/>
                <a:cs typeface="Huawei Sans" panose="020C0503030203020204" pitchFamily="34" charset="0"/>
              </a:rPr>
              <a:t>Novel transaction ordering and reliability mechanisms.</a:t>
            </a:r>
          </a:p>
          <a:p>
            <a:pPr defTabSz="914034">
              <a:lnSpc>
                <a:spcPct val="150000"/>
              </a:lnSpc>
              <a:defRPr/>
            </a:pPr>
            <a:r>
              <a:rPr lang="en-US" altLang="zh-CN" sz="1400" dirty="0">
                <a:latin typeface="+mn-ea"/>
                <a:cs typeface="Huawei Sans" panose="020C0503030203020204" pitchFamily="34" charset="0"/>
              </a:rPr>
              <a:t>Transmission control mechanisms for </a:t>
            </a:r>
            <a:r>
              <a:rPr lang="en-US" altLang="zh-CN" sz="1400" dirty="0" err="1">
                <a:latin typeface="+mn-ea"/>
                <a:cs typeface="Huawei Sans" panose="020C0503030203020204" pitchFamily="34" charset="0"/>
              </a:rPr>
              <a:t>Ld</a:t>
            </a:r>
            <a:r>
              <a:rPr lang="en-US" altLang="zh-CN" sz="1400" dirty="0">
                <a:latin typeface="+mn-ea"/>
                <a:cs typeface="Huawei Sans" panose="020C0503030203020204" pitchFamily="34" charset="0"/>
              </a:rPr>
              <a:t>/St semantics in </a:t>
            </a:r>
            <a:r>
              <a:rPr lang="en-US" altLang="zh-CN" sz="1400" dirty="0" err="1">
                <a:latin typeface="+mn-ea"/>
                <a:cs typeface="Huawei Sans" panose="020C0503030203020204" pitchFamily="34" charset="0"/>
              </a:rPr>
              <a:t>SuperPod</a:t>
            </a:r>
            <a:r>
              <a:rPr lang="en-US" altLang="zh-CN" sz="1400" dirty="0">
                <a:latin typeface="+mn-ea"/>
                <a:cs typeface="Huawei Sans" panose="020C0503030203020204" pitchFamily="34" charset="0"/>
              </a:rPr>
              <a:t>.</a:t>
            </a:r>
          </a:p>
          <a:p>
            <a:pPr defTabSz="914034">
              <a:lnSpc>
                <a:spcPct val="150000"/>
              </a:lnSpc>
              <a:defRPr/>
            </a:pPr>
            <a:r>
              <a:rPr lang="en-US" altLang="zh-CN" sz="1400" dirty="0">
                <a:latin typeface="+mn-ea"/>
                <a:cs typeface="Huawei Sans" panose="020C0503030203020204" pitchFamily="34" charset="0"/>
              </a:rPr>
              <a:t>New adaptive routing, LB, CC, and QoS algorithms.</a:t>
            </a:r>
          </a:p>
          <a:p>
            <a:pPr marL="0" indent="0" defTabSz="914034">
              <a:lnSpc>
                <a:spcPct val="150000"/>
              </a:lnSpc>
              <a:buNone/>
              <a:defRPr/>
            </a:pPr>
            <a:r>
              <a:rPr lang="en-US" altLang="zh-CN" sz="1400" b="1" dirty="0">
                <a:latin typeface="+mn-ea"/>
                <a:cs typeface="Huawei Sans" panose="020C0503030203020204" pitchFamily="34" charset="0"/>
              </a:rPr>
              <a:t>Integrated Tools:</a:t>
            </a:r>
            <a:r>
              <a:rPr lang="zh-CN" altLang="en-US" sz="1400" b="1" dirty="0">
                <a:latin typeface="+mn-ea"/>
                <a:cs typeface="Huawei Sans" panose="020C0503030203020204" pitchFamily="34" charset="0"/>
              </a:rPr>
              <a:t> </a:t>
            </a:r>
            <a:endParaRPr lang="en-US" altLang="zh-CN" sz="1400" b="1" dirty="0">
              <a:latin typeface="+mn-ea"/>
              <a:cs typeface="Huawei Sans" panose="020C0503030203020204" pitchFamily="34" charset="0"/>
            </a:endParaRPr>
          </a:p>
          <a:p>
            <a:pPr defTabSz="914034">
              <a:lnSpc>
                <a:spcPct val="150000"/>
              </a:lnSpc>
              <a:defRPr/>
            </a:pPr>
            <a:r>
              <a:rPr lang="en-US" altLang="zh-CN" sz="1400" dirty="0">
                <a:latin typeface="+mn-ea"/>
                <a:cs typeface="Huawei Sans" panose="020C0503030203020204" pitchFamily="34" charset="0"/>
              </a:rPr>
              <a:t>Flexible topology generation (e.g., CLOS, UB Mesh).</a:t>
            </a:r>
          </a:p>
          <a:p>
            <a:pPr defTabSz="914034">
              <a:lnSpc>
                <a:spcPct val="150000"/>
              </a:lnSpc>
              <a:defRPr/>
            </a:pPr>
            <a:r>
              <a:rPr lang="en-US" altLang="zh-CN" sz="1400" dirty="0">
                <a:latin typeface="+mn-ea"/>
                <a:cs typeface="Huawei Sans" panose="020C0503030203020204" pitchFamily="34" charset="0"/>
              </a:rPr>
              <a:t>Custom traffic injection (supports collective ops).</a:t>
            </a:r>
          </a:p>
          <a:p>
            <a:pPr defTabSz="914034">
              <a:lnSpc>
                <a:spcPct val="150000"/>
              </a:lnSpc>
              <a:defRPr/>
            </a:pPr>
            <a:r>
              <a:rPr lang="en-US" altLang="zh-CN" sz="1400" dirty="0">
                <a:latin typeface="+mn-ea"/>
                <a:cs typeface="Huawei Sans" panose="020C0503030203020204" pitchFamily="34" charset="0"/>
              </a:rPr>
              <a:t>Node/link fault injection.</a:t>
            </a:r>
          </a:p>
          <a:p>
            <a:pPr defTabSz="914034">
              <a:lnSpc>
                <a:spcPct val="150000"/>
              </a:lnSpc>
              <a:defRPr/>
            </a:pPr>
            <a:r>
              <a:rPr lang="en-US" altLang="zh-CN" sz="1400" dirty="0">
                <a:latin typeface="+mn-ea"/>
                <a:cs typeface="Huawei Sans" panose="020C0503030203020204" pitchFamily="34" charset="0"/>
              </a:rPr>
              <a:t> Simulation log analysis and data visualization..</a:t>
            </a:r>
          </a:p>
          <a:p>
            <a:pPr marL="0" indent="0" defTabSz="914034">
              <a:lnSpc>
                <a:spcPct val="150000"/>
              </a:lnSpc>
              <a:buNone/>
              <a:defRPr/>
            </a:pPr>
            <a:r>
              <a:rPr lang="en-US" altLang="zh-CN" sz="1400" b="1" dirty="0">
                <a:latin typeface="+mn-ea"/>
                <a:cs typeface="Huawei Sans" panose="020C0503030203020204" pitchFamily="34" charset="0"/>
              </a:rPr>
              <a:t>Access: </a:t>
            </a:r>
          </a:p>
          <a:p>
            <a:pPr defTabSz="914034">
              <a:lnSpc>
                <a:spcPct val="150000"/>
              </a:lnSpc>
              <a:defRPr/>
            </a:pPr>
            <a:r>
              <a:rPr lang="en-US" altLang="zh-CN" sz="1400" dirty="0">
                <a:latin typeface="+mn-ea"/>
                <a:cs typeface="Huawei Sans" panose="020C0503030203020204" pitchFamily="34" charset="0"/>
              </a:rPr>
              <a:t>Base on ns-3.44.</a:t>
            </a:r>
            <a:r>
              <a:rPr lang="zh-CN" altLang="en-US" sz="1400" dirty="0">
                <a:latin typeface="+mn-ea"/>
                <a:cs typeface="Huawei Sans" panose="020C0503030203020204" pitchFamily="34" charset="0"/>
              </a:rPr>
              <a:t> </a:t>
            </a:r>
            <a:r>
              <a:rPr lang="en-US" altLang="zh-CN" sz="1400" dirty="0">
                <a:latin typeface="+mn-ea"/>
                <a:cs typeface="Huawei Sans" panose="020C0503030203020204" pitchFamily="34" charset="0"/>
              </a:rPr>
              <a:t>Repo: https://gitcode.com/open-usim/ns-3-ub</a:t>
            </a:r>
            <a:endParaRPr lang="zh-CN" altLang="en-US" sz="1400" dirty="0">
              <a:latin typeface="+mn-ea"/>
              <a:cs typeface="Huawei Sans" panose="020C0503030203020204" pitchFamily="34" charset="0"/>
            </a:endParaRPr>
          </a:p>
          <a:p>
            <a:pPr marL="0" indent="0">
              <a:buNone/>
            </a:pPr>
            <a:endParaRPr lang="zh-CN" altLang="en-US" sz="1400" dirty="0">
              <a:latin typeface="+mn-ea"/>
              <a:cs typeface="Huawei Sans" panose="020C0503030203020204" pitchFamily="34" charset="0"/>
            </a:endParaRPr>
          </a:p>
        </p:txBody>
      </p:sp>
    </p:spTree>
    <p:extLst>
      <p:ext uri="{BB962C8B-B14F-4D97-AF65-F5344CB8AC3E}">
        <p14:creationId xmlns:p14="http://schemas.microsoft.com/office/powerpoint/2010/main" val="1495528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标题 1">
            <a:extLst>
              <a:ext uri="{FF2B5EF4-FFF2-40B4-BE49-F238E27FC236}">
                <a16:creationId xmlns:a16="http://schemas.microsoft.com/office/drawing/2014/main" id="{2AD3965F-0FB0-45B4-AF0A-8C7BE62857FB}"/>
              </a:ext>
            </a:extLst>
          </p:cNvPr>
          <p:cNvSpPr>
            <a:spLocks noGrp="1"/>
          </p:cNvSpPr>
          <p:nvPr>
            <p:ph type="title"/>
          </p:nvPr>
        </p:nvSpPr>
        <p:spPr>
          <a:xfrm>
            <a:off x="561005" y="275992"/>
            <a:ext cx="11208246" cy="798839"/>
          </a:xfrm>
        </p:spPr>
        <p:txBody>
          <a:bodyPr wrap="square">
            <a:noAutofit/>
          </a:bodyPr>
          <a:lstStyle/>
          <a:p>
            <a:r>
              <a:rPr lang="en-US" altLang="zh-CN" dirty="0">
                <a:cs typeface="Huawei Sans" panose="020C0503030203020204" pitchFamily="34" charset="0"/>
              </a:rPr>
              <a:t>Supporting Research Areas: </a:t>
            </a:r>
            <a:br>
              <a:rPr lang="en-US" altLang="zh-CN" dirty="0">
                <a:cs typeface="Huawei Sans" panose="020C0503030203020204" pitchFamily="34" charset="0"/>
              </a:rPr>
            </a:br>
            <a:r>
              <a:rPr lang="en-US" altLang="zh-CN" dirty="0">
                <a:cs typeface="Huawei Sans" panose="020C0503030203020204" pitchFamily="34" charset="0"/>
              </a:rPr>
              <a:t>Architecture Exploration, Protocol Innovation, and Algorithm Design</a:t>
            </a:r>
            <a:endParaRPr lang="zh-CN" altLang="en-US" dirty="0"/>
          </a:p>
        </p:txBody>
      </p:sp>
      <p:grpSp>
        <p:nvGrpSpPr>
          <p:cNvPr id="2" name="组合 1">
            <a:extLst>
              <a:ext uri="{FF2B5EF4-FFF2-40B4-BE49-F238E27FC236}">
                <a16:creationId xmlns:a16="http://schemas.microsoft.com/office/drawing/2014/main" id="{E7F25A8B-A82A-4099-B1D4-D7C9A85CE622}"/>
              </a:ext>
            </a:extLst>
          </p:cNvPr>
          <p:cNvGrpSpPr/>
          <p:nvPr/>
        </p:nvGrpSpPr>
        <p:grpSpPr>
          <a:xfrm>
            <a:off x="978851" y="1149242"/>
            <a:ext cx="10236264" cy="5271827"/>
            <a:chOff x="1739836" y="2050182"/>
            <a:chExt cx="12519151" cy="6447547"/>
          </a:xfrm>
        </p:grpSpPr>
        <p:sp>
          <p:nvSpPr>
            <p:cNvPr id="104" name="矩形: 圆角 103">
              <a:extLst>
                <a:ext uri="{FF2B5EF4-FFF2-40B4-BE49-F238E27FC236}">
                  <a16:creationId xmlns:a16="http://schemas.microsoft.com/office/drawing/2014/main" id="{2B2042BB-F847-4FFB-BD11-E8E57F090050}"/>
                </a:ext>
              </a:extLst>
            </p:cNvPr>
            <p:cNvSpPr/>
            <p:nvPr/>
          </p:nvSpPr>
          <p:spPr>
            <a:xfrm>
              <a:off x="1739836" y="4269065"/>
              <a:ext cx="12519151" cy="3610063"/>
            </a:xfrm>
            <a:prstGeom prst="roundRect">
              <a:avLst>
                <a:gd name="adj" fmla="val 1959"/>
              </a:avLst>
            </a:prstGeom>
            <a:solidFill>
              <a:srgbClr val="90BCE8"/>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666666"/>
                </a:solidFill>
                <a:effectLst/>
                <a:uLnTx/>
                <a:uFillTx/>
                <a:latin typeface="+mn-ea"/>
                <a:cs typeface="Huawei Sans" panose="020C0503030203020204" pitchFamily="34" charset="0"/>
              </a:endParaRPr>
            </a:p>
          </p:txBody>
        </p:sp>
        <p:sp>
          <p:nvSpPr>
            <p:cNvPr id="105" name="矩形: 圆角 104">
              <a:extLst>
                <a:ext uri="{FF2B5EF4-FFF2-40B4-BE49-F238E27FC236}">
                  <a16:creationId xmlns:a16="http://schemas.microsoft.com/office/drawing/2014/main" id="{A12F4688-5437-4C93-B17A-61932C31A4D8}"/>
                </a:ext>
              </a:extLst>
            </p:cNvPr>
            <p:cNvSpPr/>
            <p:nvPr/>
          </p:nvSpPr>
          <p:spPr>
            <a:xfrm>
              <a:off x="1739836" y="2105913"/>
              <a:ext cx="12519151" cy="2083230"/>
            </a:xfrm>
            <a:prstGeom prst="roundRect">
              <a:avLst>
                <a:gd name="adj" fmla="val 3990"/>
              </a:avLst>
            </a:prstGeom>
            <a:solidFill>
              <a:srgbClr val="D2E4F6"/>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666666"/>
                </a:solidFill>
                <a:effectLst/>
                <a:uLnTx/>
                <a:uFillTx/>
                <a:latin typeface="+mn-ea"/>
                <a:cs typeface="Huawei Sans" panose="020C0503030203020204" pitchFamily="34" charset="0"/>
              </a:endParaRPr>
            </a:p>
          </p:txBody>
        </p:sp>
        <p:sp>
          <p:nvSpPr>
            <p:cNvPr id="106" name="矩形: 圆角 105">
              <a:extLst>
                <a:ext uri="{FF2B5EF4-FFF2-40B4-BE49-F238E27FC236}">
                  <a16:creationId xmlns:a16="http://schemas.microsoft.com/office/drawing/2014/main" id="{3139D833-F041-48FE-9CAC-93017BA3B574}"/>
                </a:ext>
              </a:extLst>
            </p:cNvPr>
            <p:cNvSpPr/>
            <p:nvPr/>
          </p:nvSpPr>
          <p:spPr>
            <a:xfrm>
              <a:off x="6039452" y="6277883"/>
              <a:ext cx="3832163" cy="1522789"/>
            </a:xfrm>
            <a:prstGeom prst="roundRect">
              <a:avLst>
                <a:gd name="adj" fmla="val 5518"/>
              </a:avLst>
            </a:prstGeom>
            <a:solidFill>
              <a:srgbClr val="FFFFFF"/>
            </a:solidFill>
            <a:ln w="12700"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666666"/>
                </a:solidFill>
                <a:effectLst/>
                <a:uLnTx/>
                <a:uFillTx/>
                <a:latin typeface="+mn-ea"/>
                <a:cs typeface="Huawei Sans" panose="020C0503030203020204" pitchFamily="34" charset="0"/>
              </a:endParaRPr>
            </a:p>
          </p:txBody>
        </p:sp>
        <p:sp>
          <p:nvSpPr>
            <p:cNvPr id="107" name="矩形: 圆角 106">
              <a:extLst>
                <a:ext uri="{FF2B5EF4-FFF2-40B4-BE49-F238E27FC236}">
                  <a16:creationId xmlns:a16="http://schemas.microsoft.com/office/drawing/2014/main" id="{07CA0D3E-AA9A-421D-BA78-EACFE0C96806}"/>
                </a:ext>
              </a:extLst>
            </p:cNvPr>
            <p:cNvSpPr/>
            <p:nvPr/>
          </p:nvSpPr>
          <p:spPr>
            <a:xfrm>
              <a:off x="2027853" y="4671014"/>
              <a:ext cx="3832163" cy="1522789"/>
            </a:xfrm>
            <a:prstGeom prst="roundRect">
              <a:avLst>
                <a:gd name="adj" fmla="val 5518"/>
              </a:avLst>
            </a:prstGeom>
            <a:solidFill>
              <a:srgbClr val="FFFFFF"/>
            </a:solidFill>
            <a:ln w="12700"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666666"/>
                </a:solidFill>
                <a:effectLst/>
                <a:uLnTx/>
                <a:uFillTx/>
                <a:latin typeface="+mn-ea"/>
                <a:cs typeface="Huawei Sans" panose="020C0503030203020204" pitchFamily="34" charset="0"/>
              </a:endParaRPr>
            </a:p>
          </p:txBody>
        </p:sp>
        <p:sp>
          <p:nvSpPr>
            <p:cNvPr id="108" name="矩形: 圆角 107">
              <a:extLst>
                <a:ext uri="{FF2B5EF4-FFF2-40B4-BE49-F238E27FC236}">
                  <a16:creationId xmlns:a16="http://schemas.microsoft.com/office/drawing/2014/main" id="{B0A11F13-66A4-46FE-BCD7-928AF58FE9B2}"/>
                </a:ext>
              </a:extLst>
            </p:cNvPr>
            <p:cNvSpPr/>
            <p:nvPr/>
          </p:nvSpPr>
          <p:spPr>
            <a:xfrm>
              <a:off x="2027854" y="2560929"/>
              <a:ext cx="3832163" cy="1522789"/>
            </a:xfrm>
            <a:prstGeom prst="roundRect">
              <a:avLst>
                <a:gd name="adj" fmla="val 5518"/>
              </a:avLst>
            </a:prstGeom>
            <a:solidFill>
              <a:srgbClr val="FFFFFF"/>
            </a:solidFill>
            <a:ln w="12700"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666666"/>
                </a:solidFill>
                <a:effectLst/>
                <a:uLnTx/>
                <a:uFillTx/>
                <a:latin typeface="+mn-ea"/>
                <a:cs typeface="Huawei Sans" panose="020C0503030203020204" pitchFamily="34" charset="0"/>
              </a:endParaRPr>
            </a:p>
          </p:txBody>
        </p:sp>
        <p:sp>
          <p:nvSpPr>
            <p:cNvPr id="109" name="矩形: 圆角 108">
              <a:extLst>
                <a:ext uri="{FF2B5EF4-FFF2-40B4-BE49-F238E27FC236}">
                  <a16:creationId xmlns:a16="http://schemas.microsoft.com/office/drawing/2014/main" id="{91BA0E47-5D90-4797-9591-EACEEFE7B64C}"/>
                </a:ext>
              </a:extLst>
            </p:cNvPr>
            <p:cNvSpPr/>
            <p:nvPr/>
          </p:nvSpPr>
          <p:spPr>
            <a:xfrm>
              <a:off x="6063155" y="2560929"/>
              <a:ext cx="3832163" cy="1522789"/>
            </a:xfrm>
            <a:prstGeom prst="roundRect">
              <a:avLst>
                <a:gd name="adj" fmla="val 5518"/>
              </a:avLst>
            </a:prstGeom>
            <a:solidFill>
              <a:srgbClr val="FFFFFF"/>
            </a:solidFill>
            <a:ln w="12700"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666666"/>
                </a:solidFill>
                <a:effectLst/>
                <a:uLnTx/>
                <a:uFillTx/>
                <a:latin typeface="+mn-ea"/>
                <a:cs typeface="Huawei Sans" panose="020C0503030203020204" pitchFamily="34" charset="0"/>
              </a:endParaRPr>
            </a:p>
          </p:txBody>
        </p:sp>
        <p:sp>
          <p:nvSpPr>
            <p:cNvPr id="110" name="矩形: 圆角 109">
              <a:extLst>
                <a:ext uri="{FF2B5EF4-FFF2-40B4-BE49-F238E27FC236}">
                  <a16:creationId xmlns:a16="http://schemas.microsoft.com/office/drawing/2014/main" id="{3ACDCC9E-E5B7-4370-91DE-F4356E8AF2CB}"/>
                </a:ext>
              </a:extLst>
            </p:cNvPr>
            <p:cNvSpPr/>
            <p:nvPr/>
          </p:nvSpPr>
          <p:spPr>
            <a:xfrm>
              <a:off x="10096835" y="2560929"/>
              <a:ext cx="3832163" cy="1522789"/>
            </a:xfrm>
            <a:prstGeom prst="roundRect">
              <a:avLst>
                <a:gd name="adj" fmla="val 5518"/>
              </a:avLst>
            </a:prstGeom>
            <a:solidFill>
              <a:srgbClr val="FFFFFF"/>
            </a:solidFill>
            <a:ln w="12700"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666666"/>
                </a:solidFill>
                <a:effectLst/>
                <a:uLnTx/>
                <a:uFillTx/>
                <a:latin typeface="+mn-ea"/>
                <a:cs typeface="Huawei Sans" panose="020C0503030203020204" pitchFamily="34" charset="0"/>
              </a:endParaRPr>
            </a:p>
          </p:txBody>
        </p:sp>
        <p:sp>
          <p:nvSpPr>
            <p:cNvPr id="111" name="矩形: 圆角 110">
              <a:extLst>
                <a:ext uri="{FF2B5EF4-FFF2-40B4-BE49-F238E27FC236}">
                  <a16:creationId xmlns:a16="http://schemas.microsoft.com/office/drawing/2014/main" id="{3E30F831-0D17-4C24-895E-1DAAB87BBCD9}"/>
                </a:ext>
              </a:extLst>
            </p:cNvPr>
            <p:cNvSpPr/>
            <p:nvPr/>
          </p:nvSpPr>
          <p:spPr>
            <a:xfrm>
              <a:off x="2027854" y="6277883"/>
              <a:ext cx="3832163" cy="1522789"/>
            </a:xfrm>
            <a:prstGeom prst="roundRect">
              <a:avLst>
                <a:gd name="adj" fmla="val 5518"/>
              </a:avLst>
            </a:prstGeom>
            <a:solidFill>
              <a:srgbClr val="FFFFFF"/>
            </a:solidFill>
            <a:ln w="12700"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666666"/>
                </a:solidFill>
                <a:effectLst/>
                <a:uLnTx/>
                <a:uFillTx/>
                <a:latin typeface="+mn-ea"/>
                <a:cs typeface="Huawei Sans" panose="020C0503030203020204" pitchFamily="34" charset="0"/>
              </a:endParaRPr>
            </a:p>
          </p:txBody>
        </p:sp>
        <p:sp>
          <p:nvSpPr>
            <p:cNvPr id="112" name="矩形: 圆角 111">
              <a:extLst>
                <a:ext uri="{FF2B5EF4-FFF2-40B4-BE49-F238E27FC236}">
                  <a16:creationId xmlns:a16="http://schemas.microsoft.com/office/drawing/2014/main" id="{EDE257E0-D2F6-4792-A3D7-C3DE481E7AD2}"/>
                </a:ext>
              </a:extLst>
            </p:cNvPr>
            <p:cNvSpPr/>
            <p:nvPr/>
          </p:nvSpPr>
          <p:spPr>
            <a:xfrm>
              <a:off x="10090798" y="6277883"/>
              <a:ext cx="3832163" cy="1522789"/>
            </a:xfrm>
            <a:prstGeom prst="roundRect">
              <a:avLst>
                <a:gd name="adj" fmla="val 5518"/>
              </a:avLst>
            </a:prstGeom>
            <a:solidFill>
              <a:srgbClr val="FFFFFF"/>
            </a:solidFill>
            <a:ln w="12700"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666666"/>
                </a:solidFill>
                <a:effectLst/>
                <a:uLnTx/>
                <a:uFillTx/>
                <a:latin typeface="+mn-ea"/>
                <a:cs typeface="Huawei Sans" panose="020C0503030203020204" pitchFamily="34" charset="0"/>
              </a:endParaRPr>
            </a:p>
          </p:txBody>
        </p:sp>
        <p:sp>
          <p:nvSpPr>
            <p:cNvPr id="113" name="矩形: 圆角 112">
              <a:extLst>
                <a:ext uri="{FF2B5EF4-FFF2-40B4-BE49-F238E27FC236}">
                  <a16:creationId xmlns:a16="http://schemas.microsoft.com/office/drawing/2014/main" id="{419B44F7-7D63-4E64-8BED-34AABDA78696}"/>
                </a:ext>
              </a:extLst>
            </p:cNvPr>
            <p:cNvSpPr/>
            <p:nvPr/>
          </p:nvSpPr>
          <p:spPr>
            <a:xfrm>
              <a:off x="10090797" y="4670148"/>
              <a:ext cx="3832163" cy="1522789"/>
            </a:xfrm>
            <a:prstGeom prst="roundRect">
              <a:avLst>
                <a:gd name="adj" fmla="val 5518"/>
              </a:avLst>
            </a:prstGeom>
            <a:solidFill>
              <a:srgbClr val="FFFFFF"/>
            </a:solidFill>
            <a:ln w="12700"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666666"/>
                </a:solidFill>
                <a:effectLst/>
                <a:uLnTx/>
                <a:uFillTx/>
                <a:latin typeface="+mn-ea"/>
                <a:cs typeface="Huawei Sans" panose="020C0503030203020204" pitchFamily="34" charset="0"/>
              </a:endParaRPr>
            </a:p>
          </p:txBody>
        </p:sp>
        <p:sp>
          <p:nvSpPr>
            <p:cNvPr id="114" name="矩形: 圆角 113">
              <a:extLst>
                <a:ext uri="{FF2B5EF4-FFF2-40B4-BE49-F238E27FC236}">
                  <a16:creationId xmlns:a16="http://schemas.microsoft.com/office/drawing/2014/main" id="{2999C02E-FCB5-48B8-AE43-E5F39347E88E}"/>
                </a:ext>
              </a:extLst>
            </p:cNvPr>
            <p:cNvSpPr/>
            <p:nvPr/>
          </p:nvSpPr>
          <p:spPr>
            <a:xfrm>
              <a:off x="6059326" y="4674248"/>
              <a:ext cx="3832163" cy="1522789"/>
            </a:xfrm>
            <a:prstGeom prst="roundRect">
              <a:avLst>
                <a:gd name="adj" fmla="val 5518"/>
              </a:avLst>
            </a:prstGeom>
            <a:solidFill>
              <a:srgbClr val="FFFFFF"/>
            </a:solidFill>
            <a:ln w="12700"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666666"/>
                </a:solidFill>
                <a:effectLst/>
                <a:uLnTx/>
                <a:uFillTx/>
                <a:latin typeface="+mn-ea"/>
                <a:cs typeface="Huawei Sans" panose="020C0503030203020204" pitchFamily="34" charset="0"/>
              </a:endParaRPr>
            </a:p>
          </p:txBody>
        </p:sp>
        <p:sp>
          <p:nvSpPr>
            <p:cNvPr id="115" name="矩形: 圆角 114">
              <a:extLst>
                <a:ext uri="{FF2B5EF4-FFF2-40B4-BE49-F238E27FC236}">
                  <a16:creationId xmlns:a16="http://schemas.microsoft.com/office/drawing/2014/main" id="{1719AE47-A3C5-48AB-AB80-4F7A1794F6E9}"/>
                </a:ext>
              </a:extLst>
            </p:cNvPr>
            <p:cNvSpPr/>
            <p:nvPr/>
          </p:nvSpPr>
          <p:spPr>
            <a:xfrm>
              <a:off x="1739836" y="7971296"/>
              <a:ext cx="12519151" cy="514577"/>
            </a:xfrm>
            <a:prstGeom prst="roundRect">
              <a:avLst>
                <a:gd name="adj" fmla="val 14508"/>
              </a:avLst>
            </a:prstGeom>
            <a:solidFill>
              <a:srgbClr val="67A3D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en-US" altLang="zh-CN" sz="1600" b="0" i="0" u="none" strike="noStrike" kern="0" cap="none" spc="0" normalizeH="0" baseline="0" noProof="0" dirty="0">
                <a:ln>
                  <a:noFill/>
                </a:ln>
                <a:solidFill>
                  <a:srgbClr val="666666"/>
                </a:solidFill>
                <a:effectLst/>
                <a:uLnTx/>
                <a:uFillTx/>
                <a:latin typeface="+mn-ea"/>
                <a:cs typeface="Huawei Sans" panose="020C0503030203020204" pitchFamily="34" charset="0"/>
              </a:endParaRPr>
            </a:p>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rgbClr val="666666"/>
                </a:solidFill>
                <a:effectLst/>
                <a:uLnTx/>
                <a:uFillTx/>
                <a:latin typeface="+mn-ea"/>
                <a:cs typeface="Huawei Sans" panose="020C0503030203020204" pitchFamily="34" charset="0"/>
              </a:endParaRPr>
            </a:p>
          </p:txBody>
        </p:sp>
        <p:sp>
          <p:nvSpPr>
            <p:cNvPr id="116" name="矩形: 圆角 115">
              <a:extLst>
                <a:ext uri="{FF2B5EF4-FFF2-40B4-BE49-F238E27FC236}">
                  <a16:creationId xmlns:a16="http://schemas.microsoft.com/office/drawing/2014/main" id="{8420CF8A-384F-46BE-9BD5-B8CF31BA7414}"/>
                </a:ext>
              </a:extLst>
            </p:cNvPr>
            <p:cNvSpPr/>
            <p:nvPr/>
          </p:nvSpPr>
          <p:spPr>
            <a:xfrm>
              <a:off x="10796347" y="5151366"/>
              <a:ext cx="2690017" cy="910026"/>
            </a:xfrm>
            <a:prstGeom prst="roundRect">
              <a:avLst/>
            </a:prstGeom>
            <a:solidFill>
              <a:srgbClr val="FFFFFF">
                <a:lumMod val="95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rgbClr val="666666"/>
                </a:solidFill>
                <a:effectLst/>
                <a:uLnTx/>
                <a:uFillTx/>
                <a:latin typeface="+mn-ea"/>
                <a:cs typeface="Huawei Sans" panose="020C0503030203020204" pitchFamily="34" charset="0"/>
              </a:endParaRPr>
            </a:p>
          </p:txBody>
        </p:sp>
        <p:sp>
          <p:nvSpPr>
            <p:cNvPr id="117" name="任意多边形: 形状 116">
              <a:extLst>
                <a:ext uri="{FF2B5EF4-FFF2-40B4-BE49-F238E27FC236}">
                  <a16:creationId xmlns:a16="http://schemas.microsoft.com/office/drawing/2014/main" id="{060A2713-6BDB-4F18-AF24-A0A670859D6E}"/>
                </a:ext>
              </a:extLst>
            </p:cNvPr>
            <p:cNvSpPr/>
            <p:nvPr/>
          </p:nvSpPr>
          <p:spPr>
            <a:xfrm>
              <a:off x="7160934" y="6884627"/>
              <a:ext cx="1615234" cy="687904"/>
            </a:xfrm>
            <a:custGeom>
              <a:avLst/>
              <a:gdLst>
                <a:gd name="connsiteX0" fmla="*/ 0 w 1516841"/>
                <a:gd name="connsiteY0" fmla="*/ 2396 h 347368"/>
                <a:gd name="connsiteX1" fmla="*/ 603250 w 1516841"/>
                <a:gd name="connsiteY1" fmla="*/ 15096 h 347368"/>
                <a:gd name="connsiteX2" fmla="*/ 1073150 w 1516841"/>
                <a:gd name="connsiteY2" fmla="*/ 8746 h 347368"/>
                <a:gd name="connsiteX3" fmla="*/ 1511300 w 1516841"/>
                <a:gd name="connsiteY3" fmla="*/ 154796 h 347368"/>
                <a:gd name="connsiteX4" fmla="*/ 755650 w 1516841"/>
                <a:gd name="connsiteY4" fmla="*/ 332596 h 347368"/>
                <a:gd name="connsiteX5" fmla="*/ 88900 w 1516841"/>
                <a:gd name="connsiteY5" fmla="*/ 319896 h 34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16841" h="347368">
                  <a:moveTo>
                    <a:pt x="0" y="2396"/>
                  </a:moveTo>
                  <a:lnTo>
                    <a:pt x="603250" y="15096"/>
                  </a:lnTo>
                  <a:cubicBezTo>
                    <a:pt x="782108" y="16154"/>
                    <a:pt x="921808" y="-14537"/>
                    <a:pt x="1073150" y="8746"/>
                  </a:cubicBezTo>
                  <a:cubicBezTo>
                    <a:pt x="1224492" y="32029"/>
                    <a:pt x="1564217" y="100821"/>
                    <a:pt x="1511300" y="154796"/>
                  </a:cubicBezTo>
                  <a:cubicBezTo>
                    <a:pt x="1458383" y="208771"/>
                    <a:pt x="992717" y="305079"/>
                    <a:pt x="755650" y="332596"/>
                  </a:cubicBezTo>
                  <a:cubicBezTo>
                    <a:pt x="518583" y="360113"/>
                    <a:pt x="175683" y="345296"/>
                    <a:pt x="88900" y="319896"/>
                  </a:cubicBezTo>
                </a:path>
              </a:pathLst>
            </a:custGeom>
            <a:noFill/>
            <a:ln w="12700" cap="flat" cmpd="sng" algn="ctr">
              <a:solidFill>
                <a:srgbClr val="1D1D1A"/>
              </a:solidFill>
              <a:prstDash val="solid"/>
              <a:miter lim="800000"/>
              <a:headEnd type="none"/>
              <a:tailEnd type="arrow"/>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666666"/>
                </a:solidFill>
                <a:effectLst/>
                <a:uLnTx/>
                <a:uFillTx/>
                <a:latin typeface="+mn-ea"/>
                <a:cs typeface="Huawei Sans" panose="020C0503030203020204" pitchFamily="34" charset="0"/>
              </a:endParaRPr>
            </a:p>
          </p:txBody>
        </p:sp>
        <p:sp>
          <p:nvSpPr>
            <p:cNvPr id="118" name="矩形 117">
              <a:extLst>
                <a:ext uri="{FF2B5EF4-FFF2-40B4-BE49-F238E27FC236}">
                  <a16:creationId xmlns:a16="http://schemas.microsoft.com/office/drawing/2014/main" id="{DF3710C4-F531-4A3F-B73D-4772BD2B7A56}"/>
                </a:ext>
              </a:extLst>
            </p:cNvPr>
            <p:cNvSpPr/>
            <p:nvPr/>
          </p:nvSpPr>
          <p:spPr>
            <a:xfrm>
              <a:off x="6849107" y="2050182"/>
              <a:ext cx="2215619" cy="567990"/>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lvl="0" algn="ctr" defTabSz="914478">
                <a:defRPr/>
              </a:pPr>
              <a:r>
                <a:rPr lang="en-US" altLang="zh-CN" sz="1600" b="1" kern="0" dirty="0">
                  <a:solidFill>
                    <a:srgbClr val="1D1D1A"/>
                  </a:solidFill>
                  <a:latin typeface="+mn-ea"/>
                  <a:cs typeface="Huawei Sans" panose="020C0503030203020204" pitchFamily="34" charset="0"/>
                </a:rPr>
                <a:t>Innovative Topology Architectures</a:t>
              </a:r>
              <a:endParaRPr kumimoji="0" lang="zh-CN" altLang="en-US" sz="1600" b="1" i="0" u="none" strike="noStrike" kern="0" cap="none" spc="0" normalizeH="0" baseline="0" noProof="0" dirty="0">
                <a:ln>
                  <a:noFill/>
                </a:ln>
                <a:solidFill>
                  <a:srgbClr val="1D1D1A"/>
                </a:solidFill>
                <a:effectLst/>
                <a:uLnTx/>
                <a:uFillTx/>
                <a:latin typeface="+mn-ea"/>
                <a:cs typeface="Huawei Sans" panose="020C0503030203020204" pitchFamily="34" charset="0"/>
              </a:endParaRPr>
            </a:p>
          </p:txBody>
        </p:sp>
        <p:grpSp>
          <p:nvGrpSpPr>
            <p:cNvPr id="119" name="组合 118">
              <a:extLst>
                <a:ext uri="{FF2B5EF4-FFF2-40B4-BE49-F238E27FC236}">
                  <a16:creationId xmlns:a16="http://schemas.microsoft.com/office/drawing/2014/main" id="{4841E877-A084-47AB-A7B7-8FC348612115}"/>
                </a:ext>
              </a:extLst>
            </p:cNvPr>
            <p:cNvGrpSpPr/>
            <p:nvPr/>
          </p:nvGrpSpPr>
          <p:grpSpPr>
            <a:xfrm>
              <a:off x="2149677" y="3097761"/>
              <a:ext cx="3495008" cy="815312"/>
              <a:chOff x="2371406" y="805739"/>
              <a:chExt cx="4374770" cy="1067208"/>
            </a:xfrm>
          </p:grpSpPr>
          <p:pic>
            <p:nvPicPr>
              <p:cNvPr id="120" name="图片 119">
                <a:extLst>
                  <a:ext uri="{FF2B5EF4-FFF2-40B4-BE49-F238E27FC236}">
                    <a16:creationId xmlns:a16="http://schemas.microsoft.com/office/drawing/2014/main" id="{F26E3B8E-E5A7-47EE-AA77-943417E19066}"/>
                  </a:ext>
                </a:extLst>
              </p:cNvPr>
              <p:cNvPicPr>
                <a:picLocks noChangeAspect="1"/>
              </p:cNvPicPr>
              <p:nvPr/>
            </p:nvPicPr>
            <p:blipFill>
              <a:blip r:embed="rId3"/>
              <a:stretch>
                <a:fillRect/>
              </a:stretch>
            </p:blipFill>
            <p:spPr>
              <a:xfrm>
                <a:off x="2371406" y="810186"/>
                <a:ext cx="1820909" cy="1062761"/>
              </a:xfrm>
              <a:prstGeom prst="rect">
                <a:avLst/>
              </a:prstGeom>
            </p:spPr>
          </p:pic>
          <p:pic>
            <p:nvPicPr>
              <p:cNvPr id="121" name="图片 120">
                <a:extLst>
                  <a:ext uri="{FF2B5EF4-FFF2-40B4-BE49-F238E27FC236}">
                    <a16:creationId xmlns:a16="http://schemas.microsoft.com/office/drawing/2014/main" id="{DEA9E8C7-ABF1-403C-8FD1-02E6D458F40B}"/>
                  </a:ext>
                </a:extLst>
              </p:cNvPr>
              <p:cNvPicPr>
                <a:picLocks noChangeAspect="1"/>
              </p:cNvPicPr>
              <p:nvPr/>
            </p:nvPicPr>
            <p:blipFill>
              <a:blip r:embed="rId4"/>
              <a:stretch>
                <a:fillRect/>
              </a:stretch>
            </p:blipFill>
            <p:spPr>
              <a:xfrm>
                <a:off x="4273282" y="805739"/>
                <a:ext cx="2472894" cy="1067208"/>
              </a:xfrm>
              <a:prstGeom prst="rect">
                <a:avLst/>
              </a:prstGeom>
            </p:spPr>
          </p:pic>
        </p:grpSp>
        <p:sp>
          <p:nvSpPr>
            <p:cNvPr id="122" name="矩形 121">
              <a:extLst>
                <a:ext uri="{FF2B5EF4-FFF2-40B4-BE49-F238E27FC236}">
                  <a16:creationId xmlns:a16="http://schemas.microsoft.com/office/drawing/2014/main" id="{230ADE25-18B1-4DA9-80C4-599F1D2A037B}"/>
                </a:ext>
              </a:extLst>
            </p:cNvPr>
            <p:cNvSpPr/>
            <p:nvPr/>
          </p:nvSpPr>
          <p:spPr>
            <a:xfrm>
              <a:off x="2078858" y="2586019"/>
              <a:ext cx="3731231" cy="376417"/>
            </a:xfrm>
            <a:prstGeom prst="rect">
              <a:avLst/>
            </a:prstGeom>
          </p:spPr>
          <p:txBody>
            <a:bodyPr wrap="none">
              <a:spAutoFit/>
            </a:bodyPr>
            <a:lstStyle/>
            <a:p>
              <a:pPr lvl="0" algn="ctr" defTabSz="914478">
                <a:defRPr/>
              </a:pPr>
              <a:r>
                <a:rPr lang="en-US" altLang="zh-CN" sz="1400" kern="0" dirty="0">
                  <a:solidFill>
                    <a:srgbClr val="1D1D1A"/>
                  </a:solidFill>
                  <a:latin typeface="+mn-ea"/>
                  <a:cs typeface="Huawei Sans" panose="020C0503030203020204" pitchFamily="34" charset="0"/>
                </a:rPr>
                <a:t>UB Mesh Performance Evaluation</a:t>
              </a:r>
              <a:endParaRPr kumimoji="0" lang="zh-CN" altLang="en-US" sz="1400" b="0" i="0" u="none" strike="noStrike" kern="0" cap="none" spc="0" normalizeH="0" baseline="0" noProof="0" dirty="0">
                <a:ln>
                  <a:noFill/>
                </a:ln>
                <a:solidFill>
                  <a:srgbClr val="1D1D1A"/>
                </a:solidFill>
                <a:effectLst/>
                <a:uLnTx/>
                <a:uFillTx/>
                <a:latin typeface="+mn-ea"/>
                <a:cs typeface="Huawei Sans" panose="020C0503030203020204" pitchFamily="34" charset="0"/>
              </a:endParaRPr>
            </a:p>
          </p:txBody>
        </p:sp>
        <p:pic>
          <p:nvPicPr>
            <p:cNvPr id="123" name="图片 122">
              <a:extLst>
                <a:ext uri="{FF2B5EF4-FFF2-40B4-BE49-F238E27FC236}">
                  <a16:creationId xmlns:a16="http://schemas.microsoft.com/office/drawing/2014/main" id="{FF8CF6E6-7D28-4377-BF22-1D12BD962861}"/>
                </a:ext>
              </a:extLst>
            </p:cNvPr>
            <p:cNvPicPr>
              <a:picLocks noChangeAspect="1"/>
            </p:cNvPicPr>
            <p:nvPr/>
          </p:nvPicPr>
          <p:blipFill>
            <a:blip r:embed="rId5"/>
            <a:stretch>
              <a:fillRect/>
            </a:stretch>
          </p:blipFill>
          <p:spPr>
            <a:xfrm>
              <a:off x="6125794" y="3222957"/>
              <a:ext cx="1873144" cy="724747"/>
            </a:xfrm>
            <a:prstGeom prst="rect">
              <a:avLst/>
            </a:prstGeom>
          </p:spPr>
        </p:pic>
        <p:pic>
          <p:nvPicPr>
            <p:cNvPr id="124" name="图片 123">
              <a:extLst>
                <a:ext uri="{FF2B5EF4-FFF2-40B4-BE49-F238E27FC236}">
                  <a16:creationId xmlns:a16="http://schemas.microsoft.com/office/drawing/2014/main" id="{0D3F3910-CF8E-4EC5-AC32-BDA348071C4D}"/>
                </a:ext>
              </a:extLst>
            </p:cNvPr>
            <p:cNvPicPr>
              <a:picLocks noChangeAspect="1"/>
            </p:cNvPicPr>
            <p:nvPr/>
          </p:nvPicPr>
          <p:blipFill>
            <a:blip r:embed="rId6"/>
            <a:stretch>
              <a:fillRect/>
            </a:stretch>
          </p:blipFill>
          <p:spPr>
            <a:xfrm>
              <a:off x="8061577" y="3209419"/>
              <a:ext cx="1761111" cy="709407"/>
            </a:xfrm>
            <a:prstGeom prst="rect">
              <a:avLst/>
            </a:prstGeom>
            <a:solidFill>
              <a:srgbClr val="FFFFFF"/>
            </a:solidFill>
          </p:spPr>
        </p:pic>
        <p:sp>
          <p:nvSpPr>
            <p:cNvPr id="125" name="矩形 124">
              <a:extLst>
                <a:ext uri="{FF2B5EF4-FFF2-40B4-BE49-F238E27FC236}">
                  <a16:creationId xmlns:a16="http://schemas.microsoft.com/office/drawing/2014/main" id="{C2B2F60F-736D-4D62-817B-34274EADCEB0}"/>
                </a:ext>
              </a:extLst>
            </p:cNvPr>
            <p:cNvSpPr/>
            <p:nvPr/>
          </p:nvSpPr>
          <p:spPr>
            <a:xfrm>
              <a:off x="2245012" y="6287897"/>
              <a:ext cx="3421472" cy="376417"/>
            </a:xfrm>
            <a:prstGeom prst="rect">
              <a:avLst/>
            </a:prstGeom>
            <a:noFill/>
          </p:spPr>
          <p:txBody>
            <a:bodyPr wrap="none">
              <a:spAutoFit/>
            </a:bodyPr>
            <a:lstStyle/>
            <a:p>
              <a:pPr lvl="0" algn="ctr" defTabSz="914478">
                <a:defRPr/>
              </a:pPr>
              <a:r>
                <a:rPr lang="en-US" altLang="zh-CN" sz="1400" kern="0" dirty="0">
                  <a:solidFill>
                    <a:srgbClr val="1D1D1A"/>
                  </a:solidFill>
                  <a:latin typeface="+mn-ea"/>
                  <a:cs typeface="Huawei Sans" panose="020C0503030203020204" pitchFamily="34" charset="0"/>
                </a:rPr>
                <a:t>Network-Level Load Balancing</a:t>
              </a:r>
              <a:endParaRPr kumimoji="0" lang="zh-CN" altLang="en-US" sz="1400" b="0" i="0" u="none" strike="noStrike" kern="0" cap="none" spc="0" normalizeH="0" baseline="0" noProof="0" dirty="0">
                <a:ln>
                  <a:noFill/>
                </a:ln>
                <a:solidFill>
                  <a:srgbClr val="1D1D1A"/>
                </a:solidFill>
                <a:effectLst/>
                <a:uLnTx/>
                <a:uFillTx/>
                <a:latin typeface="+mn-ea"/>
                <a:cs typeface="Huawei Sans" panose="020C0503030203020204" pitchFamily="34" charset="0"/>
              </a:endParaRPr>
            </a:p>
          </p:txBody>
        </p:sp>
        <p:sp>
          <p:nvSpPr>
            <p:cNvPr id="126" name="矩形 125">
              <a:extLst>
                <a:ext uri="{FF2B5EF4-FFF2-40B4-BE49-F238E27FC236}">
                  <a16:creationId xmlns:a16="http://schemas.microsoft.com/office/drawing/2014/main" id="{0342D3EA-2269-4EE0-A435-B90982BE57C6}"/>
                </a:ext>
              </a:extLst>
            </p:cNvPr>
            <p:cNvSpPr/>
            <p:nvPr/>
          </p:nvSpPr>
          <p:spPr>
            <a:xfrm>
              <a:off x="6211955" y="6277692"/>
              <a:ext cx="3509694" cy="376417"/>
            </a:xfrm>
            <a:prstGeom prst="rect">
              <a:avLst/>
            </a:prstGeom>
            <a:noFill/>
          </p:spPr>
          <p:txBody>
            <a:bodyPr wrap="none">
              <a:spAutoFit/>
            </a:bodyPr>
            <a:lstStyle/>
            <a:p>
              <a:pPr lvl="0" algn="ctr" defTabSz="914478">
                <a:defRPr/>
              </a:pPr>
              <a:r>
                <a:rPr lang="en-US" altLang="zh-CN" sz="1400" kern="0" dirty="0">
                  <a:solidFill>
                    <a:srgbClr val="1D1D1A"/>
                  </a:solidFill>
                  <a:latin typeface="+mn-ea"/>
                  <a:cs typeface="Huawei Sans" panose="020C0503030203020204" pitchFamily="34" charset="0"/>
                </a:rPr>
                <a:t>Congestion Control Algorithms</a:t>
              </a:r>
              <a:endParaRPr kumimoji="0" lang="zh-CN" altLang="en-US" sz="1400" b="0" i="0" u="none" strike="noStrike" kern="0" cap="none" spc="0" normalizeH="0" baseline="0" noProof="0" dirty="0">
                <a:ln>
                  <a:noFill/>
                </a:ln>
                <a:solidFill>
                  <a:srgbClr val="1D1D1A"/>
                </a:solidFill>
                <a:effectLst/>
                <a:uLnTx/>
                <a:uFillTx/>
                <a:latin typeface="+mn-ea"/>
                <a:cs typeface="Huawei Sans" panose="020C0503030203020204" pitchFamily="34" charset="0"/>
              </a:endParaRPr>
            </a:p>
          </p:txBody>
        </p:sp>
        <p:pic>
          <p:nvPicPr>
            <p:cNvPr id="127" name="Picture 2" descr="Implementation of NSLB working with GPUs">
              <a:extLst>
                <a:ext uri="{FF2B5EF4-FFF2-40B4-BE49-F238E27FC236}">
                  <a16:creationId xmlns:a16="http://schemas.microsoft.com/office/drawing/2014/main" id="{0E5E01DA-A22F-44AD-BFB8-72502AFAC00F}"/>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t="23949"/>
            <a:stretch/>
          </p:blipFill>
          <p:spPr bwMode="auto">
            <a:xfrm>
              <a:off x="2316001" y="6796652"/>
              <a:ext cx="3413628" cy="889250"/>
            </a:xfrm>
            <a:prstGeom prst="rect">
              <a:avLst/>
            </a:prstGeom>
            <a:noFill/>
            <a:extLst>
              <a:ext uri="{909E8E84-426E-40DD-AFC4-6F175D3DCCD1}">
                <a14:hiddenFill xmlns:a14="http://schemas.microsoft.com/office/drawing/2010/main">
                  <a:solidFill>
                    <a:srgbClr val="FFFFFF"/>
                  </a:solidFill>
                </a14:hiddenFill>
              </a:ext>
            </a:extLst>
          </p:spPr>
        </p:pic>
        <p:pic>
          <p:nvPicPr>
            <p:cNvPr id="128" name="图片 127">
              <a:extLst>
                <a:ext uri="{FF2B5EF4-FFF2-40B4-BE49-F238E27FC236}">
                  <a16:creationId xmlns:a16="http://schemas.microsoft.com/office/drawing/2014/main" id="{9267184A-4ABC-4DD2-9A12-1B3C344D05EF}"/>
                </a:ext>
              </a:extLst>
            </p:cNvPr>
            <p:cNvPicPr>
              <a:picLocks noChangeAspect="1"/>
            </p:cNvPicPr>
            <p:nvPr/>
          </p:nvPicPr>
          <p:blipFill>
            <a:blip r:embed="rId8"/>
            <a:stretch>
              <a:fillRect/>
            </a:stretch>
          </p:blipFill>
          <p:spPr>
            <a:xfrm>
              <a:off x="10387343" y="6721136"/>
              <a:ext cx="3298562" cy="1020654"/>
            </a:xfrm>
            <a:prstGeom prst="rect">
              <a:avLst/>
            </a:prstGeom>
          </p:spPr>
        </p:pic>
        <p:sp>
          <p:nvSpPr>
            <p:cNvPr id="129" name="矩形 128">
              <a:extLst>
                <a:ext uri="{FF2B5EF4-FFF2-40B4-BE49-F238E27FC236}">
                  <a16:creationId xmlns:a16="http://schemas.microsoft.com/office/drawing/2014/main" id="{D07FB10E-8950-40C9-AAF9-84D76294833B}"/>
                </a:ext>
              </a:extLst>
            </p:cNvPr>
            <p:cNvSpPr/>
            <p:nvPr/>
          </p:nvSpPr>
          <p:spPr>
            <a:xfrm>
              <a:off x="6538454" y="6749787"/>
              <a:ext cx="677445" cy="325186"/>
            </a:xfrm>
            <a:prstGeom prst="rect">
              <a:avLst/>
            </a:prstGeom>
            <a:solidFill>
              <a:srgbClr val="0070C0"/>
            </a:solidFill>
            <a:ln w="12700" cap="flat" cmpd="sng" algn="ctr">
              <a:no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solidFill>
                    <a:srgbClr val="FFFFFF"/>
                  </a:solidFill>
                  <a:effectLst/>
                  <a:uLnTx/>
                  <a:uFillTx/>
                  <a:latin typeface="+mn-ea"/>
                  <a:cs typeface="Huawei Sans" panose="020C0503030203020204" pitchFamily="34" charset="0"/>
                </a:rPr>
                <a:t>Sending</a:t>
              </a:r>
              <a:endParaRPr kumimoji="0" lang="zh-CN" altLang="en-US" sz="900" b="1" i="0" u="none" strike="noStrike" kern="0" cap="none" spc="0" normalizeH="0" baseline="0" noProof="0" dirty="0">
                <a:ln>
                  <a:noFill/>
                </a:ln>
                <a:solidFill>
                  <a:srgbClr val="FFFFFF"/>
                </a:solidFill>
                <a:effectLst/>
                <a:uLnTx/>
                <a:uFillTx/>
                <a:latin typeface="+mn-ea"/>
                <a:cs typeface="Huawei Sans" panose="020C0503030203020204" pitchFamily="34" charset="0"/>
              </a:endParaRPr>
            </a:p>
          </p:txBody>
        </p:sp>
        <p:sp>
          <p:nvSpPr>
            <p:cNvPr id="130" name="矩形 129">
              <a:extLst>
                <a:ext uri="{FF2B5EF4-FFF2-40B4-BE49-F238E27FC236}">
                  <a16:creationId xmlns:a16="http://schemas.microsoft.com/office/drawing/2014/main" id="{964F3752-267F-4F4C-8A07-6B3AB1B43E3C}"/>
                </a:ext>
              </a:extLst>
            </p:cNvPr>
            <p:cNvSpPr/>
            <p:nvPr/>
          </p:nvSpPr>
          <p:spPr>
            <a:xfrm>
              <a:off x="7532839" y="6723621"/>
              <a:ext cx="804541" cy="325187"/>
            </a:xfrm>
            <a:prstGeom prst="rect">
              <a:avLst/>
            </a:prstGeom>
            <a:solidFill>
              <a:srgbClr val="61B230">
                <a:lumMod val="75000"/>
              </a:srgbClr>
            </a:solidFill>
            <a:ln w="12700" cap="flat" cmpd="sng" algn="ctr">
              <a:no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mn-ea"/>
                  <a:cs typeface="Huawei Sans" panose="020C0503030203020204" pitchFamily="34" charset="0"/>
                </a:rPr>
                <a:t>Congestion</a:t>
              </a:r>
            </a:p>
            <a:p>
              <a:pPr marL="0" marR="0" lvl="0" indent="0" algn="ctr" defTabSz="914478" eaLnBrk="1" fontAlgn="auto" latinLnBrk="0" hangingPunct="1">
                <a:lnSpc>
                  <a:spcPct val="100000"/>
                </a:lnSpc>
                <a:spcBef>
                  <a:spcPts val="0"/>
                </a:spcBef>
                <a:spcAft>
                  <a:spcPts val="0"/>
                </a:spcAft>
                <a:buClrTx/>
                <a:buSzTx/>
                <a:buFontTx/>
                <a:buNone/>
                <a:tabLst/>
                <a:defRPr/>
              </a:pPr>
              <a:r>
                <a:rPr lang="en-US" altLang="zh-CN" sz="800" b="1" kern="0" dirty="0">
                  <a:solidFill>
                    <a:srgbClr val="FFFFFF"/>
                  </a:solidFill>
                  <a:latin typeface="+mn-ea"/>
                  <a:cs typeface="Huawei Sans" panose="020C0503030203020204" pitchFamily="34" charset="0"/>
                </a:rPr>
                <a:t>Mark</a:t>
              </a:r>
              <a:endParaRPr kumimoji="0" lang="zh-CN" altLang="en-US" sz="800" b="1" i="0" u="none" strike="noStrike" kern="0" cap="none" spc="0" normalizeH="0" baseline="0" noProof="0" dirty="0">
                <a:ln>
                  <a:noFill/>
                </a:ln>
                <a:solidFill>
                  <a:srgbClr val="FFFFFF"/>
                </a:solidFill>
                <a:effectLst/>
                <a:uLnTx/>
                <a:uFillTx/>
                <a:latin typeface="+mn-ea"/>
                <a:cs typeface="Huawei Sans" panose="020C0503030203020204" pitchFamily="34" charset="0"/>
              </a:endParaRPr>
            </a:p>
          </p:txBody>
        </p:sp>
        <p:sp>
          <p:nvSpPr>
            <p:cNvPr id="131" name="矩形 130">
              <a:extLst>
                <a:ext uri="{FF2B5EF4-FFF2-40B4-BE49-F238E27FC236}">
                  <a16:creationId xmlns:a16="http://schemas.microsoft.com/office/drawing/2014/main" id="{95F06201-52CC-43D3-B0A6-3D82D65AD63B}"/>
                </a:ext>
              </a:extLst>
            </p:cNvPr>
            <p:cNvSpPr/>
            <p:nvPr/>
          </p:nvSpPr>
          <p:spPr>
            <a:xfrm>
              <a:off x="8631439" y="6996206"/>
              <a:ext cx="677445" cy="325187"/>
            </a:xfrm>
            <a:prstGeom prst="rect">
              <a:avLst/>
            </a:prstGeom>
            <a:solidFill>
              <a:srgbClr val="C00000"/>
            </a:solidFill>
            <a:ln w="12700" cap="flat" cmpd="sng" algn="ctr">
              <a:no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srgbClr val="FFFFFF"/>
                  </a:solidFill>
                  <a:effectLst/>
                  <a:uLnTx/>
                  <a:uFillTx/>
                  <a:latin typeface="+mn-ea"/>
                  <a:cs typeface="Huawei Sans" panose="020C0503030203020204" pitchFamily="34" charset="0"/>
                </a:rPr>
                <a:t>ACK</a:t>
              </a:r>
              <a:endParaRPr kumimoji="0" lang="zh-CN" altLang="en-US" sz="900" b="0" i="0" u="none" strike="noStrike" kern="0" cap="none" spc="0" normalizeH="0" baseline="0" noProof="0" dirty="0">
                <a:ln>
                  <a:noFill/>
                </a:ln>
                <a:solidFill>
                  <a:srgbClr val="FFFFFF"/>
                </a:solidFill>
                <a:effectLst/>
                <a:uLnTx/>
                <a:uFillTx/>
                <a:latin typeface="+mn-ea"/>
                <a:cs typeface="Huawei Sans" panose="020C0503030203020204" pitchFamily="34" charset="0"/>
              </a:endParaRPr>
            </a:p>
          </p:txBody>
        </p:sp>
        <p:sp>
          <p:nvSpPr>
            <p:cNvPr id="132" name="矩形 131">
              <a:extLst>
                <a:ext uri="{FF2B5EF4-FFF2-40B4-BE49-F238E27FC236}">
                  <a16:creationId xmlns:a16="http://schemas.microsoft.com/office/drawing/2014/main" id="{BAE3B6D5-EF89-4A32-AB0C-9C9FFAB96A0C}"/>
                </a:ext>
              </a:extLst>
            </p:cNvPr>
            <p:cNvSpPr/>
            <p:nvPr/>
          </p:nvSpPr>
          <p:spPr>
            <a:xfrm>
              <a:off x="6538454" y="7266839"/>
              <a:ext cx="677445" cy="325187"/>
            </a:xfrm>
            <a:prstGeom prst="rect">
              <a:avLst/>
            </a:prstGeom>
            <a:solidFill>
              <a:srgbClr val="0070C0"/>
            </a:solidFill>
            <a:ln w="12700" cap="flat" cmpd="sng" algn="ctr">
              <a:no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solidFill>
                    <a:srgbClr val="FFFFFF"/>
                  </a:solidFill>
                  <a:effectLst/>
                  <a:uLnTx/>
                  <a:uFillTx/>
                  <a:latin typeface="+mn-ea"/>
                  <a:cs typeface="Huawei Sans" panose="020C0503030203020204" pitchFamily="34" charset="0"/>
                </a:rPr>
                <a:t>Ctrl</a:t>
              </a:r>
              <a:endParaRPr kumimoji="0" lang="zh-CN" altLang="en-US" sz="900" b="1" i="0" u="none" strike="noStrike" kern="0" cap="none" spc="0" normalizeH="0" baseline="0" noProof="0" dirty="0">
                <a:ln>
                  <a:noFill/>
                </a:ln>
                <a:solidFill>
                  <a:srgbClr val="FFFFFF"/>
                </a:solidFill>
                <a:effectLst/>
                <a:uLnTx/>
                <a:uFillTx/>
                <a:latin typeface="+mn-ea"/>
                <a:cs typeface="Huawei Sans" panose="020C0503030203020204" pitchFamily="34" charset="0"/>
              </a:endParaRPr>
            </a:p>
          </p:txBody>
        </p:sp>
        <p:grpSp>
          <p:nvGrpSpPr>
            <p:cNvPr id="133" name="组合 132">
              <a:extLst>
                <a:ext uri="{FF2B5EF4-FFF2-40B4-BE49-F238E27FC236}">
                  <a16:creationId xmlns:a16="http://schemas.microsoft.com/office/drawing/2014/main" id="{16CF84DB-AFD0-4EBC-AD74-83DF4AD44633}"/>
                </a:ext>
              </a:extLst>
            </p:cNvPr>
            <p:cNvGrpSpPr/>
            <p:nvPr/>
          </p:nvGrpSpPr>
          <p:grpSpPr>
            <a:xfrm>
              <a:off x="7540438" y="7465775"/>
              <a:ext cx="2107647" cy="213511"/>
              <a:chOff x="9939016" y="2889714"/>
              <a:chExt cx="1816872" cy="225074"/>
            </a:xfrm>
          </p:grpSpPr>
          <p:sp>
            <p:nvSpPr>
              <p:cNvPr id="134" name="矩形 133">
                <a:extLst>
                  <a:ext uri="{FF2B5EF4-FFF2-40B4-BE49-F238E27FC236}">
                    <a16:creationId xmlns:a16="http://schemas.microsoft.com/office/drawing/2014/main" id="{C409110A-E654-4A24-A149-033500FAFCB4}"/>
                  </a:ext>
                </a:extLst>
              </p:cNvPr>
              <p:cNvSpPr/>
              <p:nvPr/>
            </p:nvSpPr>
            <p:spPr>
              <a:xfrm>
                <a:off x="9939016" y="2891764"/>
                <a:ext cx="529805" cy="223024"/>
              </a:xfrm>
              <a:prstGeom prst="rect">
                <a:avLst/>
              </a:prstGeom>
              <a:solidFill>
                <a:srgbClr val="FFFFFF"/>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defTabSz="914478"/>
                <a:r>
                  <a:rPr lang="en-US" altLang="zh-CN" sz="1100" kern="0" dirty="0">
                    <a:solidFill>
                      <a:srgbClr val="1D1D1A"/>
                    </a:solidFill>
                    <a:latin typeface="+mn-ea"/>
                    <a:cs typeface="Huawei Sans" panose="020C0503030203020204" pitchFamily="34" charset="0"/>
                  </a:rPr>
                  <a:t>CAQM</a:t>
                </a:r>
                <a:endParaRPr lang="zh-CN" altLang="en-US" sz="1100" kern="0" dirty="0">
                  <a:solidFill>
                    <a:srgbClr val="1D1D1A"/>
                  </a:solidFill>
                  <a:latin typeface="+mn-ea"/>
                  <a:cs typeface="Huawei Sans" panose="020C0503030203020204" pitchFamily="34" charset="0"/>
                </a:endParaRPr>
              </a:p>
            </p:txBody>
          </p:sp>
          <p:sp>
            <p:nvSpPr>
              <p:cNvPr id="135" name="矩形 134">
                <a:extLst>
                  <a:ext uri="{FF2B5EF4-FFF2-40B4-BE49-F238E27FC236}">
                    <a16:creationId xmlns:a16="http://schemas.microsoft.com/office/drawing/2014/main" id="{258E68EA-E7CD-441E-B8E3-7AD9503A87F5}"/>
                  </a:ext>
                </a:extLst>
              </p:cNvPr>
              <p:cNvSpPr/>
              <p:nvPr/>
            </p:nvSpPr>
            <p:spPr>
              <a:xfrm>
                <a:off x="11084438" y="2889714"/>
                <a:ext cx="671450" cy="223024"/>
              </a:xfrm>
              <a:prstGeom prst="rect">
                <a:avLst/>
              </a:prstGeom>
              <a:solidFill>
                <a:srgbClr val="FFFFFF"/>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lang="en-US" altLang="zh-CN" sz="1100" kern="0" dirty="0">
                    <a:solidFill>
                      <a:srgbClr val="1D1D1A"/>
                    </a:solidFill>
                    <a:latin typeface="+mn-ea"/>
                    <a:cs typeface="Huawei Sans" panose="020C0503030203020204" pitchFamily="34" charset="0"/>
                  </a:rPr>
                  <a:t>DCQCN</a:t>
                </a:r>
              </a:p>
            </p:txBody>
          </p:sp>
          <p:sp>
            <p:nvSpPr>
              <p:cNvPr id="136" name="矩形 135">
                <a:extLst>
                  <a:ext uri="{FF2B5EF4-FFF2-40B4-BE49-F238E27FC236}">
                    <a16:creationId xmlns:a16="http://schemas.microsoft.com/office/drawing/2014/main" id="{2ADF23D1-6D80-4E83-8955-ABCCE7C8D315}"/>
                  </a:ext>
                </a:extLst>
              </p:cNvPr>
              <p:cNvSpPr/>
              <p:nvPr/>
            </p:nvSpPr>
            <p:spPr>
              <a:xfrm>
                <a:off x="10520424" y="2889714"/>
                <a:ext cx="517697" cy="223024"/>
              </a:xfrm>
              <a:prstGeom prst="rect">
                <a:avLst/>
              </a:prstGeom>
              <a:solidFill>
                <a:srgbClr val="FFFFFF"/>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defTabSz="914478"/>
                <a:r>
                  <a:rPr lang="en-US" altLang="zh-CN" sz="1100" kern="0" dirty="0">
                    <a:solidFill>
                      <a:srgbClr val="1D1D1A"/>
                    </a:solidFill>
                    <a:latin typeface="+mn-ea"/>
                    <a:cs typeface="Huawei Sans" panose="020C0503030203020204" pitchFamily="34" charset="0"/>
                  </a:rPr>
                  <a:t>LDCP</a:t>
                </a:r>
              </a:p>
            </p:txBody>
          </p:sp>
        </p:grpSp>
        <p:sp>
          <p:nvSpPr>
            <p:cNvPr id="137" name="矩形 136">
              <a:extLst>
                <a:ext uri="{FF2B5EF4-FFF2-40B4-BE49-F238E27FC236}">
                  <a16:creationId xmlns:a16="http://schemas.microsoft.com/office/drawing/2014/main" id="{87ACBFDA-C07B-4343-9904-1499FF06FFD5}"/>
                </a:ext>
              </a:extLst>
            </p:cNvPr>
            <p:cNvSpPr/>
            <p:nvPr/>
          </p:nvSpPr>
          <p:spPr>
            <a:xfrm>
              <a:off x="2278594" y="4706328"/>
              <a:ext cx="3362657" cy="376417"/>
            </a:xfrm>
            <a:prstGeom prst="rect">
              <a:avLst/>
            </a:prstGeom>
            <a:noFill/>
          </p:spPr>
          <p:txBody>
            <a:bodyPr wrap="none">
              <a:spAutoFit/>
            </a:bodyPr>
            <a:lstStyle/>
            <a:p>
              <a:pPr lvl="0" algn="ctr" defTabSz="914478">
                <a:defRPr/>
              </a:pPr>
              <a:r>
                <a:rPr lang="en-US" altLang="zh-CN" sz="1400" kern="0" dirty="0">
                  <a:solidFill>
                    <a:srgbClr val="1D1D1A"/>
                  </a:solidFill>
                  <a:latin typeface="+mn-ea"/>
                  <a:cs typeface="Huawei Sans" panose="020C0503030203020204" pitchFamily="34" charset="0"/>
                </a:rPr>
                <a:t>Memory-Semantic Innovation</a:t>
              </a:r>
              <a:endParaRPr kumimoji="0" lang="zh-CN" altLang="en-US" sz="1400" b="0" i="0" u="none" strike="noStrike" kern="0" cap="none" spc="0" normalizeH="0" baseline="0" noProof="0" dirty="0">
                <a:ln>
                  <a:noFill/>
                </a:ln>
                <a:solidFill>
                  <a:srgbClr val="1D1D1A"/>
                </a:solidFill>
                <a:effectLst/>
                <a:uLnTx/>
                <a:uFillTx/>
                <a:latin typeface="+mn-ea"/>
                <a:cs typeface="Huawei Sans" panose="020C0503030203020204" pitchFamily="34" charset="0"/>
              </a:endParaRPr>
            </a:p>
          </p:txBody>
        </p:sp>
        <p:sp>
          <p:nvSpPr>
            <p:cNvPr id="138" name="矩形 137">
              <a:extLst>
                <a:ext uri="{FF2B5EF4-FFF2-40B4-BE49-F238E27FC236}">
                  <a16:creationId xmlns:a16="http://schemas.microsoft.com/office/drawing/2014/main" id="{FF875ECE-DDF8-499D-9BA8-B8D558BB0D10}"/>
                </a:ext>
              </a:extLst>
            </p:cNvPr>
            <p:cNvSpPr/>
            <p:nvPr/>
          </p:nvSpPr>
          <p:spPr>
            <a:xfrm>
              <a:off x="10090797" y="4701060"/>
              <a:ext cx="3832163" cy="376417"/>
            </a:xfrm>
            <a:prstGeom prst="rect">
              <a:avLst/>
            </a:prstGeom>
            <a:noFill/>
          </p:spPr>
          <p:txBody>
            <a:bodyPr wrap="square">
              <a:spAutoFit/>
            </a:bodyPr>
            <a:lstStyle/>
            <a:p>
              <a:pPr lvl="0" algn="ctr" defTabSz="914478">
                <a:defRPr/>
              </a:pPr>
              <a:r>
                <a:rPr lang="en-US" altLang="zh-CN" sz="1400" kern="0" dirty="0">
                  <a:solidFill>
                    <a:srgbClr val="1D1D1A"/>
                  </a:solidFill>
                  <a:latin typeface="+mn-ea"/>
                  <a:cs typeface="Huawei Sans" panose="020C0503030203020204" pitchFamily="34" charset="0"/>
                </a:rPr>
                <a:t>Traffic Control Innovation</a:t>
              </a:r>
              <a:endParaRPr kumimoji="0" lang="zh-CN" altLang="en-US" sz="1400" b="0" i="0" u="none" strike="noStrike" kern="0" cap="none" spc="0" normalizeH="0" baseline="0" noProof="0" dirty="0">
                <a:ln>
                  <a:noFill/>
                </a:ln>
                <a:solidFill>
                  <a:srgbClr val="1D1D1A"/>
                </a:solidFill>
                <a:effectLst/>
                <a:uLnTx/>
                <a:uFillTx/>
                <a:latin typeface="+mn-ea"/>
                <a:cs typeface="Huawei Sans" panose="020C0503030203020204" pitchFamily="34" charset="0"/>
              </a:endParaRPr>
            </a:p>
          </p:txBody>
        </p:sp>
        <p:sp>
          <p:nvSpPr>
            <p:cNvPr id="139" name="矩形 138">
              <a:extLst>
                <a:ext uri="{FF2B5EF4-FFF2-40B4-BE49-F238E27FC236}">
                  <a16:creationId xmlns:a16="http://schemas.microsoft.com/office/drawing/2014/main" id="{7B228356-BF58-4093-B79A-B4307788A227}"/>
                </a:ext>
              </a:extLst>
            </p:cNvPr>
            <p:cNvSpPr/>
            <p:nvPr/>
          </p:nvSpPr>
          <p:spPr>
            <a:xfrm>
              <a:off x="10277744" y="6287897"/>
              <a:ext cx="3509693" cy="338775"/>
            </a:xfrm>
            <a:prstGeom prst="rect">
              <a:avLst/>
            </a:prstGeom>
            <a:noFill/>
          </p:spPr>
          <p:txBody>
            <a:bodyPr wrap="none">
              <a:spAutoFit/>
            </a:bodyPr>
            <a:lstStyle/>
            <a:p>
              <a:pPr lvl="0" algn="ctr" defTabSz="914478">
                <a:defRPr/>
              </a:pPr>
              <a:r>
                <a:rPr lang="en-US" altLang="zh-CN" sz="1200" kern="0" dirty="0">
                  <a:solidFill>
                    <a:srgbClr val="1D1D1A"/>
                  </a:solidFill>
                  <a:latin typeface="+mn-ea"/>
                  <a:cs typeface="Huawei Sans" panose="020C0503030203020204" pitchFamily="34" charset="0"/>
                </a:rPr>
                <a:t>Packet Spraying &amp; Adaptive Routing</a:t>
              </a:r>
              <a:endParaRPr kumimoji="0" lang="zh-CN" altLang="en-US" sz="1200" b="0" i="0" u="none" strike="noStrike" kern="0" cap="none" spc="0" normalizeH="0" baseline="0" noProof="0" dirty="0">
                <a:ln>
                  <a:noFill/>
                </a:ln>
                <a:solidFill>
                  <a:srgbClr val="1D1D1A"/>
                </a:solidFill>
                <a:effectLst/>
                <a:uLnTx/>
                <a:uFillTx/>
                <a:latin typeface="+mn-ea"/>
                <a:cs typeface="Huawei Sans" panose="020C0503030203020204" pitchFamily="34" charset="0"/>
              </a:endParaRPr>
            </a:p>
          </p:txBody>
        </p:sp>
        <p:sp>
          <p:nvSpPr>
            <p:cNvPr id="140" name="矩形 139">
              <a:extLst>
                <a:ext uri="{FF2B5EF4-FFF2-40B4-BE49-F238E27FC236}">
                  <a16:creationId xmlns:a16="http://schemas.microsoft.com/office/drawing/2014/main" id="{7917E207-BF9C-4342-9E9A-EA1FE833F041}"/>
                </a:ext>
              </a:extLst>
            </p:cNvPr>
            <p:cNvSpPr/>
            <p:nvPr/>
          </p:nvSpPr>
          <p:spPr>
            <a:xfrm>
              <a:off x="11025928" y="5331780"/>
              <a:ext cx="456488" cy="199588"/>
            </a:xfrm>
            <a:prstGeom prst="rect">
              <a:avLst/>
            </a:prstGeom>
            <a:solidFill>
              <a:srgbClr val="61B230">
                <a:lumMod val="75000"/>
              </a:srgbClr>
            </a:solidFill>
            <a:ln w="12700" cap="flat" cmpd="sng" algn="ctr">
              <a:no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700" b="0" i="0" u="none" strike="noStrike" kern="0" cap="none" spc="0" normalizeH="0" baseline="0" noProof="0" dirty="0">
                  <a:ln>
                    <a:noFill/>
                  </a:ln>
                  <a:solidFill>
                    <a:srgbClr val="FFFFFF"/>
                  </a:solidFill>
                  <a:effectLst/>
                  <a:uLnTx/>
                  <a:uFillTx/>
                  <a:latin typeface="+mn-ea"/>
                  <a:cs typeface="Huawei Sans" panose="020C0503030203020204" pitchFamily="34" charset="0"/>
                </a:rPr>
                <a:t>SW</a:t>
              </a:r>
              <a:endParaRPr kumimoji="0" lang="zh-CN" altLang="en-US" sz="700" b="0" i="0" u="none" strike="noStrike" kern="0" cap="none" spc="0" normalizeH="0" baseline="0" noProof="0" dirty="0">
                <a:ln>
                  <a:noFill/>
                </a:ln>
                <a:solidFill>
                  <a:srgbClr val="FFFFFF"/>
                </a:solidFill>
                <a:effectLst/>
                <a:uLnTx/>
                <a:uFillTx/>
                <a:latin typeface="+mn-ea"/>
                <a:cs typeface="Huawei Sans" panose="020C0503030203020204" pitchFamily="34" charset="0"/>
              </a:endParaRPr>
            </a:p>
          </p:txBody>
        </p:sp>
        <p:sp>
          <p:nvSpPr>
            <p:cNvPr id="141" name="矩形 140">
              <a:extLst>
                <a:ext uri="{FF2B5EF4-FFF2-40B4-BE49-F238E27FC236}">
                  <a16:creationId xmlns:a16="http://schemas.microsoft.com/office/drawing/2014/main" id="{B178427A-835D-4FC0-A7EB-F5EF7ADD8585}"/>
                </a:ext>
              </a:extLst>
            </p:cNvPr>
            <p:cNvSpPr/>
            <p:nvPr/>
          </p:nvSpPr>
          <p:spPr>
            <a:xfrm>
              <a:off x="12836738" y="5330096"/>
              <a:ext cx="456488" cy="199588"/>
            </a:xfrm>
            <a:prstGeom prst="rect">
              <a:avLst/>
            </a:prstGeom>
            <a:solidFill>
              <a:srgbClr val="61B230">
                <a:lumMod val="75000"/>
              </a:srgbClr>
            </a:solidFill>
            <a:ln w="12700" cap="flat" cmpd="sng" algn="ctr">
              <a:no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700" b="0" i="0" u="none" strike="noStrike" kern="0" cap="none" spc="0" normalizeH="0" baseline="0" noProof="0" dirty="0">
                  <a:ln>
                    <a:noFill/>
                  </a:ln>
                  <a:solidFill>
                    <a:srgbClr val="FFFFFF"/>
                  </a:solidFill>
                  <a:effectLst/>
                  <a:uLnTx/>
                  <a:uFillTx/>
                  <a:latin typeface="+mn-ea"/>
                  <a:cs typeface="Huawei Sans" panose="020C0503030203020204" pitchFamily="34" charset="0"/>
                </a:rPr>
                <a:t>SW</a:t>
              </a:r>
              <a:endParaRPr kumimoji="0" lang="zh-CN" altLang="en-US" sz="700" b="0" i="0" u="none" strike="noStrike" kern="0" cap="none" spc="0" normalizeH="0" baseline="0" noProof="0" dirty="0">
                <a:ln>
                  <a:noFill/>
                </a:ln>
                <a:solidFill>
                  <a:srgbClr val="FFFFFF"/>
                </a:solidFill>
                <a:effectLst/>
                <a:uLnTx/>
                <a:uFillTx/>
                <a:latin typeface="+mn-ea"/>
                <a:cs typeface="Huawei Sans" panose="020C0503030203020204" pitchFamily="34" charset="0"/>
              </a:endParaRPr>
            </a:p>
          </p:txBody>
        </p:sp>
        <p:cxnSp>
          <p:nvCxnSpPr>
            <p:cNvPr id="142" name="直接箭头连接符 141">
              <a:extLst>
                <a:ext uri="{FF2B5EF4-FFF2-40B4-BE49-F238E27FC236}">
                  <a16:creationId xmlns:a16="http://schemas.microsoft.com/office/drawing/2014/main" id="{0B5118C5-30D9-4C86-941D-26A97988E169}"/>
                </a:ext>
              </a:extLst>
            </p:cNvPr>
            <p:cNvCxnSpPr>
              <a:cxnSpLocks/>
            </p:cNvCxnSpPr>
            <p:nvPr/>
          </p:nvCxnSpPr>
          <p:spPr>
            <a:xfrm flipH="1" flipV="1">
              <a:off x="11482416" y="5251160"/>
              <a:ext cx="1263259" cy="10354"/>
            </a:xfrm>
            <a:prstGeom prst="straightConnector1">
              <a:avLst/>
            </a:prstGeom>
            <a:noFill/>
            <a:ln w="12700" cap="flat" cmpd="sng" algn="ctr">
              <a:solidFill>
                <a:srgbClr val="1D1D1A"/>
              </a:solidFill>
              <a:prstDash val="dash"/>
              <a:miter lim="800000"/>
              <a:tailEnd type="arrow"/>
            </a:ln>
            <a:effectLst>
              <a:outerShdw blurRad="50800" dist="38100" dir="5400000" algn="t" rotWithShape="0">
                <a:prstClr val="black">
                  <a:alpha val="40000"/>
                </a:prstClr>
              </a:outerShdw>
            </a:effectLst>
          </p:spPr>
        </p:cxnSp>
        <p:cxnSp>
          <p:nvCxnSpPr>
            <p:cNvPr id="143" name="直接箭头连接符 142">
              <a:extLst>
                <a:ext uri="{FF2B5EF4-FFF2-40B4-BE49-F238E27FC236}">
                  <a16:creationId xmlns:a16="http://schemas.microsoft.com/office/drawing/2014/main" id="{CFAE385F-274A-4A70-B8CC-BDCC71E8C1DD}"/>
                </a:ext>
              </a:extLst>
            </p:cNvPr>
            <p:cNvCxnSpPr>
              <a:cxnSpLocks/>
            </p:cNvCxnSpPr>
            <p:nvPr/>
          </p:nvCxnSpPr>
          <p:spPr>
            <a:xfrm flipH="1" flipV="1">
              <a:off x="11482416" y="5580112"/>
              <a:ext cx="1263259" cy="10354"/>
            </a:xfrm>
            <a:prstGeom prst="straightConnector1">
              <a:avLst/>
            </a:prstGeom>
            <a:noFill/>
            <a:ln w="12700" cap="flat" cmpd="sng" algn="ctr">
              <a:solidFill>
                <a:srgbClr val="1D1D1A"/>
              </a:solidFill>
              <a:prstDash val="solid"/>
              <a:miter lim="800000"/>
              <a:headEnd type="arrow"/>
              <a:tailEnd type="none"/>
            </a:ln>
            <a:effectLst>
              <a:outerShdw blurRad="50800" dist="38100" dir="5400000" algn="t" rotWithShape="0">
                <a:prstClr val="black">
                  <a:alpha val="40000"/>
                </a:prstClr>
              </a:outerShdw>
            </a:effectLst>
          </p:spPr>
        </p:cxnSp>
        <p:sp>
          <p:nvSpPr>
            <p:cNvPr id="144" name="矩形 143">
              <a:extLst>
                <a:ext uri="{FF2B5EF4-FFF2-40B4-BE49-F238E27FC236}">
                  <a16:creationId xmlns:a16="http://schemas.microsoft.com/office/drawing/2014/main" id="{CEB6CC2C-5969-4B15-92B8-7789D1FDDC4B}"/>
                </a:ext>
              </a:extLst>
            </p:cNvPr>
            <p:cNvSpPr/>
            <p:nvPr/>
          </p:nvSpPr>
          <p:spPr>
            <a:xfrm>
              <a:off x="11859278" y="5490671"/>
              <a:ext cx="456488" cy="199588"/>
            </a:xfrm>
            <a:prstGeom prst="rect">
              <a:avLst/>
            </a:prstGeom>
            <a:solidFill>
              <a:srgbClr val="FFFFFF">
                <a:alpha val="51000"/>
              </a:srgbClr>
            </a:solidFill>
            <a:ln w="12700" cap="flat" cmpd="sng" algn="ctr">
              <a:no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defTabSz="914478"/>
              <a:r>
                <a:rPr lang="en-US" altLang="zh-CN" sz="1000" kern="0" dirty="0">
                  <a:solidFill>
                    <a:srgbClr val="1D1D1A"/>
                  </a:solidFill>
                  <a:latin typeface="+mn-ea"/>
                  <a:cs typeface="Huawei Sans" panose="020C0503030203020204" pitchFamily="34" charset="0"/>
                </a:rPr>
                <a:t>Packet</a:t>
              </a:r>
              <a:endParaRPr lang="zh-CN" altLang="en-US" sz="1000" kern="0" dirty="0">
                <a:solidFill>
                  <a:srgbClr val="1D1D1A"/>
                </a:solidFill>
                <a:latin typeface="+mn-ea"/>
                <a:cs typeface="Huawei Sans" panose="020C0503030203020204" pitchFamily="34" charset="0"/>
              </a:endParaRPr>
            </a:p>
          </p:txBody>
        </p:sp>
        <p:sp>
          <p:nvSpPr>
            <p:cNvPr id="145" name="矩形 144">
              <a:extLst>
                <a:ext uri="{FF2B5EF4-FFF2-40B4-BE49-F238E27FC236}">
                  <a16:creationId xmlns:a16="http://schemas.microsoft.com/office/drawing/2014/main" id="{51372838-7D25-461E-B0CE-D76F5162A95A}"/>
                </a:ext>
              </a:extLst>
            </p:cNvPr>
            <p:cNvSpPr/>
            <p:nvPr/>
          </p:nvSpPr>
          <p:spPr>
            <a:xfrm>
              <a:off x="11859278" y="5151366"/>
              <a:ext cx="456488" cy="199588"/>
            </a:xfrm>
            <a:prstGeom prst="rect">
              <a:avLst/>
            </a:prstGeom>
            <a:solidFill>
              <a:srgbClr val="FFFFFF">
                <a:alpha val="51000"/>
              </a:srgbClr>
            </a:solidFill>
            <a:ln w="12700" cap="flat" cmpd="sng" algn="ctr">
              <a:no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000" b="0" i="0" u="none" strike="noStrike" kern="0" cap="none" spc="0" normalizeH="0" baseline="0" noProof="0" dirty="0">
                  <a:ln>
                    <a:noFill/>
                  </a:ln>
                  <a:solidFill>
                    <a:srgbClr val="1D1D1A"/>
                  </a:solidFill>
                  <a:effectLst/>
                  <a:uLnTx/>
                  <a:uFillTx/>
                  <a:latin typeface="+mn-ea"/>
                  <a:cs typeface="Huawei Sans" panose="020C0503030203020204" pitchFamily="34" charset="0"/>
                </a:rPr>
                <a:t>Credit</a:t>
              </a:r>
              <a:endParaRPr kumimoji="0" lang="zh-CN" altLang="en-US" sz="1000" b="0" i="0" u="none" strike="noStrike" kern="0" cap="none" spc="0" normalizeH="0" baseline="0" noProof="0" dirty="0">
                <a:ln>
                  <a:noFill/>
                </a:ln>
                <a:solidFill>
                  <a:srgbClr val="1D1D1A"/>
                </a:solidFill>
                <a:effectLst/>
                <a:uLnTx/>
                <a:uFillTx/>
                <a:latin typeface="+mn-ea"/>
                <a:cs typeface="Huawei Sans" panose="020C0503030203020204" pitchFamily="34" charset="0"/>
              </a:endParaRPr>
            </a:p>
          </p:txBody>
        </p:sp>
        <p:grpSp>
          <p:nvGrpSpPr>
            <p:cNvPr id="146" name="组合 145">
              <a:extLst>
                <a:ext uri="{FF2B5EF4-FFF2-40B4-BE49-F238E27FC236}">
                  <a16:creationId xmlns:a16="http://schemas.microsoft.com/office/drawing/2014/main" id="{E1645490-9FA8-4E5C-8057-A43FAAA13851}"/>
                </a:ext>
              </a:extLst>
            </p:cNvPr>
            <p:cNvGrpSpPr/>
            <p:nvPr/>
          </p:nvGrpSpPr>
          <p:grpSpPr>
            <a:xfrm>
              <a:off x="11482416" y="5722282"/>
              <a:ext cx="1367003" cy="237387"/>
              <a:chOff x="9417156" y="4652789"/>
              <a:chExt cx="759543" cy="155539"/>
            </a:xfrm>
          </p:grpSpPr>
          <p:sp>
            <p:nvSpPr>
              <p:cNvPr id="147" name="矩形 146">
                <a:extLst>
                  <a:ext uri="{FF2B5EF4-FFF2-40B4-BE49-F238E27FC236}">
                    <a16:creationId xmlns:a16="http://schemas.microsoft.com/office/drawing/2014/main" id="{ED5430C3-FF4A-4E17-A867-383091DEF22F}"/>
                  </a:ext>
                </a:extLst>
              </p:cNvPr>
              <p:cNvSpPr/>
              <p:nvPr/>
            </p:nvSpPr>
            <p:spPr>
              <a:xfrm>
                <a:off x="9417156" y="4654206"/>
                <a:ext cx="366125" cy="154122"/>
              </a:xfrm>
              <a:prstGeom prst="rect">
                <a:avLst/>
              </a:prstGeom>
              <a:solidFill>
                <a:srgbClr val="FFFFFF"/>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defTabSz="914478"/>
                <a:r>
                  <a:rPr lang="en-US" altLang="zh-CN" sz="1200" kern="0" dirty="0">
                    <a:solidFill>
                      <a:srgbClr val="1D1D1A"/>
                    </a:solidFill>
                    <a:latin typeface="+mn-ea"/>
                    <a:cs typeface="Huawei Sans" panose="020C0503030203020204" pitchFamily="34" charset="0"/>
                  </a:rPr>
                  <a:t>PFC</a:t>
                </a:r>
                <a:endParaRPr lang="zh-CN" altLang="en-US" sz="1200" kern="0" dirty="0">
                  <a:solidFill>
                    <a:srgbClr val="1D1D1A"/>
                  </a:solidFill>
                  <a:latin typeface="+mn-ea"/>
                  <a:cs typeface="Huawei Sans" panose="020C0503030203020204" pitchFamily="34" charset="0"/>
                </a:endParaRPr>
              </a:p>
            </p:txBody>
          </p:sp>
          <p:sp>
            <p:nvSpPr>
              <p:cNvPr id="148" name="矩形 147">
                <a:extLst>
                  <a:ext uri="{FF2B5EF4-FFF2-40B4-BE49-F238E27FC236}">
                    <a16:creationId xmlns:a16="http://schemas.microsoft.com/office/drawing/2014/main" id="{DB82A6D8-16DC-4E01-AD46-0DA119A832AF}"/>
                  </a:ext>
                </a:extLst>
              </p:cNvPr>
              <p:cNvSpPr/>
              <p:nvPr/>
            </p:nvSpPr>
            <p:spPr>
              <a:xfrm>
                <a:off x="9818941" y="4652789"/>
                <a:ext cx="357758" cy="154122"/>
              </a:xfrm>
              <a:prstGeom prst="rect">
                <a:avLst/>
              </a:prstGeom>
              <a:solidFill>
                <a:srgbClr val="FFFFFF"/>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defTabSz="914478"/>
                <a:r>
                  <a:rPr lang="en-US" altLang="zh-CN" sz="1200" kern="0" dirty="0">
                    <a:solidFill>
                      <a:srgbClr val="1D1D1A"/>
                    </a:solidFill>
                    <a:latin typeface="+mn-ea"/>
                    <a:cs typeface="Huawei Sans" panose="020C0503030203020204" pitchFamily="34" charset="0"/>
                  </a:rPr>
                  <a:t>CBFC</a:t>
                </a:r>
              </a:p>
            </p:txBody>
          </p:sp>
        </p:grpSp>
        <p:sp>
          <p:nvSpPr>
            <p:cNvPr id="149" name="矩形 148">
              <a:extLst>
                <a:ext uri="{FF2B5EF4-FFF2-40B4-BE49-F238E27FC236}">
                  <a16:creationId xmlns:a16="http://schemas.microsoft.com/office/drawing/2014/main" id="{072E5485-3829-4326-A26F-C0F95391B994}"/>
                </a:ext>
              </a:extLst>
            </p:cNvPr>
            <p:cNvSpPr/>
            <p:nvPr/>
          </p:nvSpPr>
          <p:spPr>
            <a:xfrm>
              <a:off x="10389671" y="2549811"/>
              <a:ext cx="3329327" cy="376417"/>
            </a:xfrm>
            <a:prstGeom prst="rect">
              <a:avLst/>
            </a:prstGeom>
          </p:spPr>
          <p:txBody>
            <a:bodyPr wrap="none">
              <a:spAutoFit/>
            </a:bodyPr>
            <a:lstStyle/>
            <a:p>
              <a:pPr lvl="0" algn="ctr" defTabSz="914478">
                <a:defRPr/>
              </a:pPr>
              <a:r>
                <a:rPr lang="en-US" altLang="zh-CN" sz="1400" kern="0" dirty="0">
                  <a:solidFill>
                    <a:srgbClr val="1D1D1A"/>
                  </a:solidFill>
                  <a:latin typeface="+mn-ea"/>
                  <a:cs typeface="Huawei Sans" panose="020C0503030203020204" pitchFamily="34" charset="0"/>
                </a:rPr>
                <a:t>Electrical + Optical Topology </a:t>
              </a:r>
              <a:endParaRPr kumimoji="0" lang="zh-CN" altLang="en-US" sz="1400" b="0" i="0" u="none" strike="noStrike" kern="0" cap="none" spc="0" normalizeH="0" baseline="0" noProof="0" dirty="0">
                <a:ln>
                  <a:noFill/>
                </a:ln>
                <a:solidFill>
                  <a:srgbClr val="1D1D1A"/>
                </a:solidFill>
                <a:effectLst/>
                <a:uLnTx/>
                <a:uFillTx/>
                <a:latin typeface="+mn-ea"/>
                <a:cs typeface="Huawei Sans" panose="020C0503030203020204" pitchFamily="34" charset="0"/>
              </a:endParaRPr>
            </a:p>
          </p:txBody>
        </p:sp>
        <p:pic>
          <p:nvPicPr>
            <p:cNvPr id="150" name="图片 149">
              <a:extLst>
                <a:ext uri="{FF2B5EF4-FFF2-40B4-BE49-F238E27FC236}">
                  <a16:creationId xmlns:a16="http://schemas.microsoft.com/office/drawing/2014/main" id="{A15A2527-46BD-45F1-B375-6481CE39DD20}"/>
                </a:ext>
              </a:extLst>
            </p:cNvPr>
            <p:cNvPicPr>
              <a:picLocks noChangeAspect="1"/>
            </p:cNvPicPr>
            <p:nvPr/>
          </p:nvPicPr>
          <p:blipFill>
            <a:blip r:embed="rId9"/>
            <a:stretch>
              <a:fillRect/>
            </a:stretch>
          </p:blipFill>
          <p:spPr>
            <a:xfrm>
              <a:off x="10922818" y="2870343"/>
              <a:ext cx="2227613" cy="1080539"/>
            </a:xfrm>
            <a:prstGeom prst="rect">
              <a:avLst/>
            </a:prstGeom>
          </p:spPr>
        </p:pic>
        <p:sp>
          <p:nvSpPr>
            <p:cNvPr id="151" name="矩形 150">
              <a:extLst>
                <a:ext uri="{FF2B5EF4-FFF2-40B4-BE49-F238E27FC236}">
                  <a16:creationId xmlns:a16="http://schemas.microsoft.com/office/drawing/2014/main" id="{0E0CEDDC-96DC-49F6-9D24-09BFCC2AFD71}"/>
                </a:ext>
              </a:extLst>
            </p:cNvPr>
            <p:cNvSpPr/>
            <p:nvPr/>
          </p:nvSpPr>
          <p:spPr>
            <a:xfrm>
              <a:off x="6185407" y="2570128"/>
              <a:ext cx="3543023" cy="376417"/>
            </a:xfrm>
            <a:prstGeom prst="rect">
              <a:avLst/>
            </a:prstGeom>
          </p:spPr>
          <p:txBody>
            <a:bodyPr wrap="none">
              <a:spAutoFit/>
            </a:bodyPr>
            <a:lstStyle/>
            <a:p>
              <a:pPr lvl="0" algn="ctr" defTabSz="914478">
                <a:defRPr/>
              </a:pPr>
              <a:r>
                <a:rPr lang="en-US" altLang="zh-CN" sz="1400" kern="0" dirty="0">
                  <a:solidFill>
                    <a:srgbClr val="1D1D1A"/>
                  </a:solidFill>
                  <a:latin typeface="+mn-ea"/>
                  <a:cs typeface="Huawei Sans" panose="020C0503030203020204" pitchFamily="34" charset="0"/>
                </a:rPr>
                <a:t>Sparsely Connected Topologies</a:t>
              </a:r>
              <a:endParaRPr kumimoji="0" lang="zh-CN" altLang="en-US" sz="1400" b="0" i="0" u="none" strike="noStrike" kern="0" cap="none" spc="0" normalizeH="0" baseline="0" noProof="0" dirty="0">
                <a:ln>
                  <a:noFill/>
                </a:ln>
                <a:solidFill>
                  <a:srgbClr val="1D1D1A"/>
                </a:solidFill>
                <a:effectLst/>
                <a:uLnTx/>
                <a:uFillTx/>
                <a:latin typeface="+mn-ea"/>
                <a:cs typeface="Huawei Sans" panose="020C0503030203020204" pitchFamily="34" charset="0"/>
              </a:endParaRPr>
            </a:p>
          </p:txBody>
        </p:sp>
        <p:sp>
          <p:nvSpPr>
            <p:cNvPr id="152" name="矩形 151">
              <a:extLst>
                <a:ext uri="{FF2B5EF4-FFF2-40B4-BE49-F238E27FC236}">
                  <a16:creationId xmlns:a16="http://schemas.microsoft.com/office/drawing/2014/main" id="{D7691EFF-2502-44D0-BD74-8EFE1395CE4F}"/>
                </a:ext>
              </a:extLst>
            </p:cNvPr>
            <p:cNvSpPr/>
            <p:nvPr/>
          </p:nvSpPr>
          <p:spPr>
            <a:xfrm>
              <a:off x="6849107" y="4172089"/>
              <a:ext cx="2215619" cy="567990"/>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lvl="0" algn="ctr" defTabSz="914478">
                <a:defRPr/>
              </a:pPr>
              <a:r>
                <a:rPr lang="en-US" altLang="zh-CN" sz="1600" b="1" kern="0" dirty="0">
                  <a:solidFill>
                    <a:srgbClr val="1D1D1A"/>
                  </a:solidFill>
                  <a:latin typeface="+mn-ea"/>
                  <a:cs typeface="Huawei Sans" panose="020C0503030203020204" pitchFamily="34" charset="0"/>
                </a:rPr>
                <a:t>Innovations in Protocol Stacks and Algorithms</a:t>
              </a:r>
              <a:endParaRPr kumimoji="0" lang="zh-CN" altLang="en-US" sz="1600" b="1" i="0" u="none" strike="noStrike" kern="0" cap="none" spc="0" normalizeH="0" baseline="0" noProof="0" dirty="0">
                <a:ln>
                  <a:noFill/>
                </a:ln>
                <a:solidFill>
                  <a:srgbClr val="1D1D1A"/>
                </a:solidFill>
                <a:effectLst/>
                <a:uLnTx/>
                <a:uFillTx/>
                <a:latin typeface="+mn-ea"/>
                <a:cs typeface="Huawei Sans" panose="020C0503030203020204" pitchFamily="34" charset="0"/>
              </a:endParaRPr>
            </a:p>
          </p:txBody>
        </p:sp>
        <p:sp>
          <p:nvSpPr>
            <p:cNvPr id="153" name="矩形 152">
              <a:extLst>
                <a:ext uri="{FF2B5EF4-FFF2-40B4-BE49-F238E27FC236}">
                  <a16:creationId xmlns:a16="http://schemas.microsoft.com/office/drawing/2014/main" id="{0543ADFA-273F-4770-B469-D0765F17E62E}"/>
                </a:ext>
              </a:extLst>
            </p:cNvPr>
            <p:cNvSpPr/>
            <p:nvPr/>
          </p:nvSpPr>
          <p:spPr>
            <a:xfrm>
              <a:off x="6162634" y="4678996"/>
              <a:ext cx="3633206" cy="376417"/>
            </a:xfrm>
            <a:prstGeom prst="rect">
              <a:avLst/>
            </a:prstGeom>
          </p:spPr>
          <p:txBody>
            <a:bodyPr wrap="none">
              <a:spAutoFit/>
            </a:bodyPr>
            <a:lstStyle/>
            <a:p>
              <a:pPr lvl="0" algn="ctr" defTabSz="914478">
                <a:defRPr/>
              </a:pPr>
              <a:r>
                <a:rPr lang="en-US" altLang="zh-CN" sz="1400" kern="0" dirty="0">
                  <a:solidFill>
                    <a:srgbClr val="1D1D1A"/>
                  </a:solidFill>
                  <a:latin typeface="+mn-ea"/>
                  <a:cs typeface="Huawei Sans" panose="020C0503030203020204" pitchFamily="34" charset="0"/>
                </a:rPr>
                <a:t>Innovative Collective Algorithms</a:t>
              </a:r>
              <a:endParaRPr kumimoji="0" lang="zh-CN" altLang="en-US" sz="1400" b="0" i="0" u="none" strike="noStrike" kern="0" cap="none" spc="0" normalizeH="0" baseline="0" noProof="0" dirty="0">
                <a:ln>
                  <a:noFill/>
                </a:ln>
                <a:solidFill>
                  <a:srgbClr val="1D1D1A"/>
                </a:solidFill>
                <a:effectLst/>
                <a:uLnTx/>
                <a:uFillTx/>
                <a:latin typeface="+mn-ea"/>
                <a:cs typeface="Huawei Sans" panose="020C0503030203020204" pitchFamily="34" charset="0"/>
              </a:endParaRPr>
            </a:p>
          </p:txBody>
        </p:sp>
        <p:pic>
          <p:nvPicPr>
            <p:cNvPr id="154" name="图片 153">
              <a:extLst>
                <a:ext uri="{FF2B5EF4-FFF2-40B4-BE49-F238E27FC236}">
                  <a16:creationId xmlns:a16="http://schemas.microsoft.com/office/drawing/2014/main" id="{E7414A67-F2AB-45D2-9FF5-6D723F6335E6}"/>
                </a:ext>
              </a:extLst>
            </p:cNvPr>
            <p:cNvPicPr>
              <a:picLocks noChangeAspect="1"/>
            </p:cNvPicPr>
            <p:nvPr/>
          </p:nvPicPr>
          <p:blipFill>
            <a:blip r:embed="rId10"/>
            <a:stretch>
              <a:fillRect/>
            </a:stretch>
          </p:blipFill>
          <p:spPr>
            <a:xfrm>
              <a:off x="6922948" y="5008854"/>
              <a:ext cx="2948666" cy="524931"/>
            </a:xfrm>
            <a:prstGeom prst="rect">
              <a:avLst/>
            </a:prstGeom>
          </p:spPr>
        </p:pic>
        <p:pic>
          <p:nvPicPr>
            <p:cNvPr id="155" name="图片 154">
              <a:extLst>
                <a:ext uri="{FF2B5EF4-FFF2-40B4-BE49-F238E27FC236}">
                  <a16:creationId xmlns:a16="http://schemas.microsoft.com/office/drawing/2014/main" id="{D6287D85-661D-44CE-A5CA-88F26187495E}"/>
                </a:ext>
              </a:extLst>
            </p:cNvPr>
            <p:cNvPicPr>
              <a:picLocks noChangeAspect="1"/>
            </p:cNvPicPr>
            <p:nvPr/>
          </p:nvPicPr>
          <p:blipFill>
            <a:blip r:embed="rId11"/>
            <a:stretch>
              <a:fillRect/>
            </a:stretch>
          </p:blipFill>
          <p:spPr>
            <a:xfrm>
              <a:off x="6125794" y="5562866"/>
              <a:ext cx="2447677" cy="603563"/>
            </a:xfrm>
            <a:prstGeom prst="rect">
              <a:avLst/>
            </a:prstGeom>
          </p:spPr>
        </p:pic>
        <p:sp>
          <p:nvSpPr>
            <p:cNvPr id="156" name="矩形 155">
              <a:extLst>
                <a:ext uri="{FF2B5EF4-FFF2-40B4-BE49-F238E27FC236}">
                  <a16:creationId xmlns:a16="http://schemas.microsoft.com/office/drawing/2014/main" id="{0A1164FB-4F5E-4944-AE84-9A530E9E7412}"/>
                </a:ext>
              </a:extLst>
            </p:cNvPr>
            <p:cNvSpPr/>
            <p:nvPr/>
          </p:nvSpPr>
          <p:spPr>
            <a:xfrm>
              <a:off x="6163108" y="5051133"/>
              <a:ext cx="1371998" cy="414058"/>
            </a:xfrm>
            <a:prstGeom prst="rect">
              <a:avLst/>
            </a:prstGeom>
          </p:spPr>
          <p:txBody>
            <a:bodyPr wrap="square">
              <a:spAutoFit/>
            </a:bodyPr>
            <a:lstStyle/>
            <a:p>
              <a:pPr defTabSz="914478"/>
              <a:r>
                <a:rPr lang="en-US" altLang="zh-CN" sz="800" kern="0" dirty="0">
                  <a:solidFill>
                    <a:srgbClr val="1D1D1A"/>
                  </a:solidFill>
                  <a:latin typeface="+mn-ea"/>
                  <a:cs typeface="Huawei Sans" panose="020C0503030203020204" pitchFamily="34" charset="0"/>
                </a:rPr>
                <a:t>Multi-Ring</a:t>
              </a:r>
            </a:p>
            <a:p>
              <a:pPr defTabSz="914478"/>
              <a:r>
                <a:rPr lang="en-US" altLang="zh-CN" sz="800" kern="0" dirty="0" err="1">
                  <a:solidFill>
                    <a:srgbClr val="1D1D1A"/>
                  </a:solidFill>
                  <a:latin typeface="+mn-ea"/>
                  <a:cs typeface="Huawei Sans" panose="020C0503030203020204" pitchFamily="34" charset="0"/>
                </a:rPr>
                <a:t>AllReduce</a:t>
              </a:r>
              <a:endParaRPr lang="zh-CN" altLang="en-US" sz="800" kern="0" dirty="0">
                <a:solidFill>
                  <a:srgbClr val="1D1D1A"/>
                </a:solidFill>
                <a:latin typeface="+mn-ea"/>
                <a:cs typeface="Huawei Sans" panose="020C0503030203020204" pitchFamily="34" charset="0"/>
              </a:endParaRPr>
            </a:p>
          </p:txBody>
        </p:sp>
        <p:sp>
          <p:nvSpPr>
            <p:cNvPr id="157" name="矩形 156">
              <a:extLst>
                <a:ext uri="{FF2B5EF4-FFF2-40B4-BE49-F238E27FC236}">
                  <a16:creationId xmlns:a16="http://schemas.microsoft.com/office/drawing/2014/main" id="{4523B221-2351-43BC-8D57-66EB93A852E7}"/>
                </a:ext>
              </a:extLst>
            </p:cNvPr>
            <p:cNvSpPr/>
            <p:nvPr/>
          </p:nvSpPr>
          <p:spPr>
            <a:xfrm>
              <a:off x="8545212" y="5625953"/>
              <a:ext cx="1346277" cy="564625"/>
            </a:xfrm>
            <a:prstGeom prst="rect">
              <a:avLst/>
            </a:prstGeom>
          </p:spPr>
          <p:txBody>
            <a:bodyPr wrap="square">
              <a:spAutoFit/>
            </a:bodyPr>
            <a:lstStyle/>
            <a:p>
              <a:pPr defTabSz="914478"/>
              <a:r>
                <a:rPr lang="zh-CN" altLang="en-US" sz="800" kern="0" dirty="0">
                  <a:solidFill>
                    <a:srgbClr val="1D1D1A"/>
                  </a:solidFill>
                  <a:latin typeface="+mn-ea"/>
                  <a:cs typeface="Huawei Sans" panose="020C0503030203020204" pitchFamily="34" charset="0"/>
                </a:rPr>
                <a:t>Multi-Path and Hierarchical All-to-All</a:t>
              </a:r>
            </a:p>
          </p:txBody>
        </p:sp>
        <p:sp>
          <p:nvSpPr>
            <p:cNvPr id="158" name="矩形 157">
              <a:extLst>
                <a:ext uri="{FF2B5EF4-FFF2-40B4-BE49-F238E27FC236}">
                  <a16:creationId xmlns:a16="http://schemas.microsoft.com/office/drawing/2014/main" id="{A84EE5E3-45BE-4BDA-95A5-D68559660C22}"/>
                </a:ext>
              </a:extLst>
            </p:cNvPr>
            <p:cNvSpPr/>
            <p:nvPr/>
          </p:nvSpPr>
          <p:spPr>
            <a:xfrm>
              <a:off x="6849107" y="7929739"/>
              <a:ext cx="2215619" cy="567990"/>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lvl="0" algn="ctr" defTabSz="914478">
                <a:defRPr/>
              </a:pPr>
              <a:r>
                <a:rPr lang="en-US" altLang="zh-CN" sz="1600" b="1" kern="0" dirty="0">
                  <a:solidFill>
                    <a:srgbClr val="1D1D1A"/>
                  </a:solidFill>
                  <a:latin typeface="+mn-ea"/>
                  <a:cs typeface="Huawei Sans" panose="020C0503030203020204" pitchFamily="34" charset="0"/>
                </a:rPr>
                <a:t>Simulation Framework Innovation</a:t>
              </a:r>
              <a:endParaRPr kumimoji="0" lang="zh-CN" altLang="en-US" sz="1600" b="1" i="0" u="none" strike="noStrike" kern="0" cap="none" spc="0" normalizeH="0" baseline="0" noProof="0" dirty="0">
                <a:ln>
                  <a:noFill/>
                </a:ln>
                <a:solidFill>
                  <a:srgbClr val="1D1D1A"/>
                </a:solidFill>
                <a:effectLst/>
                <a:uLnTx/>
                <a:uFillTx/>
                <a:latin typeface="+mn-ea"/>
                <a:cs typeface="Huawei Sans" panose="020C0503030203020204" pitchFamily="34" charset="0"/>
              </a:endParaRPr>
            </a:p>
          </p:txBody>
        </p:sp>
        <p:grpSp>
          <p:nvGrpSpPr>
            <p:cNvPr id="159" name="组合 158">
              <a:extLst>
                <a:ext uri="{FF2B5EF4-FFF2-40B4-BE49-F238E27FC236}">
                  <a16:creationId xmlns:a16="http://schemas.microsoft.com/office/drawing/2014/main" id="{89405FBF-D495-473C-AE1B-E758F875C7A4}"/>
                </a:ext>
              </a:extLst>
            </p:cNvPr>
            <p:cNvGrpSpPr/>
            <p:nvPr/>
          </p:nvGrpSpPr>
          <p:grpSpPr>
            <a:xfrm>
              <a:off x="2220946" y="4968214"/>
              <a:ext cx="3613081" cy="1186183"/>
              <a:chOff x="700283" y="4541598"/>
              <a:chExt cx="4540175" cy="1641729"/>
            </a:xfrm>
          </p:grpSpPr>
          <p:sp>
            <p:nvSpPr>
              <p:cNvPr id="160" name="矩形 159">
                <a:extLst>
                  <a:ext uri="{FF2B5EF4-FFF2-40B4-BE49-F238E27FC236}">
                    <a16:creationId xmlns:a16="http://schemas.microsoft.com/office/drawing/2014/main" id="{BB2D0F98-966C-4FF6-A6BF-906D20786D6D}"/>
                  </a:ext>
                </a:extLst>
              </p:cNvPr>
              <p:cNvSpPr/>
              <p:nvPr/>
            </p:nvSpPr>
            <p:spPr>
              <a:xfrm>
                <a:off x="700283" y="4602480"/>
                <a:ext cx="1796088" cy="338636"/>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700" b="1" i="0" u="none" strike="noStrike" kern="0" cap="none" spc="0" normalizeH="0" baseline="0" noProof="0" dirty="0">
                    <a:ln>
                      <a:noFill/>
                    </a:ln>
                    <a:solidFill>
                      <a:srgbClr val="C00000"/>
                    </a:solidFill>
                    <a:effectLst/>
                    <a:uLnTx/>
                    <a:uFillTx/>
                    <a:latin typeface="+mn-ea"/>
                    <a:cs typeface="Huawei Sans" panose="020C0503030203020204" pitchFamily="34" charset="0"/>
                  </a:rPr>
                  <a:t>Transport Layer</a:t>
                </a:r>
              </a:p>
            </p:txBody>
          </p:sp>
          <p:sp>
            <p:nvSpPr>
              <p:cNvPr id="161" name="Rectangle 1">
                <a:extLst>
                  <a:ext uri="{FF2B5EF4-FFF2-40B4-BE49-F238E27FC236}">
                    <a16:creationId xmlns:a16="http://schemas.microsoft.com/office/drawing/2014/main" id="{68220A4E-4BAF-474E-B154-ECF0B287A484}"/>
                  </a:ext>
                </a:extLst>
              </p:cNvPr>
              <p:cNvSpPr/>
              <p:nvPr/>
            </p:nvSpPr>
            <p:spPr>
              <a:xfrm>
                <a:off x="700283" y="4902740"/>
                <a:ext cx="1796089" cy="1006533"/>
              </a:xfrm>
              <a:prstGeom prst="rect">
                <a:avLst/>
              </a:prstGeom>
              <a:noFill/>
              <a:ln w="9525" cap="flat" cmpd="sng" algn="ctr">
                <a:solidFill>
                  <a:srgbClr val="282828"/>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a:ln>
                    <a:noFill/>
                  </a:ln>
                  <a:solidFill>
                    <a:srgbClr val="282828"/>
                  </a:solidFill>
                  <a:effectLst/>
                  <a:uLnTx/>
                  <a:uFillTx/>
                  <a:latin typeface="+mn-ea"/>
                  <a:cs typeface="Huawei Sans" panose="020C0503030203020204" pitchFamily="34" charset="0"/>
                </a:endParaRPr>
              </a:p>
            </p:txBody>
          </p:sp>
          <p:sp>
            <p:nvSpPr>
              <p:cNvPr id="162" name="矩形 41">
                <a:extLst>
                  <a:ext uri="{FF2B5EF4-FFF2-40B4-BE49-F238E27FC236}">
                    <a16:creationId xmlns:a16="http://schemas.microsoft.com/office/drawing/2014/main" id="{107FA292-1F3A-43DE-A2A4-29F410FFDD46}"/>
                  </a:ext>
                </a:extLst>
              </p:cNvPr>
              <p:cNvSpPr/>
              <p:nvPr/>
            </p:nvSpPr>
            <p:spPr>
              <a:xfrm>
                <a:off x="752481" y="4902738"/>
                <a:ext cx="2247920" cy="949156"/>
              </a:xfrm>
              <a:prstGeom prst="rect">
                <a:avLst/>
              </a:prstGeom>
            </p:spPr>
            <p:txBody>
              <a:bodyPr wrap="square">
                <a:spAutoFit/>
              </a:bodyPr>
              <a:lstStyle/>
              <a:p>
                <a:pPr marR="0" lvl="0" defTabSz="914400" eaLnBrk="1" fontAlgn="auto" latinLnBrk="0" hangingPunct="1">
                  <a:lnSpc>
                    <a:spcPct val="130000"/>
                  </a:lnSpc>
                  <a:spcBef>
                    <a:spcPts val="0"/>
                  </a:spcBef>
                  <a:spcAft>
                    <a:spcPts val="0"/>
                  </a:spcAft>
                  <a:buClrTx/>
                  <a:buSzTx/>
                  <a:tabLst/>
                  <a:defRPr/>
                </a:pPr>
                <a:r>
                  <a:rPr kumimoji="0" lang="en-US" altLang="zh-CN" sz="600" b="1" i="0" u="none" strike="noStrike" kern="0" cap="none" spc="0" normalizeH="0" baseline="0" noProof="0" dirty="0">
                    <a:ln>
                      <a:noFill/>
                    </a:ln>
                    <a:solidFill>
                      <a:srgbClr val="282828"/>
                    </a:solidFill>
                    <a:effectLst/>
                    <a:uLnTx/>
                    <a:uFillTx/>
                    <a:latin typeface="+mn-ea"/>
                    <a:cs typeface="Huawei Sans" panose="020C0503030203020204" pitchFamily="34" charset="0"/>
                  </a:rPr>
                  <a:t>In-Order </a:t>
                </a:r>
                <a:r>
                  <a:rPr lang="en-US" altLang="zh-CN" sz="600" b="1" kern="0" dirty="0">
                    <a:solidFill>
                      <a:srgbClr val="282828"/>
                    </a:solidFill>
                    <a:latin typeface="+mn-ea"/>
                    <a:cs typeface="Huawei Sans" panose="020C0503030203020204" pitchFamily="34" charset="0"/>
                  </a:rPr>
                  <a:t>D</a:t>
                </a:r>
                <a:r>
                  <a:rPr kumimoji="0" lang="en-US" altLang="zh-CN" sz="600" b="1" i="0" u="none" strike="noStrike" kern="0" cap="none" spc="0" normalizeH="0" baseline="0" noProof="0" dirty="0" err="1">
                    <a:ln>
                      <a:noFill/>
                    </a:ln>
                    <a:solidFill>
                      <a:srgbClr val="282828"/>
                    </a:solidFill>
                    <a:effectLst/>
                    <a:uLnTx/>
                    <a:uFillTx/>
                    <a:latin typeface="+mn-ea"/>
                    <a:cs typeface="Huawei Sans" panose="020C0503030203020204" pitchFamily="34" charset="0"/>
                  </a:rPr>
                  <a:t>elivery</a:t>
                </a:r>
                <a:r>
                  <a:rPr kumimoji="0" lang="en-US" altLang="zh-CN" sz="600" b="1" i="0" u="none" strike="noStrike" kern="0" cap="none" spc="0" normalizeH="0" baseline="0" noProof="0" dirty="0">
                    <a:ln>
                      <a:noFill/>
                    </a:ln>
                    <a:solidFill>
                      <a:srgbClr val="282828"/>
                    </a:solidFill>
                    <a:effectLst/>
                    <a:uLnTx/>
                    <a:uFillTx/>
                    <a:latin typeface="+mn-ea"/>
                    <a:cs typeface="Huawei Sans" panose="020C0503030203020204" pitchFamily="34" charset="0"/>
                  </a:rPr>
                  <a:t> of Pkt.</a:t>
                </a:r>
              </a:p>
              <a:p>
                <a:pPr marR="0" lvl="0" defTabSz="914400" eaLnBrk="1" fontAlgn="auto" latinLnBrk="0" hangingPunct="1">
                  <a:lnSpc>
                    <a:spcPct val="130000"/>
                  </a:lnSpc>
                  <a:spcBef>
                    <a:spcPts val="0"/>
                  </a:spcBef>
                  <a:spcAft>
                    <a:spcPts val="0"/>
                  </a:spcAft>
                  <a:buClrTx/>
                  <a:buSzTx/>
                  <a:tabLst/>
                  <a:defRPr/>
                </a:pPr>
                <a:r>
                  <a:rPr kumimoji="0" lang="en-US" altLang="zh-CN" sz="600" b="1" i="0" u="none" strike="noStrike" kern="0" cap="none" spc="0" normalizeH="0" baseline="0" noProof="0" dirty="0">
                    <a:ln>
                      <a:noFill/>
                    </a:ln>
                    <a:solidFill>
                      <a:srgbClr val="282828"/>
                    </a:solidFill>
                    <a:effectLst/>
                    <a:uLnTx/>
                    <a:uFillTx/>
                    <a:latin typeface="+mn-ea"/>
                    <a:cs typeface="Huawei Sans" panose="020C0503030203020204" pitchFamily="34" charset="0"/>
                  </a:rPr>
                  <a:t>Reliable Trans.</a:t>
                </a:r>
              </a:p>
              <a:p>
                <a:pPr marR="0" lvl="0" defTabSz="914400" eaLnBrk="1" fontAlgn="auto" latinLnBrk="0" hangingPunct="1">
                  <a:lnSpc>
                    <a:spcPct val="130000"/>
                  </a:lnSpc>
                  <a:spcBef>
                    <a:spcPts val="0"/>
                  </a:spcBef>
                  <a:spcAft>
                    <a:spcPts val="0"/>
                  </a:spcAft>
                  <a:buClrTx/>
                  <a:buSzTx/>
                  <a:tabLst/>
                  <a:defRPr/>
                </a:pPr>
                <a:r>
                  <a:rPr kumimoji="0" lang="en-US" altLang="zh-CN" sz="600" b="1" i="0" u="none" strike="noStrike" kern="0" cap="none" spc="0" normalizeH="0" baseline="0" noProof="0" dirty="0">
                    <a:ln>
                      <a:noFill/>
                    </a:ln>
                    <a:solidFill>
                      <a:srgbClr val="282828"/>
                    </a:solidFill>
                    <a:effectLst/>
                    <a:uLnTx/>
                    <a:uFillTx/>
                    <a:latin typeface="+mn-ea"/>
                    <a:cs typeface="Huawei Sans" panose="020C0503030203020204" pitchFamily="34" charset="0"/>
                  </a:rPr>
                  <a:t>Load Balance</a:t>
                </a:r>
              </a:p>
              <a:p>
                <a:pPr marR="0" lvl="0" defTabSz="914400" eaLnBrk="1" fontAlgn="auto" latinLnBrk="0" hangingPunct="1">
                  <a:lnSpc>
                    <a:spcPct val="130000"/>
                  </a:lnSpc>
                  <a:spcBef>
                    <a:spcPts val="0"/>
                  </a:spcBef>
                  <a:spcAft>
                    <a:spcPts val="0"/>
                  </a:spcAft>
                  <a:buClrTx/>
                  <a:buSzTx/>
                  <a:tabLst/>
                  <a:defRPr/>
                </a:pPr>
                <a:r>
                  <a:rPr kumimoji="0" lang="en-US" altLang="zh-CN" sz="600" b="1" i="0" u="none" strike="noStrike" kern="0" cap="none" spc="0" normalizeH="0" baseline="0" noProof="0" dirty="0">
                    <a:ln>
                      <a:noFill/>
                    </a:ln>
                    <a:solidFill>
                      <a:srgbClr val="282828"/>
                    </a:solidFill>
                    <a:effectLst/>
                    <a:uLnTx/>
                    <a:uFillTx/>
                    <a:latin typeface="+mn-ea"/>
                    <a:cs typeface="Huawei Sans" panose="020C0503030203020204" pitchFamily="34" charset="0"/>
                  </a:rPr>
                  <a:t>Congestion Control</a:t>
                </a:r>
              </a:p>
            </p:txBody>
          </p:sp>
          <p:sp>
            <p:nvSpPr>
              <p:cNvPr id="163" name="矩形 41">
                <a:extLst>
                  <a:ext uri="{FF2B5EF4-FFF2-40B4-BE49-F238E27FC236}">
                    <a16:creationId xmlns:a16="http://schemas.microsoft.com/office/drawing/2014/main" id="{0069DB91-4779-4120-ADF1-9672569901C5}"/>
                  </a:ext>
                </a:extLst>
              </p:cNvPr>
              <p:cNvSpPr/>
              <p:nvPr/>
            </p:nvSpPr>
            <p:spPr>
              <a:xfrm>
                <a:off x="3274607" y="4756368"/>
                <a:ext cx="1904386" cy="597497"/>
              </a:xfrm>
              <a:prstGeom prst="rect">
                <a:avLst/>
              </a:prstGeom>
            </p:spPr>
            <p:txBody>
              <a:bodyPr wrap="square">
                <a:spAutoFit/>
              </a:bodyPr>
              <a:lstStyle/>
              <a:p>
                <a:pPr marR="0" lvl="0" defTabSz="914400" eaLnBrk="1" fontAlgn="auto" latinLnBrk="0" hangingPunct="1">
                  <a:lnSpc>
                    <a:spcPct val="150000"/>
                  </a:lnSpc>
                  <a:spcBef>
                    <a:spcPts val="0"/>
                  </a:spcBef>
                  <a:spcAft>
                    <a:spcPts val="0"/>
                  </a:spcAft>
                  <a:buClrTx/>
                  <a:buSzTx/>
                  <a:tabLst/>
                  <a:defRPr/>
                </a:pPr>
                <a:r>
                  <a:rPr kumimoji="0" lang="en-US" altLang="zh-CN" sz="600" b="1" i="0" u="none" strike="noStrike" kern="0" cap="none" spc="0" normalizeH="0" baseline="0" noProof="0" dirty="0">
                    <a:ln>
                      <a:noFill/>
                    </a:ln>
                    <a:solidFill>
                      <a:srgbClr val="282828"/>
                    </a:solidFill>
                    <a:effectLst/>
                    <a:uLnTx/>
                    <a:uFillTx/>
                    <a:latin typeface="+mn-ea"/>
                    <a:cs typeface="Huawei Sans" panose="020C0503030203020204" pitchFamily="34" charset="0"/>
                  </a:rPr>
                  <a:t>In-Order Exec. of Inst.</a:t>
                </a:r>
              </a:p>
              <a:p>
                <a:pPr marR="0" lvl="0" defTabSz="914400" eaLnBrk="1" fontAlgn="auto" latinLnBrk="0" hangingPunct="1">
                  <a:lnSpc>
                    <a:spcPct val="150000"/>
                  </a:lnSpc>
                  <a:spcBef>
                    <a:spcPts val="0"/>
                  </a:spcBef>
                  <a:spcAft>
                    <a:spcPts val="0"/>
                  </a:spcAft>
                  <a:buClrTx/>
                  <a:buSzTx/>
                  <a:tabLst/>
                  <a:defRPr/>
                </a:pPr>
                <a:r>
                  <a:rPr kumimoji="0" lang="en-US" altLang="zh-CN" sz="600" b="1" i="0" u="none" strike="noStrike" kern="0" cap="none" spc="0" normalizeH="0" baseline="0" noProof="0" dirty="0">
                    <a:ln>
                      <a:noFill/>
                    </a:ln>
                    <a:solidFill>
                      <a:srgbClr val="282828"/>
                    </a:solidFill>
                    <a:effectLst/>
                    <a:uLnTx/>
                    <a:uFillTx/>
                    <a:latin typeface="+mn-ea"/>
                    <a:cs typeface="Huawei Sans" panose="020C0503030203020204" pitchFamily="34" charset="0"/>
                  </a:rPr>
                  <a:t>Transaction Reliability</a:t>
                </a:r>
                <a:endParaRPr kumimoji="0" lang="zh-CN" altLang="en-US" sz="600" b="1" i="0" u="none" strike="noStrike" kern="0" cap="none" spc="0" normalizeH="0" baseline="0" noProof="0" dirty="0">
                  <a:ln>
                    <a:noFill/>
                  </a:ln>
                  <a:solidFill>
                    <a:srgbClr val="282828"/>
                  </a:solidFill>
                  <a:effectLst/>
                  <a:uLnTx/>
                  <a:uFillTx/>
                  <a:latin typeface="+mn-ea"/>
                  <a:cs typeface="Huawei Sans" panose="020C0503030203020204" pitchFamily="34" charset="0"/>
                </a:endParaRPr>
              </a:p>
            </p:txBody>
          </p:sp>
          <p:sp>
            <p:nvSpPr>
              <p:cNvPr id="164" name="矩形 41">
                <a:extLst>
                  <a:ext uri="{FF2B5EF4-FFF2-40B4-BE49-F238E27FC236}">
                    <a16:creationId xmlns:a16="http://schemas.microsoft.com/office/drawing/2014/main" id="{87578C4D-0A98-4AB3-BB8D-1FC69436AED8}"/>
                  </a:ext>
                </a:extLst>
              </p:cNvPr>
              <p:cNvSpPr/>
              <p:nvPr/>
            </p:nvSpPr>
            <p:spPr>
              <a:xfrm>
                <a:off x="3201657" y="5585830"/>
                <a:ext cx="2038801" cy="597497"/>
              </a:xfrm>
              <a:prstGeom prst="rect">
                <a:avLst/>
              </a:prstGeom>
            </p:spPr>
            <p:txBody>
              <a:bodyPr wrap="square">
                <a:spAutoFit/>
              </a:bodyPr>
              <a:lstStyle/>
              <a:p>
                <a:pPr marR="0" lvl="0" defTabSz="914400" eaLnBrk="1" fontAlgn="auto" latinLnBrk="0" hangingPunct="1">
                  <a:lnSpc>
                    <a:spcPct val="150000"/>
                  </a:lnSpc>
                  <a:spcBef>
                    <a:spcPts val="0"/>
                  </a:spcBef>
                  <a:spcAft>
                    <a:spcPts val="0"/>
                  </a:spcAft>
                  <a:buClrTx/>
                  <a:buSzTx/>
                  <a:tabLst/>
                  <a:defRPr/>
                </a:pPr>
                <a:r>
                  <a:rPr kumimoji="0" lang="en-US" altLang="zh-CN" sz="600" b="1" i="0" u="none" strike="noStrike" kern="0" cap="none" spc="0" normalizeH="0" baseline="0" noProof="0" dirty="0">
                    <a:ln>
                      <a:noFill/>
                    </a:ln>
                    <a:solidFill>
                      <a:srgbClr val="282828"/>
                    </a:solidFill>
                    <a:effectLst/>
                    <a:uLnTx/>
                    <a:uFillTx/>
                    <a:latin typeface="+mn-ea"/>
                    <a:cs typeface="Huawei Sans" panose="020C0503030203020204" pitchFamily="34" charset="0"/>
                  </a:rPr>
                  <a:t>Load Balance</a:t>
                </a:r>
              </a:p>
              <a:p>
                <a:pPr marR="0" lvl="0" defTabSz="914400" eaLnBrk="1" fontAlgn="auto" latinLnBrk="0" hangingPunct="1">
                  <a:lnSpc>
                    <a:spcPct val="150000"/>
                  </a:lnSpc>
                  <a:spcBef>
                    <a:spcPts val="0"/>
                  </a:spcBef>
                  <a:spcAft>
                    <a:spcPts val="0"/>
                  </a:spcAft>
                  <a:buClrTx/>
                  <a:buSzTx/>
                  <a:tabLst/>
                  <a:defRPr/>
                </a:pPr>
                <a:r>
                  <a:rPr kumimoji="0" lang="en-US" altLang="zh-CN" sz="600" b="1" i="0" u="none" strike="noStrike" kern="0" cap="none" spc="0" normalizeH="0" baseline="0" noProof="0" dirty="0">
                    <a:ln>
                      <a:noFill/>
                    </a:ln>
                    <a:solidFill>
                      <a:srgbClr val="282828"/>
                    </a:solidFill>
                    <a:effectLst/>
                    <a:uLnTx/>
                    <a:uFillTx/>
                    <a:latin typeface="+mn-ea"/>
                    <a:cs typeface="Huawei Sans" panose="020C0503030203020204" pitchFamily="34" charset="0"/>
                  </a:rPr>
                  <a:t>Latency &amp; Sending Rate Ctrl.</a:t>
                </a:r>
              </a:p>
            </p:txBody>
          </p:sp>
          <p:sp>
            <p:nvSpPr>
              <p:cNvPr id="165" name="Rectangle 52">
                <a:extLst>
                  <a:ext uri="{FF2B5EF4-FFF2-40B4-BE49-F238E27FC236}">
                    <a16:creationId xmlns:a16="http://schemas.microsoft.com/office/drawing/2014/main" id="{914E7492-A61E-46E5-9605-FC813A45F894}"/>
                  </a:ext>
                </a:extLst>
              </p:cNvPr>
              <p:cNvSpPr/>
              <p:nvPr/>
            </p:nvSpPr>
            <p:spPr>
              <a:xfrm>
                <a:off x="3290012" y="4841514"/>
                <a:ext cx="1822035" cy="489737"/>
              </a:xfrm>
              <a:prstGeom prst="rect">
                <a:avLst/>
              </a:prstGeom>
              <a:noFill/>
              <a:ln w="9525" cap="flat" cmpd="sng" algn="ctr">
                <a:solidFill>
                  <a:srgbClr val="282828"/>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a:ln>
                    <a:noFill/>
                  </a:ln>
                  <a:solidFill>
                    <a:srgbClr val="282828"/>
                  </a:solidFill>
                  <a:effectLst/>
                  <a:uLnTx/>
                  <a:uFillTx/>
                  <a:latin typeface="+mn-ea"/>
                  <a:cs typeface="Huawei Sans" panose="020C0503030203020204" pitchFamily="34" charset="0"/>
                </a:endParaRPr>
              </a:p>
            </p:txBody>
          </p:sp>
          <p:sp>
            <p:nvSpPr>
              <p:cNvPr id="166" name="Rectangle 54">
                <a:extLst>
                  <a:ext uri="{FF2B5EF4-FFF2-40B4-BE49-F238E27FC236}">
                    <a16:creationId xmlns:a16="http://schemas.microsoft.com/office/drawing/2014/main" id="{EC1C5BD7-838D-498B-A4BC-A0EC8BFB7602}"/>
                  </a:ext>
                </a:extLst>
              </p:cNvPr>
              <p:cNvSpPr/>
              <p:nvPr/>
            </p:nvSpPr>
            <p:spPr>
              <a:xfrm>
                <a:off x="3277039" y="5668203"/>
                <a:ext cx="1822035" cy="489737"/>
              </a:xfrm>
              <a:prstGeom prst="rect">
                <a:avLst/>
              </a:prstGeom>
              <a:noFill/>
              <a:ln w="9525" cap="flat" cmpd="sng" algn="ctr">
                <a:solidFill>
                  <a:srgbClr val="282828"/>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dirty="0">
                  <a:ln>
                    <a:noFill/>
                  </a:ln>
                  <a:solidFill>
                    <a:srgbClr val="282828"/>
                  </a:solidFill>
                  <a:effectLst/>
                  <a:uLnTx/>
                  <a:uFillTx/>
                  <a:latin typeface="+mn-ea"/>
                  <a:cs typeface="Huawei Sans" panose="020C0503030203020204" pitchFamily="34" charset="0"/>
                </a:endParaRPr>
              </a:p>
            </p:txBody>
          </p:sp>
          <p:sp>
            <p:nvSpPr>
              <p:cNvPr id="167" name="矩形 65">
                <a:extLst>
                  <a:ext uri="{FF2B5EF4-FFF2-40B4-BE49-F238E27FC236}">
                    <a16:creationId xmlns:a16="http://schemas.microsoft.com/office/drawing/2014/main" id="{5D6E3D13-0902-4972-9519-32D4BC82D79A}"/>
                  </a:ext>
                </a:extLst>
              </p:cNvPr>
              <p:cNvSpPr/>
              <p:nvPr/>
            </p:nvSpPr>
            <p:spPr>
              <a:xfrm>
                <a:off x="3290013" y="4541598"/>
                <a:ext cx="1822036" cy="338635"/>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700" b="1" i="0" u="none" strike="noStrike" kern="0" cap="none" spc="0" normalizeH="0" baseline="0" noProof="0" dirty="0">
                    <a:ln>
                      <a:noFill/>
                    </a:ln>
                    <a:solidFill>
                      <a:srgbClr val="C00000"/>
                    </a:solidFill>
                    <a:effectLst/>
                    <a:uLnTx/>
                    <a:uFillTx/>
                    <a:latin typeface="+mn-ea"/>
                    <a:cs typeface="Huawei Sans" panose="020C0503030203020204" pitchFamily="34" charset="0"/>
                  </a:rPr>
                  <a:t>New TA Layer</a:t>
                </a:r>
              </a:p>
            </p:txBody>
          </p:sp>
          <p:sp>
            <p:nvSpPr>
              <p:cNvPr id="168" name="矩形 65">
                <a:extLst>
                  <a:ext uri="{FF2B5EF4-FFF2-40B4-BE49-F238E27FC236}">
                    <a16:creationId xmlns:a16="http://schemas.microsoft.com/office/drawing/2014/main" id="{709B82D1-7CFC-4623-AB63-CDDC6112BA66}"/>
                  </a:ext>
                </a:extLst>
              </p:cNvPr>
              <p:cNvSpPr/>
              <p:nvPr/>
            </p:nvSpPr>
            <p:spPr>
              <a:xfrm>
                <a:off x="3250852" y="5367737"/>
                <a:ext cx="1845502" cy="338635"/>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700" b="1" i="0" u="none" strike="noStrike" kern="0" cap="none" spc="0" normalizeH="0" baseline="0" noProof="0" dirty="0">
                    <a:ln>
                      <a:noFill/>
                    </a:ln>
                    <a:solidFill>
                      <a:srgbClr val="C00000"/>
                    </a:solidFill>
                    <a:effectLst/>
                    <a:uLnTx/>
                    <a:uFillTx/>
                    <a:latin typeface="+mn-ea"/>
                    <a:cs typeface="Huawei Sans" panose="020C0503030203020204" pitchFamily="34" charset="0"/>
                  </a:rPr>
                  <a:t>Compact TP Layer</a:t>
                </a:r>
              </a:p>
            </p:txBody>
          </p:sp>
          <p:cxnSp>
            <p:nvCxnSpPr>
              <p:cNvPr id="169" name="Straight Arrow Connector 3">
                <a:extLst>
                  <a:ext uri="{FF2B5EF4-FFF2-40B4-BE49-F238E27FC236}">
                    <a16:creationId xmlns:a16="http://schemas.microsoft.com/office/drawing/2014/main" id="{6091E837-59A4-4A2C-9C14-3427670BE70A}"/>
                  </a:ext>
                </a:extLst>
              </p:cNvPr>
              <p:cNvCxnSpPr>
                <a:cxnSpLocks/>
              </p:cNvCxnSpPr>
              <p:nvPr/>
            </p:nvCxnSpPr>
            <p:spPr>
              <a:xfrm>
                <a:off x="2541254" y="5097330"/>
                <a:ext cx="725294" cy="0"/>
              </a:xfrm>
              <a:prstGeom prst="straightConnector1">
                <a:avLst/>
              </a:prstGeom>
              <a:noFill/>
              <a:ln w="9525" cap="flat" cmpd="sng" algn="ctr">
                <a:solidFill>
                  <a:srgbClr val="282828"/>
                </a:solidFill>
                <a:prstDash val="dash"/>
                <a:round/>
                <a:headEnd type="none" w="med" len="med"/>
                <a:tailEnd type="none" w="med" len="med"/>
              </a:ln>
              <a:effectLst/>
            </p:spPr>
          </p:cxnSp>
          <p:cxnSp>
            <p:nvCxnSpPr>
              <p:cNvPr id="170" name="Straight Arrow Connector 58">
                <a:extLst>
                  <a:ext uri="{FF2B5EF4-FFF2-40B4-BE49-F238E27FC236}">
                    <a16:creationId xmlns:a16="http://schemas.microsoft.com/office/drawing/2014/main" id="{9C92914E-2DF0-4C84-B031-C8728282C245}"/>
                  </a:ext>
                </a:extLst>
              </p:cNvPr>
              <p:cNvCxnSpPr>
                <a:cxnSpLocks/>
              </p:cNvCxnSpPr>
              <p:nvPr/>
            </p:nvCxnSpPr>
            <p:spPr>
              <a:xfrm>
                <a:off x="2551745" y="5398217"/>
                <a:ext cx="738267" cy="527217"/>
              </a:xfrm>
              <a:prstGeom prst="straightConnector1">
                <a:avLst/>
              </a:prstGeom>
              <a:noFill/>
              <a:ln w="9525" cap="flat" cmpd="sng" algn="ctr">
                <a:solidFill>
                  <a:srgbClr val="282828"/>
                </a:solidFill>
                <a:prstDash val="dash"/>
                <a:round/>
                <a:headEnd type="none" w="med" len="med"/>
                <a:tailEnd type="none" w="med" len="med"/>
              </a:ln>
              <a:effectLst/>
            </p:spPr>
          </p:cxnSp>
        </p:grpSp>
      </p:grpSp>
    </p:spTree>
    <p:extLst>
      <p:ext uri="{BB962C8B-B14F-4D97-AF65-F5344CB8AC3E}">
        <p14:creationId xmlns:p14="http://schemas.microsoft.com/office/powerpoint/2010/main" val="1230646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矩形: 圆角 175">
            <a:extLst>
              <a:ext uri="{FF2B5EF4-FFF2-40B4-BE49-F238E27FC236}">
                <a16:creationId xmlns:a16="http://schemas.microsoft.com/office/drawing/2014/main" id="{E5C8C7BB-E741-4785-8E72-EE68B65F6FFB}"/>
              </a:ext>
            </a:extLst>
          </p:cNvPr>
          <p:cNvSpPr/>
          <p:nvPr/>
        </p:nvSpPr>
        <p:spPr>
          <a:xfrm>
            <a:off x="6157437" y="2194251"/>
            <a:ext cx="5374648" cy="4000365"/>
          </a:xfrm>
          <a:prstGeom prst="roundRect">
            <a:avLst>
              <a:gd name="adj" fmla="val 2447"/>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144000" rIns="91440" bIns="45720" numCol="1" spcCol="0" rtlCol="0" fromWordArt="0" anchor="t"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1" lang="en-US" altLang="zh-CN" sz="1050" b="1" i="0" u="none" strike="noStrike" kern="0" cap="none" spc="0" normalizeH="0" baseline="0" noProof="0" dirty="0">
              <a:ln>
                <a:noFill/>
              </a:ln>
              <a:solidFill>
                <a:srgbClr val="000000"/>
              </a:solidFill>
              <a:effectLst/>
              <a:uLnTx/>
              <a:uFillTx/>
              <a:latin typeface="微软雅黑"/>
              <a:ea typeface="微软雅黑"/>
              <a:cs typeface="+mn-cs"/>
            </a:endParaRPr>
          </a:p>
        </p:txBody>
      </p:sp>
      <p:sp>
        <p:nvSpPr>
          <p:cNvPr id="175" name="矩形: 圆角 174">
            <a:extLst>
              <a:ext uri="{FF2B5EF4-FFF2-40B4-BE49-F238E27FC236}">
                <a16:creationId xmlns:a16="http://schemas.microsoft.com/office/drawing/2014/main" id="{0392DB70-0BEC-462A-A3A7-4A1AAECCDD38}"/>
              </a:ext>
            </a:extLst>
          </p:cNvPr>
          <p:cNvSpPr/>
          <p:nvPr/>
        </p:nvSpPr>
        <p:spPr>
          <a:xfrm>
            <a:off x="664676" y="2194252"/>
            <a:ext cx="5374648" cy="4000365"/>
          </a:xfrm>
          <a:prstGeom prst="roundRect">
            <a:avLst>
              <a:gd name="adj" fmla="val 2447"/>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144000" rIns="91440" bIns="45720" numCol="1" spcCol="0" rtlCol="0" fromWordArt="0" anchor="t"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1" lang="en-US" altLang="zh-CN" sz="1050" b="1"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endParaRPr>
          </a:p>
        </p:txBody>
      </p:sp>
      <p:sp>
        <p:nvSpPr>
          <p:cNvPr id="103" name="标题 1">
            <a:extLst>
              <a:ext uri="{FF2B5EF4-FFF2-40B4-BE49-F238E27FC236}">
                <a16:creationId xmlns:a16="http://schemas.microsoft.com/office/drawing/2014/main" id="{2AD3965F-0FB0-45B4-AF0A-8C7BE62857FB}"/>
              </a:ext>
            </a:extLst>
          </p:cNvPr>
          <p:cNvSpPr>
            <a:spLocks noGrp="1"/>
          </p:cNvSpPr>
          <p:nvPr>
            <p:ph type="title"/>
          </p:nvPr>
        </p:nvSpPr>
        <p:spPr>
          <a:xfrm>
            <a:off x="561005" y="252546"/>
            <a:ext cx="11208246" cy="798839"/>
          </a:xfrm>
        </p:spPr>
        <p:txBody>
          <a:bodyPr wrap="square">
            <a:noAutofit/>
          </a:bodyPr>
          <a:lstStyle/>
          <a:p>
            <a:r>
              <a:rPr lang="en-US" altLang="zh-CN" dirty="0">
                <a:cs typeface="Huawei Sans" panose="020C0503030203020204" pitchFamily="34" charset="0"/>
              </a:rPr>
              <a:t>Case 1: Memory Semantic Innovation</a:t>
            </a:r>
            <a:endParaRPr lang="zh-CN" altLang="en-US" dirty="0"/>
          </a:p>
        </p:txBody>
      </p:sp>
      <p:sp>
        <p:nvSpPr>
          <p:cNvPr id="71" name="文本占位符 2">
            <a:extLst>
              <a:ext uri="{FF2B5EF4-FFF2-40B4-BE49-F238E27FC236}">
                <a16:creationId xmlns:a16="http://schemas.microsoft.com/office/drawing/2014/main" id="{23A6A076-1502-49AC-BFEE-7E45876D3D36}"/>
              </a:ext>
            </a:extLst>
          </p:cNvPr>
          <p:cNvSpPr txBox="1">
            <a:spLocks/>
          </p:cNvSpPr>
          <p:nvPr/>
        </p:nvSpPr>
        <p:spPr>
          <a:xfrm>
            <a:off x="612472" y="929240"/>
            <a:ext cx="10807615" cy="4967014"/>
          </a:xfrm>
          <a:prstGeom prst="rect">
            <a:avLst/>
          </a:prstGeom>
        </p:spPr>
        <p:txBody>
          <a:bodyPr>
            <a:normAutofit/>
          </a:bodyPr>
          <a:lstStyle>
            <a:lvl1pPr marL="268074" indent="-268074" algn="l" defTabSz="913759" rtl="0" eaLnBrk="1" latinLnBrk="0" hangingPunct="1">
              <a:lnSpc>
                <a:spcPct val="130000"/>
              </a:lnSpc>
              <a:spcBef>
                <a:spcPts val="0"/>
              </a:spcBef>
              <a:spcAft>
                <a:spcPts val="400"/>
              </a:spcAft>
              <a:buClr>
                <a:schemeClr val="tx1">
                  <a:lumMod val="50000"/>
                  <a:lumOff val="50000"/>
                </a:schemeClr>
              </a:buClr>
              <a:buSzPct val="100000"/>
              <a:buFont typeface="Wingdings 2" panose="05020102010507070707" pitchFamily="18" charset="2"/>
              <a:buChar char="¡"/>
              <a:defRPr sz="1798" kern="1200">
                <a:solidFill>
                  <a:schemeClr val="tx1"/>
                </a:solidFill>
                <a:latin typeface="+mn-lt"/>
                <a:ea typeface="+mn-ea"/>
                <a:cs typeface="+mn-cs"/>
              </a:defRPr>
            </a:lvl1pPr>
            <a:lvl2pPr marL="444144" indent="-176073" algn="l" defTabSz="913759" rtl="0" eaLnBrk="1" latinLnBrk="0" hangingPunct="1">
              <a:lnSpc>
                <a:spcPct val="130000"/>
              </a:lnSpc>
              <a:spcBef>
                <a:spcPts val="0"/>
              </a:spcBef>
              <a:spcAft>
                <a:spcPts val="400"/>
              </a:spcAft>
              <a:buClr>
                <a:schemeClr val="tx1">
                  <a:lumMod val="50000"/>
                  <a:lumOff val="50000"/>
                </a:schemeClr>
              </a:buClr>
              <a:buFont typeface="微软雅黑" panose="020B0503020204020204" pitchFamily="34" charset="-122"/>
              <a:buChar char="›"/>
              <a:defRPr sz="1598" kern="1200">
                <a:solidFill>
                  <a:schemeClr val="tx1"/>
                </a:solidFill>
                <a:latin typeface="+mn-lt"/>
                <a:ea typeface="+mn-ea"/>
                <a:cs typeface="+mn-cs"/>
              </a:defRPr>
            </a:lvl2pPr>
            <a:lvl3pPr marL="628148" indent="-184002" algn="l" defTabSz="913759" rtl="0" eaLnBrk="1" latinLnBrk="0" hangingPunct="1">
              <a:lnSpc>
                <a:spcPct val="130000"/>
              </a:lnSpc>
              <a:spcBef>
                <a:spcPts val="0"/>
              </a:spcBef>
              <a:spcAft>
                <a:spcPts val="400"/>
              </a:spcAft>
              <a:buClr>
                <a:schemeClr val="tx1">
                  <a:lumMod val="50000"/>
                  <a:lumOff val="50000"/>
                </a:schemeClr>
              </a:buClr>
              <a:buFont typeface="FrutigerNext LT Regular" panose="020B0503040504020204" pitchFamily="34" charset="0"/>
              <a:buChar char="»"/>
              <a:defRPr sz="1398" kern="1200">
                <a:solidFill>
                  <a:schemeClr val="tx1"/>
                </a:solidFill>
                <a:latin typeface="+mn-lt"/>
                <a:ea typeface="+mn-ea"/>
                <a:cs typeface="+mn-cs"/>
              </a:defRPr>
            </a:lvl3pPr>
            <a:lvl4pPr marL="1599080" indent="-228441" algn="l" defTabSz="913759" rtl="0" eaLnBrk="1" latinLnBrk="0" hangingPunct="1">
              <a:lnSpc>
                <a:spcPct val="130000"/>
              </a:lnSpc>
              <a:spcBef>
                <a:spcPts val="500"/>
              </a:spcBef>
              <a:spcAft>
                <a:spcPts val="300"/>
              </a:spcAft>
              <a:buFont typeface="Wingdings" panose="05000000000000000000" pitchFamily="2" charset="2"/>
              <a:buChar char="n"/>
              <a:defRPr sz="1798" kern="1200">
                <a:solidFill>
                  <a:schemeClr val="tx1">
                    <a:lumMod val="75000"/>
                    <a:lumOff val="25000"/>
                  </a:schemeClr>
                </a:solidFill>
                <a:latin typeface="+mn-lt"/>
                <a:ea typeface="+mn-ea"/>
                <a:cs typeface="+mn-cs"/>
              </a:defRPr>
            </a:lvl4pPr>
            <a:lvl5pPr marL="2055960" indent="-228441" algn="l" defTabSz="913759" rtl="0" eaLnBrk="1" latinLnBrk="0" hangingPunct="1">
              <a:lnSpc>
                <a:spcPct val="130000"/>
              </a:lnSpc>
              <a:spcBef>
                <a:spcPts val="500"/>
              </a:spcBef>
              <a:spcAft>
                <a:spcPts val="300"/>
              </a:spcAft>
              <a:buFont typeface="Wingdings" panose="05000000000000000000" pitchFamily="2" charset="2"/>
              <a:buChar char="n"/>
              <a:defRPr sz="1798" kern="1200">
                <a:solidFill>
                  <a:schemeClr val="tx1">
                    <a:lumMod val="75000"/>
                    <a:lumOff val="25000"/>
                  </a:schemeClr>
                </a:solidFill>
                <a:latin typeface="+mn-lt"/>
                <a:ea typeface="+mn-ea"/>
                <a:cs typeface="+mn-cs"/>
              </a:defRPr>
            </a:lvl5pPr>
            <a:lvl6pPr marL="2512839"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0"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a:lstStyle>
          <a:p>
            <a:pPr marL="285750" marR="0" lvl="0" indent="-285750" algn="l" defTabSz="913759" rtl="0" eaLnBrk="1" fontAlgn="auto" latinLnBrk="0" hangingPunct="1">
              <a:lnSpc>
                <a:spcPct val="130000"/>
              </a:lnSpc>
              <a:spcBef>
                <a:spcPts val="0"/>
              </a:spcBef>
              <a:spcAft>
                <a:spcPts val="400"/>
              </a:spcAft>
              <a:buClr>
                <a:srgbClr val="282828">
                  <a:lumMod val="50000"/>
                  <a:lumOff val="50000"/>
                </a:srgbClr>
              </a:buClr>
              <a:buSzPct val="100000"/>
              <a:buFont typeface="Wingdings" panose="05000000000000000000" pitchFamily="2" charset="2"/>
              <a:buChar char="u"/>
              <a:tabLst/>
              <a:defRPr/>
            </a:pPr>
            <a:r>
              <a:rPr kumimoji="0" lang="en-US" altLang="zh-CN" sz="14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rPr>
              <a:t>Utilize LD/ST interfaces to generate complex traffic patterns to evaluate the strengths and limitations of existing transmission, ordering, and reliability technologies.</a:t>
            </a:r>
          </a:p>
          <a:p>
            <a:pPr marL="285750" marR="0" lvl="0" indent="-285750" algn="l" defTabSz="913759" rtl="0" eaLnBrk="1" fontAlgn="auto" latinLnBrk="0" hangingPunct="1">
              <a:lnSpc>
                <a:spcPct val="130000"/>
              </a:lnSpc>
              <a:spcBef>
                <a:spcPts val="0"/>
              </a:spcBef>
              <a:spcAft>
                <a:spcPts val="400"/>
              </a:spcAft>
              <a:buClr>
                <a:srgbClr val="282828">
                  <a:lumMod val="50000"/>
                  <a:lumOff val="50000"/>
                </a:srgbClr>
              </a:buClr>
              <a:buSzPct val="100000"/>
              <a:buFont typeface="Wingdings" panose="05000000000000000000" pitchFamily="2" charset="2"/>
              <a:buChar char="u"/>
              <a:tabLst/>
              <a:defRPr/>
            </a:pPr>
            <a:r>
              <a:rPr kumimoji="0" lang="en-US" altLang="zh-CN" sz="14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rPr>
              <a:t>Enables users to design and validate innovative mechanisms tailored for AI traffic and specific topologies.</a:t>
            </a:r>
            <a:endParaRPr kumimoji="0" lang="zh-CN" altLang="en-US" sz="14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endParaRPr>
          </a:p>
        </p:txBody>
      </p:sp>
      <p:sp>
        <p:nvSpPr>
          <p:cNvPr id="72" name="矩形: 圆角 71">
            <a:extLst>
              <a:ext uri="{FF2B5EF4-FFF2-40B4-BE49-F238E27FC236}">
                <a16:creationId xmlns:a16="http://schemas.microsoft.com/office/drawing/2014/main" id="{819BF35A-4ACF-4084-A14A-B2266B439D0C}"/>
              </a:ext>
            </a:extLst>
          </p:cNvPr>
          <p:cNvSpPr/>
          <p:nvPr/>
        </p:nvSpPr>
        <p:spPr>
          <a:xfrm>
            <a:off x="6304973" y="3359496"/>
            <a:ext cx="5094166" cy="2190491"/>
          </a:xfrm>
          <a:prstGeom prst="roundRect">
            <a:avLst>
              <a:gd name="adj" fmla="val 2506"/>
            </a:avLst>
          </a:prstGeom>
          <a:solidFill>
            <a:schemeClr val="bg2">
              <a:lumMod val="10000"/>
              <a:lumOff val="9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666666"/>
              </a:solidFill>
              <a:effectLst/>
              <a:uLnTx/>
              <a:uFillTx/>
              <a:latin typeface="微软雅黑"/>
              <a:ea typeface="微软雅黑"/>
              <a:cs typeface="Huawei Sans" panose="020C0503030203020204" pitchFamily="34" charset="0"/>
            </a:endParaRPr>
          </a:p>
        </p:txBody>
      </p:sp>
      <p:sp>
        <p:nvSpPr>
          <p:cNvPr id="73" name="矩形: 圆角 72">
            <a:extLst>
              <a:ext uri="{FF2B5EF4-FFF2-40B4-BE49-F238E27FC236}">
                <a16:creationId xmlns:a16="http://schemas.microsoft.com/office/drawing/2014/main" id="{C107101F-416F-47B5-9639-26FF185BFEF2}"/>
              </a:ext>
            </a:extLst>
          </p:cNvPr>
          <p:cNvSpPr/>
          <p:nvPr/>
        </p:nvSpPr>
        <p:spPr>
          <a:xfrm>
            <a:off x="808752" y="3439668"/>
            <a:ext cx="5108756" cy="2182745"/>
          </a:xfrm>
          <a:prstGeom prst="roundRect">
            <a:avLst>
              <a:gd name="adj" fmla="val 2506"/>
            </a:avLst>
          </a:prstGeom>
          <a:solidFill>
            <a:schemeClr val="bg2">
              <a:lumMod val="10000"/>
              <a:lumOff val="9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666666"/>
              </a:solidFill>
              <a:effectLst/>
              <a:uLnTx/>
              <a:uFillTx/>
              <a:latin typeface="微软雅黑"/>
              <a:ea typeface="微软雅黑"/>
              <a:cs typeface="Huawei Sans" panose="020C0503030203020204" pitchFamily="34" charset="0"/>
            </a:endParaRPr>
          </a:p>
        </p:txBody>
      </p:sp>
      <p:cxnSp>
        <p:nvCxnSpPr>
          <p:cNvPr id="74" name="直接连接符 73">
            <a:extLst>
              <a:ext uri="{FF2B5EF4-FFF2-40B4-BE49-F238E27FC236}">
                <a16:creationId xmlns:a16="http://schemas.microsoft.com/office/drawing/2014/main" id="{4F18CC1B-9209-44CC-9034-F74A5F744555}"/>
              </a:ext>
            </a:extLst>
          </p:cNvPr>
          <p:cNvCxnSpPr>
            <a:cxnSpLocks/>
          </p:cNvCxnSpPr>
          <p:nvPr/>
        </p:nvCxnSpPr>
        <p:spPr>
          <a:xfrm flipH="1" flipV="1">
            <a:off x="2503319" y="3522032"/>
            <a:ext cx="227230" cy="631670"/>
          </a:xfrm>
          <a:prstGeom prst="line">
            <a:avLst/>
          </a:prstGeom>
          <a:noFill/>
          <a:ln w="12700" cap="flat" cmpd="sng" algn="ctr">
            <a:solidFill>
              <a:srgbClr val="1D1D1A"/>
            </a:solidFill>
            <a:prstDash val="dash"/>
            <a:miter lim="800000"/>
          </a:ln>
          <a:effectLst>
            <a:outerShdw blurRad="50800" dist="38100" dir="5400000" algn="t" rotWithShape="0">
              <a:schemeClr val="tx1">
                <a:alpha val="40000"/>
              </a:schemeClr>
            </a:outerShdw>
          </a:effectLst>
        </p:spPr>
      </p:cxnSp>
      <p:cxnSp>
        <p:nvCxnSpPr>
          <p:cNvPr id="75" name="直接连接符 74">
            <a:extLst>
              <a:ext uri="{FF2B5EF4-FFF2-40B4-BE49-F238E27FC236}">
                <a16:creationId xmlns:a16="http://schemas.microsoft.com/office/drawing/2014/main" id="{2EFA9460-17C1-4913-82B0-4611F85F5A76}"/>
              </a:ext>
            </a:extLst>
          </p:cNvPr>
          <p:cNvCxnSpPr>
            <a:cxnSpLocks/>
          </p:cNvCxnSpPr>
          <p:nvPr/>
        </p:nvCxnSpPr>
        <p:spPr>
          <a:xfrm flipV="1">
            <a:off x="2495003" y="4531040"/>
            <a:ext cx="235545" cy="1048853"/>
          </a:xfrm>
          <a:prstGeom prst="line">
            <a:avLst/>
          </a:prstGeom>
          <a:noFill/>
          <a:ln w="12700" cap="flat" cmpd="sng" algn="ctr">
            <a:solidFill>
              <a:srgbClr val="1D1D1A"/>
            </a:solidFill>
            <a:prstDash val="dash"/>
            <a:miter lim="800000"/>
          </a:ln>
          <a:effectLst>
            <a:outerShdw blurRad="50800" dist="38100" dir="5400000" algn="t" rotWithShape="0">
              <a:schemeClr val="tx1">
                <a:alpha val="40000"/>
              </a:schemeClr>
            </a:outerShdw>
          </a:effectLst>
        </p:spPr>
      </p:cxnSp>
      <p:sp>
        <p:nvSpPr>
          <p:cNvPr id="76" name="矩形 75">
            <a:extLst>
              <a:ext uri="{FF2B5EF4-FFF2-40B4-BE49-F238E27FC236}">
                <a16:creationId xmlns:a16="http://schemas.microsoft.com/office/drawing/2014/main" id="{B4E530B4-23E0-479A-B057-2A780D46CD8E}"/>
              </a:ext>
            </a:extLst>
          </p:cNvPr>
          <p:cNvSpPr/>
          <p:nvPr/>
        </p:nvSpPr>
        <p:spPr>
          <a:xfrm>
            <a:off x="1060402" y="3479873"/>
            <a:ext cx="1451809" cy="2089005"/>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1" lang="en-US" altLang="zh-CN" sz="1050" b="1"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endParaRPr>
          </a:p>
        </p:txBody>
      </p:sp>
      <p:sp>
        <p:nvSpPr>
          <p:cNvPr id="77" name="矩形 76">
            <a:extLst>
              <a:ext uri="{FF2B5EF4-FFF2-40B4-BE49-F238E27FC236}">
                <a16:creationId xmlns:a16="http://schemas.microsoft.com/office/drawing/2014/main" id="{42C031E2-50C1-4C1E-A3FD-021E70E36D80}"/>
              </a:ext>
            </a:extLst>
          </p:cNvPr>
          <p:cNvSpPr/>
          <p:nvPr/>
        </p:nvSpPr>
        <p:spPr>
          <a:xfrm>
            <a:off x="1196451" y="5287836"/>
            <a:ext cx="1194108" cy="220613"/>
          </a:xfrm>
          <a:prstGeom prst="rect">
            <a:avLst/>
          </a:prstGeom>
          <a:solidFill>
            <a:srgbClr val="30B5C5">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05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Transaction</a:t>
            </a:r>
          </a:p>
        </p:txBody>
      </p:sp>
      <p:grpSp>
        <p:nvGrpSpPr>
          <p:cNvPr id="78" name="组合 77">
            <a:extLst>
              <a:ext uri="{FF2B5EF4-FFF2-40B4-BE49-F238E27FC236}">
                <a16:creationId xmlns:a16="http://schemas.microsoft.com/office/drawing/2014/main" id="{6D5D8692-D7E1-4961-96EC-6F69DDA6DB26}"/>
              </a:ext>
            </a:extLst>
          </p:cNvPr>
          <p:cNvGrpSpPr/>
          <p:nvPr/>
        </p:nvGrpSpPr>
        <p:grpSpPr>
          <a:xfrm>
            <a:off x="1196453" y="3861265"/>
            <a:ext cx="1191754" cy="705023"/>
            <a:chOff x="1306311" y="5880408"/>
            <a:chExt cx="1621712" cy="661792"/>
          </a:xfrm>
        </p:grpSpPr>
        <p:sp>
          <p:nvSpPr>
            <p:cNvPr id="79" name="矩形 78">
              <a:extLst>
                <a:ext uri="{FF2B5EF4-FFF2-40B4-BE49-F238E27FC236}">
                  <a16:creationId xmlns:a16="http://schemas.microsoft.com/office/drawing/2014/main" id="{6F910C0E-2822-4CE7-81AA-2E3477E26120}"/>
                </a:ext>
              </a:extLst>
            </p:cNvPr>
            <p:cNvSpPr/>
            <p:nvPr/>
          </p:nvSpPr>
          <p:spPr>
            <a:xfrm>
              <a:off x="1306311" y="5880408"/>
              <a:ext cx="507019" cy="661792"/>
            </a:xfrm>
            <a:prstGeom prst="rect">
              <a:avLst/>
            </a:prstGeom>
            <a:solidFill>
              <a:srgbClr val="30B5C5">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7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thread1</a:t>
              </a:r>
            </a:p>
          </p:txBody>
        </p:sp>
        <p:sp>
          <p:nvSpPr>
            <p:cNvPr id="80" name="矩形 79">
              <a:extLst>
                <a:ext uri="{FF2B5EF4-FFF2-40B4-BE49-F238E27FC236}">
                  <a16:creationId xmlns:a16="http://schemas.microsoft.com/office/drawing/2014/main" id="{AB795D4C-5519-4E89-A03F-99C6F63711A1}"/>
                </a:ext>
              </a:extLst>
            </p:cNvPr>
            <p:cNvSpPr/>
            <p:nvPr/>
          </p:nvSpPr>
          <p:spPr>
            <a:xfrm>
              <a:off x="1858125" y="5880408"/>
              <a:ext cx="507019" cy="661792"/>
            </a:xfrm>
            <a:prstGeom prst="rect">
              <a:avLst/>
            </a:prstGeom>
            <a:solidFill>
              <a:srgbClr val="30B5C5">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7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thread2</a:t>
              </a:r>
            </a:p>
          </p:txBody>
        </p:sp>
        <p:sp>
          <p:nvSpPr>
            <p:cNvPr id="81" name="矩形 80">
              <a:extLst>
                <a:ext uri="{FF2B5EF4-FFF2-40B4-BE49-F238E27FC236}">
                  <a16:creationId xmlns:a16="http://schemas.microsoft.com/office/drawing/2014/main" id="{2CD56987-5971-43C1-8F6F-19CB0153874E}"/>
                </a:ext>
              </a:extLst>
            </p:cNvPr>
            <p:cNvSpPr/>
            <p:nvPr/>
          </p:nvSpPr>
          <p:spPr>
            <a:xfrm>
              <a:off x="2421004" y="5880408"/>
              <a:ext cx="507019" cy="661792"/>
            </a:xfrm>
            <a:prstGeom prst="rect">
              <a:avLst/>
            </a:prstGeom>
            <a:solidFill>
              <a:srgbClr val="30B5C5">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7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thread3</a:t>
              </a:r>
            </a:p>
          </p:txBody>
        </p:sp>
        <p:sp>
          <p:nvSpPr>
            <p:cNvPr id="82" name="矩形 81">
              <a:extLst>
                <a:ext uri="{FF2B5EF4-FFF2-40B4-BE49-F238E27FC236}">
                  <a16:creationId xmlns:a16="http://schemas.microsoft.com/office/drawing/2014/main" id="{9D263C89-CBA1-4CCA-AE01-E7DFA4BF5A9F}"/>
                </a:ext>
              </a:extLst>
            </p:cNvPr>
            <p:cNvSpPr/>
            <p:nvPr/>
          </p:nvSpPr>
          <p:spPr>
            <a:xfrm>
              <a:off x="1350308" y="6117963"/>
              <a:ext cx="419025" cy="384819"/>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err="1">
                  <a:ln>
                    <a:noFill/>
                  </a:ln>
                  <a:solidFill>
                    <a:srgbClr val="000000"/>
                  </a:solidFill>
                  <a:effectLst/>
                  <a:uLnTx/>
                  <a:uFillTx/>
                  <a:latin typeface="微软雅黑"/>
                  <a:ea typeface="微软雅黑"/>
                  <a:cs typeface="Huawei Sans" panose="020C0503030203020204" pitchFamily="34" charset="0"/>
                </a:rPr>
                <a:t>ostd</a:t>
              </a:r>
              <a:endParaRPr kumimoji="1" lang="en-US" altLang="zh-CN" sz="10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endParaRPr>
            </a:p>
          </p:txBody>
        </p:sp>
        <p:sp>
          <p:nvSpPr>
            <p:cNvPr id="83" name="矩形 82">
              <a:extLst>
                <a:ext uri="{FF2B5EF4-FFF2-40B4-BE49-F238E27FC236}">
                  <a16:creationId xmlns:a16="http://schemas.microsoft.com/office/drawing/2014/main" id="{3841550F-C83E-4361-B858-B126EB55A52D}"/>
                </a:ext>
              </a:extLst>
            </p:cNvPr>
            <p:cNvSpPr/>
            <p:nvPr/>
          </p:nvSpPr>
          <p:spPr>
            <a:xfrm>
              <a:off x="1901067" y="6117963"/>
              <a:ext cx="419025" cy="384819"/>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err="1">
                  <a:ln>
                    <a:noFill/>
                  </a:ln>
                  <a:solidFill>
                    <a:srgbClr val="000000"/>
                  </a:solidFill>
                  <a:effectLst/>
                  <a:uLnTx/>
                  <a:uFillTx/>
                  <a:latin typeface="微软雅黑"/>
                  <a:ea typeface="微软雅黑"/>
                  <a:cs typeface="Huawei Sans" panose="020C0503030203020204" pitchFamily="34" charset="0"/>
                </a:rPr>
                <a:t>ostd</a:t>
              </a:r>
              <a:endParaRPr kumimoji="1" lang="en-US" altLang="zh-CN" sz="10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endParaRPr>
            </a:p>
          </p:txBody>
        </p:sp>
        <p:sp>
          <p:nvSpPr>
            <p:cNvPr id="84" name="矩形 83">
              <a:extLst>
                <a:ext uri="{FF2B5EF4-FFF2-40B4-BE49-F238E27FC236}">
                  <a16:creationId xmlns:a16="http://schemas.microsoft.com/office/drawing/2014/main" id="{CC8F2B1B-A638-4119-B50A-106813D63B23}"/>
                </a:ext>
              </a:extLst>
            </p:cNvPr>
            <p:cNvSpPr/>
            <p:nvPr/>
          </p:nvSpPr>
          <p:spPr>
            <a:xfrm>
              <a:off x="2470016" y="6117963"/>
              <a:ext cx="419025" cy="384819"/>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err="1">
                  <a:ln>
                    <a:noFill/>
                  </a:ln>
                  <a:solidFill>
                    <a:srgbClr val="000000"/>
                  </a:solidFill>
                  <a:effectLst/>
                  <a:uLnTx/>
                  <a:uFillTx/>
                  <a:latin typeface="微软雅黑"/>
                  <a:ea typeface="微软雅黑"/>
                  <a:cs typeface="Huawei Sans" panose="020C0503030203020204" pitchFamily="34" charset="0"/>
                </a:rPr>
                <a:t>ostd</a:t>
              </a:r>
              <a:endParaRPr kumimoji="1" lang="en-US" altLang="zh-CN" sz="10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endParaRPr>
            </a:p>
          </p:txBody>
        </p:sp>
      </p:grpSp>
      <p:sp>
        <p:nvSpPr>
          <p:cNvPr id="85" name="矩形 84">
            <a:extLst>
              <a:ext uri="{FF2B5EF4-FFF2-40B4-BE49-F238E27FC236}">
                <a16:creationId xmlns:a16="http://schemas.microsoft.com/office/drawing/2014/main" id="{3117474D-A63D-4CAA-AF2D-D447EB714EEE}"/>
              </a:ext>
            </a:extLst>
          </p:cNvPr>
          <p:cNvSpPr/>
          <p:nvPr/>
        </p:nvSpPr>
        <p:spPr>
          <a:xfrm>
            <a:off x="1196451" y="4628372"/>
            <a:ext cx="1194108" cy="350602"/>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9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novel transmission </a:t>
            </a:r>
          </a:p>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9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control mechanisms</a:t>
            </a:r>
          </a:p>
        </p:txBody>
      </p:sp>
      <p:sp>
        <p:nvSpPr>
          <p:cNvPr id="86" name="矩形 85">
            <a:extLst>
              <a:ext uri="{FF2B5EF4-FFF2-40B4-BE49-F238E27FC236}">
                <a16:creationId xmlns:a16="http://schemas.microsoft.com/office/drawing/2014/main" id="{489F177E-C749-4302-AC7A-784168FA03B2}"/>
              </a:ext>
            </a:extLst>
          </p:cNvPr>
          <p:cNvSpPr/>
          <p:nvPr/>
        </p:nvSpPr>
        <p:spPr>
          <a:xfrm>
            <a:off x="1196451" y="5022871"/>
            <a:ext cx="1194108" cy="220613"/>
          </a:xfrm>
          <a:prstGeom prst="rect">
            <a:avLst/>
          </a:prstGeom>
          <a:solidFill>
            <a:srgbClr val="30B5C5">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050" b="0" i="0" u="none" strike="noStrike" kern="0" cap="none" spc="0" normalizeH="0" baseline="0" noProof="0" dirty="0" err="1">
                <a:ln>
                  <a:noFill/>
                </a:ln>
                <a:solidFill>
                  <a:srgbClr val="000000"/>
                </a:solidFill>
                <a:effectLst/>
                <a:uLnTx/>
                <a:uFillTx/>
                <a:latin typeface="微软雅黑"/>
                <a:ea typeface="微软雅黑"/>
                <a:cs typeface="Huawei Sans" panose="020C0503030203020204" pitchFamily="34" charset="0"/>
              </a:rPr>
              <a:t>Ld</a:t>
            </a:r>
            <a:r>
              <a:rPr kumimoji="1" lang="en-US" altLang="zh-CN" sz="105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/St Interface</a:t>
            </a:r>
          </a:p>
        </p:txBody>
      </p:sp>
      <p:sp>
        <p:nvSpPr>
          <p:cNvPr id="87" name="矩形 86">
            <a:extLst>
              <a:ext uri="{FF2B5EF4-FFF2-40B4-BE49-F238E27FC236}">
                <a16:creationId xmlns:a16="http://schemas.microsoft.com/office/drawing/2014/main" id="{C4D0E3E4-5714-4CC5-80B5-6A91A8FAF94D}"/>
              </a:ext>
            </a:extLst>
          </p:cNvPr>
          <p:cNvSpPr/>
          <p:nvPr/>
        </p:nvSpPr>
        <p:spPr>
          <a:xfrm>
            <a:off x="1196451" y="3569356"/>
            <a:ext cx="1194108" cy="220613"/>
          </a:xfrm>
          <a:prstGeom prst="rect">
            <a:avLst/>
          </a:prstGeom>
          <a:solidFill>
            <a:srgbClr val="30B5C5">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05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Traffic pattern</a:t>
            </a:r>
          </a:p>
        </p:txBody>
      </p:sp>
      <p:grpSp>
        <p:nvGrpSpPr>
          <p:cNvPr id="88" name="组合 87">
            <a:extLst>
              <a:ext uri="{FF2B5EF4-FFF2-40B4-BE49-F238E27FC236}">
                <a16:creationId xmlns:a16="http://schemas.microsoft.com/office/drawing/2014/main" id="{313F788E-04B4-4DB1-9A90-37337C3913E8}"/>
              </a:ext>
            </a:extLst>
          </p:cNvPr>
          <p:cNvGrpSpPr/>
          <p:nvPr/>
        </p:nvGrpSpPr>
        <p:grpSpPr>
          <a:xfrm>
            <a:off x="2718399" y="4095942"/>
            <a:ext cx="2870550" cy="1006812"/>
            <a:chOff x="7985905" y="4664459"/>
            <a:chExt cx="4180518" cy="1028344"/>
          </a:xfrm>
          <a:effectLst>
            <a:outerShdw blurRad="50800" dist="38100" dir="5400000" algn="t" rotWithShape="0">
              <a:schemeClr val="tx1">
                <a:alpha val="40000"/>
              </a:schemeClr>
            </a:outerShdw>
          </a:effectLst>
        </p:grpSpPr>
        <p:sp>
          <p:nvSpPr>
            <p:cNvPr id="89" name="矩形 88">
              <a:extLst>
                <a:ext uri="{FF2B5EF4-FFF2-40B4-BE49-F238E27FC236}">
                  <a16:creationId xmlns:a16="http://schemas.microsoft.com/office/drawing/2014/main" id="{2C03A52E-F081-41F5-828B-A24A1DF1F6F9}"/>
                </a:ext>
              </a:extLst>
            </p:cNvPr>
            <p:cNvSpPr/>
            <p:nvPr/>
          </p:nvSpPr>
          <p:spPr>
            <a:xfrm>
              <a:off x="8785216" y="4664459"/>
              <a:ext cx="2564409" cy="1012965"/>
            </a:xfrm>
            <a:prstGeom prst="rect">
              <a:avLst/>
            </a:prstGeom>
            <a:solidFill>
              <a:srgbClr val="30B5C5">
                <a:lumMod val="20000"/>
                <a:lumOff val="80000"/>
              </a:srgbClr>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Scale-Up Network Topologies</a:t>
              </a:r>
            </a:p>
          </p:txBody>
        </p:sp>
        <p:cxnSp>
          <p:nvCxnSpPr>
            <p:cNvPr id="90" name="直接连接符 89">
              <a:extLst>
                <a:ext uri="{FF2B5EF4-FFF2-40B4-BE49-F238E27FC236}">
                  <a16:creationId xmlns:a16="http://schemas.microsoft.com/office/drawing/2014/main" id="{429654BC-D1F2-40AB-9E05-1FD896FA20F3}"/>
                </a:ext>
              </a:extLst>
            </p:cNvPr>
            <p:cNvCxnSpPr>
              <a:cxnSpLocks/>
              <a:stCxn id="97" idx="3"/>
              <a:endCxn id="100" idx="1"/>
            </p:cNvCxnSpPr>
            <p:nvPr/>
          </p:nvCxnSpPr>
          <p:spPr>
            <a:xfrm>
              <a:off x="11003566" y="5230929"/>
              <a:ext cx="560798" cy="262881"/>
            </a:xfrm>
            <a:prstGeom prst="line">
              <a:avLst/>
            </a:prstGeom>
            <a:noFill/>
            <a:ln w="15875" cap="flat" cmpd="sng" algn="ctr">
              <a:solidFill>
                <a:srgbClr val="1D1D1A"/>
              </a:solidFill>
              <a:prstDash val="solid"/>
              <a:miter lim="800000"/>
            </a:ln>
            <a:effectLst/>
          </p:spPr>
        </p:cxnSp>
        <p:cxnSp>
          <p:nvCxnSpPr>
            <p:cNvPr id="91" name="直接连接符 90">
              <a:extLst>
                <a:ext uri="{FF2B5EF4-FFF2-40B4-BE49-F238E27FC236}">
                  <a16:creationId xmlns:a16="http://schemas.microsoft.com/office/drawing/2014/main" id="{4B24BB5B-F235-46C3-9EC6-B20135D114C4}"/>
                </a:ext>
              </a:extLst>
            </p:cNvPr>
            <p:cNvCxnSpPr>
              <a:cxnSpLocks/>
            </p:cNvCxnSpPr>
            <p:nvPr/>
          </p:nvCxnSpPr>
          <p:spPr>
            <a:xfrm>
              <a:off x="8587964" y="4896829"/>
              <a:ext cx="450070" cy="334100"/>
            </a:xfrm>
            <a:prstGeom prst="line">
              <a:avLst/>
            </a:prstGeom>
            <a:noFill/>
            <a:ln w="15875" cap="flat" cmpd="sng" algn="ctr">
              <a:solidFill>
                <a:srgbClr val="1D1D1A"/>
              </a:solidFill>
              <a:prstDash val="solid"/>
              <a:miter lim="800000"/>
            </a:ln>
            <a:effectLst/>
          </p:spPr>
        </p:cxnSp>
        <p:cxnSp>
          <p:nvCxnSpPr>
            <p:cNvPr id="92" name="直接连接符 91">
              <a:extLst>
                <a:ext uri="{FF2B5EF4-FFF2-40B4-BE49-F238E27FC236}">
                  <a16:creationId xmlns:a16="http://schemas.microsoft.com/office/drawing/2014/main" id="{9008B22E-8E5F-40CB-B608-8FB3DC420E64}"/>
                </a:ext>
              </a:extLst>
            </p:cNvPr>
            <p:cNvCxnSpPr>
              <a:cxnSpLocks/>
              <a:stCxn id="98" idx="3"/>
              <a:endCxn id="96" idx="1"/>
            </p:cNvCxnSpPr>
            <p:nvPr/>
          </p:nvCxnSpPr>
          <p:spPr>
            <a:xfrm flipV="1">
              <a:off x="8587964" y="5230929"/>
              <a:ext cx="450070" cy="262881"/>
            </a:xfrm>
            <a:prstGeom prst="line">
              <a:avLst/>
            </a:prstGeom>
            <a:noFill/>
            <a:ln w="15875" cap="flat" cmpd="sng" algn="ctr">
              <a:solidFill>
                <a:srgbClr val="1D1D1A"/>
              </a:solidFill>
              <a:prstDash val="solid"/>
              <a:miter lim="800000"/>
            </a:ln>
            <a:effectLst/>
          </p:spPr>
        </p:cxnSp>
        <p:cxnSp>
          <p:nvCxnSpPr>
            <p:cNvPr id="93" name="直接连接符 92">
              <a:extLst>
                <a:ext uri="{FF2B5EF4-FFF2-40B4-BE49-F238E27FC236}">
                  <a16:creationId xmlns:a16="http://schemas.microsoft.com/office/drawing/2014/main" id="{AC83DBF2-373C-454B-BB59-C8119E76D089}"/>
                </a:ext>
              </a:extLst>
            </p:cNvPr>
            <p:cNvCxnSpPr>
              <a:cxnSpLocks/>
              <a:stCxn id="96" idx="3"/>
              <a:endCxn id="97" idx="1"/>
            </p:cNvCxnSpPr>
            <p:nvPr/>
          </p:nvCxnSpPr>
          <p:spPr>
            <a:xfrm>
              <a:off x="9919508" y="5230929"/>
              <a:ext cx="202583" cy="0"/>
            </a:xfrm>
            <a:prstGeom prst="line">
              <a:avLst/>
            </a:prstGeom>
            <a:noFill/>
            <a:ln w="15875" cap="flat" cmpd="sng" algn="ctr">
              <a:solidFill>
                <a:srgbClr val="1D1D1A"/>
              </a:solidFill>
              <a:prstDash val="solid"/>
              <a:miter lim="800000"/>
            </a:ln>
            <a:effectLst/>
          </p:spPr>
        </p:cxnSp>
        <p:cxnSp>
          <p:nvCxnSpPr>
            <p:cNvPr id="94" name="直接连接符 93">
              <a:extLst>
                <a:ext uri="{FF2B5EF4-FFF2-40B4-BE49-F238E27FC236}">
                  <a16:creationId xmlns:a16="http://schemas.microsoft.com/office/drawing/2014/main" id="{712D1A32-D840-4582-A45C-014A453972DC}"/>
                </a:ext>
              </a:extLst>
            </p:cNvPr>
            <p:cNvCxnSpPr>
              <a:cxnSpLocks/>
              <a:stCxn id="97" idx="3"/>
              <a:endCxn id="99" idx="1"/>
            </p:cNvCxnSpPr>
            <p:nvPr/>
          </p:nvCxnSpPr>
          <p:spPr>
            <a:xfrm flipV="1">
              <a:off x="11003566" y="4896829"/>
              <a:ext cx="560798" cy="334100"/>
            </a:xfrm>
            <a:prstGeom prst="line">
              <a:avLst/>
            </a:prstGeom>
            <a:noFill/>
            <a:ln w="15875" cap="flat" cmpd="sng" algn="ctr">
              <a:solidFill>
                <a:srgbClr val="1D1D1A"/>
              </a:solidFill>
              <a:prstDash val="solid"/>
              <a:miter lim="800000"/>
            </a:ln>
            <a:effectLst/>
          </p:spPr>
        </p:cxnSp>
        <p:sp>
          <p:nvSpPr>
            <p:cNvPr id="95" name="矩形 94">
              <a:extLst>
                <a:ext uri="{FF2B5EF4-FFF2-40B4-BE49-F238E27FC236}">
                  <a16:creationId xmlns:a16="http://schemas.microsoft.com/office/drawing/2014/main" id="{D384B3A3-B636-49BD-BF56-79B9AE973855}"/>
                </a:ext>
              </a:extLst>
            </p:cNvPr>
            <p:cNvSpPr/>
            <p:nvPr/>
          </p:nvSpPr>
          <p:spPr>
            <a:xfrm>
              <a:off x="7985905" y="4697835"/>
              <a:ext cx="602059" cy="397987"/>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05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UBPU</a:t>
              </a:r>
            </a:p>
          </p:txBody>
        </p:sp>
        <p:sp>
          <p:nvSpPr>
            <p:cNvPr id="96" name="矩形 95">
              <a:extLst>
                <a:ext uri="{FF2B5EF4-FFF2-40B4-BE49-F238E27FC236}">
                  <a16:creationId xmlns:a16="http://schemas.microsoft.com/office/drawing/2014/main" id="{82C3E00C-BA91-441B-A5B8-41C44BB5A0D9}"/>
                </a:ext>
              </a:extLst>
            </p:cNvPr>
            <p:cNvSpPr/>
            <p:nvPr/>
          </p:nvSpPr>
          <p:spPr>
            <a:xfrm>
              <a:off x="9038033" y="5031935"/>
              <a:ext cx="881475" cy="397987"/>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05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UBPU</a:t>
              </a:r>
            </a:p>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05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(Switch)</a:t>
              </a:r>
            </a:p>
          </p:txBody>
        </p:sp>
        <p:sp>
          <p:nvSpPr>
            <p:cNvPr id="97" name="矩形 96">
              <a:extLst>
                <a:ext uri="{FF2B5EF4-FFF2-40B4-BE49-F238E27FC236}">
                  <a16:creationId xmlns:a16="http://schemas.microsoft.com/office/drawing/2014/main" id="{C87ADAF5-C580-4112-9C76-B6D9D70F655D}"/>
                </a:ext>
              </a:extLst>
            </p:cNvPr>
            <p:cNvSpPr/>
            <p:nvPr/>
          </p:nvSpPr>
          <p:spPr>
            <a:xfrm>
              <a:off x="10122092" y="5031935"/>
              <a:ext cx="881475" cy="397987"/>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05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UBPU</a:t>
              </a:r>
            </a:p>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05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(Switch)</a:t>
              </a:r>
            </a:p>
          </p:txBody>
        </p:sp>
        <p:sp>
          <p:nvSpPr>
            <p:cNvPr id="98" name="矩形 97">
              <a:extLst>
                <a:ext uri="{FF2B5EF4-FFF2-40B4-BE49-F238E27FC236}">
                  <a16:creationId xmlns:a16="http://schemas.microsoft.com/office/drawing/2014/main" id="{6C1BD9DC-F2BB-4511-B533-D549CA167266}"/>
                </a:ext>
              </a:extLst>
            </p:cNvPr>
            <p:cNvSpPr/>
            <p:nvPr/>
          </p:nvSpPr>
          <p:spPr>
            <a:xfrm>
              <a:off x="7985905" y="5294816"/>
              <a:ext cx="602059" cy="397987"/>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05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UBPU</a:t>
              </a:r>
            </a:p>
          </p:txBody>
        </p:sp>
        <p:sp>
          <p:nvSpPr>
            <p:cNvPr id="99" name="矩形 98">
              <a:extLst>
                <a:ext uri="{FF2B5EF4-FFF2-40B4-BE49-F238E27FC236}">
                  <a16:creationId xmlns:a16="http://schemas.microsoft.com/office/drawing/2014/main" id="{7C1BDFDF-D087-4DD1-8D9D-836C3D8EBFC8}"/>
                </a:ext>
              </a:extLst>
            </p:cNvPr>
            <p:cNvSpPr/>
            <p:nvPr/>
          </p:nvSpPr>
          <p:spPr>
            <a:xfrm>
              <a:off x="11564364" y="4697835"/>
              <a:ext cx="602059" cy="397987"/>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05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UBPU</a:t>
              </a:r>
            </a:p>
          </p:txBody>
        </p:sp>
        <p:sp>
          <p:nvSpPr>
            <p:cNvPr id="100" name="矩形 99">
              <a:extLst>
                <a:ext uri="{FF2B5EF4-FFF2-40B4-BE49-F238E27FC236}">
                  <a16:creationId xmlns:a16="http://schemas.microsoft.com/office/drawing/2014/main" id="{973A5CD4-C581-4090-822B-DEAA23E45F4F}"/>
                </a:ext>
              </a:extLst>
            </p:cNvPr>
            <p:cNvSpPr/>
            <p:nvPr/>
          </p:nvSpPr>
          <p:spPr>
            <a:xfrm>
              <a:off x="11564364" y="5294816"/>
              <a:ext cx="602059" cy="397987"/>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05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UBPU</a:t>
              </a:r>
            </a:p>
          </p:txBody>
        </p:sp>
        <p:sp>
          <p:nvSpPr>
            <p:cNvPr id="101" name="任意多边形: 形状 100">
              <a:extLst>
                <a:ext uri="{FF2B5EF4-FFF2-40B4-BE49-F238E27FC236}">
                  <a16:creationId xmlns:a16="http://schemas.microsoft.com/office/drawing/2014/main" id="{A1B7F5AA-18AD-47B6-AAC8-FBD8AD76E748}"/>
                </a:ext>
              </a:extLst>
            </p:cNvPr>
            <p:cNvSpPr/>
            <p:nvPr/>
          </p:nvSpPr>
          <p:spPr>
            <a:xfrm>
              <a:off x="8445875" y="4761021"/>
              <a:ext cx="3175603" cy="409921"/>
            </a:xfrm>
            <a:custGeom>
              <a:avLst/>
              <a:gdLst>
                <a:gd name="connsiteX0" fmla="*/ 0 w 2963007"/>
                <a:gd name="connsiteY0" fmla="*/ 0 h 455348"/>
                <a:gd name="connsiteX1" fmla="*/ 633046 w 2963007"/>
                <a:gd name="connsiteY1" fmla="*/ 413238 h 455348"/>
                <a:gd name="connsiteX2" fmla="*/ 1406769 w 2963007"/>
                <a:gd name="connsiteY2" fmla="*/ 422031 h 455348"/>
                <a:gd name="connsiteX3" fmla="*/ 2373923 w 2963007"/>
                <a:gd name="connsiteY3" fmla="*/ 430823 h 455348"/>
                <a:gd name="connsiteX4" fmla="*/ 2963007 w 2963007"/>
                <a:gd name="connsiteY4" fmla="*/ 70338 h 4553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3007" h="455348">
                  <a:moveTo>
                    <a:pt x="0" y="0"/>
                  </a:moveTo>
                  <a:cubicBezTo>
                    <a:pt x="199292" y="171450"/>
                    <a:pt x="398585" y="342900"/>
                    <a:pt x="633046" y="413238"/>
                  </a:cubicBezTo>
                  <a:cubicBezTo>
                    <a:pt x="867508" y="483577"/>
                    <a:pt x="1406769" y="422031"/>
                    <a:pt x="1406769" y="422031"/>
                  </a:cubicBezTo>
                  <a:cubicBezTo>
                    <a:pt x="1696915" y="424962"/>
                    <a:pt x="2114550" y="489438"/>
                    <a:pt x="2373923" y="430823"/>
                  </a:cubicBezTo>
                  <a:cubicBezTo>
                    <a:pt x="2633296" y="372208"/>
                    <a:pt x="2798151" y="221273"/>
                    <a:pt x="2963007" y="70338"/>
                  </a:cubicBezTo>
                </a:path>
              </a:pathLst>
            </a:custGeom>
            <a:noFill/>
            <a:ln w="28575" cap="flat" cmpd="sng" algn="ctr">
              <a:solidFill>
                <a:srgbClr val="61B230">
                  <a:lumMod val="75000"/>
                </a:srgbClr>
              </a:solidFill>
              <a:prstDash val="solid"/>
              <a:miter lim="800000"/>
              <a:headEnd type="none" w="med" len="med"/>
              <a:tailEnd type="arrow" w="med" len="med"/>
            </a:ln>
            <a:effectLst>
              <a:outerShdw blurRad="50800" dist="38100" dir="5400000" algn="t" rotWithShape="0">
                <a:prstClr val="black">
                  <a:alpha val="40000"/>
                </a:prstClr>
              </a:outerShdw>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dirty="0">
                <a:ln>
                  <a:noFill/>
                </a:ln>
                <a:solidFill>
                  <a:srgbClr val="666666"/>
                </a:solidFill>
                <a:effectLst/>
                <a:uLnTx/>
                <a:uFillTx/>
                <a:latin typeface="微软雅黑"/>
                <a:ea typeface="微软雅黑"/>
                <a:cs typeface="Huawei Sans" panose="020C0503030203020204" pitchFamily="34" charset="0"/>
              </a:endParaRPr>
            </a:p>
          </p:txBody>
        </p:sp>
        <p:sp>
          <p:nvSpPr>
            <p:cNvPr id="102" name="任意多边形: 形状 101">
              <a:extLst>
                <a:ext uri="{FF2B5EF4-FFF2-40B4-BE49-F238E27FC236}">
                  <a16:creationId xmlns:a16="http://schemas.microsoft.com/office/drawing/2014/main" id="{98CDE237-E9C8-49C3-9895-4E2B13D613F4}"/>
                </a:ext>
              </a:extLst>
            </p:cNvPr>
            <p:cNvSpPr/>
            <p:nvPr/>
          </p:nvSpPr>
          <p:spPr>
            <a:xfrm>
              <a:off x="8466017" y="5294816"/>
              <a:ext cx="3109642" cy="258980"/>
            </a:xfrm>
            <a:custGeom>
              <a:avLst/>
              <a:gdLst>
                <a:gd name="connsiteX0" fmla="*/ 0 w 2901462"/>
                <a:gd name="connsiteY0" fmla="*/ 301768 h 301768"/>
                <a:gd name="connsiteX1" fmla="*/ 87924 w 2901462"/>
                <a:gd name="connsiteY1" fmla="*/ 257807 h 301768"/>
                <a:gd name="connsiteX2" fmla="*/ 589085 w 2901462"/>
                <a:gd name="connsiteY2" fmla="*/ 11622 h 301768"/>
                <a:gd name="connsiteX3" fmla="*/ 1907931 w 2901462"/>
                <a:gd name="connsiteY3" fmla="*/ 37999 h 301768"/>
                <a:gd name="connsiteX4" fmla="*/ 2426677 w 2901462"/>
                <a:gd name="connsiteY4" fmla="*/ 20414 h 301768"/>
                <a:gd name="connsiteX5" fmla="*/ 2901462 w 2901462"/>
                <a:gd name="connsiteY5" fmla="*/ 222637 h 301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1462" h="301768">
                  <a:moveTo>
                    <a:pt x="0" y="301768"/>
                  </a:moveTo>
                  <a:lnTo>
                    <a:pt x="87924" y="257807"/>
                  </a:lnTo>
                  <a:cubicBezTo>
                    <a:pt x="186105" y="209449"/>
                    <a:pt x="285751" y="48257"/>
                    <a:pt x="589085" y="11622"/>
                  </a:cubicBezTo>
                  <a:cubicBezTo>
                    <a:pt x="892419" y="-25013"/>
                    <a:pt x="1601666" y="36534"/>
                    <a:pt x="1907931" y="37999"/>
                  </a:cubicBezTo>
                  <a:cubicBezTo>
                    <a:pt x="2214196" y="39464"/>
                    <a:pt x="2261089" y="-10359"/>
                    <a:pt x="2426677" y="20414"/>
                  </a:cubicBezTo>
                  <a:cubicBezTo>
                    <a:pt x="2592266" y="51187"/>
                    <a:pt x="2746864" y="136912"/>
                    <a:pt x="2901462" y="222637"/>
                  </a:cubicBezTo>
                </a:path>
              </a:pathLst>
            </a:custGeom>
            <a:noFill/>
            <a:ln w="28575" cap="flat" cmpd="sng" algn="ctr">
              <a:solidFill>
                <a:srgbClr val="0070C0"/>
              </a:solidFill>
              <a:prstDash val="solid"/>
              <a:miter lim="800000"/>
              <a:headEnd type="none" w="med" len="med"/>
              <a:tailEnd type="arrow" w="med" len="med"/>
            </a:ln>
            <a:effectLst>
              <a:outerShdw blurRad="63500" sx="102000" sy="102000" algn="ctr"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solidFill>
                  <a:srgbClr val="666666"/>
                </a:solidFill>
                <a:effectLst/>
                <a:uLnTx/>
                <a:uFillTx/>
                <a:latin typeface="微软雅黑"/>
                <a:ea typeface="微软雅黑"/>
                <a:cs typeface="Huawei Sans" panose="020C0503030203020204" pitchFamily="34" charset="0"/>
              </a:endParaRPr>
            </a:p>
          </p:txBody>
        </p:sp>
      </p:grpSp>
      <p:sp>
        <p:nvSpPr>
          <p:cNvPr id="171" name="矩形 170">
            <a:extLst>
              <a:ext uri="{FF2B5EF4-FFF2-40B4-BE49-F238E27FC236}">
                <a16:creationId xmlns:a16="http://schemas.microsoft.com/office/drawing/2014/main" id="{F9BE87EC-F432-4F5E-B670-B6F896F36550}"/>
              </a:ext>
            </a:extLst>
          </p:cNvPr>
          <p:cNvSpPr/>
          <p:nvPr/>
        </p:nvSpPr>
        <p:spPr>
          <a:xfrm>
            <a:off x="3196764" y="3564992"/>
            <a:ext cx="1006969" cy="223291"/>
          </a:xfrm>
          <a:prstGeom prst="rect">
            <a:avLst/>
          </a:prstGeom>
          <a:solidFill>
            <a:srgbClr val="30B5C5">
              <a:lumMod val="20000"/>
              <a:lumOff val="80000"/>
            </a:srgbClr>
          </a:solidFill>
          <a:ln w="9525" cap="flat" cmpd="sng" algn="ctr">
            <a:solidFill>
              <a:srgbClr val="1D1D1A"/>
            </a:solidFill>
            <a:prstDash val="solid"/>
            <a:round/>
            <a:headEnd type="none" w="med" len="med"/>
            <a:tailEnd type="none" w="med" len="med"/>
          </a:ln>
          <a:effectLst>
            <a:outerShdw blurRad="50800" dist="38100" dir="5400000" algn="t" rotWithShape="0">
              <a:schemeClr val="tx1">
                <a:alpha val="40000"/>
              </a:scheme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05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Supported</a:t>
            </a:r>
          </a:p>
        </p:txBody>
      </p:sp>
      <p:sp>
        <p:nvSpPr>
          <p:cNvPr id="172" name="矩形 171">
            <a:extLst>
              <a:ext uri="{FF2B5EF4-FFF2-40B4-BE49-F238E27FC236}">
                <a16:creationId xmlns:a16="http://schemas.microsoft.com/office/drawing/2014/main" id="{6D8B6EEE-2B50-45B5-B880-569AEA0CFD58}"/>
              </a:ext>
            </a:extLst>
          </p:cNvPr>
          <p:cNvSpPr/>
          <p:nvPr/>
        </p:nvSpPr>
        <p:spPr>
          <a:xfrm>
            <a:off x="4336711" y="3565282"/>
            <a:ext cx="1254203" cy="223001"/>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a:outerShdw blurRad="50800" dist="38100" dir="5400000" algn="t" rotWithShape="0">
              <a:schemeClr val="tx1">
                <a:alpha val="40000"/>
              </a:scheme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05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User-Customized</a:t>
            </a:r>
          </a:p>
        </p:txBody>
      </p:sp>
      <p:sp>
        <p:nvSpPr>
          <p:cNvPr id="173" name="矩形 172">
            <a:extLst>
              <a:ext uri="{FF2B5EF4-FFF2-40B4-BE49-F238E27FC236}">
                <a16:creationId xmlns:a16="http://schemas.microsoft.com/office/drawing/2014/main" id="{EDC8F19F-E807-403A-8EA3-6BAD1E8A95A4}"/>
              </a:ext>
            </a:extLst>
          </p:cNvPr>
          <p:cNvSpPr/>
          <p:nvPr/>
        </p:nvSpPr>
        <p:spPr>
          <a:xfrm>
            <a:off x="711231" y="2304751"/>
            <a:ext cx="5257111" cy="1107996"/>
          </a:xfrm>
          <a:prstGeom prst="rect">
            <a:avLst/>
          </a:prstGeom>
        </p:spPr>
        <p:txBody>
          <a:bodyPr wrap="square">
            <a:spAutoFit/>
          </a:bodyPr>
          <a:lstStyle/>
          <a:p>
            <a:pPr marL="171450" marR="0" lvl="0" indent="-171450" algn="l" defTabSz="914478"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11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rPr>
              <a:t>In memory-semantic scenarios, transmission uses a lightweight protocol stack that bypasses the transport layer. </a:t>
            </a:r>
          </a:p>
          <a:p>
            <a:pPr marL="171450" marR="0" lvl="0" indent="-171450" algn="l" defTabSz="914478"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altLang="zh-CN" sz="11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endParaRPr>
          </a:p>
          <a:p>
            <a:pPr marL="171450" marR="0" lvl="0" indent="-171450" algn="l" defTabSz="914478"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11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rPr>
              <a:t>For future larger-scale, complex scale-up networks, new lightweight transmission control mechanisms are needed to meet control requirements.</a:t>
            </a:r>
            <a:endParaRPr kumimoji="1" lang="en-US" altLang="zh-CN" sz="1050" b="0" i="0" u="none" strike="noStrike" kern="1200" cap="none" spc="0" normalizeH="0" baseline="0" noProof="0" dirty="0">
              <a:ln>
                <a:noFill/>
              </a:ln>
              <a:solidFill>
                <a:srgbClr val="282828">
                  <a:lumMod val="95000"/>
                </a:srgbClr>
              </a:solidFill>
              <a:effectLst/>
              <a:uLnTx/>
              <a:uFillTx/>
              <a:latin typeface="微软雅黑"/>
              <a:ea typeface="微软雅黑"/>
              <a:cs typeface="Huawei Sans" panose="020C0503030203020204" pitchFamily="34" charset="0"/>
            </a:endParaRPr>
          </a:p>
        </p:txBody>
      </p:sp>
      <p:sp>
        <p:nvSpPr>
          <p:cNvPr id="174" name="矩形 173">
            <a:extLst>
              <a:ext uri="{FF2B5EF4-FFF2-40B4-BE49-F238E27FC236}">
                <a16:creationId xmlns:a16="http://schemas.microsoft.com/office/drawing/2014/main" id="{F78E2915-F88A-4B89-B516-EA6B8682A014}"/>
              </a:ext>
            </a:extLst>
          </p:cNvPr>
          <p:cNvSpPr/>
          <p:nvPr/>
        </p:nvSpPr>
        <p:spPr>
          <a:xfrm>
            <a:off x="6231205" y="2342619"/>
            <a:ext cx="5108756" cy="938719"/>
          </a:xfrm>
          <a:prstGeom prst="rect">
            <a:avLst/>
          </a:prstGeom>
        </p:spPr>
        <p:txBody>
          <a:bodyPr wrap="square">
            <a:spAutoFit/>
          </a:bodyPr>
          <a:lstStyle/>
          <a:p>
            <a:pPr marL="171450" marR="0" lvl="0" indent="-171450" algn="l" defTabSz="914478"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11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rPr>
              <a:t>Straightforward ordering implementations suffer from additional RTT latency and buffering overhead in ROI/ROT transactions.</a:t>
            </a:r>
          </a:p>
          <a:p>
            <a:pPr marL="171450" marR="0" lvl="0" indent="-171450" algn="l" defTabSz="914478"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altLang="zh-CN" sz="11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endParaRPr>
          </a:p>
          <a:p>
            <a:pPr marL="171450" marR="0" lvl="0" indent="-171450" algn="l" defTabSz="914478"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11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rPr>
              <a:t>Design novel ordering and reliability schemes to ensure lightweight, high-efficiency transmission.</a:t>
            </a:r>
          </a:p>
        </p:txBody>
      </p:sp>
      <p:sp>
        <p:nvSpPr>
          <p:cNvPr id="177" name="矩形: 圆角 176">
            <a:extLst>
              <a:ext uri="{FF2B5EF4-FFF2-40B4-BE49-F238E27FC236}">
                <a16:creationId xmlns:a16="http://schemas.microsoft.com/office/drawing/2014/main" id="{6A01CC94-35D7-4BD8-958F-5F81211B41F9}"/>
              </a:ext>
            </a:extLst>
          </p:cNvPr>
          <p:cNvSpPr/>
          <p:nvPr/>
        </p:nvSpPr>
        <p:spPr>
          <a:xfrm>
            <a:off x="808752" y="5725144"/>
            <a:ext cx="5108756" cy="402467"/>
          </a:xfrm>
          <a:prstGeom prst="roundRect">
            <a:avLst/>
          </a:prstGeom>
          <a:solidFill>
            <a:srgbClr val="A6CAEC"/>
          </a:solidFill>
          <a:effectLst>
            <a:outerShdw blurRad="50800" dist="38100" dir="5400000" algn="t" rotWithShape="0">
              <a:prstClr val="black">
                <a:alpha val="40000"/>
              </a:prstClr>
            </a:outerShdw>
          </a:effectLst>
        </p:spPr>
        <p:txBody>
          <a:bodyPr wrap="square" anchor="ctr">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rgbClr val="1D1D1A"/>
                </a:solidFill>
                <a:effectLst/>
                <a:uLnTx/>
                <a:uFillTx/>
                <a:latin typeface="微软雅黑"/>
                <a:ea typeface="微软雅黑"/>
                <a:cs typeface="+mn-cs"/>
              </a:rPr>
              <a:t>Design novel transmission control mechanisms for </a:t>
            </a:r>
            <a:r>
              <a:rPr kumimoji="1" lang="en-US" altLang="zh-CN" sz="1400" b="0" i="0" u="none" strike="noStrike" kern="1200" cap="none" spc="0" normalizeH="0" baseline="0" noProof="0" dirty="0" err="1">
                <a:ln>
                  <a:noFill/>
                </a:ln>
                <a:solidFill>
                  <a:srgbClr val="1D1D1A"/>
                </a:solidFill>
                <a:effectLst/>
                <a:uLnTx/>
                <a:uFillTx/>
                <a:latin typeface="微软雅黑"/>
                <a:ea typeface="微软雅黑"/>
                <a:cs typeface="+mn-cs"/>
              </a:rPr>
              <a:t>SuperPods</a:t>
            </a:r>
            <a:r>
              <a:rPr kumimoji="1" lang="en-US" altLang="zh-CN" sz="1400" b="0" i="0" u="none" strike="noStrike" kern="1200" cap="none" spc="0" normalizeH="0" baseline="0" noProof="0" dirty="0">
                <a:ln>
                  <a:noFill/>
                </a:ln>
                <a:solidFill>
                  <a:srgbClr val="1D1D1A"/>
                </a:solidFill>
                <a:effectLst/>
                <a:uLnTx/>
                <a:uFillTx/>
                <a:latin typeface="微软雅黑"/>
                <a:ea typeface="微软雅黑"/>
                <a:cs typeface="+mn-cs"/>
              </a:rPr>
              <a:t> and scale-up scenarios.</a:t>
            </a:r>
            <a:endParaRPr kumimoji="1" lang="zh-CN" altLang="en-US" sz="1400" b="0" i="0" u="none" strike="noStrike" kern="1200" cap="none" spc="0" normalizeH="0" baseline="0" noProof="0" dirty="0">
              <a:ln>
                <a:noFill/>
              </a:ln>
              <a:solidFill>
                <a:srgbClr val="1D1D1A"/>
              </a:solidFill>
              <a:effectLst/>
              <a:uLnTx/>
              <a:uFillTx/>
              <a:latin typeface="微软雅黑"/>
              <a:ea typeface="微软雅黑"/>
              <a:cs typeface="+mn-cs"/>
            </a:endParaRPr>
          </a:p>
        </p:txBody>
      </p:sp>
      <p:sp>
        <p:nvSpPr>
          <p:cNvPr id="178" name="矩形: 圆角 177">
            <a:extLst>
              <a:ext uri="{FF2B5EF4-FFF2-40B4-BE49-F238E27FC236}">
                <a16:creationId xmlns:a16="http://schemas.microsoft.com/office/drawing/2014/main" id="{59ACCC48-C2AC-4612-9159-B2D3C56EC88E}"/>
              </a:ext>
            </a:extLst>
          </p:cNvPr>
          <p:cNvSpPr/>
          <p:nvPr/>
        </p:nvSpPr>
        <p:spPr>
          <a:xfrm>
            <a:off x="6290382" y="5725144"/>
            <a:ext cx="5108756" cy="402467"/>
          </a:xfrm>
          <a:prstGeom prst="roundRect">
            <a:avLst/>
          </a:prstGeom>
          <a:solidFill>
            <a:srgbClr val="A6CAEC"/>
          </a:solidFill>
          <a:effectLst>
            <a:outerShdw blurRad="50800" dist="38100" dir="5400000" algn="t" rotWithShape="0">
              <a:prstClr val="black">
                <a:alpha val="40000"/>
              </a:prstClr>
            </a:outerShdw>
          </a:effectLst>
        </p:spPr>
        <p:txBody>
          <a:bodyPr wrap="square" anchor="ctr">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rgbClr val="1D1D1A"/>
                </a:solidFill>
                <a:effectLst/>
                <a:uLnTx/>
                <a:uFillTx/>
                <a:latin typeface="微软雅黑"/>
                <a:ea typeface="微软雅黑"/>
                <a:cs typeface="+mn-cs"/>
              </a:rPr>
              <a:t>Develop novel reliability and ordering schemes to boost transmission performance for scale-up scenarios.</a:t>
            </a:r>
            <a:endParaRPr kumimoji="1" lang="zh-CN" altLang="en-US" sz="1400" b="0" i="0" u="none" strike="noStrike" kern="1200" cap="none" spc="0" normalizeH="0" baseline="0" noProof="0" dirty="0">
              <a:ln>
                <a:noFill/>
              </a:ln>
              <a:solidFill>
                <a:srgbClr val="1D1D1A"/>
              </a:solidFill>
              <a:effectLst/>
              <a:uLnTx/>
              <a:uFillTx/>
              <a:latin typeface="微软雅黑"/>
              <a:ea typeface="微软雅黑"/>
              <a:cs typeface="+mn-cs"/>
            </a:endParaRPr>
          </a:p>
        </p:txBody>
      </p:sp>
      <p:sp>
        <p:nvSpPr>
          <p:cNvPr id="179" name="矩形 178">
            <a:extLst>
              <a:ext uri="{FF2B5EF4-FFF2-40B4-BE49-F238E27FC236}">
                <a16:creationId xmlns:a16="http://schemas.microsoft.com/office/drawing/2014/main" id="{D681E715-847B-4E6B-9F29-8A81326CA81E}"/>
              </a:ext>
            </a:extLst>
          </p:cNvPr>
          <p:cNvSpPr/>
          <p:nvPr/>
        </p:nvSpPr>
        <p:spPr>
          <a:xfrm>
            <a:off x="1415220" y="2033338"/>
            <a:ext cx="3849132" cy="307777"/>
          </a:xfrm>
          <a:prstGeom prst="rect">
            <a:avLst/>
          </a:prstGeom>
          <a:solidFill>
            <a:schemeClr val="bg1"/>
          </a:solidFill>
        </p:spPr>
        <p:txBody>
          <a:bodyPr wrap="none">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rPr>
              <a:t>Novel Transmission Control Mechanisms</a:t>
            </a:r>
            <a:endParaRPr kumimoji="1" lang="en-US" altLang="zh-CN" sz="1800" b="1"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endParaRPr>
          </a:p>
        </p:txBody>
      </p:sp>
      <p:sp>
        <p:nvSpPr>
          <p:cNvPr id="180" name="矩形 179">
            <a:extLst>
              <a:ext uri="{FF2B5EF4-FFF2-40B4-BE49-F238E27FC236}">
                <a16:creationId xmlns:a16="http://schemas.microsoft.com/office/drawing/2014/main" id="{5255C549-FBBE-4807-889D-17940FBCA74F}"/>
              </a:ext>
            </a:extLst>
          </p:cNvPr>
          <p:cNvSpPr/>
          <p:nvPr/>
        </p:nvSpPr>
        <p:spPr>
          <a:xfrm>
            <a:off x="6263428" y="2029774"/>
            <a:ext cx="4960333" cy="307777"/>
          </a:xfrm>
          <a:prstGeom prst="rect">
            <a:avLst/>
          </a:prstGeom>
          <a:solidFill>
            <a:schemeClr val="bg1"/>
          </a:solidFill>
        </p:spPr>
        <p:txBody>
          <a:bodyPr wrap="none">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rPr>
              <a:t>Network-Level Transaction and Reliability Innovation</a:t>
            </a:r>
            <a:endParaRPr kumimoji="1" lang="en-US" altLang="zh-CN" sz="1800" b="1"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endParaRPr>
          </a:p>
        </p:txBody>
      </p:sp>
      <p:sp>
        <p:nvSpPr>
          <p:cNvPr id="181" name="矩形 180">
            <a:extLst>
              <a:ext uri="{FF2B5EF4-FFF2-40B4-BE49-F238E27FC236}">
                <a16:creationId xmlns:a16="http://schemas.microsoft.com/office/drawing/2014/main" id="{7D290800-8544-45BE-8919-80F282A0C43F}"/>
              </a:ext>
            </a:extLst>
          </p:cNvPr>
          <p:cNvSpPr/>
          <p:nvPr/>
        </p:nvSpPr>
        <p:spPr>
          <a:xfrm>
            <a:off x="6279618" y="3430798"/>
            <a:ext cx="1696298" cy="276999"/>
          </a:xfrm>
          <a:prstGeom prst="rect">
            <a:avLst/>
          </a:prstGeom>
        </p:spPr>
        <p:txBody>
          <a:bodyPr wrap="none">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Ordering</a:t>
            </a:r>
            <a:r>
              <a:rPr kumimoji="1" lang="zh-CN" altLang="en-US" sz="12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 </a:t>
            </a:r>
            <a:r>
              <a:rPr kumimoji="1" lang="en-US" altLang="zh-CN" sz="12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by</a:t>
            </a:r>
            <a:r>
              <a:rPr kumimoji="1" lang="zh-CN" altLang="en-US" sz="12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 </a:t>
            </a:r>
            <a:r>
              <a:rPr kumimoji="1" lang="en-US" altLang="zh-CN" sz="12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Initiator</a:t>
            </a:r>
            <a:endParaRPr kumimoji="0" lang="zh-CN" altLang="en-US" sz="16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endParaRPr>
          </a:p>
        </p:txBody>
      </p:sp>
      <p:sp>
        <p:nvSpPr>
          <p:cNvPr id="182" name="矩形 181">
            <a:extLst>
              <a:ext uri="{FF2B5EF4-FFF2-40B4-BE49-F238E27FC236}">
                <a16:creationId xmlns:a16="http://schemas.microsoft.com/office/drawing/2014/main" id="{F12951C6-0021-4A31-B9FF-BCDFC668D457}"/>
              </a:ext>
            </a:extLst>
          </p:cNvPr>
          <p:cNvSpPr/>
          <p:nvPr/>
        </p:nvSpPr>
        <p:spPr>
          <a:xfrm>
            <a:off x="6326551" y="3636622"/>
            <a:ext cx="764953" cy="276999"/>
          </a:xfrm>
          <a:prstGeom prst="rect">
            <a:avLst/>
          </a:prstGeom>
        </p:spPr>
        <p:txBody>
          <a:bodyPr wrap="none">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Initiator</a:t>
            </a:r>
            <a:endParaRPr kumimoji="0" lang="zh-CN" altLang="en-US" sz="16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endParaRPr>
          </a:p>
        </p:txBody>
      </p:sp>
      <p:sp>
        <p:nvSpPr>
          <p:cNvPr id="183" name="矩形 182">
            <a:extLst>
              <a:ext uri="{FF2B5EF4-FFF2-40B4-BE49-F238E27FC236}">
                <a16:creationId xmlns:a16="http://schemas.microsoft.com/office/drawing/2014/main" id="{8E21BAC6-F560-4C25-BDE4-27E943C06E1D}"/>
              </a:ext>
            </a:extLst>
          </p:cNvPr>
          <p:cNvSpPr/>
          <p:nvPr/>
        </p:nvSpPr>
        <p:spPr>
          <a:xfrm>
            <a:off x="7408989" y="3636622"/>
            <a:ext cx="659155" cy="276999"/>
          </a:xfrm>
          <a:prstGeom prst="rect">
            <a:avLst/>
          </a:prstGeom>
        </p:spPr>
        <p:txBody>
          <a:bodyPr wrap="none">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Target</a:t>
            </a:r>
            <a:endParaRPr kumimoji="0" lang="zh-CN" altLang="en-US" sz="16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endParaRPr>
          </a:p>
        </p:txBody>
      </p:sp>
      <p:cxnSp>
        <p:nvCxnSpPr>
          <p:cNvPr id="184" name="直接箭头连接符 183">
            <a:extLst>
              <a:ext uri="{FF2B5EF4-FFF2-40B4-BE49-F238E27FC236}">
                <a16:creationId xmlns:a16="http://schemas.microsoft.com/office/drawing/2014/main" id="{DF0EFDFE-41E4-42E6-AB82-77013060BCCC}"/>
              </a:ext>
            </a:extLst>
          </p:cNvPr>
          <p:cNvCxnSpPr/>
          <p:nvPr/>
        </p:nvCxnSpPr>
        <p:spPr>
          <a:xfrm>
            <a:off x="6592308" y="3862799"/>
            <a:ext cx="0" cy="1510496"/>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85" name="直接箭头连接符 184">
            <a:extLst>
              <a:ext uri="{FF2B5EF4-FFF2-40B4-BE49-F238E27FC236}">
                <a16:creationId xmlns:a16="http://schemas.microsoft.com/office/drawing/2014/main" id="{A4F6EA66-C439-46D5-90BC-CFFEAF03E300}"/>
              </a:ext>
            </a:extLst>
          </p:cNvPr>
          <p:cNvCxnSpPr/>
          <p:nvPr/>
        </p:nvCxnSpPr>
        <p:spPr>
          <a:xfrm>
            <a:off x="7674747" y="3862799"/>
            <a:ext cx="0" cy="1510496"/>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86" name="直接箭头连接符 185">
            <a:extLst>
              <a:ext uri="{FF2B5EF4-FFF2-40B4-BE49-F238E27FC236}">
                <a16:creationId xmlns:a16="http://schemas.microsoft.com/office/drawing/2014/main" id="{A5BEFEBF-A67F-44B7-908E-479B91FE8C02}"/>
              </a:ext>
            </a:extLst>
          </p:cNvPr>
          <p:cNvCxnSpPr>
            <a:cxnSpLocks/>
          </p:cNvCxnSpPr>
          <p:nvPr/>
        </p:nvCxnSpPr>
        <p:spPr>
          <a:xfrm>
            <a:off x="6638031" y="4099427"/>
            <a:ext cx="1022371" cy="19349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87" name="直接箭头连接符 186">
            <a:extLst>
              <a:ext uri="{FF2B5EF4-FFF2-40B4-BE49-F238E27FC236}">
                <a16:creationId xmlns:a16="http://schemas.microsoft.com/office/drawing/2014/main" id="{C8163FA9-7691-419A-A45E-F77D1CE46EFD}"/>
              </a:ext>
            </a:extLst>
          </p:cNvPr>
          <p:cNvCxnSpPr>
            <a:cxnSpLocks/>
          </p:cNvCxnSpPr>
          <p:nvPr/>
        </p:nvCxnSpPr>
        <p:spPr>
          <a:xfrm flipH="1">
            <a:off x="6638031" y="4707506"/>
            <a:ext cx="1022371" cy="1524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8" name="直接箭头连接符 187">
            <a:extLst>
              <a:ext uri="{FF2B5EF4-FFF2-40B4-BE49-F238E27FC236}">
                <a16:creationId xmlns:a16="http://schemas.microsoft.com/office/drawing/2014/main" id="{E789CAD5-7079-4317-9060-67FFE00F7E6B}"/>
              </a:ext>
            </a:extLst>
          </p:cNvPr>
          <p:cNvCxnSpPr>
            <a:cxnSpLocks/>
          </p:cNvCxnSpPr>
          <p:nvPr/>
        </p:nvCxnSpPr>
        <p:spPr>
          <a:xfrm flipH="1">
            <a:off x="6638031" y="4336236"/>
            <a:ext cx="1022371" cy="15249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89" name="直接箭头连接符 188">
            <a:extLst>
              <a:ext uri="{FF2B5EF4-FFF2-40B4-BE49-F238E27FC236}">
                <a16:creationId xmlns:a16="http://schemas.microsoft.com/office/drawing/2014/main" id="{ECE22FE1-B5E0-41D3-B90D-A79BC4B48140}"/>
              </a:ext>
            </a:extLst>
          </p:cNvPr>
          <p:cNvCxnSpPr>
            <a:cxnSpLocks/>
          </p:cNvCxnSpPr>
          <p:nvPr/>
        </p:nvCxnSpPr>
        <p:spPr>
          <a:xfrm>
            <a:off x="6638031" y="4893117"/>
            <a:ext cx="1022371" cy="200316"/>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190" name="直接箭头连接符 189">
            <a:extLst>
              <a:ext uri="{FF2B5EF4-FFF2-40B4-BE49-F238E27FC236}">
                <a16:creationId xmlns:a16="http://schemas.microsoft.com/office/drawing/2014/main" id="{08D39F52-6240-49A2-AFA4-14495A76FBD5}"/>
              </a:ext>
            </a:extLst>
          </p:cNvPr>
          <p:cNvCxnSpPr>
            <a:cxnSpLocks/>
          </p:cNvCxnSpPr>
          <p:nvPr/>
        </p:nvCxnSpPr>
        <p:spPr>
          <a:xfrm flipH="1">
            <a:off x="6638031" y="5116100"/>
            <a:ext cx="1022371" cy="152490"/>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sp>
        <p:nvSpPr>
          <p:cNvPr id="191" name="矩形 190">
            <a:extLst>
              <a:ext uri="{FF2B5EF4-FFF2-40B4-BE49-F238E27FC236}">
                <a16:creationId xmlns:a16="http://schemas.microsoft.com/office/drawing/2014/main" id="{3DD4CB73-806F-4DEF-84BD-B7CE3917640C}"/>
              </a:ext>
            </a:extLst>
          </p:cNvPr>
          <p:cNvSpPr/>
          <p:nvPr/>
        </p:nvSpPr>
        <p:spPr>
          <a:xfrm>
            <a:off x="6707049" y="5258884"/>
            <a:ext cx="1199367" cy="253916"/>
          </a:xfrm>
          <a:prstGeom prst="rect">
            <a:avLst/>
          </a:prstGeom>
        </p:spPr>
        <p:txBody>
          <a:bodyPr wrap="none">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1050" b="1" i="0" u="none" strike="noStrike" kern="0" cap="none" spc="0" normalizeH="0" baseline="0" noProof="0" dirty="0">
                <a:ln>
                  <a:noFill/>
                </a:ln>
                <a:solidFill>
                  <a:srgbClr val="C00000"/>
                </a:solidFill>
                <a:effectLst/>
                <a:uLnTx/>
                <a:uFillTx/>
                <a:latin typeface="微软雅黑"/>
                <a:ea typeface="微软雅黑"/>
                <a:cs typeface="Huawei Sans" panose="020C0503030203020204" pitchFamily="34" charset="0"/>
              </a:rPr>
              <a:t>Additional RTT</a:t>
            </a:r>
            <a:endParaRPr kumimoji="0" lang="zh-CN" altLang="en-US" sz="1200" b="1" i="0" u="none" strike="noStrike" kern="1200" cap="none" spc="0" normalizeH="0" baseline="0" noProof="0" dirty="0">
              <a:ln>
                <a:noFill/>
              </a:ln>
              <a:solidFill>
                <a:srgbClr val="C00000"/>
              </a:solidFill>
              <a:effectLst/>
              <a:uLnTx/>
              <a:uFillTx/>
              <a:latin typeface="微软雅黑"/>
              <a:ea typeface="微软雅黑"/>
              <a:cs typeface="Huawei Sans" panose="020C0503030203020204" pitchFamily="34" charset="0"/>
            </a:endParaRPr>
          </a:p>
        </p:txBody>
      </p:sp>
      <p:sp>
        <p:nvSpPr>
          <p:cNvPr id="192" name="矩形 191">
            <a:extLst>
              <a:ext uri="{FF2B5EF4-FFF2-40B4-BE49-F238E27FC236}">
                <a16:creationId xmlns:a16="http://schemas.microsoft.com/office/drawing/2014/main" id="{B13FE61C-E7A0-4672-AB0B-5965813722C9}"/>
              </a:ext>
            </a:extLst>
          </p:cNvPr>
          <p:cNvSpPr/>
          <p:nvPr/>
        </p:nvSpPr>
        <p:spPr>
          <a:xfrm rot="666858">
            <a:off x="6884526" y="4863806"/>
            <a:ext cx="619080" cy="200055"/>
          </a:xfrm>
          <a:prstGeom prst="rect">
            <a:avLst/>
          </a:prstGeom>
        </p:spPr>
        <p:txBody>
          <a:bodyPr wrap="none">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7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Store Flag</a:t>
            </a:r>
            <a:endParaRPr kumimoji="0" lang="zh-CN" altLang="en-US" sz="9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endParaRPr>
          </a:p>
        </p:txBody>
      </p:sp>
      <p:sp>
        <p:nvSpPr>
          <p:cNvPr id="193" name="矩形 192">
            <a:extLst>
              <a:ext uri="{FF2B5EF4-FFF2-40B4-BE49-F238E27FC236}">
                <a16:creationId xmlns:a16="http://schemas.microsoft.com/office/drawing/2014/main" id="{3A0D03DC-D7D3-4A92-9903-7A84FA0E4977}"/>
              </a:ext>
            </a:extLst>
          </p:cNvPr>
          <p:cNvSpPr/>
          <p:nvPr/>
        </p:nvSpPr>
        <p:spPr>
          <a:xfrm rot="21042149">
            <a:off x="6884994" y="5070640"/>
            <a:ext cx="364202" cy="200055"/>
          </a:xfrm>
          <a:prstGeom prst="rect">
            <a:avLst/>
          </a:prstGeom>
        </p:spPr>
        <p:txBody>
          <a:bodyPr wrap="none">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7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ACK</a:t>
            </a:r>
            <a:endParaRPr kumimoji="0" lang="zh-CN" altLang="en-US" sz="9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endParaRPr>
          </a:p>
        </p:txBody>
      </p:sp>
      <p:sp>
        <p:nvSpPr>
          <p:cNvPr id="194" name="矩形 193">
            <a:extLst>
              <a:ext uri="{FF2B5EF4-FFF2-40B4-BE49-F238E27FC236}">
                <a16:creationId xmlns:a16="http://schemas.microsoft.com/office/drawing/2014/main" id="{661EE126-95E7-41CC-81A8-7FB06F9FD939}"/>
              </a:ext>
            </a:extLst>
          </p:cNvPr>
          <p:cNvSpPr/>
          <p:nvPr/>
        </p:nvSpPr>
        <p:spPr>
          <a:xfrm rot="21042149">
            <a:off x="6857230" y="4658610"/>
            <a:ext cx="364202" cy="200055"/>
          </a:xfrm>
          <a:prstGeom prst="rect">
            <a:avLst/>
          </a:prstGeom>
        </p:spPr>
        <p:txBody>
          <a:bodyPr wrap="none">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7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ACK</a:t>
            </a:r>
            <a:endParaRPr kumimoji="0" lang="zh-CN" altLang="en-US" sz="9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endParaRPr>
          </a:p>
        </p:txBody>
      </p:sp>
      <p:sp>
        <p:nvSpPr>
          <p:cNvPr id="195" name="矩形 194">
            <a:extLst>
              <a:ext uri="{FF2B5EF4-FFF2-40B4-BE49-F238E27FC236}">
                <a16:creationId xmlns:a16="http://schemas.microsoft.com/office/drawing/2014/main" id="{F91B43CF-E8C1-413B-94B1-7A5237C617EF}"/>
              </a:ext>
            </a:extLst>
          </p:cNvPr>
          <p:cNvSpPr/>
          <p:nvPr/>
        </p:nvSpPr>
        <p:spPr>
          <a:xfrm rot="21042149">
            <a:off x="6857230" y="4287785"/>
            <a:ext cx="364202" cy="200055"/>
          </a:xfrm>
          <a:prstGeom prst="rect">
            <a:avLst/>
          </a:prstGeom>
        </p:spPr>
        <p:txBody>
          <a:bodyPr wrap="none">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7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ACK</a:t>
            </a:r>
            <a:endParaRPr kumimoji="0" lang="zh-CN" altLang="en-US" sz="9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endParaRPr>
          </a:p>
        </p:txBody>
      </p:sp>
      <p:sp>
        <p:nvSpPr>
          <p:cNvPr id="196" name="矩形 195">
            <a:extLst>
              <a:ext uri="{FF2B5EF4-FFF2-40B4-BE49-F238E27FC236}">
                <a16:creationId xmlns:a16="http://schemas.microsoft.com/office/drawing/2014/main" id="{415D1174-0052-4B8F-B266-F1400BDBBF32}"/>
              </a:ext>
            </a:extLst>
          </p:cNvPr>
          <p:cNvSpPr/>
          <p:nvPr/>
        </p:nvSpPr>
        <p:spPr>
          <a:xfrm rot="1996898">
            <a:off x="6556426" y="3921630"/>
            <a:ext cx="412292" cy="200055"/>
          </a:xfrm>
          <a:prstGeom prst="rect">
            <a:avLst/>
          </a:prstGeom>
        </p:spPr>
        <p:txBody>
          <a:bodyPr wrap="none">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7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Store</a:t>
            </a:r>
            <a:endParaRPr kumimoji="0" lang="zh-CN" altLang="en-US" sz="9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endParaRPr>
          </a:p>
        </p:txBody>
      </p:sp>
      <p:sp>
        <p:nvSpPr>
          <p:cNvPr id="197" name="矩形 196">
            <a:extLst>
              <a:ext uri="{FF2B5EF4-FFF2-40B4-BE49-F238E27FC236}">
                <a16:creationId xmlns:a16="http://schemas.microsoft.com/office/drawing/2014/main" id="{E3AFA84A-B483-4128-A317-24B515B0CD04}"/>
              </a:ext>
            </a:extLst>
          </p:cNvPr>
          <p:cNvSpPr/>
          <p:nvPr/>
        </p:nvSpPr>
        <p:spPr>
          <a:xfrm rot="614586">
            <a:off x="7138381" y="4092925"/>
            <a:ext cx="412292" cy="200055"/>
          </a:xfrm>
          <a:prstGeom prst="rect">
            <a:avLst/>
          </a:prstGeom>
        </p:spPr>
        <p:txBody>
          <a:bodyPr wrap="none">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7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Store</a:t>
            </a:r>
            <a:endParaRPr kumimoji="0" lang="zh-CN" altLang="en-US" sz="9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endParaRPr>
          </a:p>
        </p:txBody>
      </p:sp>
      <p:sp>
        <p:nvSpPr>
          <p:cNvPr id="198" name="矩形 197">
            <a:extLst>
              <a:ext uri="{FF2B5EF4-FFF2-40B4-BE49-F238E27FC236}">
                <a16:creationId xmlns:a16="http://schemas.microsoft.com/office/drawing/2014/main" id="{0ADCFC58-0DBB-48D3-868B-4CB25554015A}"/>
              </a:ext>
            </a:extLst>
          </p:cNvPr>
          <p:cNvSpPr/>
          <p:nvPr/>
        </p:nvSpPr>
        <p:spPr>
          <a:xfrm>
            <a:off x="8047570" y="3430798"/>
            <a:ext cx="1590500" cy="276999"/>
          </a:xfrm>
          <a:prstGeom prst="rect">
            <a:avLst/>
          </a:prstGeom>
        </p:spPr>
        <p:txBody>
          <a:bodyPr wrap="none">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Ordering</a:t>
            </a:r>
            <a:r>
              <a:rPr kumimoji="1" lang="zh-CN" altLang="en-US" sz="12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 </a:t>
            </a:r>
            <a:r>
              <a:rPr kumimoji="1" lang="en-US" altLang="zh-CN" sz="12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by</a:t>
            </a:r>
            <a:r>
              <a:rPr kumimoji="1" lang="zh-CN" altLang="en-US" sz="12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 </a:t>
            </a:r>
            <a:r>
              <a:rPr kumimoji="1" lang="en-US" altLang="zh-CN" sz="12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Target</a:t>
            </a:r>
            <a:endParaRPr kumimoji="0" lang="zh-CN" altLang="en-US" sz="12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endParaRPr>
          </a:p>
        </p:txBody>
      </p:sp>
      <p:sp>
        <p:nvSpPr>
          <p:cNvPr id="199" name="矩形 198">
            <a:extLst>
              <a:ext uri="{FF2B5EF4-FFF2-40B4-BE49-F238E27FC236}">
                <a16:creationId xmlns:a16="http://schemas.microsoft.com/office/drawing/2014/main" id="{CC75A973-DE83-4017-97FE-8BE4ED23E494}"/>
              </a:ext>
            </a:extLst>
          </p:cNvPr>
          <p:cNvSpPr/>
          <p:nvPr/>
        </p:nvSpPr>
        <p:spPr>
          <a:xfrm>
            <a:off x="8020154" y="3636622"/>
            <a:ext cx="764953" cy="276999"/>
          </a:xfrm>
          <a:prstGeom prst="rect">
            <a:avLst/>
          </a:prstGeom>
        </p:spPr>
        <p:txBody>
          <a:bodyPr wrap="none">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Initiator</a:t>
            </a:r>
            <a:endParaRPr kumimoji="0" lang="zh-CN" altLang="en-US" sz="12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endParaRPr>
          </a:p>
        </p:txBody>
      </p:sp>
      <p:sp>
        <p:nvSpPr>
          <p:cNvPr id="200" name="矩形 199">
            <a:extLst>
              <a:ext uri="{FF2B5EF4-FFF2-40B4-BE49-F238E27FC236}">
                <a16:creationId xmlns:a16="http://schemas.microsoft.com/office/drawing/2014/main" id="{99FC2C19-748E-4FB7-963F-FBD2EF725B48}"/>
              </a:ext>
            </a:extLst>
          </p:cNvPr>
          <p:cNvSpPr/>
          <p:nvPr/>
        </p:nvSpPr>
        <p:spPr>
          <a:xfrm>
            <a:off x="9300746" y="3636622"/>
            <a:ext cx="659155" cy="276999"/>
          </a:xfrm>
          <a:prstGeom prst="rect">
            <a:avLst/>
          </a:prstGeom>
        </p:spPr>
        <p:txBody>
          <a:bodyPr wrap="none">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Target</a:t>
            </a:r>
            <a:endParaRPr kumimoji="0" lang="zh-CN" altLang="en-US" sz="16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endParaRPr>
          </a:p>
        </p:txBody>
      </p:sp>
      <p:cxnSp>
        <p:nvCxnSpPr>
          <p:cNvPr id="201" name="直接箭头连接符 200">
            <a:extLst>
              <a:ext uri="{FF2B5EF4-FFF2-40B4-BE49-F238E27FC236}">
                <a16:creationId xmlns:a16="http://schemas.microsoft.com/office/drawing/2014/main" id="{179A9995-8077-4AA1-A011-785E2A62AE40}"/>
              </a:ext>
            </a:extLst>
          </p:cNvPr>
          <p:cNvCxnSpPr/>
          <p:nvPr/>
        </p:nvCxnSpPr>
        <p:spPr>
          <a:xfrm>
            <a:off x="8285912" y="3862799"/>
            <a:ext cx="0" cy="1510496"/>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02" name="直接箭头连接符 201">
            <a:extLst>
              <a:ext uri="{FF2B5EF4-FFF2-40B4-BE49-F238E27FC236}">
                <a16:creationId xmlns:a16="http://schemas.microsoft.com/office/drawing/2014/main" id="{47AFA251-3AA3-4BE8-9543-2CD1093A66C6}"/>
              </a:ext>
            </a:extLst>
          </p:cNvPr>
          <p:cNvCxnSpPr/>
          <p:nvPr/>
        </p:nvCxnSpPr>
        <p:spPr>
          <a:xfrm>
            <a:off x="9368350" y="3862799"/>
            <a:ext cx="0" cy="1510496"/>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03" name="直接箭头连接符 202">
            <a:extLst>
              <a:ext uri="{FF2B5EF4-FFF2-40B4-BE49-F238E27FC236}">
                <a16:creationId xmlns:a16="http://schemas.microsoft.com/office/drawing/2014/main" id="{F89E1239-F81A-46E8-83BF-CDFEF1391AF9}"/>
              </a:ext>
            </a:extLst>
          </p:cNvPr>
          <p:cNvCxnSpPr>
            <a:cxnSpLocks/>
          </p:cNvCxnSpPr>
          <p:nvPr/>
        </p:nvCxnSpPr>
        <p:spPr>
          <a:xfrm>
            <a:off x="8331635" y="4005721"/>
            <a:ext cx="684609" cy="4603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4" name="直接箭头连接符 203">
            <a:extLst>
              <a:ext uri="{FF2B5EF4-FFF2-40B4-BE49-F238E27FC236}">
                <a16:creationId xmlns:a16="http://schemas.microsoft.com/office/drawing/2014/main" id="{CCDDD975-4D70-451A-B6CA-1908C48C2E9D}"/>
              </a:ext>
            </a:extLst>
          </p:cNvPr>
          <p:cNvCxnSpPr>
            <a:cxnSpLocks/>
          </p:cNvCxnSpPr>
          <p:nvPr/>
        </p:nvCxnSpPr>
        <p:spPr>
          <a:xfrm>
            <a:off x="8331635" y="4099427"/>
            <a:ext cx="678893" cy="135622"/>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5" name="直接箭头连接符 204">
            <a:extLst>
              <a:ext uri="{FF2B5EF4-FFF2-40B4-BE49-F238E27FC236}">
                <a16:creationId xmlns:a16="http://schemas.microsoft.com/office/drawing/2014/main" id="{235C7BA8-8161-4DAE-9715-EA146663ADB4}"/>
              </a:ext>
            </a:extLst>
          </p:cNvPr>
          <p:cNvCxnSpPr>
            <a:cxnSpLocks/>
          </p:cNvCxnSpPr>
          <p:nvPr/>
        </p:nvCxnSpPr>
        <p:spPr>
          <a:xfrm flipH="1">
            <a:off x="8331635" y="4547413"/>
            <a:ext cx="1022371" cy="1524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6" name="直接箭头连接符 205">
            <a:extLst>
              <a:ext uri="{FF2B5EF4-FFF2-40B4-BE49-F238E27FC236}">
                <a16:creationId xmlns:a16="http://schemas.microsoft.com/office/drawing/2014/main" id="{4F429DD4-EDB9-4C83-8622-2BCCD984EFF8}"/>
              </a:ext>
            </a:extLst>
          </p:cNvPr>
          <p:cNvCxnSpPr>
            <a:cxnSpLocks/>
          </p:cNvCxnSpPr>
          <p:nvPr/>
        </p:nvCxnSpPr>
        <p:spPr>
          <a:xfrm flipH="1">
            <a:off x="8331635" y="4336236"/>
            <a:ext cx="1022371" cy="15249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7" name="直接箭头连接符 206">
            <a:extLst>
              <a:ext uri="{FF2B5EF4-FFF2-40B4-BE49-F238E27FC236}">
                <a16:creationId xmlns:a16="http://schemas.microsoft.com/office/drawing/2014/main" id="{21D9F399-CAEF-4883-A6C4-51C34A93F9BC}"/>
              </a:ext>
            </a:extLst>
          </p:cNvPr>
          <p:cNvCxnSpPr>
            <a:cxnSpLocks/>
          </p:cNvCxnSpPr>
          <p:nvPr/>
        </p:nvCxnSpPr>
        <p:spPr>
          <a:xfrm>
            <a:off x="8331635" y="4182294"/>
            <a:ext cx="675525" cy="132357"/>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208" name="直接箭头连接符 207">
            <a:extLst>
              <a:ext uri="{FF2B5EF4-FFF2-40B4-BE49-F238E27FC236}">
                <a16:creationId xmlns:a16="http://schemas.microsoft.com/office/drawing/2014/main" id="{2605BAE4-DED4-458D-8575-C981CFDB7AA9}"/>
              </a:ext>
            </a:extLst>
          </p:cNvPr>
          <p:cNvCxnSpPr>
            <a:cxnSpLocks/>
          </p:cNvCxnSpPr>
          <p:nvPr/>
        </p:nvCxnSpPr>
        <p:spPr>
          <a:xfrm flipH="1">
            <a:off x="8331635" y="4642971"/>
            <a:ext cx="1022371" cy="152490"/>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sp>
        <p:nvSpPr>
          <p:cNvPr id="209" name="矩形 208">
            <a:extLst>
              <a:ext uri="{FF2B5EF4-FFF2-40B4-BE49-F238E27FC236}">
                <a16:creationId xmlns:a16="http://schemas.microsoft.com/office/drawing/2014/main" id="{06166B7A-8C2B-4B21-9216-C8940734A99C}"/>
              </a:ext>
            </a:extLst>
          </p:cNvPr>
          <p:cNvSpPr/>
          <p:nvPr/>
        </p:nvSpPr>
        <p:spPr>
          <a:xfrm rot="666858">
            <a:off x="8260639" y="4188177"/>
            <a:ext cx="619080" cy="200055"/>
          </a:xfrm>
          <a:prstGeom prst="rect">
            <a:avLst/>
          </a:prstGeom>
        </p:spPr>
        <p:txBody>
          <a:bodyPr wrap="none">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7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Store Flag</a:t>
            </a:r>
            <a:endParaRPr kumimoji="0" lang="zh-CN" altLang="en-US" sz="9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endParaRPr>
          </a:p>
        </p:txBody>
      </p:sp>
      <p:sp>
        <p:nvSpPr>
          <p:cNvPr id="210" name="矩形 209">
            <a:extLst>
              <a:ext uri="{FF2B5EF4-FFF2-40B4-BE49-F238E27FC236}">
                <a16:creationId xmlns:a16="http://schemas.microsoft.com/office/drawing/2014/main" id="{FD61578F-5B57-4058-B64D-CCE63F4E820D}"/>
              </a:ext>
            </a:extLst>
          </p:cNvPr>
          <p:cNvSpPr/>
          <p:nvPr/>
        </p:nvSpPr>
        <p:spPr>
          <a:xfrm rot="21042149">
            <a:off x="8540534" y="4495165"/>
            <a:ext cx="364202" cy="200055"/>
          </a:xfrm>
          <a:prstGeom prst="rect">
            <a:avLst/>
          </a:prstGeom>
        </p:spPr>
        <p:txBody>
          <a:bodyPr wrap="none">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7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ACK</a:t>
            </a:r>
            <a:endParaRPr kumimoji="0" lang="zh-CN" altLang="en-US" sz="9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endParaRPr>
          </a:p>
        </p:txBody>
      </p:sp>
      <p:sp>
        <p:nvSpPr>
          <p:cNvPr id="211" name="矩形 210">
            <a:extLst>
              <a:ext uri="{FF2B5EF4-FFF2-40B4-BE49-F238E27FC236}">
                <a16:creationId xmlns:a16="http://schemas.microsoft.com/office/drawing/2014/main" id="{FA7C7798-C494-4618-ACC2-5A7FDE7C6831}"/>
              </a:ext>
            </a:extLst>
          </p:cNvPr>
          <p:cNvSpPr/>
          <p:nvPr/>
        </p:nvSpPr>
        <p:spPr>
          <a:xfrm rot="1249505">
            <a:off x="8366752" y="3986708"/>
            <a:ext cx="412292" cy="200055"/>
          </a:xfrm>
          <a:prstGeom prst="rect">
            <a:avLst/>
          </a:prstGeom>
        </p:spPr>
        <p:txBody>
          <a:bodyPr wrap="none">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7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Store</a:t>
            </a:r>
            <a:endParaRPr kumimoji="0" lang="zh-CN" altLang="en-US" sz="9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endParaRPr>
          </a:p>
        </p:txBody>
      </p:sp>
      <p:sp>
        <p:nvSpPr>
          <p:cNvPr id="212" name="矩形 211">
            <a:extLst>
              <a:ext uri="{FF2B5EF4-FFF2-40B4-BE49-F238E27FC236}">
                <a16:creationId xmlns:a16="http://schemas.microsoft.com/office/drawing/2014/main" id="{0C340A27-4B7A-4A24-9CA1-0A6700C7D09B}"/>
              </a:ext>
            </a:extLst>
          </p:cNvPr>
          <p:cNvSpPr/>
          <p:nvPr/>
        </p:nvSpPr>
        <p:spPr>
          <a:xfrm>
            <a:off x="9506208" y="4114338"/>
            <a:ext cx="2114682" cy="646331"/>
          </a:xfrm>
          <a:prstGeom prst="rect">
            <a:avLst/>
          </a:prstGeom>
        </p:spPr>
        <p:txBody>
          <a:bodyPr wrap="none">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New Ordering Mechanism</a:t>
            </a:r>
          </a:p>
          <a:p>
            <a:pPr marL="285750" marR="0" lvl="0" indent="-285750" algn="l" defTabSz="91447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2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Low Latency</a:t>
            </a:r>
          </a:p>
          <a:p>
            <a:pPr marL="285750" marR="0" lvl="0" indent="-285750" algn="l" defTabSz="91447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2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Minimal Buffering</a:t>
            </a:r>
            <a:endParaRPr kumimoji="1" lang="zh-CN" altLang="en-US" sz="12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endParaRPr>
          </a:p>
        </p:txBody>
      </p:sp>
      <p:sp>
        <p:nvSpPr>
          <p:cNvPr id="213" name="箭头: 右 212">
            <a:extLst>
              <a:ext uri="{FF2B5EF4-FFF2-40B4-BE49-F238E27FC236}">
                <a16:creationId xmlns:a16="http://schemas.microsoft.com/office/drawing/2014/main" id="{97774A50-AE86-46AD-978E-8C3A39050F5D}"/>
              </a:ext>
            </a:extLst>
          </p:cNvPr>
          <p:cNvSpPr/>
          <p:nvPr/>
        </p:nvSpPr>
        <p:spPr>
          <a:xfrm>
            <a:off x="9447548" y="4213770"/>
            <a:ext cx="272923" cy="429062"/>
          </a:xfrm>
          <a:prstGeom prst="rightArrow">
            <a:avLst>
              <a:gd name="adj1" fmla="val 50000"/>
              <a:gd name="adj2" fmla="val 65632"/>
            </a:avLst>
          </a:prstGeom>
          <a:solidFill>
            <a:srgbClr val="07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FFFFFF"/>
              </a:solidFill>
              <a:effectLst/>
              <a:uLnTx/>
              <a:uFillTx/>
              <a:latin typeface="微软雅黑"/>
              <a:ea typeface="微软雅黑"/>
              <a:cs typeface="Huawei Sans" panose="020C0503030203020204" pitchFamily="34" charset="0"/>
            </a:endParaRPr>
          </a:p>
        </p:txBody>
      </p:sp>
      <p:cxnSp>
        <p:nvCxnSpPr>
          <p:cNvPr id="214" name="直接箭头连接符 213">
            <a:extLst>
              <a:ext uri="{FF2B5EF4-FFF2-40B4-BE49-F238E27FC236}">
                <a16:creationId xmlns:a16="http://schemas.microsoft.com/office/drawing/2014/main" id="{C16C58A3-4B13-4124-83D0-C32AD4B7D0A1}"/>
              </a:ext>
            </a:extLst>
          </p:cNvPr>
          <p:cNvCxnSpPr/>
          <p:nvPr/>
        </p:nvCxnSpPr>
        <p:spPr>
          <a:xfrm>
            <a:off x="9049865" y="3862799"/>
            <a:ext cx="0" cy="1510496"/>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215" name="矩形 214">
            <a:extLst>
              <a:ext uri="{FF2B5EF4-FFF2-40B4-BE49-F238E27FC236}">
                <a16:creationId xmlns:a16="http://schemas.microsoft.com/office/drawing/2014/main" id="{FAA3E879-73E8-41EE-BDAF-01C1211FFE6F}"/>
              </a:ext>
            </a:extLst>
          </p:cNvPr>
          <p:cNvSpPr/>
          <p:nvPr/>
        </p:nvSpPr>
        <p:spPr>
          <a:xfrm>
            <a:off x="8650851" y="3636622"/>
            <a:ext cx="846707" cy="276999"/>
          </a:xfrm>
          <a:prstGeom prst="rect">
            <a:avLst/>
          </a:prstGeom>
        </p:spPr>
        <p:txBody>
          <a:bodyPr wrap="none">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微软雅黑"/>
                <a:ea typeface="微软雅黑"/>
                <a:cs typeface="Huawei Sans" panose="020C0503030203020204" pitchFamily="34" charset="0"/>
              </a:rPr>
              <a:t>Ordering</a:t>
            </a:r>
            <a:endParaRPr kumimoji="0" lang="zh-CN" altLang="en-US" sz="1600" b="0" i="0" u="none" strike="noStrike" kern="1200" cap="none" spc="0" normalizeH="0" baseline="0" noProof="0" dirty="0">
              <a:ln>
                <a:noFill/>
              </a:ln>
              <a:solidFill>
                <a:srgbClr val="282828"/>
              </a:solidFill>
              <a:effectLst/>
              <a:uLnTx/>
              <a:uFillTx/>
              <a:latin typeface="微软雅黑"/>
              <a:ea typeface="微软雅黑"/>
              <a:cs typeface="Huawei Sans" panose="020C0503030203020204" pitchFamily="34" charset="0"/>
            </a:endParaRPr>
          </a:p>
        </p:txBody>
      </p:sp>
      <p:cxnSp>
        <p:nvCxnSpPr>
          <p:cNvPr id="216" name="直接箭头连接符 215">
            <a:extLst>
              <a:ext uri="{FF2B5EF4-FFF2-40B4-BE49-F238E27FC236}">
                <a16:creationId xmlns:a16="http://schemas.microsoft.com/office/drawing/2014/main" id="{F6A0B648-2672-41D5-BAF8-17E3F7A7C992}"/>
              </a:ext>
            </a:extLst>
          </p:cNvPr>
          <p:cNvCxnSpPr>
            <a:cxnSpLocks/>
          </p:cNvCxnSpPr>
          <p:nvPr/>
        </p:nvCxnSpPr>
        <p:spPr>
          <a:xfrm>
            <a:off x="9066828" y="4242286"/>
            <a:ext cx="285051" cy="56945"/>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17" name="直接箭头连接符 216">
            <a:extLst>
              <a:ext uri="{FF2B5EF4-FFF2-40B4-BE49-F238E27FC236}">
                <a16:creationId xmlns:a16="http://schemas.microsoft.com/office/drawing/2014/main" id="{94EE2C47-804D-4DF2-8AFE-D2898E2FC82A}"/>
              </a:ext>
            </a:extLst>
          </p:cNvPr>
          <p:cNvCxnSpPr>
            <a:cxnSpLocks/>
          </p:cNvCxnSpPr>
          <p:nvPr/>
        </p:nvCxnSpPr>
        <p:spPr>
          <a:xfrm>
            <a:off x="9066828" y="4463661"/>
            <a:ext cx="285051" cy="569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8" name="直接箭头连接符 217">
            <a:extLst>
              <a:ext uri="{FF2B5EF4-FFF2-40B4-BE49-F238E27FC236}">
                <a16:creationId xmlns:a16="http://schemas.microsoft.com/office/drawing/2014/main" id="{00408B7E-73E0-4FFD-8EC3-011A268562ED}"/>
              </a:ext>
            </a:extLst>
          </p:cNvPr>
          <p:cNvCxnSpPr>
            <a:cxnSpLocks/>
          </p:cNvCxnSpPr>
          <p:nvPr/>
        </p:nvCxnSpPr>
        <p:spPr>
          <a:xfrm>
            <a:off x="9066828" y="4554287"/>
            <a:ext cx="285051" cy="56945"/>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sp>
        <p:nvSpPr>
          <p:cNvPr id="219" name="矩形 218">
            <a:extLst>
              <a:ext uri="{FF2B5EF4-FFF2-40B4-BE49-F238E27FC236}">
                <a16:creationId xmlns:a16="http://schemas.microsoft.com/office/drawing/2014/main" id="{AB5E1D73-C1F9-4B0B-AE73-B9F1A76F6F08}"/>
              </a:ext>
            </a:extLst>
          </p:cNvPr>
          <p:cNvSpPr/>
          <p:nvPr/>
        </p:nvSpPr>
        <p:spPr>
          <a:xfrm>
            <a:off x="8147746" y="4976320"/>
            <a:ext cx="1650430" cy="577081"/>
          </a:xfrm>
          <a:prstGeom prst="rect">
            <a:avLst/>
          </a:prstGeom>
        </p:spPr>
        <p:txBody>
          <a:bodyPr wrap="square">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1050" b="1" i="0" u="none" strike="noStrike" kern="0" cap="none" spc="0" normalizeH="0" baseline="0" noProof="0" dirty="0">
                <a:ln>
                  <a:noFill/>
                </a:ln>
                <a:solidFill>
                  <a:srgbClr val="C00000"/>
                </a:solidFill>
                <a:effectLst/>
                <a:uLnTx/>
                <a:uFillTx/>
                <a:latin typeface="微软雅黑"/>
                <a:ea typeface="微软雅黑"/>
                <a:cs typeface="Huawei Sans" panose="020C0503030203020204" pitchFamily="34" charset="0"/>
              </a:rPr>
              <a:t>Reduces latency; requires extra reordering buffer.</a:t>
            </a:r>
            <a:endParaRPr kumimoji="1" lang="zh-CN" altLang="en-US" sz="1050" b="1" i="0" u="none" strike="noStrike" kern="0" cap="none" spc="0" normalizeH="0" baseline="0" noProof="0" dirty="0">
              <a:ln>
                <a:noFill/>
              </a:ln>
              <a:solidFill>
                <a:srgbClr val="C00000"/>
              </a:solidFill>
              <a:effectLst/>
              <a:uLnTx/>
              <a:uFillTx/>
              <a:latin typeface="微软雅黑"/>
              <a:ea typeface="微软雅黑"/>
              <a:cs typeface="Huawei Sans" panose="020C0503030203020204" pitchFamily="34" charset="0"/>
            </a:endParaRPr>
          </a:p>
        </p:txBody>
      </p:sp>
      <p:cxnSp>
        <p:nvCxnSpPr>
          <p:cNvPr id="220" name="直接箭头连接符 219">
            <a:extLst>
              <a:ext uri="{FF2B5EF4-FFF2-40B4-BE49-F238E27FC236}">
                <a16:creationId xmlns:a16="http://schemas.microsoft.com/office/drawing/2014/main" id="{6ABE08C3-81DF-4C39-B0AC-1FFC33143AE8}"/>
              </a:ext>
            </a:extLst>
          </p:cNvPr>
          <p:cNvCxnSpPr>
            <a:cxnSpLocks/>
          </p:cNvCxnSpPr>
          <p:nvPr/>
        </p:nvCxnSpPr>
        <p:spPr>
          <a:xfrm>
            <a:off x="6632771" y="4005721"/>
            <a:ext cx="1013509" cy="6815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6127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矩形: 圆角 255">
            <a:extLst>
              <a:ext uri="{FF2B5EF4-FFF2-40B4-BE49-F238E27FC236}">
                <a16:creationId xmlns:a16="http://schemas.microsoft.com/office/drawing/2014/main" id="{B5EB0D79-8D50-4E29-8ED4-01E97B1994FF}"/>
              </a:ext>
            </a:extLst>
          </p:cNvPr>
          <p:cNvSpPr/>
          <p:nvPr/>
        </p:nvSpPr>
        <p:spPr>
          <a:xfrm>
            <a:off x="8108208" y="1792729"/>
            <a:ext cx="3579981" cy="4395985"/>
          </a:xfrm>
          <a:prstGeom prst="roundRect">
            <a:avLst>
              <a:gd name="adj" fmla="val 2447"/>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144000" rIns="91440" bIns="45720" numCol="1" spcCol="0" rtlCol="0" fromWordArt="0" anchor="t"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1" lang="en-US" altLang="zh-CN" sz="1050" b="1" i="0" u="none" strike="noStrike" kern="0" cap="none" spc="0" normalizeH="0" baseline="0" noProof="0" dirty="0">
              <a:ln>
                <a:noFill/>
              </a:ln>
              <a:solidFill>
                <a:srgbClr val="000000"/>
              </a:solidFill>
              <a:effectLst/>
              <a:uLnTx/>
              <a:uFillTx/>
              <a:latin typeface="+mn-ea"/>
              <a:cs typeface="+mn-cs"/>
            </a:endParaRPr>
          </a:p>
        </p:txBody>
      </p:sp>
      <p:sp>
        <p:nvSpPr>
          <p:cNvPr id="249" name="矩形: 圆角 248">
            <a:extLst>
              <a:ext uri="{FF2B5EF4-FFF2-40B4-BE49-F238E27FC236}">
                <a16:creationId xmlns:a16="http://schemas.microsoft.com/office/drawing/2014/main" id="{E189952F-5057-4604-A380-670935773859}"/>
              </a:ext>
            </a:extLst>
          </p:cNvPr>
          <p:cNvSpPr/>
          <p:nvPr/>
        </p:nvSpPr>
        <p:spPr>
          <a:xfrm>
            <a:off x="4394861" y="1792729"/>
            <a:ext cx="3589596" cy="4395985"/>
          </a:xfrm>
          <a:prstGeom prst="roundRect">
            <a:avLst>
              <a:gd name="adj" fmla="val 2447"/>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144000" rIns="91440" bIns="45720" numCol="1" spcCol="0" rtlCol="0" fromWordArt="0" anchor="t"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1" lang="en-US" altLang="zh-CN" sz="1050" b="1" i="0" u="none" strike="noStrike" kern="0" cap="none" spc="0" normalizeH="0" baseline="0" noProof="0" dirty="0">
              <a:ln>
                <a:noFill/>
              </a:ln>
              <a:solidFill>
                <a:srgbClr val="000000"/>
              </a:solidFill>
              <a:effectLst/>
              <a:uLnTx/>
              <a:uFillTx/>
              <a:latin typeface="+mn-ea"/>
              <a:cs typeface="+mn-cs"/>
            </a:endParaRPr>
          </a:p>
        </p:txBody>
      </p:sp>
      <p:sp>
        <p:nvSpPr>
          <p:cNvPr id="76" name="矩形: 圆角 75">
            <a:extLst>
              <a:ext uri="{FF2B5EF4-FFF2-40B4-BE49-F238E27FC236}">
                <a16:creationId xmlns:a16="http://schemas.microsoft.com/office/drawing/2014/main" id="{16D3211F-8D0E-4E1E-9151-E53557F5B68E}"/>
              </a:ext>
            </a:extLst>
          </p:cNvPr>
          <p:cNvSpPr/>
          <p:nvPr/>
        </p:nvSpPr>
        <p:spPr>
          <a:xfrm>
            <a:off x="573307" y="1792729"/>
            <a:ext cx="3717876" cy="4395985"/>
          </a:xfrm>
          <a:prstGeom prst="roundRect">
            <a:avLst>
              <a:gd name="adj" fmla="val 2447"/>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144000" rIns="91440" bIns="45720" numCol="1" spcCol="0" rtlCol="0" fromWordArt="0" anchor="t"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1" lang="en-US" altLang="zh-CN" sz="1050" b="1" i="0" u="none" strike="noStrike" kern="0" cap="none" spc="0" normalizeH="0" baseline="0" noProof="0" dirty="0">
              <a:ln>
                <a:noFill/>
              </a:ln>
              <a:solidFill>
                <a:srgbClr val="000000"/>
              </a:solidFill>
              <a:effectLst/>
              <a:uLnTx/>
              <a:uFillTx/>
              <a:latin typeface="+mn-ea"/>
              <a:cs typeface="+mn-cs"/>
            </a:endParaRPr>
          </a:p>
        </p:txBody>
      </p:sp>
      <p:sp>
        <p:nvSpPr>
          <p:cNvPr id="103" name="标题 1">
            <a:extLst>
              <a:ext uri="{FF2B5EF4-FFF2-40B4-BE49-F238E27FC236}">
                <a16:creationId xmlns:a16="http://schemas.microsoft.com/office/drawing/2014/main" id="{2AD3965F-0FB0-45B4-AF0A-8C7BE62857FB}"/>
              </a:ext>
            </a:extLst>
          </p:cNvPr>
          <p:cNvSpPr>
            <a:spLocks noGrp="1"/>
          </p:cNvSpPr>
          <p:nvPr>
            <p:ph type="title"/>
          </p:nvPr>
        </p:nvSpPr>
        <p:spPr>
          <a:xfrm>
            <a:off x="561005" y="275992"/>
            <a:ext cx="11208246" cy="798839"/>
          </a:xfrm>
        </p:spPr>
        <p:txBody>
          <a:bodyPr wrap="square">
            <a:noAutofit/>
          </a:bodyPr>
          <a:lstStyle/>
          <a:p>
            <a:r>
              <a:rPr lang="en-US" altLang="zh-CN" dirty="0">
                <a:cs typeface="Huawei Sans" panose="020C0503030203020204" pitchFamily="34" charset="0"/>
              </a:rPr>
              <a:t>Case 2: Network Architecture &amp; Algorithm Innovation</a:t>
            </a:r>
            <a:endParaRPr lang="zh-CN" altLang="en-US" dirty="0"/>
          </a:p>
        </p:txBody>
      </p:sp>
      <p:sp>
        <p:nvSpPr>
          <p:cNvPr id="71" name="文本占位符 2">
            <a:extLst>
              <a:ext uri="{FF2B5EF4-FFF2-40B4-BE49-F238E27FC236}">
                <a16:creationId xmlns:a16="http://schemas.microsoft.com/office/drawing/2014/main" id="{F26BB801-E60C-49CF-BC58-80F05C7AFF5A}"/>
              </a:ext>
            </a:extLst>
          </p:cNvPr>
          <p:cNvSpPr txBox="1">
            <a:spLocks/>
          </p:cNvSpPr>
          <p:nvPr/>
        </p:nvSpPr>
        <p:spPr>
          <a:xfrm>
            <a:off x="487710" y="872058"/>
            <a:ext cx="11566404" cy="5113884"/>
          </a:xfrm>
          <a:prstGeom prst="rect">
            <a:avLst/>
          </a:prstGeom>
        </p:spPr>
        <p:txBody>
          <a:bodyPr>
            <a:normAutofit/>
          </a:bodyPr>
          <a:lstStyle>
            <a:lvl1pPr marL="268074" indent="-268074" algn="l" defTabSz="913759" rtl="0" eaLnBrk="1" latinLnBrk="0" hangingPunct="1">
              <a:lnSpc>
                <a:spcPct val="130000"/>
              </a:lnSpc>
              <a:spcBef>
                <a:spcPts val="0"/>
              </a:spcBef>
              <a:spcAft>
                <a:spcPts val="400"/>
              </a:spcAft>
              <a:buClr>
                <a:schemeClr val="tx1">
                  <a:lumMod val="50000"/>
                  <a:lumOff val="50000"/>
                </a:schemeClr>
              </a:buClr>
              <a:buSzPct val="100000"/>
              <a:buFont typeface="Wingdings 2" panose="05020102010507070707" pitchFamily="18" charset="2"/>
              <a:buChar char="¡"/>
              <a:defRPr sz="1798" kern="1200">
                <a:solidFill>
                  <a:schemeClr val="tx1"/>
                </a:solidFill>
                <a:latin typeface="+mn-lt"/>
                <a:ea typeface="+mn-ea"/>
                <a:cs typeface="+mn-cs"/>
              </a:defRPr>
            </a:lvl1pPr>
            <a:lvl2pPr marL="444144" indent="-176073" algn="l" defTabSz="913759" rtl="0" eaLnBrk="1" latinLnBrk="0" hangingPunct="1">
              <a:lnSpc>
                <a:spcPct val="130000"/>
              </a:lnSpc>
              <a:spcBef>
                <a:spcPts val="0"/>
              </a:spcBef>
              <a:spcAft>
                <a:spcPts val="400"/>
              </a:spcAft>
              <a:buClr>
                <a:schemeClr val="tx1">
                  <a:lumMod val="50000"/>
                  <a:lumOff val="50000"/>
                </a:schemeClr>
              </a:buClr>
              <a:buFont typeface="微软雅黑" panose="020B0503020204020204" pitchFamily="34" charset="-122"/>
              <a:buChar char="›"/>
              <a:defRPr sz="1598" kern="1200">
                <a:solidFill>
                  <a:schemeClr val="tx1"/>
                </a:solidFill>
                <a:latin typeface="+mn-lt"/>
                <a:ea typeface="+mn-ea"/>
                <a:cs typeface="+mn-cs"/>
              </a:defRPr>
            </a:lvl2pPr>
            <a:lvl3pPr marL="628148" indent="-184002" algn="l" defTabSz="913759" rtl="0" eaLnBrk="1" latinLnBrk="0" hangingPunct="1">
              <a:lnSpc>
                <a:spcPct val="130000"/>
              </a:lnSpc>
              <a:spcBef>
                <a:spcPts val="0"/>
              </a:spcBef>
              <a:spcAft>
                <a:spcPts val="400"/>
              </a:spcAft>
              <a:buClr>
                <a:schemeClr val="tx1">
                  <a:lumMod val="50000"/>
                  <a:lumOff val="50000"/>
                </a:schemeClr>
              </a:buClr>
              <a:buFont typeface="FrutigerNext LT Regular" panose="020B0503040504020204" pitchFamily="34" charset="0"/>
              <a:buChar char="»"/>
              <a:defRPr sz="1398" kern="1200">
                <a:solidFill>
                  <a:schemeClr val="tx1"/>
                </a:solidFill>
                <a:latin typeface="+mn-lt"/>
                <a:ea typeface="+mn-ea"/>
                <a:cs typeface="+mn-cs"/>
              </a:defRPr>
            </a:lvl3pPr>
            <a:lvl4pPr marL="1599080" indent="-228441" algn="l" defTabSz="913759" rtl="0" eaLnBrk="1" latinLnBrk="0" hangingPunct="1">
              <a:lnSpc>
                <a:spcPct val="130000"/>
              </a:lnSpc>
              <a:spcBef>
                <a:spcPts val="500"/>
              </a:spcBef>
              <a:spcAft>
                <a:spcPts val="300"/>
              </a:spcAft>
              <a:buFont typeface="Wingdings" panose="05000000000000000000" pitchFamily="2" charset="2"/>
              <a:buChar char="n"/>
              <a:defRPr sz="1798" kern="1200">
                <a:solidFill>
                  <a:schemeClr val="tx1">
                    <a:lumMod val="75000"/>
                    <a:lumOff val="25000"/>
                  </a:schemeClr>
                </a:solidFill>
                <a:latin typeface="+mn-lt"/>
                <a:ea typeface="+mn-ea"/>
                <a:cs typeface="+mn-cs"/>
              </a:defRPr>
            </a:lvl4pPr>
            <a:lvl5pPr marL="2055960" indent="-228441" algn="l" defTabSz="913759" rtl="0" eaLnBrk="1" latinLnBrk="0" hangingPunct="1">
              <a:lnSpc>
                <a:spcPct val="130000"/>
              </a:lnSpc>
              <a:spcBef>
                <a:spcPts val="500"/>
              </a:spcBef>
              <a:spcAft>
                <a:spcPts val="300"/>
              </a:spcAft>
              <a:buFont typeface="Wingdings" panose="05000000000000000000" pitchFamily="2" charset="2"/>
              <a:buChar char="n"/>
              <a:defRPr sz="1798" kern="1200">
                <a:solidFill>
                  <a:schemeClr val="tx1">
                    <a:lumMod val="75000"/>
                    <a:lumOff val="25000"/>
                  </a:schemeClr>
                </a:solidFill>
                <a:latin typeface="+mn-lt"/>
                <a:ea typeface="+mn-ea"/>
                <a:cs typeface="+mn-cs"/>
              </a:defRPr>
            </a:lvl5pPr>
            <a:lvl6pPr marL="2512839"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0"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a:lstStyle>
          <a:p>
            <a:pPr marL="285750" marR="0" lvl="0" indent="-285750" algn="l" defTabSz="913759" rtl="0" eaLnBrk="1" fontAlgn="auto" latinLnBrk="0" hangingPunct="1">
              <a:lnSpc>
                <a:spcPct val="130000"/>
              </a:lnSpc>
              <a:spcBef>
                <a:spcPts val="0"/>
              </a:spcBef>
              <a:spcAft>
                <a:spcPts val="400"/>
              </a:spcAft>
              <a:buClr>
                <a:srgbClr val="282828">
                  <a:lumMod val="50000"/>
                  <a:lumOff val="50000"/>
                </a:srgbClr>
              </a:buClr>
              <a:buSzPct val="100000"/>
              <a:buFont typeface="Wingdings" panose="05000000000000000000" pitchFamily="2" charset="2"/>
              <a:buChar char="u"/>
              <a:tabLst/>
              <a:defRPr/>
            </a:pPr>
            <a:r>
              <a:rPr kumimoji="0" lang="en-US" altLang="zh-CN" sz="1400" b="0" i="0" u="none" strike="noStrike" kern="1200" cap="none" spc="0" normalizeH="0" baseline="0" noProof="0" dirty="0">
                <a:ln>
                  <a:noFill/>
                </a:ln>
                <a:solidFill>
                  <a:srgbClr val="282828"/>
                </a:solidFill>
                <a:effectLst/>
                <a:uLnTx/>
                <a:uFillTx/>
                <a:latin typeface="+mn-ea"/>
                <a:cs typeface="Huawei Sans" panose="020C0503030203020204" pitchFamily="34" charset="0"/>
              </a:rPr>
              <a:t>Build any network topology to investigate novel architectures tailored for AI training and inference scenarios.</a:t>
            </a:r>
          </a:p>
          <a:p>
            <a:pPr marL="285750" marR="0" lvl="0" indent="-285750" algn="l" defTabSz="913759" rtl="0" eaLnBrk="1" fontAlgn="auto" latinLnBrk="0" hangingPunct="1">
              <a:lnSpc>
                <a:spcPct val="130000"/>
              </a:lnSpc>
              <a:spcBef>
                <a:spcPts val="0"/>
              </a:spcBef>
              <a:spcAft>
                <a:spcPts val="400"/>
              </a:spcAft>
              <a:buClr>
                <a:srgbClr val="282828">
                  <a:lumMod val="50000"/>
                  <a:lumOff val="50000"/>
                </a:srgbClr>
              </a:buClr>
              <a:buSzPct val="100000"/>
              <a:buFont typeface="Wingdings" panose="05000000000000000000" pitchFamily="2" charset="2"/>
              <a:buChar char="u"/>
              <a:tabLst/>
              <a:defRPr/>
            </a:pPr>
            <a:r>
              <a:rPr kumimoji="0" lang="en-US" altLang="zh-CN" sz="1400" b="0" i="0" u="none" strike="noStrike" kern="1200" cap="none" spc="0" normalizeH="0" baseline="0" noProof="0" dirty="0">
                <a:ln>
                  <a:noFill/>
                </a:ln>
                <a:solidFill>
                  <a:srgbClr val="282828"/>
                </a:solidFill>
                <a:effectLst/>
                <a:uLnTx/>
                <a:uFillTx/>
                <a:latin typeface="+mn-ea"/>
                <a:cs typeface="Huawei Sans" panose="020C0503030203020204" pitchFamily="34" charset="0"/>
              </a:rPr>
              <a:t>Design innovative routing policies, collective communication algorithms, and flow control mechanisms based on new topologies.</a:t>
            </a:r>
            <a:endParaRPr kumimoji="0" lang="zh-CN" altLang="en-US" sz="1400" b="0" i="0" u="none" strike="noStrike" kern="1200" cap="none" spc="0" normalizeH="0" baseline="0" noProof="0" dirty="0">
              <a:ln>
                <a:noFill/>
              </a:ln>
              <a:solidFill>
                <a:srgbClr val="282828"/>
              </a:solidFill>
              <a:effectLst/>
              <a:uLnTx/>
              <a:uFillTx/>
              <a:latin typeface="+mn-ea"/>
              <a:cs typeface="Huawei Sans" panose="020C0503030203020204" pitchFamily="34" charset="0"/>
            </a:endParaRPr>
          </a:p>
        </p:txBody>
      </p:sp>
      <p:sp>
        <p:nvSpPr>
          <p:cNvPr id="72" name="矩形: 圆角 71">
            <a:extLst>
              <a:ext uri="{FF2B5EF4-FFF2-40B4-BE49-F238E27FC236}">
                <a16:creationId xmlns:a16="http://schemas.microsoft.com/office/drawing/2014/main" id="{CA62759F-C4EF-4E20-B238-128607351329}"/>
              </a:ext>
            </a:extLst>
          </p:cNvPr>
          <p:cNvSpPr/>
          <p:nvPr/>
        </p:nvSpPr>
        <p:spPr>
          <a:xfrm>
            <a:off x="4481709" y="3232830"/>
            <a:ext cx="3420654" cy="2093428"/>
          </a:xfrm>
          <a:prstGeom prst="roundRect">
            <a:avLst>
              <a:gd name="adj" fmla="val 2506"/>
            </a:avLst>
          </a:prstGeom>
          <a:solidFill>
            <a:schemeClr val="bg2">
              <a:lumMod val="10000"/>
              <a:lumOff val="9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mn-ea"/>
              <a:cs typeface="Huawei Sans" panose="020C0503030203020204" pitchFamily="34" charset="0"/>
            </a:endParaRPr>
          </a:p>
        </p:txBody>
      </p:sp>
      <p:sp>
        <p:nvSpPr>
          <p:cNvPr id="73" name="矩形: 圆角 72">
            <a:extLst>
              <a:ext uri="{FF2B5EF4-FFF2-40B4-BE49-F238E27FC236}">
                <a16:creationId xmlns:a16="http://schemas.microsoft.com/office/drawing/2014/main" id="{A855A658-0239-4337-82D6-8B2D5FAEA5C8}"/>
              </a:ext>
            </a:extLst>
          </p:cNvPr>
          <p:cNvSpPr/>
          <p:nvPr/>
        </p:nvSpPr>
        <p:spPr>
          <a:xfrm>
            <a:off x="8194242" y="3231972"/>
            <a:ext cx="3420654" cy="2098452"/>
          </a:xfrm>
          <a:prstGeom prst="roundRect">
            <a:avLst>
              <a:gd name="adj" fmla="val 2506"/>
            </a:avLst>
          </a:prstGeom>
          <a:solidFill>
            <a:schemeClr val="bg2">
              <a:lumMod val="10000"/>
              <a:lumOff val="9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mn-ea"/>
              <a:cs typeface="Huawei Sans" panose="020C0503030203020204" pitchFamily="34" charset="0"/>
            </a:endParaRPr>
          </a:p>
        </p:txBody>
      </p:sp>
      <p:sp>
        <p:nvSpPr>
          <p:cNvPr id="74" name="矩形: 圆角 73">
            <a:extLst>
              <a:ext uri="{FF2B5EF4-FFF2-40B4-BE49-F238E27FC236}">
                <a16:creationId xmlns:a16="http://schemas.microsoft.com/office/drawing/2014/main" id="{6C3217D2-0D32-4177-B8BF-E8BB2001E2DE}"/>
              </a:ext>
            </a:extLst>
          </p:cNvPr>
          <p:cNvSpPr/>
          <p:nvPr/>
        </p:nvSpPr>
        <p:spPr>
          <a:xfrm>
            <a:off x="719966" y="3232831"/>
            <a:ext cx="3420654" cy="2093428"/>
          </a:xfrm>
          <a:prstGeom prst="roundRect">
            <a:avLst>
              <a:gd name="adj" fmla="val 2506"/>
            </a:avLst>
          </a:prstGeom>
          <a:solidFill>
            <a:schemeClr val="bg2">
              <a:lumMod val="10000"/>
              <a:lumOff val="9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mn-ea"/>
              <a:cs typeface="Huawei Sans" panose="020C0503030203020204" pitchFamily="34" charset="0"/>
            </a:endParaRPr>
          </a:p>
        </p:txBody>
      </p:sp>
      <p:sp>
        <p:nvSpPr>
          <p:cNvPr id="75" name="矩形 74">
            <a:extLst>
              <a:ext uri="{FF2B5EF4-FFF2-40B4-BE49-F238E27FC236}">
                <a16:creationId xmlns:a16="http://schemas.microsoft.com/office/drawing/2014/main" id="{7A4AAA44-8212-4CD8-B09F-9E4860B859EE}"/>
              </a:ext>
            </a:extLst>
          </p:cNvPr>
          <p:cNvSpPr/>
          <p:nvPr/>
        </p:nvSpPr>
        <p:spPr>
          <a:xfrm>
            <a:off x="561005" y="2083331"/>
            <a:ext cx="3676611" cy="1015663"/>
          </a:xfrm>
          <a:prstGeom prst="rect">
            <a:avLst/>
          </a:prstGeom>
        </p:spPr>
        <p:txBody>
          <a:bodyPr wrap="square">
            <a:spAutoFit/>
          </a:bodyPr>
          <a:lstStyle/>
          <a:p>
            <a:pPr marL="171450" marR="0" lvl="0" indent="-171450" algn="l" defTabSz="914478"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1200" b="0" i="0" u="none" strike="noStrike" kern="1200" cap="none" spc="0" normalizeH="0" baseline="0" noProof="0" dirty="0">
                <a:ln>
                  <a:noFill/>
                </a:ln>
                <a:solidFill>
                  <a:srgbClr val="282828"/>
                </a:solidFill>
                <a:effectLst/>
                <a:uLnTx/>
                <a:uFillTx/>
                <a:latin typeface="+mn-ea"/>
                <a:cs typeface="Huawei Sans" panose="020C0503030203020204" pitchFamily="34" charset="0"/>
              </a:rPr>
              <a:t>Supports UB protocol-defined routing strategies.</a:t>
            </a:r>
            <a:r>
              <a:rPr kumimoji="0" lang="zh-CN" altLang="en-US" sz="1200" b="0" i="0" u="none" strike="noStrike" kern="1200" cap="none" spc="0" normalizeH="0" baseline="0" noProof="0" dirty="0">
                <a:ln>
                  <a:noFill/>
                </a:ln>
                <a:solidFill>
                  <a:srgbClr val="282828"/>
                </a:solidFill>
                <a:effectLst/>
                <a:uLnTx/>
                <a:uFillTx/>
                <a:latin typeface="+mn-ea"/>
                <a:cs typeface="Huawei Sans" panose="020C0503030203020204" pitchFamily="34" charset="0"/>
              </a:rPr>
              <a:t> </a:t>
            </a:r>
            <a:endParaRPr kumimoji="0" lang="en-US" altLang="zh-CN" sz="1200" b="0" i="0" u="none" strike="noStrike" kern="1200" cap="none" spc="0" normalizeH="0" baseline="0" noProof="0" dirty="0">
              <a:ln>
                <a:noFill/>
              </a:ln>
              <a:solidFill>
                <a:srgbClr val="282828"/>
              </a:solidFill>
              <a:effectLst/>
              <a:uLnTx/>
              <a:uFillTx/>
              <a:latin typeface="+mn-ea"/>
              <a:cs typeface="Huawei Sans" panose="020C0503030203020204" pitchFamily="34" charset="0"/>
            </a:endParaRPr>
          </a:p>
          <a:p>
            <a:pPr marL="171450" marR="0" lvl="0" indent="-171450" algn="l" defTabSz="914478"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altLang="zh-CN" sz="1200" b="0" i="0" u="none" strike="noStrike" kern="1200" cap="none" spc="0" normalizeH="0" baseline="0" noProof="0" dirty="0">
              <a:ln>
                <a:noFill/>
              </a:ln>
              <a:solidFill>
                <a:srgbClr val="282828"/>
              </a:solidFill>
              <a:effectLst/>
              <a:uLnTx/>
              <a:uFillTx/>
              <a:latin typeface="+mn-ea"/>
              <a:cs typeface="Huawei Sans" panose="020C0503030203020204" pitchFamily="34" charset="0"/>
            </a:endParaRPr>
          </a:p>
          <a:p>
            <a:pPr marL="171450" marR="0" lvl="0" indent="-171450" algn="l" defTabSz="914478"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1200" b="0" i="0" u="none" strike="noStrike" kern="1200" cap="none" spc="0" normalizeH="0" baseline="0" noProof="0" dirty="0">
                <a:ln>
                  <a:noFill/>
                </a:ln>
                <a:solidFill>
                  <a:srgbClr val="282828"/>
                </a:solidFill>
                <a:effectLst/>
                <a:uLnTx/>
                <a:uFillTx/>
                <a:latin typeface="+mn-ea"/>
                <a:cs typeface="Huawei Sans" panose="020C0503030203020204" pitchFamily="34" charset="0"/>
              </a:rPr>
              <a:t>Design custom algorithms for innovative topologies.</a:t>
            </a:r>
            <a:endParaRPr kumimoji="0" lang="zh-CN" altLang="en-US" sz="1200" b="0" i="0" u="none" strike="noStrike" kern="1200" cap="none" spc="0" normalizeH="0" baseline="0" noProof="0" dirty="0">
              <a:ln>
                <a:noFill/>
              </a:ln>
              <a:solidFill>
                <a:srgbClr val="282828"/>
              </a:solidFill>
              <a:effectLst/>
              <a:uLnTx/>
              <a:uFillTx/>
              <a:latin typeface="+mn-ea"/>
              <a:cs typeface="Huawei Sans" panose="020C0503030203020204" pitchFamily="34" charset="0"/>
            </a:endParaRPr>
          </a:p>
        </p:txBody>
      </p:sp>
      <p:grpSp>
        <p:nvGrpSpPr>
          <p:cNvPr id="77" name="组合 76">
            <a:extLst>
              <a:ext uri="{FF2B5EF4-FFF2-40B4-BE49-F238E27FC236}">
                <a16:creationId xmlns:a16="http://schemas.microsoft.com/office/drawing/2014/main" id="{3060EB88-36DF-45E2-80CF-562A18D4C55D}"/>
              </a:ext>
            </a:extLst>
          </p:cNvPr>
          <p:cNvGrpSpPr/>
          <p:nvPr/>
        </p:nvGrpSpPr>
        <p:grpSpPr>
          <a:xfrm>
            <a:off x="791156" y="3284272"/>
            <a:ext cx="3463717" cy="745465"/>
            <a:chOff x="939289" y="4775286"/>
            <a:chExt cx="3653302" cy="791940"/>
          </a:xfrm>
        </p:grpSpPr>
        <p:sp>
          <p:nvSpPr>
            <p:cNvPr id="78" name="矩形 77">
              <a:extLst>
                <a:ext uri="{FF2B5EF4-FFF2-40B4-BE49-F238E27FC236}">
                  <a16:creationId xmlns:a16="http://schemas.microsoft.com/office/drawing/2014/main" id="{C99FD139-2A34-4A75-AADA-10FFBCE8F093}"/>
                </a:ext>
              </a:extLst>
            </p:cNvPr>
            <p:cNvSpPr/>
            <p:nvPr/>
          </p:nvSpPr>
          <p:spPr>
            <a:xfrm>
              <a:off x="1832968" y="4800943"/>
              <a:ext cx="769229" cy="283257"/>
            </a:xfrm>
            <a:prstGeom prst="rect">
              <a:avLst/>
            </a:prstGeom>
            <a:solidFill>
              <a:srgbClr val="30B5C5">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100" b="0" i="0" u="none" strike="noStrike" kern="0" cap="none" spc="0" normalizeH="0" baseline="0" noProof="0" dirty="0">
                  <a:ln>
                    <a:noFill/>
                  </a:ln>
                  <a:solidFill>
                    <a:srgbClr val="000000"/>
                  </a:solidFill>
                  <a:effectLst/>
                  <a:uLnTx/>
                  <a:uFillTx/>
                  <a:latin typeface="+mn-ea"/>
                  <a:cs typeface="Huawei Sans" panose="020C0503030203020204" pitchFamily="34" charset="0"/>
                </a:rPr>
                <a:t>Shortest</a:t>
              </a:r>
            </a:p>
          </p:txBody>
        </p:sp>
        <p:sp>
          <p:nvSpPr>
            <p:cNvPr id="79" name="矩形 78">
              <a:extLst>
                <a:ext uri="{FF2B5EF4-FFF2-40B4-BE49-F238E27FC236}">
                  <a16:creationId xmlns:a16="http://schemas.microsoft.com/office/drawing/2014/main" id="{AE842D59-05D8-4329-B303-2EC8D73D88B9}"/>
                </a:ext>
              </a:extLst>
            </p:cNvPr>
            <p:cNvSpPr/>
            <p:nvPr/>
          </p:nvSpPr>
          <p:spPr>
            <a:xfrm>
              <a:off x="939289" y="4981416"/>
              <a:ext cx="769229" cy="283257"/>
            </a:xfrm>
            <a:prstGeom prst="rect">
              <a:avLst/>
            </a:prstGeom>
            <a:solidFill>
              <a:srgbClr val="30B5C5">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100" b="0" i="0" u="none" strike="noStrike" kern="0" cap="none" spc="0" normalizeH="0" baseline="0" noProof="0" dirty="0">
                  <a:ln>
                    <a:noFill/>
                  </a:ln>
                  <a:solidFill>
                    <a:srgbClr val="000000"/>
                  </a:solidFill>
                  <a:effectLst/>
                  <a:uLnTx/>
                  <a:uFillTx/>
                  <a:latin typeface="+mn-ea"/>
                  <a:cs typeface="Huawei Sans" panose="020C0503030203020204" pitchFamily="34" charset="0"/>
                </a:rPr>
                <a:t>Routing </a:t>
              </a:r>
            </a:p>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100" b="0" i="0" u="none" strike="noStrike" kern="0" cap="none" spc="0" normalizeH="0" baseline="0" noProof="0" dirty="0">
                  <a:ln>
                    <a:noFill/>
                  </a:ln>
                  <a:solidFill>
                    <a:srgbClr val="000000"/>
                  </a:solidFill>
                  <a:effectLst/>
                  <a:uLnTx/>
                  <a:uFillTx/>
                  <a:latin typeface="+mn-ea"/>
                  <a:cs typeface="Huawei Sans" panose="020C0503030203020204" pitchFamily="34" charset="0"/>
                </a:rPr>
                <a:t>Table</a:t>
              </a:r>
            </a:p>
          </p:txBody>
        </p:sp>
        <p:sp>
          <p:nvSpPr>
            <p:cNvPr id="80" name="矩形 79">
              <a:extLst>
                <a:ext uri="{FF2B5EF4-FFF2-40B4-BE49-F238E27FC236}">
                  <a16:creationId xmlns:a16="http://schemas.microsoft.com/office/drawing/2014/main" id="{E5221024-8C0F-4141-80E8-C81148C76A01}"/>
                </a:ext>
              </a:extLst>
            </p:cNvPr>
            <p:cNvSpPr/>
            <p:nvPr/>
          </p:nvSpPr>
          <p:spPr>
            <a:xfrm>
              <a:off x="3782939" y="4775286"/>
              <a:ext cx="453458" cy="269746"/>
            </a:xfrm>
            <a:prstGeom prst="rect">
              <a:avLst/>
            </a:prstGeom>
          </p:spPr>
          <p:txBody>
            <a:bodyPr wrap="none">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050" b="1" i="0" u="none" strike="noStrike" kern="1200" cap="none" spc="0" normalizeH="0" baseline="0" noProof="0" dirty="0">
                  <a:ln>
                    <a:noFill/>
                  </a:ln>
                  <a:solidFill>
                    <a:srgbClr val="0070C0"/>
                  </a:solidFill>
                  <a:effectLst/>
                  <a:uLnTx/>
                  <a:uFillTx/>
                  <a:latin typeface="+mn-ea"/>
                  <a:cs typeface="Huawei Sans" panose="020C0503030203020204" pitchFamily="34" charset="0"/>
                </a:rPr>
                <a:t>SPF</a:t>
              </a:r>
              <a:endParaRPr kumimoji="0" lang="zh-CN" altLang="en-US" sz="1050" b="1" i="0" u="none" strike="noStrike" kern="1200" cap="none" spc="0" normalizeH="0" baseline="0" noProof="0" dirty="0">
                <a:ln>
                  <a:noFill/>
                </a:ln>
                <a:solidFill>
                  <a:srgbClr val="0070C0"/>
                </a:solidFill>
                <a:effectLst/>
                <a:uLnTx/>
                <a:uFillTx/>
                <a:latin typeface="+mn-ea"/>
                <a:cs typeface="Huawei Sans" panose="020C0503030203020204" pitchFamily="34" charset="0"/>
              </a:endParaRPr>
            </a:p>
          </p:txBody>
        </p:sp>
        <p:sp>
          <p:nvSpPr>
            <p:cNvPr id="81" name="矩形 80">
              <a:extLst>
                <a:ext uri="{FF2B5EF4-FFF2-40B4-BE49-F238E27FC236}">
                  <a16:creationId xmlns:a16="http://schemas.microsoft.com/office/drawing/2014/main" id="{4C47B84C-896B-468E-A376-9C1BCC794EE1}"/>
                </a:ext>
              </a:extLst>
            </p:cNvPr>
            <p:cNvSpPr/>
            <p:nvPr/>
          </p:nvSpPr>
          <p:spPr>
            <a:xfrm>
              <a:off x="1823819" y="5189361"/>
              <a:ext cx="769229" cy="283257"/>
            </a:xfrm>
            <a:prstGeom prst="rect">
              <a:avLst/>
            </a:prstGeom>
            <a:solidFill>
              <a:srgbClr val="30B5C5">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100" b="0" i="0" u="none" strike="noStrike" kern="0" cap="none" spc="0" normalizeH="0" baseline="0" noProof="0" dirty="0">
                  <a:ln>
                    <a:noFill/>
                  </a:ln>
                  <a:solidFill>
                    <a:srgbClr val="000000"/>
                  </a:solidFill>
                  <a:effectLst/>
                  <a:uLnTx/>
                  <a:uFillTx/>
                  <a:latin typeface="+mn-ea"/>
                  <a:cs typeface="Huawei Sans" panose="020C0503030203020204" pitchFamily="34" charset="0"/>
                </a:rPr>
                <a:t>All-paths</a:t>
              </a:r>
            </a:p>
          </p:txBody>
        </p:sp>
        <p:sp>
          <p:nvSpPr>
            <p:cNvPr id="82" name="矩形 81">
              <a:extLst>
                <a:ext uri="{FF2B5EF4-FFF2-40B4-BE49-F238E27FC236}">
                  <a16:creationId xmlns:a16="http://schemas.microsoft.com/office/drawing/2014/main" id="{8B5A903A-A7FC-4855-BC72-23A177E4917F}"/>
                </a:ext>
              </a:extLst>
            </p:cNvPr>
            <p:cNvSpPr/>
            <p:nvPr/>
          </p:nvSpPr>
          <p:spPr>
            <a:xfrm>
              <a:off x="3761964" y="5011721"/>
              <a:ext cx="494036" cy="269746"/>
            </a:xfrm>
            <a:prstGeom prst="rect">
              <a:avLst/>
            </a:prstGeom>
          </p:spPr>
          <p:txBody>
            <a:bodyPr wrap="none">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050" b="1" i="0" u="none" strike="noStrike" kern="1200" cap="none" spc="0" normalizeH="0" baseline="0" noProof="0" dirty="0">
                  <a:ln>
                    <a:noFill/>
                  </a:ln>
                  <a:solidFill>
                    <a:srgbClr val="C00000"/>
                  </a:solidFill>
                  <a:effectLst/>
                  <a:uLnTx/>
                  <a:uFillTx/>
                  <a:latin typeface="+mn-ea"/>
                  <a:cs typeface="Huawei Sans" panose="020C0503030203020204" pitchFamily="34" charset="0"/>
                </a:rPr>
                <a:t>APR</a:t>
              </a:r>
              <a:endParaRPr kumimoji="0" lang="zh-CN" altLang="en-US" sz="1050" b="1" i="0" u="none" strike="noStrike" kern="1200" cap="none" spc="0" normalizeH="0" baseline="0" noProof="0" dirty="0">
                <a:ln>
                  <a:noFill/>
                </a:ln>
                <a:solidFill>
                  <a:srgbClr val="C00000"/>
                </a:solidFill>
                <a:effectLst/>
                <a:uLnTx/>
                <a:uFillTx/>
                <a:latin typeface="+mn-ea"/>
                <a:cs typeface="Huawei Sans" panose="020C0503030203020204" pitchFamily="34" charset="0"/>
              </a:endParaRPr>
            </a:p>
          </p:txBody>
        </p:sp>
        <p:sp>
          <p:nvSpPr>
            <p:cNvPr id="83" name="矩形 82">
              <a:extLst>
                <a:ext uri="{FF2B5EF4-FFF2-40B4-BE49-F238E27FC236}">
                  <a16:creationId xmlns:a16="http://schemas.microsoft.com/office/drawing/2014/main" id="{ED88195C-F2BD-4C16-BD7F-6FAE9801F546}"/>
                </a:ext>
              </a:extLst>
            </p:cNvPr>
            <p:cNvSpPr/>
            <p:nvPr/>
          </p:nvSpPr>
          <p:spPr>
            <a:xfrm>
              <a:off x="2726647" y="4805724"/>
              <a:ext cx="769229" cy="283257"/>
            </a:xfrm>
            <a:prstGeom prst="rect">
              <a:avLst/>
            </a:prstGeom>
            <a:solidFill>
              <a:srgbClr val="30B5C5">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100" b="0" i="0" u="none" strike="noStrike" kern="0" cap="none" spc="0" normalizeH="0" baseline="0" noProof="0" dirty="0">
                  <a:ln>
                    <a:noFill/>
                  </a:ln>
                  <a:solidFill>
                    <a:srgbClr val="000000"/>
                  </a:solidFill>
                  <a:effectLst/>
                  <a:uLnTx/>
                  <a:uFillTx/>
                  <a:latin typeface="+mn-ea"/>
                  <a:cs typeface="Huawei Sans" panose="020C0503030203020204" pitchFamily="34" charset="0"/>
                </a:rPr>
                <a:t>Per-flow</a:t>
              </a:r>
            </a:p>
          </p:txBody>
        </p:sp>
        <p:sp>
          <p:nvSpPr>
            <p:cNvPr id="84" name="矩形 83">
              <a:extLst>
                <a:ext uri="{FF2B5EF4-FFF2-40B4-BE49-F238E27FC236}">
                  <a16:creationId xmlns:a16="http://schemas.microsoft.com/office/drawing/2014/main" id="{3459A0B6-4F29-47D5-81A5-98BCB66C626D}"/>
                </a:ext>
              </a:extLst>
            </p:cNvPr>
            <p:cNvSpPr/>
            <p:nvPr/>
          </p:nvSpPr>
          <p:spPr>
            <a:xfrm>
              <a:off x="3474672" y="5297480"/>
              <a:ext cx="1117919" cy="269746"/>
            </a:xfrm>
            <a:prstGeom prst="rect">
              <a:avLst/>
            </a:prstGeom>
          </p:spPr>
          <p:txBody>
            <a:bodyPr wrap="none">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050" b="1" i="0" u="none" strike="noStrike" kern="1200" cap="none" spc="0" normalizeH="0" baseline="0" noProof="0" dirty="0">
                  <a:ln>
                    <a:noFill/>
                  </a:ln>
                  <a:solidFill>
                    <a:srgbClr val="15B0E8">
                      <a:lumMod val="75000"/>
                    </a:srgbClr>
                  </a:solidFill>
                  <a:effectLst/>
                  <a:uLnTx/>
                  <a:uFillTx/>
                  <a:latin typeface="+mn-ea"/>
                  <a:cs typeface="Huawei Sans" panose="020C0503030203020204" pitchFamily="34" charset="0"/>
                </a:rPr>
                <a:t>Packet Spray</a:t>
              </a:r>
              <a:endParaRPr kumimoji="1" lang="zh-CN" altLang="en-US" sz="1050" b="1" i="0" u="none" strike="noStrike" kern="1200" cap="none" spc="0" normalizeH="0" baseline="0" noProof="0" dirty="0">
                <a:ln>
                  <a:noFill/>
                </a:ln>
                <a:solidFill>
                  <a:srgbClr val="15B0E8">
                    <a:lumMod val="75000"/>
                  </a:srgbClr>
                </a:solidFill>
                <a:effectLst/>
                <a:uLnTx/>
                <a:uFillTx/>
                <a:latin typeface="+mn-ea"/>
                <a:cs typeface="Huawei Sans" panose="020C0503030203020204" pitchFamily="34" charset="0"/>
              </a:endParaRPr>
            </a:p>
          </p:txBody>
        </p:sp>
        <p:sp>
          <p:nvSpPr>
            <p:cNvPr id="85" name="矩形 84">
              <a:extLst>
                <a:ext uri="{FF2B5EF4-FFF2-40B4-BE49-F238E27FC236}">
                  <a16:creationId xmlns:a16="http://schemas.microsoft.com/office/drawing/2014/main" id="{44F8EA81-8184-41DA-B883-B89AA5CF14FD}"/>
                </a:ext>
              </a:extLst>
            </p:cNvPr>
            <p:cNvSpPr/>
            <p:nvPr/>
          </p:nvSpPr>
          <p:spPr>
            <a:xfrm>
              <a:off x="2726647" y="5189360"/>
              <a:ext cx="769229" cy="283257"/>
            </a:xfrm>
            <a:prstGeom prst="rect">
              <a:avLst/>
            </a:prstGeom>
            <a:solidFill>
              <a:srgbClr val="30B5C5">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100" b="0" i="0" u="none" strike="noStrike" kern="0" cap="none" spc="0" normalizeH="0" baseline="0" noProof="0" dirty="0">
                  <a:ln>
                    <a:noFill/>
                  </a:ln>
                  <a:solidFill>
                    <a:srgbClr val="000000"/>
                  </a:solidFill>
                  <a:effectLst/>
                  <a:uLnTx/>
                  <a:uFillTx/>
                  <a:latin typeface="+mn-ea"/>
                  <a:cs typeface="Huawei Sans" panose="020C0503030203020204" pitchFamily="34" charset="0"/>
                </a:rPr>
                <a:t>Per-packet</a:t>
              </a:r>
            </a:p>
          </p:txBody>
        </p:sp>
        <p:sp>
          <p:nvSpPr>
            <p:cNvPr id="86" name="任意多边形: 形状 85">
              <a:extLst>
                <a:ext uri="{FF2B5EF4-FFF2-40B4-BE49-F238E27FC236}">
                  <a16:creationId xmlns:a16="http://schemas.microsoft.com/office/drawing/2014/main" id="{EF4CAB98-7DA1-4856-A8F4-27282200DF89}"/>
                </a:ext>
              </a:extLst>
            </p:cNvPr>
            <p:cNvSpPr/>
            <p:nvPr/>
          </p:nvSpPr>
          <p:spPr>
            <a:xfrm>
              <a:off x="1628600" y="4870177"/>
              <a:ext cx="2006872" cy="238125"/>
            </a:xfrm>
            <a:custGeom>
              <a:avLst/>
              <a:gdLst>
                <a:gd name="connsiteX0" fmla="*/ 0 w 2324100"/>
                <a:gd name="connsiteY0" fmla="*/ 238125 h 238125"/>
                <a:gd name="connsiteX1" fmla="*/ 304800 w 2324100"/>
                <a:gd name="connsiteY1" fmla="*/ 66675 h 238125"/>
                <a:gd name="connsiteX2" fmla="*/ 1019175 w 2324100"/>
                <a:gd name="connsiteY2" fmla="*/ 76200 h 238125"/>
                <a:gd name="connsiteX3" fmla="*/ 1885950 w 2324100"/>
                <a:gd name="connsiteY3" fmla="*/ 57150 h 238125"/>
                <a:gd name="connsiteX4" fmla="*/ 2324100 w 2324100"/>
                <a:gd name="connsiteY4" fmla="*/ 0 h 23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00" h="238125">
                  <a:moveTo>
                    <a:pt x="0" y="238125"/>
                  </a:moveTo>
                  <a:cubicBezTo>
                    <a:pt x="67469" y="165893"/>
                    <a:pt x="134938" y="93662"/>
                    <a:pt x="304800" y="66675"/>
                  </a:cubicBezTo>
                  <a:cubicBezTo>
                    <a:pt x="474662" y="39688"/>
                    <a:pt x="755650" y="77787"/>
                    <a:pt x="1019175" y="76200"/>
                  </a:cubicBezTo>
                  <a:cubicBezTo>
                    <a:pt x="1282700" y="74612"/>
                    <a:pt x="1668463" y="69850"/>
                    <a:pt x="1885950" y="57150"/>
                  </a:cubicBezTo>
                  <a:cubicBezTo>
                    <a:pt x="2103437" y="44450"/>
                    <a:pt x="2243138" y="30162"/>
                    <a:pt x="2324100" y="0"/>
                  </a:cubicBezTo>
                </a:path>
              </a:pathLst>
            </a:custGeom>
            <a:noFill/>
            <a:ln w="19050" cap="flat" cmpd="sng" algn="ctr">
              <a:solidFill>
                <a:srgbClr val="0070C0"/>
              </a:solidFill>
              <a:prstDash val="dash"/>
              <a:miter lim="800000"/>
              <a:headEnd type="none" w="med" len="med"/>
              <a:tailEnd type="arrow" w="med" len="med"/>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0" cap="none" spc="0" normalizeH="0" baseline="0" noProof="0">
                <a:ln>
                  <a:noFill/>
                </a:ln>
                <a:solidFill>
                  <a:srgbClr val="666666"/>
                </a:solidFill>
                <a:effectLst/>
                <a:uLnTx/>
                <a:uFillTx/>
                <a:latin typeface="+mn-ea"/>
                <a:cs typeface="Huawei Sans" panose="020C0503030203020204" pitchFamily="34" charset="0"/>
              </a:endParaRPr>
            </a:p>
          </p:txBody>
        </p:sp>
        <p:sp>
          <p:nvSpPr>
            <p:cNvPr id="87" name="任意多边形: 形状 86">
              <a:extLst>
                <a:ext uri="{FF2B5EF4-FFF2-40B4-BE49-F238E27FC236}">
                  <a16:creationId xmlns:a16="http://schemas.microsoft.com/office/drawing/2014/main" id="{DEE86B58-523B-4711-92E4-248A44E6B625}"/>
                </a:ext>
              </a:extLst>
            </p:cNvPr>
            <p:cNvSpPr/>
            <p:nvPr/>
          </p:nvSpPr>
          <p:spPr>
            <a:xfrm>
              <a:off x="1619075" y="5004130"/>
              <a:ext cx="2019300" cy="361539"/>
            </a:xfrm>
            <a:custGeom>
              <a:avLst/>
              <a:gdLst>
                <a:gd name="connsiteX0" fmla="*/ 0 w 2019300"/>
                <a:gd name="connsiteY0" fmla="*/ 113697 h 361539"/>
                <a:gd name="connsiteX1" fmla="*/ 390525 w 2019300"/>
                <a:gd name="connsiteY1" fmla="*/ 351822 h 361539"/>
                <a:gd name="connsiteX2" fmla="*/ 923925 w 2019300"/>
                <a:gd name="connsiteY2" fmla="*/ 285147 h 361539"/>
                <a:gd name="connsiteX3" fmla="*/ 1181100 w 2019300"/>
                <a:gd name="connsiteY3" fmla="*/ 8922 h 361539"/>
                <a:gd name="connsiteX4" fmla="*/ 2019300 w 2019300"/>
                <a:gd name="connsiteY4" fmla="*/ 94647 h 361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9300" h="361539">
                  <a:moveTo>
                    <a:pt x="0" y="113697"/>
                  </a:moveTo>
                  <a:cubicBezTo>
                    <a:pt x="118269" y="218472"/>
                    <a:pt x="236538" y="323247"/>
                    <a:pt x="390525" y="351822"/>
                  </a:cubicBezTo>
                  <a:cubicBezTo>
                    <a:pt x="544512" y="380397"/>
                    <a:pt x="792163" y="342297"/>
                    <a:pt x="923925" y="285147"/>
                  </a:cubicBezTo>
                  <a:cubicBezTo>
                    <a:pt x="1055687" y="227997"/>
                    <a:pt x="998538" y="40672"/>
                    <a:pt x="1181100" y="8922"/>
                  </a:cubicBezTo>
                  <a:cubicBezTo>
                    <a:pt x="1363662" y="-22828"/>
                    <a:pt x="1691481" y="35909"/>
                    <a:pt x="2019300" y="94647"/>
                  </a:cubicBezTo>
                </a:path>
              </a:pathLst>
            </a:custGeom>
            <a:noFill/>
            <a:ln w="19050" cap="flat" cmpd="sng" algn="ctr">
              <a:solidFill>
                <a:srgbClr val="C00000"/>
              </a:solidFill>
              <a:prstDash val="dash"/>
              <a:miter lim="800000"/>
              <a:headEnd type="none" w="med" len="med"/>
              <a:tailEnd type="arrow" w="med" len="med"/>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0" cap="none" spc="0" normalizeH="0" baseline="0" noProof="0">
                <a:ln>
                  <a:noFill/>
                </a:ln>
                <a:solidFill>
                  <a:srgbClr val="666666"/>
                </a:solidFill>
                <a:effectLst/>
                <a:uLnTx/>
                <a:uFillTx/>
                <a:latin typeface="+mn-ea"/>
                <a:cs typeface="Huawei Sans" panose="020C0503030203020204" pitchFamily="34" charset="0"/>
              </a:endParaRPr>
            </a:p>
          </p:txBody>
        </p:sp>
        <p:sp>
          <p:nvSpPr>
            <p:cNvPr id="88" name="任意多边形: 形状 87">
              <a:extLst>
                <a:ext uri="{FF2B5EF4-FFF2-40B4-BE49-F238E27FC236}">
                  <a16:creationId xmlns:a16="http://schemas.microsoft.com/office/drawing/2014/main" id="{7F2F212D-514B-4B41-842B-3A39C2968782}"/>
                </a:ext>
              </a:extLst>
            </p:cNvPr>
            <p:cNvSpPr/>
            <p:nvPr/>
          </p:nvSpPr>
          <p:spPr>
            <a:xfrm>
              <a:off x="1571450" y="4878145"/>
              <a:ext cx="2066925" cy="534957"/>
            </a:xfrm>
            <a:custGeom>
              <a:avLst/>
              <a:gdLst>
                <a:gd name="connsiteX0" fmla="*/ 0 w 2066925"/>
                <a:gd name="connsiteY0" fmla="*/ 249207 h 534957"/>
                <a:gd name="connsiteX1" fmla="*/ 361950 w 2066925"/>
                <a:gd name="connsiteY1" fmla="*/ 39657 h 534957"/>
                <a:gd name="connsiteX2" fmla="*/ 1028700 w 2066925"/>
                <a:gd name="connsiteY2" fmla="*/ 39657 h 534957"/>
                <a:gd name="connsiteX3" fmla="*/ 1304925 w 2066925"/>
                <a:gd name="connsiteY3" fmla="*/ 449232 h 534957"/>
                <a:gd name="connsiteX4" fmla="*/ 2066925 w 2066925"/>
                <a:gd name="connsiteY4" fmla="*/ 534957 h 534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6925" h="534957">
                  <a:moveTo>
                    <a:pt x="0" y="249207"/>
                  </a:moveTo>
                  <a:cubicBezTo>
                    <a:pt x="95250" y="161894"/>
                    <a:pt x="190500" y="74582"/>
                    <a:pt x="361950" y="39657"/>
                  </a:cubicBezTo>
                  <a:cubicBezTo>
                    <a:pt x="533400" y="4732"/>
                    <a:pt x="871538" y="-28605"/>
                    <a:pt x="1028700" y="39657"/>
                  </a:cubicBezTo>
                  <a:cubicBezTo>
                    <a:pt x="1185862" y="107919"/>
                    <a:pt x="1131888" y="366682"/>
                    <a:pt x="1304925" y="449232"/>
                  </a:cubicBezTo>
                  <a:cubicBezTo>
                    <a:pt x="1477963" y="531782"/>
                    <a:pt x="1772444" y="533369"/>
                    <a:pt x="2066925" y="534957"/>
                  </a:cubicBezTo>
                </a:path>
              </a:pathLst>
            </a:custGeom>
            <a:noFill/>
            <a:ln w="19050" cap="flat" cmpd="sng" algn="ctr">
              <a:solidFill>
                <a:schemeClr val="accent6">
                  <a:lumMod val="75000"/>
                </a:schemeClr>
              </a:solidFill>
              <a:prstDash val="dash"/>
              <a:miter lim="800000"/>
              <a:headEnd type="none" w="med" len="med"/>
              <a:tailEnd type="arrow" w="med" len="med"/>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0" cap="none" spc="0" normalizeH="0" baseline="0" noProof="0">
                <a:ln>
                  <a:noFill/>
                </a:ln>
                <a:solidFill>
                  <a:srgbClr val="666666"/>
                </a:solidFill>
                <a:effectLst/>
                <a:uLnTx/>
                <a:uFillTx/>
                <a:latin typeface="+mn-ea"/>
                <a:cs typeface="Huawei Sans" panose="020C0503030203020204" pitchFamily="34" charset="0"/>
              </a:endParaRPr>
            </a:p>
          </p:txBody>
        </p:sp>
      </p:grpSp>
      <p:grpSp>
        <p:nvGrpSpPr>
          <p:cNvPr id="89" name="组合 88">
            <a:extLst>
              <a:ext uri="{FF2B5EF4-FFF2-40B4-BE49-F238E27FC236}">
                <a16:creationId xmlns:a16="http://schemas.microsoft.com/office/drawing/2014/main" id="{E3F144E5-DC70-4D9E-9DB3-4E04CD9D9CBC}"/>
              </a:ext>
            </a:extLst>
          </p:cNvPr>
          <p:cNvGrpSpPr/>
          <p:nvPr/>
        </p:nvGrpSpPr>
        <p:grpSpPr>
          <a:xfrm>
            <a:off x="783623" y="4223846"/>
            <a:ext cx="1645803" cy="722259"/>
            <a:chOff x="318888" y="4800450"/>
            <a:chExt cx="1854513" cy="804652"/>
          </a:xfrm>
        </p:grpSpPr>
        <p:grpSp>
          <p:nvGrpSpPr>
            <p:cNvPr id="90" name="组合 89">
              <a:extLst>
                <a:ext uri="{FF2B5EF4-FFF2-40B4-BE49-F238E27FC236}">
                  <a16:creationId xmlns:a16="http://schemas.microsoft.com/office/drawing/2014/main" id="{AC97EC8E-1891-4478-B629-425230CE38BB}"/>
                </a:ext>
              </a:extLst>
            </p:cNvPr>
            <p:cNvGrpSpPr/>
            <p:nvPr/>
          </p:nvGrpSpPr>
          <p:grpSpPr>
            <a:xfrm>
              <a:off x="318888" y="4803953"/>
              <a:ext cx="811180" cy="801149"/>
              <a:chOff x="2255426" y="1964264"/>
              <a:chExt cx="2490745" cy="2483920"/>
            </a:xfrm>
          </p:grpSpPr>
          <p:grpSp>
            <p:nvGrpSpPr>
              <p:cNvPr id="207" name="组合 206">
                <a:extLst>
                  <a:ext uri="{FF2B5EF4-FFF2-40B4-BE49-F238E27FC236}">
                    <a16:creationId xmlns:a16="http://schemas.microsoft.com/office/drawing/2014/main" id="{28B1B69D-1249-43C2-A33B-5D7CB7A611A2}"/>
                  </a:ext>
                </a:extLst>
              </p:cNvPr>
              <p:cNvGrpSpPr/>
              <p:nvPr/>
            </p:nvGrpSpPr>
            <p:grpSpPr>
              <a:xfrm>
                <a:off x="2255426" y="1964264"/>
                <a:ext cx="2490745" cy="2483920"/>
                <a:chOff x="2255426" y="1964264"/>
                <a:chExt cx="2490745" cy="2483920"/>
              </a:xfrm>
            </p:grpSpPr>
            <p:grpSp>
              <p:nvGrpSpPr>
                <p:cNvPr id="209" name="组合 208">
                  <a:extLst>
                    <a:ext uri="{FF2B5EF4-FFF2-40B4-BE49-F238E27FC236}">
                      <a16:creationId xmlns:a16="http://schemas.microsoft.com/office/drawing/2014/main" id="{E7B9EB02-AF85-4607-A3A9-49F7A13AB7EE}"/>
                    </a:ext>
                  </a:extLst>
                </p:cNvPr>
                <p:cNvGrpSpPr/>
                <p:nvPr/>
              </p:nvGrpSpPr>
              <p:grpSpPr>
                <a:xfrm>
                  <a:off x="2645267" y="2345716"/>
                  <a:ext cx="1713003" cy="1705707"/>
                  <a:chOff x="5960403" y="2449516"/>
                  <a:chExt cx="681694" cy="678790"/>
                </a:xfrm>
              </p:grpSpPr>
              <p:cxnSp>
                <p:nvCxnSpPr>
                  <p:cNvPr id="219" name="直接连接符 218">
                    <a:extLst>
                      <a:ext uri="{FF2B5EF4-FFF2-40B4-BE49-F238E27FC236}">
                        <a16:creationId xmlns:a16="http://schemas.microsoft.com/office/drawing/2014/main" id="{63E959FB-9507-426A-B711-76F7FE901525}"/>
                      </a:ext>
                    </a:extLst>
                  </p:cNvPr>
                  <p:cNvCxnSpPr>
                    <a:cxnSpLocks/>
                  </p:cNvCxnSpPr>
                  <p:nvPr/>
                </p:nvCxnSpPr>
                <p:spPr>
                  <a:xfrm flipH="1">
                    <a:off x="6065908" y="2449516"/>
                    <a:ext cx="235342" cy="575494"/>
                  </a:xfrm>
                  <a:prstGeom prst="line">
                    <a:avLst/>
                  </a:prstGeom>
                  <a:noFill/>
                  <a:ln w="9525" cap="flat" cmpd="sng" algn="ctr">
                    <a:solidFill>
                      <a:srgbClr val="E9002F">
                        <a:lumMod val="20000"/>
                        <a:lumOff val="80000"/>
                      </a:srgbClr>
                    </a:solidFill>
                    <a:prstDash val="solid"/>
                    <a:miter lim="800000"/>
                  </a:ln>
                  <a:effectLst/>
                </p:spPr>
              </p:cxnSp>
              <p:cxnSp>
                <p:nvCxnSpPr>
                  <p:cNvPr id="220" name="直接连接符 219">
                    <a:extLst>
                      <a:ext uri="{FF2B5EF4-FFF2-40B4-BE49-F238E27FC236}">
                        <a16:creationId xmlns:a16="http://schemas.microsoft.com/office/drawing/2014/main" id="{95E50D4F-4744-4B05-9A2F-441EC2F21A28}"/>
                      </a:ext>
                    </a:extLst>
                  </p:cNvPr>
                  <p:cNvCxnSpPr>
                    <a:cxnSpLocks/>
                  </p:cNvCxnSpPr>
                  <p:nvPr/>
                </p:nvCxnSpPr>
                <p:spPr>
                  <a:xfrm>
                    <a:off x="6301250" y="2449516"/>
                    <a:ext cx="0" cy="678790"/>
                  </a:xfrm>
                  <a:prstGeom prst="line">
                    <a:avLst/>
                  </a:prstGeom>
                  <a:noFill/>
                  <a:ln w="9525" cap="flat" cmpd="sng" algn="ctr">
                    <a:solidFill>
                      <a:srgbClr val="E9002F">
                        <a:lumMod val="20000"/>
                        <a:lumOff val="80000"/>
                      </a:srgbClr>
                    </a:solidFill>
                    <a:prstDash val="solid"/>
                    <a:miter lim="800000"/>
                  </a:ln>
                  <a:effectLst/>
                </p:spPr>
              </p:cxnSp>
              <p:cxnSp>
                <p:nvCxnSpPr>
                  <p:cNvPr id="221" name="直接连接符 220">
                    <a:extLst>
                      <a:ext uri="{FF2B5EF4-FFF2-40B4-BE49-F238E27FC236}">
                        <a16:creationId xmlns:a16="http://schemas.microsoft.com/office/drawing/2014/main" id="{443499A5-3886-4435-A193-4658759C49E5}"/>
                      </a:ext>
                    </a:extLst>
                  </p:cNvPr>
                  <p:cNvCxnSpPr>
                    <a:cxnSpLocks/>
                  </p:cNvCxnSpPr>
                  <p:nvPr/>
                </p:nvCxnSpPr>
                <p:spPr>
                  <a:xfrm>
                    <a:off x="6301250" y="2449516"/>
                    <a:ext cx="250504" cy="581863"/>
                  </a:xfrm>
                  <a:prstGeom prst="line">
                    <a:avLst/>
                  </a:prstGeom>
                  <a:noFill/>
                  <a:ln w="9525" cap="flat" cmpd="sng" algn="ctr">
                    <a:solidFill>
                      <a:srgbClr val="E9002F">
                        <a:lumMod val="20000"/>
                        <a:lumOff val="80000"/>
                      </a:srgbClr>
                    </a:solidFill>
                    <a:prstDash val="solid"/>
                    <a:miter lim="800000"/>
                  </a:ln>
                  <a:effectLst/>
                </p:spPr>
              </p:cxnSp>
              <p:cxnSp>
                <p:nvCxnSpPr>
                  <p:cNvPr id="222" name="直接连接符 221">
                    <a:extLst>
                      <a:ext uri="{FF2B5EF4-FFF2-40B4-BE49-F238E27FC236}">
                        <a16:creationId xmlns:a16="http://schemas.microsoft.com/office/drawing/2014/main" id="{5536DD97-B76C-4B30-889E-B72D9AF33576}"/>
                      </a:ext>
                    </a:extLst>
                  </p:cNvPr>
                  <p:cNvCxnSpPr>
                    <a:cxnSpLocks/>
                  </p:cNvCxnSpPr>
                  <p:nvPr/>
                </p:nvCxnSpPr>
                <p:spPr>
                  <a:xfrm>
                    <a:off x="6301250" y="2449516"/>
                    <a:ext cx="340847" cy="327760"/>
                  </a:xfrm>
                  <a:prstGeom prst="line">
                    <a:avLst/>
                  </a:prstGeom>
                  <a:noFill/>
                  <a:ln w="9525" cap="flat" cmpd="sng" algn="ctr">
                    <a:solidFill>
                      <a:srgbClr val="E9002F">
                        <a:lumMod val="20000"/>
                        <a:lumOff val="80000"/>
                      </a:srgbClr>
                    </a:solidFill>
                    <a:prstDash val="solid"/>
                    <a:miter lim="800000"/>
                  </a:ln>
                  <a:effectLst/>
                </p:spPr>
              </p:cxnSp>
              <p:cxnSp>
                <p:nvCxnSpPr>
                  <p:cNvPr id="223" name="直接连接符 222">
                    <a:extLst>
                      <a:ext uri="{FF2B5EF4-FFF2-40B4-BE49-F238E27FC236}">
                        <a16:creationId xmlns:a16="http://schemas.microsoft.com/office/drawing/2014/main" id="{14B18766-349A-4420-B6B6-F8550FE6B29B}"/>
                      </a:ext>
                    </a:extLst>
                  </p:cNvPr>
                  <p:cNvCxnSpPr>
                    <a:cxnSpLocks/>
                  </p:cNvCxnSpPr>
                  <p:nvPr/>
                </p:nvCxnSpPr>
                <p:spPr>
                  <a:xfrm flipH="1">
                    <a:off x="5960403" y="2449516"/>
                    <a:ext cx="340847" cy="338120"/>
                  </a:xfrm>
                  <a:prstGeom prst="line">
                    <a:avLst/>
                  </a:prstGeom>
                  <a:noFill/>
                  <a:ln w="9525" cap="flat" cmpd="sng" algn="ctr">
                    <a:solidFill>
                      <a:srgbClr val="E9002F">
                        <a:lumMod val="20000"/>
                        <a:lumOff val="80000"/>
                      </a:srgbClr>
                    </a:solidFill>
                    <a:prstDash val="solid"/>
                    <a:miter lim="800000"/>
                  </a:ln>
                  <a:effectLst/>
                </p:spPr>
              </p:cxnSp>
              <p:cxnSp>
                <p:nvCxnSpPr>
                  <p:cNvPr id="224" name="直接连接符 223">
                    <a:extLst>
                      <a:ext uri="{FF2B5EF4-FFF2-40B4-BE49-F238E27FC236}">
                        <a16:creationId xmlns:a16="http://schemas.microsoft.com/office/drawing/2014/main" id="{1F086755-919A-4062-98BB-F3AE66011075}"/>
                      </a:ext>
                    </a:extLst>
                  </p:cNvPr>
                  <p:cNvCxnSpPr>
                    <a:cxnSpLocks/>
                  </p:cNvCxnSpPr>
                  <p:nvPr/>
                </p:nvCxnSpPr>
                <p:spPr>
                  <a:xfrm flipH="1">
                    <a:off x="6060234" y="2449516"/>
                    <a:ext cx="241016" cy="95554"/>
                  </a:xfrm>
                  <a:prstGeom prst="line">
                    <a:avLst/>
                  </a:prstGeom>
                  <a:noFill/>
                  <a:ln w="9525" cap="flat" cmpd="sng" algn="ctr">
                    <a:solidFill>
                      <a:srgbClr val="E9002F">
                        <a:lumMod val="20000"/>
                        <a:lumOff val="80000"/>
                      </a:srgbClr>
                    </a:solidFill>
                    <a:prstDash val="solid"/>
                    <a:miter lim="800000"/>
                  </a:ln>
                  <a:effectLst/>
                </p:spPr>
              </p:cxnSp>
              <p:cxnSp>
                <p:nvCxnSpPr>
                  <p:cNvPr id="225" name="直接连接符 224">
                    <a:extLst>
                      <a:ext uri="{FF2B5EF4-FFF2-40B4-BE49-F238E27FC236}">
                        <a16:creationId xmlns:a16="http://schemas.microsoft.com/office/drawing/2014/main" id="{E19FB92D-9D64-4D4D-AA9A-E73EACA7267E}"/>
                      </a:ext>
                    </a:extLst>
                  </p:cNvPr>
                  <p:cNvCxnSpPr>
                    <a:cxnSpLocks/>
                  </p:cNvCxnSpPr>
                  <p:nvPr/>
                </p:nvCxnSpPr>
                <p:spPr>
                  <a:xfrm>
                    <a:off x="6301250" y="2449516"/>
                    <a:ext cx="241016" cy="99831"/>
                  </a:xfrm>
                  <a:prstGeom prst="line">
                    <a:avLst/>
                  </a:prstGeom>
                  <a:noFill/>
                  <a:ln w="9525" cap="flat" cmpd="sng" algn="ctr">
                    <a:solidFill>
                      <a:srgbClr val="E9002F">
                        <a:lumMod val="20000"/>
                        <a:lumOff val="80000"/>
                      </a:srgbClr>
                    </a:solidFill>
                    <a:prstDash val="solid"/>
                    <a:miter lim="800000"/>
                  </a:ln>
                  <a:effectLst/>
                </p:spPr>
              </p:cxnSp>
              <p:cxnSp>
                <p:nvCxnSpPr>
                  <p:cNvPr id="226" name="直接连接符 225">
                    <a:extLst>
                      <a:ext uri="{FF2B5EF4-FFF2-40B4-BE49-F238E27FC236}">
                        <a16:creationId xmlns:a16="http://schemas.microsoft.com/office/drawing/2014/main" id="{4820F541-144E-485F-9445-89F26388147E}"/>
                      </a:ext>
                    </a:extLst>
                  </p:cNvPr>
                  <p:cNvCxnSpPr>
                    <a:cxnSpLocks/>
                  </p:cNvCxnSpPr>
                  <p:nvPr/>
                </p:nvCxnSpPr>
                <p:spPr>
                  <a:xfrm>
                    <a:off x="6060234" y="2545070"/>
                    <a:ext cx="482032" cy="4277"/>
                  </a:xfrm>
                  <a:prstGeom prst="line">
                    <a:avLst/>
                  </a:prstGeom>
                  <a:noFill/>
                  <a:ln w="9525" cap="flat" cmpd="sng" algn="ctr">
                    <a:solidFill>
                      <a:srgbClr val="E9002F">
                        <a:lumMod val="20000"/>
                        <a:lumOff val="80000"/>
                      </a:srgbClr>
                    </a:solidFill>
                    <a:prstDash val="solid"/>
                    <a:miter lim="800000"/>
                  </a:ln>
                  <a:effectLst/>
                </p:spPr>
              </p:cxnSp>
              <p:cxnSp>
                <p:nvCxnSpPr>
                  <p:cNvPr id="227" name="直接连接符 226">
                    <a:extLst>
                      <a:ext uri="{FF2B5EF4-FFF2-40B4-BE49-F238E27FC236}">
                        <a16:creationId xmlns:a16="http://schemas.microsoft.com/office/drawing/2014/main" id="{6A842359-72DD-4987-B6B0-FE4EBC1381C0}"/>
                      </a:ext>
                    </a:extLst>
                  </p:cNvPr>
                  <p:cNvCxnSpPr>
                    <a:cxnSpLocks/>
                  </p:cNvCxnSpPr>
                  <p:nvPr/>
                </p:nvCxnSpPr>
                <p:spPr>
                  <a:xfrm>
                    <a:off x="6060234" y="2545070"/>
                    <a:ext cx="581863" cy="232206"/>
                  </a:xfrm>
                  <a:prstGeom prst="line">
                    <a:avLst/>
                  </a:prstGeom>
                  <a:noFill/>
                  <a:ln w="9525" cap="flat" cmpd="sng" algn="ctr">
                    <a:solidFill>
                      <a:srgbClr val="E9002F">
                        <a:lumMod val="20000"/>
                        <a:lumOff val="80000"/>
                      </a:srgbClr>
                    </a:solidFill>
                    <a:prstDash val="solid"/>
                    <a:miter lim="800000"/>
                  </a:ln>
                  <a:effectLst/>
                </p:spPr>
              </p:cxnSp>
              <p:cxnSp>
                <p:nvCxnSpPr>
                  <p:cNvPr id="228" name="直接连接符 227">
                    <a:extLst>
                      <a:ext uri="{FF2B5EF4-FFF2-40B4-BE49-F238E27FC236}">
                        <a16:creationId xmlns:a16="http://schemas.microsoft.com/office/drawing/2014/main" id="{29926216-8E50-481D-B6CA-60F46D627D1C}"/>
                      </a:ext>
                    </a:extLst>
                  </p:cNvPr>
                  <p:cNvCxnSpPr>
                    <a:cxnSpLocks/>
                  </p:cNvCxnSpPr>
                  <p:nvPr/>
                </p:nvCxnSpPr>
                <p:spPr>
                  <a:xfrm>
                    <a:off x="6060234" y="2545070"/>
                    <a:ext cx="491520" cy="486309"/>
                  </a:xfrm>
                  <a:prstGeom prst="line">
                    <a:avLst/>
                  </a:prstGeom>
                  <a:noFill/>
                  <a:ln w="9525" cap="flat" cmpd="sng" algn="ctr">
                    <a:solidFill>
                      <a:srgbClr val="E9002F">
                        <a:lumMod val="20000"/>
                        <a:lumOff val="80000"/>
                      </a:srgbClr>
                    </a:solidFill>
                    <a:prstDash val="solid"/>
                    <a:miter lim="800000"/>
                  </a:ln>
                  <a:effectLst/>
                </p:spPr>
              </p:cxnSp>
              <p:cxnSp>
                <p:nvCxnSpPr>
                  <p:cNvPr id="229" name="直接连接符 228">
                    <a:extLst>
                      <a:ext uri="{FF2B5EF4-FFF2-40B4-BE49-F238E27FC236}">
                        <a16:creationId xmlns:a16="http://schemas.microsoft.com/office/drawing/2014/main" id="{4EE22301-4A9C-40A0-B795-D7A9DC3CAE6A}"/>
                      </a:ext>
                    </a:extLst>
                  </p:cNvPr>
                  <p:cNvCxnSpPr>
                    <a:cxnSpLocks/>
                  </p:cNvCxnSpPr>
                  <p:nvPr/>
                </p:nvCxnSpPr>
                <p:spPr>
                  <a:xfrm>
                    <a:off x="6060234" y="2545070"/>
                    <a:ext cx="241016" cy="583236"/>
                  </a:xfrm>
                  <a:prstGeom prst="line">
                    <a:avLst/>
                  </a:prstGeom>
                  <a:noFill/>
                  <a:ln w="9525" cap="flat" cmpd="sng" algn="ctr">
                    <a:solidFill>
                      <a:srgbClr val="E9002F">
                        <a:lumMod val="20000"/>
                        <a:lumOff val="80000"/>
                      </a:srgbClr>
                    </a:solidFill>
                    <a:prstDash val="solid"/>
                    <a:miter lim="800000"/>
                  </a:ln>
                  <a:effectLst/>
                </p:spPr>
              </p:cxnSp>
              <p:cxnSp>
                <p:nvCxnSpPr>
                  <p:cNvPr id="230" name="直接连接符 229">
                    <a:extLst>
                      <a:ext uri="{FF2B5EF4-FFF2-40B4-BE49-F238E27FC236}">
                        <a16:creationId xmlns:a16="http://schemas.microsoft.com/office/drawing/2014/main" id="{866149D9-CBF7-420D-8FBC-61B30F438739}"/>
                      </a:ext>
                    </a:extLst>
                  </p:cNvPr>
                  <p:cNvCxnSpPr>
                    <a:cxnSpLocks/>
                  </p:cNvCxnSpPr>
                  <p:nvPr/>
                </p:nvCxnSpPr>
                <p:spPr>
                  <a:xfrm>
                    <a:off x="6060234" y="2545070"/>
                    <a:ext cx="5674" cy="479940"/>
                  </a:xfrm>
                  <a:prstGeom prst="line">
                    <a:avLst/>
                  </a:prstGeom>
                  <a:noFill/>
                  <a:ln w="9525" cap="flat" cmpd="sng" algn="ctr">
                    <a:solidFill>
                      <a:srgbClr val="E9002F">
                        <a:lumMod val="20000"/>
                        <a:lumOff val="80000"/>
                      </a:srgbClr>
                    </a:solidFill>
                    <a:prstDash val="solid"/>
                    <a:miter lim="800000"/>
                  </a:ln>
                  <a:effectLst/>
                </p:spPr>
              </p:cxnSp>
              <p:cxnSp>
                <p:nvCxnSpPr>
                  <p:cNvPr id="231" name="直接连接符 230">
                    <a:extLst>
                      <a:ext uri="{FF2B5EF4-FFF2-40B4-BE49-F238E27FC236}">
                        <a16:creationId xmlns:a16="http://schemas.microsoft.com/office/drawing/2014/main" id="{4DCFBC85-B124-46B9-9B27-686FEE4AB994}"/>
                      </a:ext>
                    </a:extLst>
                  </p:cNvPr>
                  <p:cNvCxnSpPr>
                    <a:cxnSpLocks/>
                  </p:cNvCxnSpPr>
                  <p:nvPr/>
                </p:nvCxnSpPr>
                <p:spPr>
                  <a:xfrm flipH="1">
                    <a:off x="5960403" y="2545070"/>
                    <a:ext cx="99831" cy="242566"/>
                  </a:xfrm>
                  <a:prstGeom prst="line">
                    <a:avLst/>
                  </a:prstGeom>
                  <a:noFill/>
                  <a:ln w="9525" cap="flat" cmpd="sng" algn="ctr">
                    <a:solidFill>
                      <a:srgbClr val="E9002F">
                        <a:lumMod val="20000"/>
                        <a:lumOff val="80000"/>
                      </a:srgbClr>
                    </a:solidFill>
                    <a:prstDash val="solid"/>
                    <a:miter lim="800000"/>
                  </a:ln>
                  <a:effectLst/>
                </p:spPr>
              </p:cxnSp>
              <p:cxnSp>
                <p:nvCxnSpPr>
                  <p:cNvPr id="232" name="直接连接符 231">
                    <a:extLst>
                      <a:ext uri="{FF2B5EF4-FFF2-40B4-BE49-F238E27FC236}">
                        <a16:creationId xmlns:a16="http://schemas.microsoft.com/office/drawing/2014/main" id="{9F2E3968-DF8F-445F-9957-6C5651AAEFC4}"/>
                      </a:ext>
                    </a:extLst>
                  </p:cNvPr>
                  <p:cNvCxnSpPr>
                    <a:cxnSpLocks/>
                  </p:cNvCxnSpPr>
                  <p:nvPr/>
                </p:nvCxnSpPr>
                <p:spPr>
                  <a:xfrm>
                    <a:off x="5960403" y="2787636"/>
                    <a:ext cx="105505" cy="237374"/>
                  </a:xfrm>
                  <a:prstGeom prst="line">
                    <a:avLst/>
                  </a:prstGeom>
                  <a:noFill/>
                  <a:ln w="9525" cap="flat" cmpd="sng" algn="ctr">
                    <a:solidFill>
                      <a:srgbClr val="E9002F">
                        <a:lumMod val="20000"/>
                        <a:lumOff val="80000"/>
                      </a:srgbClr>
                    </a:solidFill>
                    <a:prstDash val="solid"/>
                    <a:miter lim="800000"/>
                  </a:ln>
                  <a:effectLst/>
                </p:spPr>
              </p:cxnSp>
              <p:cxnSp>
                <p:nvCxnSpPr>
                  <p:cNvPr id="233" name="直接连接符 232">
                    <a:extLst>
                      <a:ext uri="{FF2B5EF4-FFF2-40B4-BE49-F238E27FC236}">
                        <a16:creationId xmlns:a16="http://schemas.microsoft.com/office/drawing/2014/main" id="{600A5AE1-C62E-42E0-B1EB-6699951E7A65}"/>
                      </a:ext>
                    </a:extLst>
                  </p:cNvPr>
                  <p:cNvCxnSpPr>
                    <a:cxnSpLocks/>
                  </p:cNvCxnSpPr>
                  <p:nvPr/>
                </p:nvCxnSpPr>
                <p:spPr>
                  <a:xfrm>
                    <a:off x="5960403" y="2787636"/>
                    <a:ext cx="340847" cy="340670"/>
                  </a:xfrm>
                  <a:prstGeom prst="line">
                    <a:avLst/>
                  </a:prstGeom>
                  <a:noFill/>
                  <a:ln w="9525" cap="flat" cmpd="sng" algn="ctr">
                    <a:solidFill>
                      <a:srgbClr val="E9002F">
                        <a:lumMod val="20000"/>
                        <a:lumOff val="80000"/>
                      </a:srgbClr>
                    </a:solidFill>
                    <a:prstDash val="solid"/>
                    <a:miter lim="800000"/>
                  </a:ln>
                  <a:effectLst/>
                </p:spPr>
              </p:cxnSp>
              <p:cxnSp>
                <p:nvCxnSpPr>
                  <p:cNvPr id="234" name="直接连接符 233">
                    <a:extLst>
                      <a:ext uri="{FF2B5EF4-FFF2-40B4-BE49-F238E27FC236}">
                        <a16:creationId xmlns:a16="http://schemas.microsoft.com/office/drawing/2014/main" id="{12319B2D-7E01-4D62-9C08-E10DD90000DC}"/>
                      </a:ext>
                    </a:extLst>
                  </p:cNvPr>
                  <p:cNvCxnSpPr>
                    <a:cxnSpLocks/>
                  </p:cNvCxnSpPr>
                  <p:nvPr/>
                </p:nvCxnSpPr>
                <p:spPr>
                  <a:xfrm>
                    <a:off x="6065908" y="3025010"/>
                    <a:ext cx="235342" cy="103296"/>
                  </a:xfrm>
                  <a:prstGeom prst="line">
                    <a:avLst/>
                  </a:prstGeom>
                  <a:noFill/>
                  <a:ln w="9525" cap="flat" cmpd="sng" algn="ctr">
                    <a:solidFill>
                      <a:srgbClr val="E9002F">
                        <a:lumMod val="20000"/>
                        <a:lumOff val="80000"/>
                      </a:srgbClr>
                    </a:solidFill>
                    <a:prstDash val="solid"/>
                    <a:miter lim="800000"/>
                  </a:ln>
                  <a:effectLst/>
                </p:spPr>
              </p:cxnSp>
              <p:cxnSp>
                <p:nvCxnSpPr>
                  <p:cNvPr id="235" name="直接连接符 234">
                    <a:extLst>
                      <a:ext uri="{FF2B5EF4-FFF2-40B4-BE49-F238E27FC236}">
                        <a16:creationId xmlns:a16="http://schemas.microsoft.com/office/drawing/2014/main" id="{C46AB9F9-196B-42A9-9062-D91FA90988F9}"/>
                      </a:ext>
                    </a:extLst>
                  </p:cNvPr>
                  <p:cNvCxnSpPr>
                    <a:cxnSpLocks/>
                  </p:cNvCxnSpPr>
                  <p:nvPr/>
                </p:nvCxnSpPr>
                <p:spPr>
                  <a:xfrm flipV="1">
                    <a:off x="6301250" y="3031379"/>
                    <a:ext cx="250504" cy="96927"/>
                  </a:xfrm>
                  <a:prstGeom prst="line">
                    <a:avLst/>
                  </a:prstGeom>
                  <a:noFill/>
                  <a:ln w="9525" cap="flat" cmpd="sng" algn="ctr">
                    <a:solidFill>
                      <a:srgbClr val="E9002F">
                        <a:lumMod val="20000"/>
                        <a:lumOff val="80000"/>
                      </a:srgbClr>
                    </a:solidFill>
                    <a:prstDash val="solid"/>
                    <a:miter lim="800000"/>
                  </a:ln>
                  <a:effectLst/>
                </p:spPr>
              </p:cxnSp>
              <p:cxnSp>
                <p:nvCxnSpPr>
                  <p:cNvPr id="236" name="直接连接符 235">
                    <a:extLst>
                      <a:ext uri="{FF2B5EF4-FFF2-40B4-BE49-F238E27FC236}">
                        <a16:creationId xmlns:a16="http://schemas.microsoft.com/office/drawing/2014/main" id="{4F2472AA-2B73-4DBD-A1EC-9F11A050734A}"/>
                      </a:ext>
                    </a:extLst>
                  </p:cNvPr>
                  <p:cNvCxnSpPr>
                    <a:cxnSpLocks/>
                  </p:cNvCxnSpPr>
                  <p:nvPr/>
                </p:nvCxnSpPr>
                <p:spPr>
                  <a:xfrm flipV="1">
                    <a:off x="6301250" y="2777276"/>
                    <a:ext cx="340847" cy="351030"/>
                  </a:xfrm>
                  <a:prstGeom prst="line">
                    <a:avLst/>
                  </a:prstGeom>
                  <a:noFill/>
                  <a:ln w="9525" cap="flat" cmpd="sng" algn="ctr">
                    <a:solidFill>
                      <a:srgbClr val="E9002F">
                        <a:lumMod val="20000"/>
                        <a:lumOff val="80000"/>
                      </a:srgbClr>
                    </a:solidFill>
                    <a:prstDash val="solid"/>
                    <a:miter lim="800000"/>
                  </a:ln>
                  <a:effectLst/>
                </p:spPr>
              </p:cxnSp>
              <p:cxnSp>
                <p:nvCxnSpPr>
                  <p:cNvPr id="237" name="直接连接符 236">
                    <a:extLst>
                      <a:ext uri="{FF2B5EF4-FFF2-40B4-BE49-F238E27FC236}">
                        <a16:creationId xmlns:a16="http://schemas.microsoft.com/office/drawing/2014/main" id="{0076D03D-BF56-4711-BBFC-513E3A7D9865}"/>
                      </a:ext>
                    </a:extLst>
                  </p:cNvPr>
                  <p:cNvCxnSpPr>
                    <a:cxnSpLocks/>
                  </p:cNvCxnSpPr>
                  <p:nvPr/>
                </p:nvCxnSpPr>
                <p:spPr>
                  <a:xfrm flipV="1">
                    <a:off x="6551754" y="2777276"/>
                    <a:ext cx="90343" cy="254103"/>
                  </a:xfrm>
                  <a:prstGeom prst="line">
                    <a:avLst/>
                  </a:prstGeom>
                  <a:noFill/>
                  <a:ln w="9525" cap="flat" cmpd="sng" algn="ctr">
                    <a:solidFill>
                      <a:srgbClr val="E9002F">
                        <a:lumMod val="20000"/>
                        <a:lumOff val="80000"/>
                      </a:srgbClr>
                    </a:solidFill>
                    <a:prstDash val="solid"/>
                    <a:miter lim="800000"/>
                  </a:ln>
                  <a:effectLst/>
                </p:spPr>
              </p:cxnSp>
              <p:cxnSp>
                <p:nvCxnSpPr>
                  <p:cNvPr id="238" name="直接连接符 237">
                    <a:extLst>
                      <a:ext uri="{FF2B5EF4-FFF2-40B4-BE49-F238E27FC236}">
                        <a16:creationId xmlns:a16="http://schemas.microsoft.com/office/drawing/2014/main" id="{3DAB33CA-A1D7-4FF7-B0E8-41A49EC5542A}"/>
                      </a:ext>
                    </a:extLst>
                  </p:cNvPr>
                  <p:cNvCxnSpPr>
                    <a:cxnSpLocks/>
                  </p:cNvCxnSpPr>
                  <p:nvPr/>
                </p:nvCxnSpPr>
                <p:spPr>
                  <a:xfrm>
                    <a:off x="6542266" y="2549347"/>
                    <a:ext cx="99831" cy="227929"/>
                  </a:xfrm>
                  <a:prstGeom prst="line">
                    <a:avLst/>
                  </a:prstGeom>
                  <a:noFill/>
                  <a:ln w="9525" cap="flat" cmpd="sng" algn="ctr">
                    <a:solidFill>
                      <a:srgbClr val="E9002F">
                        <a:lumMod val="20000"/>
                        <a:lumOff val="80000"/>
                      </a:srgbClr>
                    </a:solidFill>
                    <a:prstDash val="solid"/>
                    <a:miter lim="800000"/>
                  </a:ln>
                  <a:effectLst/>
                </p:spPr>
              </p:cxnSp>
              <p:cxnSp>
                <p:nvCxnSpPr>
                  <p:cNvPr id="239" name="直接连接符 238">
                    <a:extLst>
                      <a:ext uri="{FF2B5EF4-FFF2-40B4-BE49-F238E27FC236}">
                        <a16:creationId xmlns:a16="http://schemas.microsoft.com/office/drawing/2014/main" id="{9FAB359A-368E-468E-AFFA-0989AAAB87FF}"/>
                      </a:ext>
                    </a:extLst>
                  </p:cNvPr>
                  <p:cNvCxnSpPr>
                    <a:cxnSpLocks/>
                  </p:cNvCxnSpPr>
                  <p:nvPr/>
                </p:nvCxnSpPr>
                <p:spPr>
                  <a:xfrm flipV="1">
                    <a:off x="6301250" y="2549347"/>
                    <a:ext cx="241016" cy="578959"/>
                  </a:xfrm>
                  <a:prstGeom prst="line">
                    <a:avLst/>
                  </a:prstGeom>
                  <a:noFill/>
                  <a:ln w="9525" cap="flat" cmpd="sng" algn="ctr">
                    <a:solidFill>
                      <a:srgbClr val="E9002F">
                        <a:lumMod val="20000"/>
                        <a:lumOff val="80000"/>
                      </a:srgbClr>
                    </a:solidFill>
                    <a:prstDash val="solid"/>
                    <a:miter lim="800000"/>
                  </a:ln>
                  <a:effectLst/>
                </p:spPr>
              </p:cxnSp>
              <p:cxnSp>
                <p:nvCxnSpPr>
                  <p:cNvPr id="240" name="直接连接符 239">
                    <a:extLst>
                      <a:ext uri="{FF2B5EF4-FFF2-40B4-BE49-F238E27FC236}">
                        <a16:creationId xmlns:a16="http://schemas.microsoft.com/office/drawing/2014/main" id="{F3952493-8640-46B3-B344-0E1FA28F5A67}"/>
                      </a:ext>
                    </a:extLst>
                  </p:cNvPr>
                  <p:cNvCxnSpPr>
                    <a:cxnSpLocks/>
                  </p:cNvCxnSpPr>
                  <p:nvPr/>
                </p:nvCxnSpPr>
                <p:spPr>
                  <a:xfrm flipV="1">
                    <a:off x="6065908" y="2777276"/>
                    <a:ext cx="576189" cy="247734"/>
                  </a:xfrm>
                  <a:prstGeom prst="line">
                    <a:avLst/>
                  </a:prstGeom>
                  <a:noFill/>
                  <a:ln w="9525" cap="flat" cmpd="sng" algn="ctr">
                    <a:solidFill>
                      <a:srgbClr val="E9002F">
                        <a:lumMod val="20000"/>
                        <a:lumOff val="80000"/>
                      </a:srgbClr>
                    </a:solidFill>
                    <a:prstDash val="solid"/>
                    <a:miter lim="800000"/>
                  </a:ln>
                  <a:effectLst/>
                </p:spPr>
              </p:cxnSp>
              <p:cxnSp>
                <p:nvCxnSpPr>
                  <p:cNvPr id="241" name="直接连接符 240">
                    <a:extLst>
                      <a:ext uri="{FF2B5EF4-FFF2-40B4-BE49-F238E27FC236}">
                        <a16:creationId xmlns:a16="http://schemas.microsoft.com/office/drawing/2014/main" id="{A3DDF053-1B5C-4B7B-A6A4-EE85A0E0A605}"/>
                      </a:ext>
                    </a:extLst>
                  </p:cNvPr>
                  <p:cNvCxnSpPr>
                    <a:cxnSpLocks/>
                  </p:cNvCxnSpPr>
                  <p:nvPr/>
                </p:nvCxnSpPr>
                <p:spPr>
                  <a:xfrm>
                    <a:off x="5960403" y="2787636"/>
                    <a:ext cx="591351" cy="243743"/>
                  </a:xfrm>
                  <a:prstGeom prst="line">
                    <a:avLst/>
                  </a:prstGeom>
                  <a:noFill/>
                  <a:ln w="9525" cap="flat" cmpd="sng" algn="ctr">
                    <a:solidFill>
                      <a:srgbClr val="E9002F">
                        <a:lumMod val="20000"/>
                        <a:lumOff val="80000"/>
                      </a:srgbClr>
                    </a:solidFill>
                    <a:prstDash val="solid"/>
                    <a:miter lim="800000"/>
                  </a:ln>
                  <a:effectLst/>
                </p:spPr>
              </p:cxnSp>
              <p:cxnSp>
                <p:nvCxnSpPr>
                  <p:cNvPr id="242" name="直接连接符 241">
                    <a:extLst>
                      <a:ext uri="{FF2B5EF4-FFF2-40B4-BE49-F238E27FC236}">
                        <a16:creationId xmlns:a16="http://schemas.microsoft.com/office/drawing/2014/main" id="{7DB02B8F-55B6-4AC4-B607-920FB1D19F32}"/>
                      </a:ext>
                    </a:extLst>
                  </p:cNvPr>
                  <p:cNvCxnSpPr>
                    <a:cxnSpLocks/>
                  </p:cNvCxnSpPr>
                  <p:nvPr/>
                </p:nvCxnSpPr>
                <p:spPr>
                  <a:xfrm flipV="1">
                    <a:off x="5960403" y="2777276"/>
                    <a:ext cx="681694" cy="10360"/>
                  </a:xfrm>
                  <a:prstGeom prst="line">
                    <a:avLst/>
                  </a:prstGeom>
                  <a:noFill/>
                  <a:ln w="9525" cap="flat" cmpd="sng" algn="ctr">
                    <a:solidFill>
                      <a:srgbClr val="E9002F">
                        <a:lumMod val="20000"/>
                        <a:lumOff val="80000"/>
                      </a:srgbClr>
                    </a:solidFill>
                    <a:prstDash val="solid"/>
                    <a:miter lim="800000"/>
                  </a:ln>
                  <a:effectLst/>
                </p:spPr>
              </p:cxnSp>
              <p:cxnSp>
                <p:nvCxnSpPr>
                  <p:cNvPr id="243" name="直接连接符 242">
                    <a:extLst>
                      <a:ext uri="{FF2B5EF4-FFF2-40B4-BE49-F238E27FC236}">
                        <a16:creationId xmlns:a16="http://schemas.microsoft.com/office/drawing/2014/main" id="{6357B099-77B1-4845-9DCA-A833C0F6D243}"/>
                      </a:ext>
                    </a:extLst>
                  </p:cNvPr>
                  <p:cNvCxnSpPr>
                    <a:cxnSpLocks/>
                  </p:cNvCxnSpPr>
                  <p:nvPr/>
                </p:nvCxnSpPr>
                <p:spPr>
                  <a:xfrm flipV="1">
                    <a:off x="5960403" y="2549347"/>
                    <a:ext cx="581863" cy="238289"/>
                  </a:xfrm>
                  <a:prstGeom prst="line">
                    <a:avLst/>
                  </a:prstGeom>
                  <a:noFill/>
                  <a:ln w="9525" cap="flat" cmpd="sng" algn="ctr">
                    <a:solidFill>
                      <a:srgbClr val="E9002F">
                        <a:lumMod val="20000"/>
                        <a:lumOff val="80000"/>
                      </a:srgbClr>
                    </a:solidFill>
                    <a:prstDash val="solid"/>
                    <a:miter lim="800000"/>
                  </a:ln>
                  <a:effectLst/>
                </p:spPr>
              </p:cxnSp>
              <p:cxnSp>
                <p:nvCxnSpPr>
                  <p:cNvPr id="244" name="直接连接符 243">
                    <a:extLst>
                      <a:ext uri="{FF2B5EF4-FFF2-40B4-BE49-F238E27FC236}">
                        <a16:creationId xmlns:a16="http://schemas.microsoft.com/office/drawing/2014/main" id="{B42B5BCB-B5D8-4928-8BC7-895AABFA243A}"/>
                      </a:ext>
                    </a:extLst>
                  </p:cNvPr>
                  <p:cNvCxnSpPr>
                    <a:cxnSpLocks/>
                  </p:cNvCxnSpPr>
                  <p:nvPr/>
                </p:nvCxnSpPr>
                <p:spPr>
                  <a:xfrm>
                    <a:off x="6065908" y="3025010"/>
                    <a:ext cx="485846" cy="6369"/>
                  </a:xfrm>
                  <a:prstGeom prst="line">
                    <a:avLst/>
                  </a:prstGeom>
                  <a:noFill/>
                  <a:ln w="9525" cap="flat" cmpd="sng" algn="ctr">
                    <a:solidFill>
                      <a:srgbClr val="E9002F">
                        <a:lumMod val="20000"/>
                        <a:lumOff val="80000"/>
                      </a:srgbClr>
                    </a:solidFill>
                    <a:prstDash val="solid"/>
                    <a:miter lim="800000"/>
                  </a:ln>
                  <a:effectLst/>
                </p:spPr>
              </p:cxnSp>
              <p:cxnSp>
                <p:nvCxnSpPr>
                  <p:cNvPr id="245" name="直接连接符 244">
                    <a:extLst>
                      <a:ext uri="{FF2B5EF4-FFF2-40B4-BE49-F238E27FC236}">
                        <a16:creationId xmlns:a16="http://schemas.microsoft.com/office/drawing/2014/main" id="{D74875FB-A79F-4EA2-B2B4-317D396608A6}"/>
                      </a:ext>
                    </a:extLst>
                  </p:cNvPr>
                  <p:cNvCxnSpPr>
                    <a:cxnSpLocks/>
                  </p:cNvCxnSpPr>
                  <p:nvPr/>
                </p:nvCxnSpPr>
                <p:spPr>
                  <a:xfrm flipH="1" flipV="1">
                    <a:off x="6542266" y="2549347"/>
                    <a:ext cx="9488" cy="482032"/>
                  </a:xfrm>
                  <a:prstGeom prst="line">
                    <a:avLst/>
                  </a:prstGeom>
                  <a:noFill/>
                  <a:ln w="9525" cap="flat" cmpd="sng" algn="ctr">
                    <a:solidFill>
                      <a:srgbClr val="E9002F">
                        <a:lumMod val="20000"/>
                        <a:lumOff val="80000"/>
                      </a:srgbClr>
                    </a:solidFill>
                    <a:prstDash val="solid"/>
                    <a:miter lim="800000"/>
                  </a:ln>
                  <a:effectLst/>
                </p:spPr>
              </p:cxnSp>
              <p:cxnSp>
                <p:nvCxnSpPr>
                  <p:cNvPr id="246" name="直接连接符 245">
                    <a:extLst>
                      <a:ext uri="{FF2B5EF4-FFF2-40B4-BE49-F238E27FC236}">
                        <a16:creationId xmlns:a16="http://schemas.microsoft.com/office/drawing/2014/main" id="{EA50B387-3AA4-40C3-9CB2-B1C12EE8BE31}"/>
                      </a:ext>
                    </a:extLst>
                  </p:cNvPr>
                  <p:cNvCxnSpPr>
                    <a:cxnSpLocks/>
                  </p:cNvCxnSpPr>
                  <p:nvPr/>
                </p:nvCxnSpPr>
                <p:spPr>
                  <a:xfrm flipV="1">
                    <a:off x="6065908" y="2549347"/>
                    <a:ext cx="476358" cy="475663"/>
                  </a:xfrm>
                  <a:prstGeom prst="line">
                    <a:avLst/>
                  </a:prstGeom>
                  <a:noFill/>
                  <a:ln w="9525" cap="flat" cmpd="sng" algn="ctr">
                    <a:solidFill>
                      <a:srgbClr val="E9002F">
                        <a:lumMod val="20000"/>
                        <a:lumOff val="80000"/>
                      </a:srgbClr>
                    </a:solidFill>
                    <a:prstDash val="solid"/>
                    <a:miter lim="800000"/>
                  </a:ln>
                  <a:effectLst/>
                </p:spPr>
              </p:cxnSp>
            </p:grpSp>
            <p:grpSp>
              <p:nvGrpSpPr>
                <p:cNvPr id="210" name="组合 209">
                  <a:extLst>
                    <a:ext uri="{FF2B5EF4-FFF2-40B4-BE49-F238E27FC236}">
                      <a16:creationId xmlns:a16="http://schemas.microsoft.com/office/drawing/2014/main" id="{12ACF226-6971-466C-B35D-EF1F66F89DDF}"/>
                    </a:ext>
                  </a:extLst>
                </p:cNvPr>
                <p:cNvGrpSpPr/>
                <p:nvPr/>
              </p:nvGrpSpPr>
              <p:grpSpPr>
                <a:xfrm>
                  <a:off x="2255426" y="1964264"/>
                  <a:ext cx="2490745" cy="2483920"/>
                  <a:chOff x="5745823" y="2234936"/>
                  <a:chExt cx="1059662" cy="1056758"/>
                </a:xfrm>
              </p:grpSpPr>
              <p:sp>
                <p:nvSpPr>
                  <p:cNvPr id="211" name="椭圆 210">
                    <a:extLst>
                      <a:ext uri="{FF2B5EF4-FFF2-40B4-BE49-F238E27FC236}">
                        <a16:creationId xmlns:a16="http://schemas.microsoft.com/office/drawing/2014/main" id="{7A83B990-C5C6-4DC6-913F-0C88C55E3B30}"/>
                      </a:ext>
                    </a:extLst>
                  </p:cNvPr>
                  <p:cNvSpPr/>
                  <p:nvPr/>
                </p:nvSpPr>
                <p:spPr>
                  <a:xfrm>
                    <a:off x="5877079" y="2361915"/>
                    <a:ext cx="163388" cy="163388"/>
                  </a:xfrm>
                  <a:prstGeom prst="ellipse">
                    <a:avLst/>
                  </a:prstGeom>
                  <a:solidFill>
                    <a:srgbClr val="7F0000">
                      <a:lumMod val="20000"/>
                      <a:lumOff val="80000"/>
                    </a:srgbClr>
                  </a:solidFill>
                  <a:ln w="9525"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700" b="1" i="0" u="none" strike="noStrike" kern="0" cap="none" spc="0" normalizeH="0" baseline="0" noProof="0" dirty="0">
                        <a:ln>
                          <a:noFill/>
                        </a:ln>
                        <a:solidFill>
                          <a:srgbClr val="282828"/>
                        </a:solidFill>
                        <a:effectLst/>
                        <a:uLnTx/>
                        <a:uFillTx/>
                        <a:latin typeface="+mn-ea"/>
                        <a:cs typeface="Huawei Sans" panose="020C0503030203020204" pitchFamily="34" charset="0"/>
                      </a:rPr>
                      <a:t>S</a:t>
                    </a:r>
                    <a:endParaRPr kumimoji="0" lang="zh-CN" altLang="en-US" sz="700" b="1" i="0" u="none" strike="noStrike" kern="0" cap="none" spc="0" normalizeH="0" baseline="0" noProof="0" dirty="0">
                      <a:ln>
                        <a:noFill/>
                      </a:ln>
                      <a:solidFill>
                        <a:srgbClr val="282828"/>
                      </a:solidFill>
                      <a:effectLst/>
                      <a:uLnTx/>
                      <a:uFillTx/>
                      <a:latin typeface="+mn-ea"/>
                      <a:cs typeface="Huawei Sans" panose="020C0503030203020204" pitchFamily="34" charset="0"/>
                    </a:endParaRPr>
                  </a:p>
                </p:txBody>
              </p:sp>
              <p:sp>
                <p:nvSpPr>
                  <p:cNvPr id="212" name="椭圆 211">
                    <a:extLst>
                      <a:ext uri="{FF2B5EF4-FFF2-40B4-BE49-F238E27FC236}">
                        <a16:creationId xmlns:a16="http://schemas.microsoft.com/office/drawing/2014/main" id="{32CC423D-60FF-413C-9083-CADA002B1D05}"/>
                      </a:ext>
                    </a:extLst>
                  </p:cNvPr>
                  <p:cNvSpPr/>
                  <p:nvPr/>
                </p:nvSpPr>
                <p:spPr>
                  <a:xfrm>
                    <a:off x="6193960" y="2234936"/>
                    <a:ext cx="163388" cy="163388"/>
                  </a:xfrm>
                  <a:prstGeom prst="ellipse">
                    <a:avLst/>
                  </a:prstGeom>
                  <a:solidFill>
                    <a:srgbClr val="61B230">
                      <a:lumMod val="40000"/>
                      <a:lumOff val="60000"/>
                    </a:srgbClr>
                  </a:solidFill>
                  <a:ln w="9525"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700" b="1" i="0" u="none" strike="noStrike" kern="0" cap="none" spc="0" normalizeH="0" baseline="0" noProof="0" dirty="0">
                      <a:ln>
                        <a:noFill/>
                      </a:ln>
                      <a:solidFill>
                        <a:srgbClr val="282828"/>
                      </a:solidFill>
                      <a:effectLst/>
                      <a:uLnTx/>
                      <a:uFillTx/>
                      <a:latin typeface="+mn-ea"/>
                      <a:cs typeface="Huawei Sans" panose="020C0503030203020204" pitchFamily="34" charset="0"/>
                    </a:endParaRPr>
                  </a:p>
                </p:txBody>
              </p:sp>
              <p:sp>
                <p:nvSpPr>
                  <p:cNvPr id="213" name="椭圆 212">
                    <a:extLst>
                      <a:ext uri="{FF2B5EF4-FFF2-40B4-BE49-F238E27FC236}">
                        <a16:creationId xmlns:a16="http://schemas.microsoft.com/office/drawing/2014/main" id="{73AD8354-2D1C-4435-BBAE-65ED3DF710CF}"/>
                      </a:ext>
                    </a:extLst>
                  </p:cNvPr>
                  <p:cNvSpPr/>
                  <p:nvPr/>
                </p:nvSpPr>
                <p:spPr>
                  <a:xfrm>
                    <a:off x="5882753" y="2993585"/>
                    <a:ext cx="163388" cy="163388"/>
                  </a:xfrm>
                  <a:prstGeom prst="ellipse">
                    <a:avLst/>
                  </a:prstGeom>
                  <a:solidFill>
                    <a:srgbClr val="61B230">
                      <a:lumMod val="40000"/>
                      <a:lumOff val="60000"/>
                    </a:srgbClr>
                  </a:solidFill>
                  <a:ln w="9525"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700" b="1" i="0" u="none" strike="noStrike" kern="0" cap="none" spc="0" normalizeH="0" baseline="0" noProof="0" dirty="0">
                      <a:ln>
                        <a:noFill/>
                      </a:ln>
                      <a:solidFill>
                        <a:srgbClr val="282828"/>
                      </a:solidFill>
                      <a:effectLst/>
                      <a:uLnTx/>
                      <a:uFillTx/>
                      <a:latin typeface="+mn-ea"/>
                      <a:cs typeface="Huawei Sans" panose="020C0503030203020204" pitchFamily="34" charset="0"/>
                    </a:endParaRPr>
                  </a:p>
                </p:txBody>
              </p:sp>
              <p:sp>
                <p:nvSpPr>
                  <p:cNvPr id="214" name="椭圆 213">
                    <a:extLst>
                      <a:ext uri="{FF2B5EF4-FFF2-40B4-BE49-F238E27FC236}">
                        <a16:creationId xmlns:a16="http://schemas.microsoft.com/office/drawing/2014/main" id="{8349A1A6-158B-476F-A56C-8B4B08D6DC48}"/>
                      </a:ext>
                    </a:extLst>
                  </p:cNvPr>
                  <p:cNvSpPr/>
                  <p:nvPr/>
                </p:nvSpPr>
                <p:spPr>
                  <a:xfrm>
                    <a:off x="6642097" y="2669986"/>
                    <a:ext cx="163388" cy="163388"/>
                  </a:xfrm>
                  <a:prstGeom prst="ellipse">
                    <a:avLst/>
                  </a:prstGeom>
                  <a:solidFill>
                    <a:srgbClr val="7F0000">
                      <a:lumMod val="20000"/>
                      <a:lumOff val="80000"/>
                    </a:srgbClr>
                  </a:solidFill>
                  <a:ln w="9525"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700" b="1" i="0" u="none" strike="noStrike" kern="0" cap="none" spc="0" normalizeH="0" baseline="0" noProof="0" dirty="0">
                        <a:ln>
                          <a:noFill/>
                        </a:ln>
                        <a:solidFill>
                          <a:srgbClr val="282828"/>
                        </a:solidFill>
                        <a:effectLst/>
                        <a:uLnTx/>
                        <a:uFillTx/>
                        <a:latin typeface="+mn-ea"/>
                        <a:cs typeface="Huawei Sans" panose="020C0503030203020204" pitchFamily="34" charset="0"/>
                      </a:rPr>
                      <a:t>D</a:t>
                    </a:r>
                    <a:endParaRPr kumimoji="0" lang="zh-CN" altLang="en-US" sz="700" b="1" i="0" u="none" strike="noStrike" kern="0" cap="none" spc="0" normalizeH="0" baseline="0" noProof="0" dirty="0">
                      <a:ln>
                        <a:noFill/>
                      </a:ln>
                      <a:solidFill>
                        <a:srgbClr val="282828"/>
                      </a:solidFill>
                      <a:effectLst/>
                      <a:uLnTx/>
                      <a:uFillTx/>
                      <a:latin typeface="+mn-ea"/>
                      <a:cs typeface="Huawei Sans" panose="020C0503030203020204" pitchFamily="34" charset="0"/>
                    </a:endParaRPr>
                  </a:p>
                </p:txBody>
              </p:sp>
              <p:sp>
                <p:nvSpPr>
                  <p:cNvPr id="215" name="椭圆 214">
                    <a:extLst>
                      <a:ext uri="{FF2B5EF4-FFF2-40B4-BE49-F238E27FC236}">
                        <a16:creationId xmlns:a16="http://schemas.microsoft.com/office/drawing/2014/main" id="{8B567052-AC17-471F-BF65-EE44B66B4E85}"/>
                      </a:ext>
                    </a:extLst>
                  </p:cNvPr>
                  <p:cNvSpPr/>
                  <p:nvPr/>
                </p:nvSpPr>
                <p:spPr>
                  <a:xfrm>
                    <a:off x="6193960" y="3128306"/>
                    <a:ext cx="163388" cy="163388"/>
                  </a:xfrm>
                  <a:prstGeom prst="ellipse">
                    <a:avLst/>
                  </a:prstGeom>
                  <a:solidFill>
                    <a:srgbClr val="61B230">
                      <a:lumMod val="40000"/>
                      <a:lumOff val="60000"/>
                    </a:srgbClr>
                  </a:solidFill>
                  <a:ln w="9525"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700" b="1" i="0" u="none" strike="noStrike" kern="0" cap="none" spc="0" normalizeH="0" baseline="0" noProof="0" dirty="0">
                      <a:ln>
                        <a:noFill/>
                      </a:ln>
                      <a:solidFill>
                        <a:srgbClr val="282828"/>
                      </a:solidFill>
                      <a:effectLst/>
                      <a:uLnTx/>
                      <a:uFillTx/>
                      <a:latin typeface="+mn-ea"/>
                      <a:cs typeface="Huawei Sans" panose="020C0503030203020204" pitchFamily="34" charset="0"/>
                    </a:endParaRPr>
                  </a:p>
                </p:txBody>
              </p:sp>
              <p:sp>
                <p:nvSpPr>
                  <p:cNvPr id="216" name="椭圆 215">
                    <a:extLst>
                      <a:ext uri="{FF2B5EF4-FFF2-40B4-BE49-F238E27FC236}">
                        <a16:creationId xmlns:a16="http://schemas.microsoft.com/office/drawing/2014/main" id="{16B36CC0-5A5A-479F-852C-FD3F2E5A86E1}"/>
                      </a:ext>
                    </a:extLst>
                  </p:cNvPr>
                  <p:cNvSpPr/>
                  <p:nvPr/>
                </p:nvSpPr>
                <p:spPr>
                  <a:xfrm>
                    <a:off x="6520329" y="2999954"/>
                    <a:ext cx="163388" cy="163388"/>
                  </a:xfrm>
                  <a:prstGeom prst="ellipse">
                    <a:avLst/>
                  </a:prstGeom>
                  <a:solidFill>
                    <a:srgbClr val="61B230">
                      <a:lumMod val="40000"/>
                      <a:lumOff val="60000"/>
                    </a:srgbClr>
                  </a:solidFill>
                  <a:ln w="9525"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700" b="1" i="0" u="none" strike="noStrike" kern="0" cap="none" spc="0" normalizeH="0" baseline="0" noProof="0" dirty="0">
                      <a:ln>
                        <a:noFill/>
                      </a:ln>
                      <a:solidFill>
                        <a:srgbClr val="282828"/>
                      </a:solidFill>
                      <a:effectLst/>
                      <a:uLnTx/>
                      <a:uFillTx/>
                      <a:latin typeface="+mn-ea"/>
                      <a:cs typeface="Huawei Sans" panose="020C0503030203020204" pitchFamily="34" charset="0"/>
                    </a:endParaRPr>
                  </a:p>
                </p:txBody>
              </p:sp>
              <p:sp>
                <p:nvSpPr>
                  <p:cNvPr id="217" name="椭圆 216">
                    <a:extLst>
                      <a:ext uri="{FF2B5EF4-FFF2-40B4-BE49-F238E27FC236}">
                        <a16:creationId xmlns:a16="http://schemas.microsoft.com/office/drawing/2014/main" id="{9BCBD890-BFD7-458D-B4B2-9681DA116000}"/>
                      </a:ext>
                    </a:extLst>
                  </p:cNvPr>
                  <p:cNvSpPr/>
                  <p:nvPr/>
                </p:nvSpPr>
                <p:spPr>
                  <a:xfrm>
                    <a:off x="6510841" y="2366192"/>
                    <a:ext cx="163388" cy="163388"/>
                  </a:xfrm>
                  <a:prstGeom prst="ellipse">
                    <a:avLst/>
                  </a:prstGeom>
                  <a:solidFill>
                    <a:srgbClr val="61B230">
                      <a:lumMod val="40000"/>
                      <a:lumOff val="60000"/>
                    </a:srgbClr>
                  </a:solidFill>
                  <a:ln w="9525"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700" b="1" i="0" u="none" strike="noStrike" kern="0" cap="none" spc="0" normalizeH="0" baseline="0" noProof="0" dirty="0">
                      <a:ln>
                        <a:noFill/>
                      </a:ln>
                      <a:solidFill>
                        <a:srgbClr val="282828"/>
                      </a:solidFill>
                      <a:effectLst/>
                      <a:uLnTx/>
                      <a:uFillTx/>
                      <a:latin typeface="+mn-ea"/>
                      <a:cs typeface="Huawei Sans" panose="020C0503030203020204" pitchFamily="34" charset="0"/>
                    </a:endParaRPr>
                  </a:p>
                </p:txBody>
              </p:sp>
              <p:sp>
                <p:nvSpPr>
                  <p:cNvPr id="218" name="椭圆 217">
                    <a:extLst>
                      <a:ext uri="{FF2B5EF4-FFF2-40B4-BE49-F238E27FC236}">
                        <a16:creationId xmlns:a16="http://schemas.microsoft.com/office/drawing/2014/main" id="{351195BA-7596-4D1E-A54C-14E735DE7A28}"/>
                      </a:ext>
                    </a:extLst>
                  </p:cNvPr>
                  <p:cNvSpPr/>
                  <p:nvPr/>
                </p:nvSpPr>
                <p:spPr>
                  <a:xfrm>
                    <a:off x="5745823" y="2680346"/>
                    <a:ext cx="163388" cy="163388"/>
                  </a:xfrm>
                  <a:prstGeom prst="ellipse">
                    <a:avLst/>
                  </a:prstGeom>
                  <a:solidFill>
                    <a:srgbClr val="61B230">
                      <a:lumMod val="40000"/>
                      <a:lumOff val="60000"/>
                    </a:srgbClr>
                  </a:solidFill>
                  <a:ln w="9525"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700" b="1" i="0" u="none" strike="noStrike" kern="0" cap="none" spc="0" normalizeH="0" baseline="0" noProof="0" dirty="0">
                      <a:ln>
                        <a:noFill/>
                      </a:ln>
                      <a:solidFill>
                        <a:srgbClr val="282828"/>
                      </a:solidFill>
                      <a:effectLst/>
                      <a:uLnTx/>
                      <a:uFillTx/>
                      <a:latin typeface="+mn-ea"/>
                      <a:cs typeface="Huawei Sans" panose="020C0503030203020204" pitchFamily="34" charset="0"/>
                    </a:endParaRPr>
                  </a:p>
                </p:txBody>
              </p:sp>
            </p:grpSp>
          </p:grpSp>
          <p:cxnSp>
            <p:nvCxnSpPr>
              <p:cNvPr id="208" name="直接箭头连接符 207">
                <a:extLst>
                  <a:ext uri="{FF2B5EF4-FFF2-40B4-BE49-F238E27FC236}">
                    <a16:creationId xmlns:a16="http://schemas.microsoft.com/office/drawing/2014/main" id="{4FA3AAAC-4146-4230-BE00-B4A7A808F6D3}"/>
                  </a:ext>
                </a:extLst>
              </p:cNvPr>
              <p:cNvCxnSpPr>
                <a:stCxn id="211" idx="5"/>
                <a:endCxn id="214" idx="2"/>
              </p:cNvCxnSpPr>
              <p:nvPr/>
            </p:nvCxnSpPr>
            <p:spPr>
              <a:xfrm>
                <a:off x="2891747" y="2590532"/>
                <a:ext cx="1470379" cy="588344"/>
              </a:xfrm>
              <a:prstGeom prst="straightConnector1">
                <a:avLst/>
              </a:prstGeom>
              <a:noFill/>
              <a:ln w="9525" cap="flat" cmpd="sng" algn="ctr">
                <a:solidFill>
                  <a:srgbClr val="E9002F"/>
                </a:solidFill>
                <a:prstDash val="solid"/>
                <a:miter lim="800000"/>
                <a:tailEnd type="triangle"/>
              </a:ln>
              <a:effectLst/>
            </p:spPr>
          </p:cxnSp>
        </p:grpSp>
        <p:grpSp>
          <p:nvGrpSpPr>
            <p:cNvPr id="91" name="组合 90">
              <a:extLst>
                <a:ext uri="{FF2B5EF4-FFF2-40B4-BE49-F238E27FC236}">
                  <a16:creationId xmlns:a16="http://schemas.microsoft.com/office/drawing/2014/main" id="{56EE8FCF-191A-4A2D-B56A-E34F01CCEF26}"/>
                </a:ext>
              </a:extLst>
            </p:cNvPr>
            <p:cNvGrpSpPr/>
            <p:nvPr/>
          </p:nvGrpSpPr>
          <p:grpSpPr>
            <a:xfrm>
              <a:off x="1362221" y="4800450"/>
              <a:ext cx="811180" cy="801149"/>
              <a:chOff x="2255426" y="1964264"/>
              <a:chExt cx="2490745" cy="2483920"/>
            </a:xfrm>
          </p:grpSpPr>
          <p:grpSp>
            <p:nvGrpSpPr>
              <p:cNvPr id="99" name="组合 98">
                <a:extLst>
                  <a:ext uri="{FF2B5EF4-FFF2-40B4-BE49-F238E27FC236}">
                    <a16:creationId xmlns:a16="http://schemas.microsoft.com/office/drawing/2014/main" id="{15689B1E-76D6-4531-A2B3-CBBE31403AF4}"/>
                  </a:ext>
                </a:extLst>
              </p:cNvPr>
              <p:cNvGrpSpPr/>
              <p:nvPr/>
            </p:nvGrpSpPr>
            <p:grpSpPr>
              <a:xfrm>
                <a:off x="2255426" y="1964264"/>
                <a:ext cx="2490745" cy="2483920"/>
                <a:chOff x="2255426" y="1964264"/>
                <a:chExt cx="2490745" cy="2483920"/>
              </a:xfrm>
            </p:grpSpPr>
            <p:grpSp>
              <p:nvGrpSpPr>
                <p:cNvPr id="101" name="组合 100">
                  <a:extLst>
                    <a:ext uri="{FF2B5EF4-FFF2-40B4-BE49-F238E27FC236}">
                      <a16:creationId xmlns:a16="http://schemas.microsoft.com/office/drawing/2014/main" id="{2B1E66F1-373F-4F4E-AADA-0CDF71A04833}"/>
                    </a:ext>
                  </a:extLst>
                </p:cNvPr>
                <p:cNvGrpSpPr/>
                <p:nvPr/>
              </p:nvGrpSpPr>
              <p:grpSpPr>
                <a:xfrm>
                  <a:off x="2645267" y="2345716"/>
                  <a:ext cx="1713003" cy="1705707"/>
                  <a:chOff x="5960403" y="2449516"/>
                  <a:chExt cx="681694" cy="678790"/>
                </a:xfrm>
              </p:grpSpPr>
              <p:cxnSp>
                <p:nvCxnSpPr>
                  <p:cNvPr id="179" name="直接连接符 178">
                    <a:extLst>
                      <a:ext uri="{FF2B5EF4-FFF2-40B4-BE49-F238E27FC236}">
                        <a16:creationId xmlns:a16="http://schemas.microsoft.com/office/drawing/2014/main" id="{2EFDDF13-56BA-469A-ABF1-8693C21EFA3B}"/>
                      </a:ext>
                    </a:extLst>
                  </p:cNvPr>
                  <p:cNvCxnSpPr>
                    <a:cxnSpLocks/>
                  </p:cNvCxnSpPr>
                  <p:nvPr/>
                </p:nvCxnSpPr>
                <p:spPr>
                  <a:xfrm flipH="1">
                    <a:off x="6065908" y="2449516"/>
                    <a:ext cx="235342" cy="575494"/>
                  </a:xfrm>
                  <a:prstGeom prst="line">
                    <a:avLst/>
                  </a:prstGeom>
                  <a:noFill/>
                  <a:ln w="9525" cap="flat" cmpd="sng" algn="ctr">
                    <a:solidFill>
                      <a:srgbClr val="E9002F">
                        <a:lumMod val="20000"/>
                        <a:lumOff val="80000"/>
                      </a:srgbClr>
                    </a:solidFill>
                    <a:prstDash val="solid"/>
                    <a:miter lim="800000"/>
                  </a:ln>
                  <a:effectLst/>
                </p:spPr>
              </p:cxnSp>
              <p:cxnSp>
                <p:nvCxnSpPr>
                  <p:cNvPr id="180" name="直接连接符 179">
                    <a:extLst>
                      <a:ext uri="{FF2B5EF4-FFF2-40B4-BE49-F238E27FC236}">
                        <a16:creationId xmlns:a16="http://schemas.microsoft.com/office/drawing/2014/main" id="{92083C93-6317-4EDC-8F6A-AB3748CEF14B}"/>
                      </a:ext>
                    </a:extLst>
                  </p:cNvPr>
                  <p:cNvCxnSpPr>
                    <a:cxnSpLocks/>
                  </p:cNvCxnSpPr>
                  <p:nvPr/>
                </p:nvCxnSpPr>
                <p:spPr>
                  <a:xfrm>
                    <a:off x="6301250" y="2449516"/>
                    <a:ext cx="0" cy="678790"/>
                  </a:xfrm>
                  <a:prstGeom prst="line">
                    <a:avLst/>
                  </a:prstGeom>
                  <a:noFill/>
                  <a:ln w="9525" cap="flat" cmpd="sng" algn="ctr">
                    <a:solidFill>
                      <a:srgbClr val="E9002F">
                        <a:lumMod val="20000"/>
                        <a:lumOff val="80000"/>
                      </a:srgbClr>
                    </a:solidFill>
                    <a:prstDash val="solid"/>
                    <a:miter lim="800000"/>
                  </a:ln>
                  <a:effectLst/>
                </p:spPr>
              </p:cxnSp>
              <p:cxnSp>
                <p:nvCxnSpPr>
                  <p:cNvPr id="181" name="直接连接符 180">
                    <a:extLst>
                      <a:ext uri="{FF2B5EF4-FFF2-40B4-BE49-F238E27FC236}">
                        <a16:creationId xmlns:a16="http://schemas.microsoft.com/office/drawing/2014/main" id="{7EA301E8-58D3-42F8-821B-9DE53A397EAC}"/>
                      </a:ext>
                    </a:extLst>
                  </p:cNvPr>
                  <p:cNvCxnSpPr>
                    <a:cxnSpLocks/>
                  </p:cNvCxnSpPr>
                  <p:nvPr/>
                </p:nvCxnSpPr>
                <p:spPr>
                  <a:xfrm>
                    <a:off x="6301250" y="2449516"/>
                    <a:ext cx="250504" cy="581863"/>
                  </a:xfrm>
                  <a:prstGeom prst="line">
                    <a:avLst/>
                  </a:prstGeom>
                  <a:noFill/>
                  <a:ln w="9525" cap="flat" cmpd="sng" algn="ctr">
                    <a:solidFill>
                      <a:srgbClr val="E9002F">
                        <a:lumMod val="20000"/>
                        <a:lumOff val="80000"/>
                      </a:srgbClr>
                    </a:solidFill>
                    <a:prstDash val="solid"/>
                    <a:miter lim="800000"/>
                  </a:ln>
                  <a:effectLst/>
                </p:spPr>
              </p:cxnSp>
              <p:cxnSp>
                <p:nvCxnSpPr>
                  <p:cNvPr id="182" name="直接连接符 181">
                    <a:extLst>
                      <a:ext uri="{FF2B5EF4-FFF2-40B4-BE49-F238E27FC236}">
                        <a16:creationId xmlns:a16="http://schemas.microsoft.com/office/drawing/2014/main" id="{9BE6F682-809E-4DB3-B164-A48167BEA0DD}"/>
                      </a:ext>
                    </a:extLst>
                  </p:cNvPr>
                  <p:cNvCxnSpPr>
                    <a:cxnSpLocks/>
                  </p:cNvCxnSpPr>
                  <p:nvPr/>
                </p:nvCxnSpPr>
                <p:spPr>
                  <a:xfrm>
                    <a:off x="6301250" y="2449516"/>
                    <a:ext cx="340847" cy="327760"/>
                  </a:xfrm>
                  <a:prstGeom prst="line">
                    <a:avLst/>
                  </a:prstGeom>
                  <a:noFill/>
                  <a:ln w="9525" cap="flat" cmpd="sng" algn="ctr">
                    <a:solidFill>
                      <a:srgbClr val="E9002F">
                        <a:lumMod val="20000"/>
                        <a:lumOff val="80000"/>
                      </a:srgbClr>
                    </a:solidFill>
                    <a:prstDash val="solid"/>
                    <a:miter lim="800000"/>
                  </a:ln>
                  <a:effectLst/>
                </p:spPr>
              </p:cxnSp>
              <p:cxnSp>
                <p:nvCxnSpPr>
                  <p:cNvPr id="183" name="直接连接符 182">
                    <a:extLst>
                      <a:ext uri="{FF2B5EF4-FFF2-40B4-BE49-F238E27FC236}">
                        <a16:creationId xmlns:a16="http://schemas.microsoft.com/office/drawing/2014/main" id="{8F63F82F-4098-4E93-8359-BE92A0DC5DAE}"/>
                      </a:ext>
                    </a:extLst>
                  </p:cNvPr>
                  <p:cNvCxnSpPr>
                    <a:cxnSpLocks/>
                  </p:cNvCxnSpPr>
                  <p:nvPr/>
                </p:nvCxnSpPr>
                <p:spPr>
                  <a:xfrm flipH="1">
                    <a:off x="5960403" y="2449516"/>
                    <a:ext cx="340847" cy="338120"/>
                  </a:xfrm>
                  <a:prstGeom prst="line">
                    <a:avLst/>
                  </a:prstGeom>
                  <a:noFill/>
                  <a:ln w="9525" cap="flat" cmpd="sng" algn="ctr">
                    <a:solidFill>
                      <a:srgbClr val="E9002F">
                        <a:lumMod val="20000"/>
                        <a:lumOff val="80000"/>
                      </a:srgbClr>
                    </a:solidFill>
                    <a:prstDash val="solid"/>
                    <a:miter lim="800000"/>
                  </a:ln>
                  <a:effectLst/>
                </p:spPr>
              </p:cxnSp>
              <p:cxnSp>
                <p:nvCxnSpPr>
                  <p:cNvPr id="184" name="直接连接符 183">
                    <a:extLst>
                      <a:ext uri="{FF2B5EF4-FFF2-40B4-BE49-F238E27FC236}">
                        <a16:creationId xmlns:a16="http://schemas.microsoft.com/office/drawing/2014/main" id="{7C402C3E-474B-464B-924E-24C6CBDCF445}"/>
                      </a:ext>
                    </a:extLst>
                  </p:cNvPr>
                  <p:cNvCxnSpPr>
                    <a:cxnSpLocks/>
                  </p:cNvCxnSpPr>
                  <p:nvPr/>
                </p:nvCxnSpPr>
                <p:spPr>
                  <a:xfrm flipH="1">
                    <a:off x="6060234" y="2449516"/>
                    <a:ext cx="241016" cy="95554"/>
                  </a:xfrm>
                  <a:prstGeom prst="line">
                    <a:avLst/>
                  </a:prstGeom>
                  <a:noFill/>
                  <a:ln w="9525" cap="flat" cmpd="sng" algn="ctr">
                    <a:solidFill>
                      <a:srgbClr val="E9002F">
                        <a:lumMod val="20000"/>
                        <a:lumOff val="80000"/>
                      </a:srgbClr>
                    </a:solidFill>
                    <a:prstDash val="solid"/>
                    <a:miter lim="800000"/>
                  </a:ln>
                  <a:effectLst/>
                </p:spPr>
              </p:cxnSp>
              <p:cxnSp>
                <p:nvCxnSpPr>
                  <p:cNvPr id="185" name="直接连接符 184">
                    <a:extLst>
                      <a:ext uri="{FF2B5EF4-FFF2-40B4-BE49-F238E27FC236}">
                        <a16:creationId xmlns:a16="http://schemas.microsoft.com/office/drawing/2014/main" id="{ABF9EC85-CFA2-4EC3-A617-C46F2A3075A8}"/>
                      </a:ext>
                    </a:extLst>
                  </p:cNvPr>
                  <p:cNvCxnSpPr>
                    <a:cxnSpLocks/>
                  </p:cNvCxnSpPr>
                  <p:nvPr/>
                </p:nvCxnSpPr>
                <p:spPr>
                  <a:xfrm>
                    <a:off x="6301250" y="2449516"/>
                    <a:ext cx="241016" cy="99831"/>
                  </a:xfrm>
                  <a:prstGeom prst="line">
                    <a:avLst/>
                  </a:prstGeom>
                  <a:noFill/>
                  <a:ln w="9525" cap="flat" cmpd="sng" algn="ctr">
                    <a:solidFill>
                      <a:srgbClr val="E9002F">
                        <a:lumMod val="20000"/>
                        <a:lumOff val="80000"/>
                      </a:srgbClr>
                    </a:solidFill>
                    <a:prstDash val="solid"/>
                    <a:miter lim="800000"/>
                  </a:ln>
                  <a:effectLst/>
                </p:spPr>
              </p:cxnSp>
              <p:cxnSp>
                <p:nvCxnSpPr>
                  <p:cNvPr id="186" name="直接连接符 185">
                    <a:extLst>
                      <a:ext uri="{FF2B5EF4-FFF2-40B4-BE49-F238E27FC236}">
                        <a16:creationId xmlns:a16="http://schemas.microsoft.com/office/drawing/2014/main" id="{FEADF2EB-B6AF-4117-A0C5-9C12B7898AB6}"/>
                      </a:ext>
                    </a:extLst>
                  </p:cNvPr>
                  <p:cNvCxnSpPr>
                    <a:cxnSpLocks/>
                  </p:cNvCxnSpPr>
                  <p:nvPr/>
                </p:nvCxnSpPr>
                <p:spPr>
                  <a:xfrm>
                    <a:off x="6060234" y="2545070"/>
                    <a:ext cx="482032" cy="4277"/>
                  </a:xfrm>
                  <a:prstGeom prst="line">
                    <a:avLst/>
                  </a:prstGeom>
                  <a:noFill/>
                  <a:ln w="9525" cap="flat" cmpd="sng" algn="ctr">
                    <a:solidFill>
                      <a:srgbClr val="E9002F">
                        <a:lumMod val="20000"/>
                        <a:lumOff val="80000"/>
                      </a:srgbClr>
                    </a:solidFill>
                    <a:prstDash val="solid"/>
                    <a:miter lim="800000"/>
                  </a:ln>
                  <a:effectLst/>
                </p:spPr>
              </p:cxnSp>
              <p:cxnSp>
                <p:nvCxnSpPr>
                  <p:cNvPr id="187" name="直接连接符 186">
                    <a:extLst>
                      <a:ext uri="{FF2B5EF4-FFF2-40B4-BE49-F238E27FC236}">
                        <a16:creationId xmlns:a16="http://schemas.microsoft.com/office/drawing/2014/main" id="{55A98583-607E-4984-9B42-48DB5D92E425}"/>
                      </a:ext>
                    </a:extLst>
                  </p:cNvPr>
                  <p:cNvCxnSpPr>
                    <a:cxnSpLocks/>
                  </p:cNvCxnSpPr>
                  <p:nvPr/>
                </p:nvCxnSpPr>
                <p:spPr>
                  <a:xfrm>
                    <a:off x="6060234" y="2545070"/>
                    <a:ext cx="581863" cy="232206"/>
                  </a:xfrm>
                  <a:prstGeom prst="line">
                    <a:avLst/>
                  </a:prstGeom>
                  <a:noFill/>
                  <a:ln w="9525" cap="flat" cmpd="sng" algn="ctr">
                    <a:solidFill>
                      <a:srgbClr val="E9002F">
                        <a:lumMod val="20000"/>
                        <a:lumOff val="80000"/>
                      </a:srgbClr>
                    </a:solidFill>
                    <a:prstDash val="solid"/>
                    <a:miter lim="800000"/>
                  </a:ln>
                  <a:effectLst/>
                </p:spPr>
              </p:cxnSp>
              <p:cxnSp>
                <p:nvCxnSpPr>
                  <p:cNvPr id="188" name="直接连接符 187">
                    <a:extLst>
                      <a:ext uri="{FF2B5EF4-FFF2-40B4-BE49-F238E27FC236}">
                        <a16:creationId xmlns:a16="http://schemas.microsoft.com/office/drawing/2014/main" id="{D4DC069F-14C9-4E61-B463-3FAEAFD72E99}"/>
                      </a:ext>
                    </a:extLst>
                  </p:cNvPr>
                  <p:cNvCxnSpPr>
                    <a:cxnSpLocks/>
                  </p:cNvCxnSpPr>
                  <p:nvPr/>
                </p:nvCxnSpPr>
                <p:spPr>
                  <a:xfrm>
                    <a:off x="6060234" y="2545070"/>
                    <a:ext cx="491520" cy="486309"/>
                  </a:xfrm>
                  <a:prstGeom prst="line">
                    <a:avLst/>
                  </a:prstGeom>
                  <a:noFill/>
                  <a:ln w="9525" cap="flat" cmpd="sng" algn="ctr">
                    <a:solidFill>
                      <a:srgbClr val="E9002F">
                        <a:lumMod val="20000"/>
                        <a:lumOff val="80000"/>
                      </a:srgbClr>
                    </a:solidFill>
                    <a:prstDash val="solid"/>
                    <a:miter lim="800000"/>
                  </a:ln>
                  <a:effectLst/>
                </p:spPr>
              </p:cxnSp>
              <p:cxnSp>
                <p:nvCxnSpPr>
                  <p:cNvPr id="189" name="直接连接符 188">
                    <a:extLst>
                      <a:ext uri="{FF2B5EF4-FFF2-40B4-BE49-F238E27FC236}">
                        <a16:creationId xmlns:a16="http://schemas.microsoft.com/office/drawing/2014/main" id="{EE6088AB-5843-4C9B-800A-A2B23651BD2E}"/>
                      </a:ext>
                    </a:extLst>
                  </p:cNvPr>
                  <p:cNvCxnSpPr>
                    <a:cxnSpLocks/>
                  </p:cNvCxnSpPr>
                  <p:nvPr/>
                </p:nvCxnSpPr>
                <p:spPr>
                  <a:xfrm>
                    <a:off x="6060234" y="2545070"/>
                    <a:ext cx="241016" cy="583236"/>
                  </a:xfrm>
                  <a:prstGeom prst="line">
                    <a:avLst/>
                  </a:prstGeom>
                  <a:noFill/>
                  <a:ln w="9525" cap="flat" cmpd="sng" algn="ctr">
                    <a:solidFill>
                      <a:srgbClr val="E9002F">
                        <a:lumMod val="20000"/>
                        <a:lumOff val="80000"/>
                      </a:srgbClr>
                    </a:solidFill>
                    <a:prstDash val="solid"/>
                    <a:miter lim="800000"/>
                  </a:ln>
                  <a:effectLst/>
                </p:spPr>
              </p:cxnSp>
              <p:cxnSp>
                <p:nvCxnSpPr>
                  <p:cNvPr id="190" name="直接连接符 189">
                    <a:extLst>
                      <a:ext uri="{FF2B5EF4-FFF2-40B4-BE49-F238E27FC236}">
                        <a16:creationId xmlns:a16="http://schemas.microsoft.com/office/drawing/2014/main" id="{9C90A823-71A7-4F88-BC1D-BBD8F0E3F1DA}"/>
                      </a:ext>
                    </a:extLst>
                  </p:cNvPr>
                  <p:cNvCxnSpPr>
                    <a:cxnSpLocks/>
                  </p:cNvCxnSpPr>
                  <p:nvPr/>
                </p:nvCxnSpPr>
                <p:spPr>
                  <a:xfrm>
                    <a:off x="6060234" y="2545070"/>
                    <a:ext cx="5674" cy="479940"/>
                  </a:xfrm>
                  <a:prstGeom prst="line">
                    <a:avLst/>
                  </a:prstGeom>
                  <a:noFill/>
                  <a:ln w="9525" cap="flat" cmpd="sng" algn="ctr">
                    <a:solidFill>
                      <a:srgbClr val="E9002F">
                        <a:lumMod val="20000"/>
                        <a:lumOff val="80000"/>
                      </a:srgbClr>
                    </a:solidFill>
                    <a:prstDash val="solid"/>
                    <a:miter lim="800000"/>
                  </a:ln>
                  <a:effectLst/>
                </p:spPr>
              </p:cxnSp>
              <p:cxnSp>
                <p:nvCxnSpPr>
                  <p:cNvPr id="191" name="直接连接符 190">
                    <a:extLst>
                      <a:ext uri="{FF2B5EF4-FFF2-40B4-BE49-F238E27FC236}">
                        <a16:creationId xmlns:a16="http://schemas.microsoft.com/office/drawing/2014/main" id="{C4323D06-996F-4921-9545-E8F09D5737E5}"/>
                      </a:ext>
                    </a:extLst>
                  </p:cNvPr>
                  <p:cNvCxnSpPr>
                    <a:cxnSpLocks/>
                  </p:cNvCxnSpPr>
                  <p:nvPr/>
                </p:nvCxnSpPr>
                <p:spPr>
                  <a:xfrm flipH="1">
                    <a:off x="5960403" y="2545070"/>
                    <a:ext cx="99831" cy="242566"/>
                  </a:xfrm>
                  <a:prstGeom prst="line">
                    <a:avLst/>
                  </a:prstGeom>
                  <a:noFill/>
                  <a:ln w="9525" cap="flat" cmpd="sng" algn="ctr">
                    <a:solidFill>
                      <a:srgbClr val="E9002F">
                        <a:lumMod val="20000"/>
                        <a:lumOff val="80000"/>
                      </a:srgbClr>
                    </a:solidFill>
                    <a:prstDash val="solid"/>
                    <a:miter lim="800000"/>
                  </a:ln>
                  <a:effectLst/>
                </p:spPr>
              </p:cxnSp>
              <p:cxnSp>
                <p:nvCxnSpPr>
                  <p:cNvPr id="192" name="直接连接符 191">
                    <a:extLst>
                      <a:ext uri="{FF2B5EF4-FFF2-40B4-BE49-F238E27FC236}">
                        <a16:creationId xmlns:a16="http://schemas.microsoft.com/office/drawing/2014/main" id="{9A5F83EA-8436-4E5D-9228-572DD0E433B6}"/>
                      </a:ext>
                    </a:extLst>
                  </p:cNvPr>
                  <p:cNvCxnSpPr>
                    <a:cxnSpLocks/>
                  </p:cNvCxnSpPr>
                  <p:nvPr/>
                </p:nvCxnSpPr>
                <p:spPr>
                  <a:xfrm>
                    <a:off x="5960403" y="2787636"/>
                    <a:ext cx="105505" cy="237374"/>
                  </a:xfrm>
                  <a:prstGeom prst="line">
                    <a:avLst/>
                  </a:prstGeom>
                  <a:noFill/>
                  <a:ln w="9525" cap="flat" cmpd="sng" algn="ctr">
                    <a:solidFill>
                      <a:srgbClr val="E9002F">
                        <a:lumMod val="20000"/>
                        <a:lumOff val="80000"/>
                      </a:srgbClr>
                    </a:solidFill>
                    <a:prstDash val="solid"/>
                    <a:miter lim="800000"/>
                  </a:ln>
                  <a:effectLst/>
                </p:spPr>
              </p:cxnSp>
              <p:cxnSp>
                <p:nvCxnSpPr>
                  <p:cNvPr id="193" name="直接连接符 192">
                    <a:extLst>
                      <a:ext uri="{FF2B5EF4-FFF2-40B4-BE49-F238E27FC236}">
                        <a16:creationId xmlns:a16="http://schemas.microsoft.com/office/drawing/2014/main" id="{69D1AFED-810E-4887-9240-118701121973}"/>
                      </a:ext>
                    </a:extLst>
                  </p:cNvPr>
                  <p:cNvCxnSpPr>
                    <a:cxnSpLocks/>
                  </p:cNvCxnSpPr>
                  <p:nvPr/>
                </p:nvCxnSpPr>
                <p:spPr>
                  <a:xfrm>
                    <a:off x="5960403" y="2787636"/>
                    <a:ext cx="340847" cy="340670"/>
                  </a:xfrm>
                  <a:prstGeom prst="line">
                    <a:avLst/>
                  </a:prstGeom>
                  <a:noFill/>
                  <a:ln w="9525" cap="flat" cmpd="sng" algn="ctr">
                    <a:solidFill>
                      <a:srgbClr val="E9002F">
                        <a:lumMod val="20000"/>
                        <a:lumOff val="80000"/>
                      </a:srgbClr>
                    </a:solidFill>
                    <a:prstDash val="solid"/>
                    <a:miter lim="800000"/>
                  </a:ln>
                  <a:effectLst/>
                </p:spPr>
              </p:cxnSp>
              <p:cxnSp>
                <p:nvCxnSpPr>
                  <p:cNvPr id="194" name="直接连接符 193">
                    <a:extLst>
                      <a:ext uri="{FF2B5EF4-FFF2-40B4-BE49-F238E27FC236}">
                        <a16:creationId xmlns:a16="http://schemas.microsoft.com/office/drawing/2014/main" id="{30BDFD29-D211-4BB5-A453-50F37148CE94}"/>
                      </a:ext>
                    </a:extLst>
                  </p:cNvPr>
                  <p:cNvCxnSpPr>
                    <a:cxnSpLocks/>
                  </p:cNvCxnSpPr>
                  <p:nvPr/>
                </p:nvCxnSpPr>
                <p:spPr>
                  <a:xfrm>
                    <a:off x="6065908" y="3025010"/>
                    <a:ext cx="235342" cy="103296"/>
                  </a:xfrm>
                  <a:prstGeom prst="line">
                    <a:avLst/>
                  </a:prstGeom>
                  <a:noFill/>
                  <a:ln w="9525" cap="flat" cmpd="sng" algn="ctr">
                    <a:solidFill>
                      <a:srgbClr val="E9002F">
                        <a:lumMod val="20000"/>
                        <a:lumOff val="80000"/>
                      </a:srgbClr>
                    </a:solidFill>
                    <a:prstDash val="solid"/>
                    <a:miter lim="800000"/>
                  </a:ln>
                  <a:effectLst/>
                </p:spPr>
              </p:cxnSp>
              <p:cxnSp>
                <p:nvCxnSpPr>
                  <p:cNvPr id="195" name="直接连接符 194">
                    <a:extLst>
                      <a:ext uri="{FF2B5EF4-FFF2-40B4-BE49-F238E27FC236}">
                        <a16:creationId xmlns:a16="http://schemas.microsoft.com/office/drawing/2014/main" id="{D0BC206E-762A-4287-A227-E187430F20FE}"/>
                      </a:ext>
                    </a:extLst>
                  </p:cNvPr>
                  <p:cNvCxnSpPr>
                    <a:cxnSpLocks/>
                  </p:cNvCxnSpPr>
                  <p:nvPr/>
                </p:nvCxnSpPr>
                <p:spPr>
                  <a:xfrm flipV="1">
                    <a:off x="6301250" y="3031379"/>
                    <a:ext cx="250504" cy="96927"/>
                  </a:xfrm>
                  <a:prstGeom prst="line">
                    <a:avLst/>
                  </a:prstGeom>
                  <a:noFill/>
                  <a:ln w="9525" cap="flat" cmpd="sng" algn="ctr">
                    <a:solidFill>
                      <a:srgbClr val="E9002F">
                        <a:lumMod val="20000"/>
                        <a:lumOff val="80000"/>
                      </a:srgbClr>
                    </a:solidFill>
                    <a:prstDash val="solid"/>
                    <a:miter lim="800000"/>
                  </a:ln>
                  <a:effectLst/>
                </p:spPr>
              </p:cxnSp>
              <p:cxnSp>
                <p:nvCxnSpPr>
                  <p:cNvPr id="196" name="直接连接符 195">
                    <a:extLst>
                      <a:ext uri="{FF2B5EF4-FFF2-40B4-BE49-F238E27FC236}">
                        <a16:creationId xmlns:a16="http://schemas.microsoft.com/office/drawing/2014/main" id="{0FC48709-2114-4CAF-9D47-26DC3679FE8D}"/>
                      </a:ext>
                    </a:extLst>
                  </p:cNvPr>
                  <p:cNvCxnSpPr>
                    <a:cxnSpLocks/>
                  </p:cNvCxnSpPr>
                  <p:nvPr/>
                </p:nvCxnSpPr>
                <p:spPr>
                  <a:xfrm flipV="1">
                    <a:off x="6301250" y="2777276"/>
                    <a:ext cx="340847" cy="351030"/>
                  </a:xfrm>
                  <a:prstGeom prst="line">
                    <a:avLst/>
                  </a:prstGeom>
                  <a:noFill/>
                  <a:ln w="9525" cap="flat" cmpd="sng" algn="ctr">
                    <a:solidFill>
                      <a:srgbClr val="E9002F">
                        <a:lumMod val="20000"/>
                        <a:lumOff val="80000"/>
                      </a:srgbClr>
                    </a:solidFill>
                    <a:prstDash val="solid"/>
                    <a:miter lim="800000"/>
                  </a:ln>
                  <a:effectLst/>
                </p:spPr>
              </p:cxnSp>
              <p:cxnSp>
                <p:nvCxnSpPr>
                  <p:cNvPr id="197" name="直接连接符 196">
                    <a:extLst>
                      <a:ext uri="{FF2B5EF4-FFF2-40B4-BE49-F238E27FC236}">
                        <a16:creationId xmlns:a16="http://schemas.microsoft.com/office/drawing/2014/main" id="{21716295-74CD-4168-9D5E-26C8E1196CA3}"/>
                      </a:ext>
                    </a:extLst>
                  </p:cNvPr>
                  <p:cNvCxnSpPr>
                    <a:cxnSpLocks/>
                  </p:cNvCxnSpPr>
                  <p:nvPr/>
                </p:nvCxnSpPr>
                <p:spPr>
                  <a:xfrm flipV="1">
                    <a:off x="6551754" y="2777276"/>
                    <a:ext cx="90343" cy="254103"/>
                  </a:xfrm>
                  <a:prstGeom prst="line">
                    <a:avLst/>
                  </a:prstGeom>
                  <a:noFill/>
                  <a:ln w="9525" cap="flat" cmpd="sng" algn="ctr">
                    <a:solidFill>
                      <a:srgbClr val="E9002F">
                        <a:lumMod val="20000"/>
                        <a:lumOff val="80000"/>
                      </a:srgbClr>
                    </a:solidFill>
                    <a:prstDash val="solid"/>
                    <a:miter lim="800000"/>
                  </a:ln>
                  <a:effectLst/>
                </p:spPr>
              </p:cxnSp>
              <p:cxnSp>
                <p:nvCxnSpPr>
                  <p:cNvPr id="198" name="直接连接符 197">
                    <a:extLst>
                      <a:ext uri="{FF2B5EF4-FFF2-40B4-BE49-F238E27FC236}">
                        <a16:creationId xmlns:a16="http://schemas.microsoft.com/office/drawing/2014/main" id="{4EF96E6D-2C7D-468D-B25B-54CC179A8160}"/>
                      </a:ext>
                    </a:extLst>
                  </p:cNvPr>
                  <p:cNvCxnSpPr>
                    <a:cxnSpLocks/>
                  </p:cNvCxnSpPr>
                  <p:nvPr/>
                </p:nvCxnSpPr>
                <p:spPr>
                  <a:xfrm>
                    <a:off x="6542266" y="2549347"/>
                    <a:ext cx="99831" cy="227929"/>
                  </a:xfrm>
                  <a:prstGeom prst="line">
                    <a:avLst/>
                  </a:prstGeom>
                  <a:noFill/>
                  <a:ln w="9525" cap="flat" cmpd="sng" algn="ctr">
                    <a:solidFill>
                      <a:srgbClr val="E9002F">
                        <a:lumMod val="20000"/>
                        <a:lumOff val="80000"/>
                      </a:srgbClr>
                    </a:solidFill>
                    <a:prstDash val="solid"/>
                    <a:miter lim="800000"/>
                  </a:ln>
                  <a:effectLst/>
                </p:spPr>
              </p:cxnSp>
              <p:cxnSp>
                <p:nvCxnSpPr>
                  <p:cNvPr id="199" name="直接连接符 198">
                    <a:extLst>
                      <a:ext uri="{FF2B5EF4-FFF2-40B4-BE49-F238E27FC236}">
                        <a16:creationId xmlns:a16="http://schemas.microsoft.com/office/drawing/2014/main" id="{A5B82C5C-E86C-4926-AE17-8E351558A73D}"/>
                      </a:ext>
                    </a:extLst>
                  </p:cNvPr>
                  <p:cNvCxnSpPr>
                    <a:cxnSpLocks/>
                  </p:cNvCxnSpPr>
                  <p:nvPr/>
                </p:nvCxnSpPr>
                <p:spPr>
                  <a:xfrm flipV="1">
                    <a:off x="6301250" y="2549347"/>
                    <a:ext cx="241016" cy="578959"/>
                  </a:xfrm>
                  <a:prstGeom prst="line">
                    <a:avLst/>
                  </a:prstGeom>
                  <a:noFill/>
                  <a:ln w="9525" cap="flat" cmpd="sng" algn="ctr">
                    <a:solidFill>
                      <a:srgbClr val="E9002F">
                        <a:lumMod val="20000"/>
                        <a:lumOff val="80000"/>
                      </a:srgbClr>
                    </a:solidFill>
                    <a:prstDash val="solid"/>
                    <a:miter lim="800000"/>
                  </a:ln>
                  <a:effectLst/>
                </p:spPr>
              </p:cxnSp>
              <p:cxnSp>
                <p:nvCxnSpPr>
                  <p:cNvPr id="200" name="直接连接符 199">
                    <a:extLst>
                      <a:ext uri="{FF2B5EF4-FFF2-40B4-BE49-F238E27FC236}">
                        <a16:creationId xmlns:a16="http://schemas.microsoft.com/office/drawing/2014/main" id="{48F68FBA-17A6-4115-BD60-1F301ABFD7BF}"/>
                      </a:ext>
                    </a:extLst>
                  </p:cNvPr>
                  <p:cNvCxnSpPr>
                    <a:cxnSpLocks/>
                  </p:cNvCxnSpPr>
                  <p:nvPr/>
                </p:nvCxnSpPr>
                <p:spPr>
                  <a:xfrm flipV="1">
                    <a:off x="6065908" y="2777276"/>
                    <a:ext cx="576189" cy="247734"/>
                  </a:xfrm>
                  <a:prstGeom prst="line">
                    <a:avLst/>
                  </a:prstGeom>
                  <a:noFill/>
                  <a:ln w="9525" cap="flat" cmpd="sng" algn="ctr">
                    <a:solidFill>
                      <a:srgbClr val="E9002F">
                        <a:lumMod val="20000"/>
                        <a:lumOff val="80000"/>
                      </a:srgbClr>
                    </a:solidFill>
                    <a:prstDash val="solid"/>
                    <a:miter lim="800000"/>
                  </a:ln>
                  <a:effectLst/>
                </p:spPr>
              </p:cxnSp>
              <p:cxnSp>
                <p:nvCxnSpPr>
                  <p:cNvPr id="201" name="直接连接符 200">
                    <a:extLst>
                      <a:ext uri="{FF2B5EF4-FFF2-40B4-BE49-F238E27FC236}">
                        <a16:creationId xmlns:a16="http://schemas.microsoft.com/office/drawing/2014/main" id="{3769C398-5C3B-43ED-8DF0-C21FE008684C}"/>
                      </a:ext>
                    </a:extLst>
                  </p:cNvPr>
                  <p:cNvCxnSpPr>
                    <a:cxnSpLocks/>
                  </p:cNvCxnSpPr>
                  <p:nvPr/>
                </p:nvCxnSpPr>
                <p:spPr>
                  <a:xfrm>
                    <a:off x="5960403" y="2787636"/>
                    <a:ext cx="591351" cy="243743"/>
                  </a:xfrm>
                  <a:prstGeom prst="line">
                    <a:avLst/>
                  </a:prstGeom>
                  <a:noFill/>
                  <a:ln w="9525" cap="flat" cmpd="sng" algn="ctr">
                    <a:solidFill>
                      <a:srgbClr val="E9002F">
                        <a:lumMod val="20000"/>
                        <a:lumOff val="80000"/>
                      </a:srgbClr>
                    </a:solidFill>
                    <a:prstDash val="solid"/>
                    <a:miter lim="800000"/>
                  </a:ln>
                  <a:effectLst/>
                </p:spPr>
              </p:cxnSp>
              <p:cxnSp>
                <p:nvCxnSpPr>
                  <p:cNvPr id="202" name="直接连接符 201">
                    <a:extLst>
                      <a:ext uri="{FF2B5EF4-FFF2-40B4-BE49-F238E27FC236}">
                        <a16:creationId xmlns:a16="http://schemas.microsoft.com/office/drawing/2014/main" id="{1FBC3976-AD08-4EFB-8695-F6F08C356E2C}"/>
                      </a:ext>
                    </a:extLst>
                  </p:cNvPr>
                  <p:cNvCxnSpPr>
                    <a:cxnSpLocks/>
                  </p:cNvCxnSpPr>
                  <p:nvPr/>
                </p:nvCxnSpPr>
                <p:spPr>
                  <a:xfrm flipV="1">
                    <a:off x="5960403" y="2777276"/>
                    <a:ext cx="681694" cy="10360"/>
                  </a:xfrm>
                  <a:prstGeom prst="line">
                    <a:avLst/>
                  </a:prstGeom>
                  <a:noFill/>
                  <a:ln w="9525" cap="flat" cmpd="sng" algn="ctr">
                    <a:solidFill>
                      <a:srgbClr val="E9002F">
                        <a:lumMod val="20000"/>
                        <a:lumOff val="80000"/>
                      </a:srgbClr>
                    </a:solidFill>
                    <a:prstDash val="solid"/>
                    <a:miter lim="800000"/>
                  </a:ln>
                  <a:effectLst/>
                </p:spPr>
              </p:cxnSp>
              <p:cxnSp>
                <p:nvCxnSpPr>
                  <p:cNvPr id="203" name="直接连接符 202">
                    <a:extLst>
                      <a:ext uri="{FF2B5EF4-FFF2-40B4-BE49-F238E27FC236}">
                        <a16:creationId xmlns:a16="http://schemas.microsoft.com/office/drawing/2014/main" id="{86E17825-518C-4C91-8A4E-F61AD9E8E01F}"/>
                      </a:ext>
                    </a:extLst>
                  </p:cNvPr>
                  <p:cNvCxnSpPr>
                    <a:cxnSpLocks/>
                  </p:cNvCxnSpPr>
                  <p:nvPr/>
                </p:nvCxnSpPr>
                <p:spPr>
                  <a:xfrm flipV="1">
                    <a:off x="5960403" y="2549347"/>
                    <a:ext cx="581863" cy="238289"/>
                  </a:xfrm>
                  <a:prstGeom prst="line">
                    <a:avLst/>
                  </a:prstGeom>
                  <a:noFill/>
                  <a:ln w="9525" cap="flat" cmpd="sng" algn="ctr">
                    <a:solidFill>
                      <a:srgbClr val="E9002F">
                        <a:lumMod val="20000"/>
                        <a:lumOff val="80000"/>
                      </a:srgbClr>
                    </a:solidFill>
                    <a:prstDash val="solid"/>
                    <a:miter lim="800000"/>
                  </a:ln>
                  <a:effectLst/>
                </p:spPr>
              </p:cxnSp>
              <p:cxnSp>
                <p:nvCxnSpPr>
                  <p:cNvPr id="204" name="直接连接符 203">
                    <a:extLst>
                      <a:ext uri="{FF2B5EF4-FFF2-40B4-BE49-F238E27FC236}">
                        <a16:creationId xmlns:a16="http://schemas.microsoft.com/office/drawing/2014/main" id="{3179F408-04FF-4938-970F-A7DABD4CB087}"/>
                      </a:ext>
                    </a:extLst>
                  </p:cNvPr>
                  <p:cNvCxnSpPr>
                    <a:cxnSpLocks/>
                  </p:cNvCxnSpPr>
                  <p:nvPr/>
                </p:nvCxnSpPr>
                <p:spPr>
                  <a:xfrm>
                    <a:off x="6065908" y="3025010"/>
                    <a:ext cx="485846" cy="6369"/>
                  </a:xfrm>
                  <a:prstGeom prst="line">
                    <a:avLst/>
                  </a:prstGeom>
                  <a:noFill/>
                  <a:ln w="9525" cap="flat" cmpd="sng" algn="ctr">
                    <a:solidFill>
                      <a:srgbClr val="E9002F">
                        <a:lumMod val="20000"/>
                        <a:lumOff val="80000"/>
                      </a:srgbClr>
                    </a:solidFill>
                    <a:prstDash val="solid"/>
                    <a:miter lim="800000"/>
                  </a:ln>
                  <a:effectLst/>
                </p:spPr>
              </p:cxnSp>
              <p:cxnSp>
                <p:nvCxnSpPr>
                  <p:cNvPr id="205" name="直接连接符 204">
                    <a:extLst>
                      <a:ext uri="{FF2B5EF4-FFF2-40B4-BE49-F238E27FC236}">
                        <a16:creationId xmlns:a16="http://schemas.microsoft.com/office/drawing/2014/main" id="{EF202167-A899-4C6C-A531-0E7209D50FAA}"/>
                      </a:ext>
                    </a:extLst>
                  </p:cNvPr>
                  <p:cNvCxnSpPr>
                    <a:cxnSpLocks/>
                  </p:cNvCxnSpPr>
                  <p:nvPr/>
                </p:nvCxnSpPr>
                <p:spPr>
                  <a:xfrm flipH="1" flipV="1">
                    <a:off x="6542266" y="2549347"/>
                    <a:ext cx="9488" cy="482032"/>
                  </a:xfrm>
                  <a:prstGeom prst="line">
                    <a:avLst/>
                  </a:prstGeom>
                  <a:noFill/>
                  <a:ln w="9525" cap="flat" cmpd="sng" algn="ctr">
                    <a:solidFill>
                      <a:srgbClr val="E9002F">
                        <a:lumMod val="20000"/>
                        <a:lumOff val="80000"/>
                      </a:srgbClr>
                    </a:solidFill>
                    <a:prstDash val="solid"/>
                    <a:miter lim="800000"/>
                  </a:ln>
                  <a:effectLst/>
                </p:spPr>
              </p:cxnSp>
              <p:cxnSp>
                <p:nvCxnSpPr>
                  <p:cNvPr id="206" name="直接连接符 205">
                    <a:extLst>
                      <a:ext uri="{FF2B5EF4-FFF2-40B4-BE49-F238E27FC236}">
                        <a16:creationId xmlns:a16="http://schemas.microsoft.com/office/drawing/2014/main" id="{EDCDB9C9-1E6F-4EBF-832F-13C23C85BE38}"/>
                      </a:ext>
                    </a:extLst>
                  </p:cNvPr>
                  <p:cNvCxnSpPr>
                    <a:cxnSpLocks/>
                  </p:cNvCxnSpPr>
                  <p:nvPr/>
                </p:nvCxnSpPr>
                <p:spPr>
                  <a:xfrm flipV="1">
                    <a:off x="6065908" y="2549347"/>
                    <a:ext cx="476358" cy="475663"/>
                  </a:xfrm>
                  <a:prstGeom prst="line">
                    <a:avLst/>
                  </a:prstGeom>
                  <a:noFill/>
                  <a:ln w="9525" cap="flat" cmpd="sng" algn="ctr">
                    <a:solidFill>
                      <a:srgbClr val="E9002F">
                        <a:lumMod val="20000"/>
                        <a:lumOff val="80000"/>
                      </a:srgbClr>
                    </a:solidFill>
                    <a:prstDash val="solid"/>
                    <a:miter lim="800000"/>
                  </a:ln>
                  <a:effectLst/>
                </p:spPr>
              </p:cxnSp>
            </p:grpSp>
            <p:grpSp>
              <p:nvGrpSpPr>
                <p:cNvPr id="102" name="组合 101">
                  <a:extLst>
                    <a:ext uri="{FF2B5EF4-FFF2-40B4-BE49-F238E27FC236}">
                      <a16:creationId xmlns:a16="http://schemas.microsoft.com/office/drawing/2014/main" id="{F005BABA-29F9-47F7-AD12-DC5F5B883ABB}"/>
                    </a:ext>
                  </a:extLst>
                </p:cNvPr>
                <p:cNvGrpSpPr/>
                <p:nvPr/>
              </p:nvGrpSpPr>
              <p:grpSpPr>
                <a:xfrm>
                  <a:off x="2255426" y="1964264"/>
                  <a:ext cx="2490745" cy="2483920"/>
                  <a:chOff x="5745823" y="2234936"/>
                  <a:chExt cx="1059662" cy="1056758"/>
                </a:xfrm>
              </p:grpSpPr>
              <p:sp>
                <p:nvSpPr>
                  <p:cNvPr id="171" name="椭圆 170">
                    <a:extLst>
                      <a:ext uri="{FF2B5EF4-FFF2-40B4-BE49-F238E27FC236}">
                        <a16:creationId xmlns:a16="http://schemas.microsoft.com/office/drawing/2014/main" id="{B8A0C441-AA97-4B44-9E3B-D82860ABCF71}"/>
                      </a:ext>
                    </a:extLst>
                  </p:cNvPr>
                  <p:cNvSpPr/>
                  <p:nvPr/>
                </p:nvSpPr>
                <p:spPr>
                  <a:xfrm>
                    <a:off x="5877079" y="2361915"/>
                    <a:ext cx="163388" cy="163388"/>
                  </a:xfrm>
                  <a:prstGeom prst="ellipse">
                    <a:avLst/>
                  </a:prstGeom>
                  <a:solidFill>
                    <a:srgbClr val="7F0000">
                      <a:lumMod val="20000"/>
                      <a:lumOff val="80000"/>
                    </a:srgbClr>
                  </a:solidFill>
                  <a:ln w="9525"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700" b="1" i="0" u="none" strike="noStrike" kern="0" cap="none" spc="0" normalizeH="0" baseline="0" noProof="0" dirty="0">
                        <a:ln>
                          <a:noFill/>
                        </a:ln>
                        <a:solidFill>
                          <a:srgbClr val="282828"/>
                        </a:solidFill>
                        <a:effectLst/>
                        <a:uLnTx/>
                        <a:uFillTx/>
                        <a:latin typeface="+mn-ea"/>
                        <a:cs typeface="Huawei Sans" panose="020C0503030203020204" pitchFamily="34" charset="0"/>
                      </a:rPr>
                      <a:t>S</a:t>
                    </a:r>
                    <a:endParaRPr kumimoji="0" lang="zh-CN" altLang="en-US" sz="700" b="1" i="0" u="none" strike="noStrike" kern="0" cap="none" spc="0" normalizeH="0" baseline="0" noProof="0" dirty="0">
                      <a:ln>
                        <a:noFill/>
                      </a:ln>
                      <a:solidFill>
                        <a:srgbClr val="282828"/>
                      </a:solidFill>
                      <a:effectLst/>
                      <a:uLnTx/>
                      <a:uFillTx/>
                      <a:latin typeface="+mn-ea"/>
                      <a:cs typeface="Huawei Sans" panose="020C0503030203020204" pitchFamily="34" charset="0"/>
                    </a:endParaRPr>
                  </a:p>
                </p:txBody>
              </p:sp>
              <p:sp>
                <p:nvSpPr>
                  <p:cNvPr id="172" name="椭圆 171">
                    <a:extLst>
                      <a:ext uri="{FF2B5EF4-FFF2-40B4-BE49-F238E27FC236}">
                        <a16:creationId xmlns:a16="http://schemas.microsoft.com/office/drawing/2014/main" id="{D848FF1F-1AF4-4227-AE0D-8FD9763F7B3F}"/>
                      </a:ext>
                    </a:extLst>
                  </p:cNvPr>
                  <p:cNvSpPr/>
                  <p:nvPr/>
                </p:nvSpPr>
                <p:spPr>
                  <a:xfrm>
                    <a:off x="6193960" y="2234936"/>
                    <a:ext cx="163388" cy="163388"/>
                  </a:xfrm>
                  <a:prstGeom prst="ellipse">
                    <a:avLst/>
                  </a:prstGeom>
                  <a:solidFill>
                    <a:srgbClr val="61B230">
                      <a:lumMod val="40000"/>
                      <a:lumOff val="60000"/>
                    </a:srgbClr>
                  </a:solidFill>
                  <a:ln w="9525"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700" b="1" i="0" u="none" strike="noStrike" kern="0" cap="none" spc="0" normalizeH="0" baseline="0" noProof="0" dirty="0">
                      <a:ln>
                        <a:noFill/>
                      </a:ln>
                      <a:solidFill>
                        <a:srgbClr val="282828"/>
                      </a:solidFill>
                      <a:effectLst/>
                      <a:uLnTx/>
                      <a:uFillTx/>
                      <a:latin typeface="+mn-ea"/>
                      <a:cs typeface="Huawei Sans" panose="020C0503030203020204" pitchFamily="34" charset="0"/>
                    </a:endParaRPr>
                  </a:p>
                </p:txBody>
              </p:sp>
              <p:sp>
                <p:nvSpPr>
                  <p:cNvPr id="173" name="椭圆 172">
                    <a:extLst>
                      <a:ext uri="{FF2B5EF4-FFF2-40B4-BE49-F238E27FC236}">
                        <a16:creationId xmlns:a16="http://schemas.microsoft.com/office/drawing/2014/main" id="{14D7D0F5-12DA-4F17-A808-C082756679CD}"/>
                      </a:ext>
                    </a:extLst>
                  </p:cNvPr>
                  <p:cNvSpPr/>
                  <p:nvPr/>
                </p:nvSpPr>
                <p:spPr>
                  <a:xfrm>
                    <a:off x="5882753" y="2993585"/>
                    <a:ext cx="163388" cy="163388"/>
                  </a:xfrm>
                  <a:prstGeom prst="ellipse">
                    <a:avLst/>
                  </a:prstGeom>
                  <a:solidFill>
                    <a:srgbClr val="61B230">
                      <a:lumMod val="40000"/>
                      <a:lumOff val="60000"/>
                    </a:srgbClr>
                  </a:solidFill>
                  <a:ln w="9525"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700" b="1" i="0" u="none" strike="noStrike" kern="0" cap="none" spc="0" normalizeH="0" baseline="0" noProof="0" dirty="0">
                      <a:ln>
                        <a:noFill/>
                      </a:ln>
                      <a:solidFill>
                        <a:srgbClr val="282828"/>
                      </a:solidFill>
                      <a:effectLst/>
                      <a:uLnTx/>
                      <a:uFillTx/>
                      <a:latin typeface="+mn-ea"/>
                      <a:cs typeface="Huawei Sans" panose="020C0503030203020204" pitchFamily="34" charset="0"/>
                    </a:endParaRPr>
                  </a:p>
                </p:txBody>
              </p:sp>
              <p:sp>
                <p:nvSpPr>
                  <p:cNvPr id="174" name="椭圆 173">
                    <a:extLst>
                      <a:ext uri="{FF2B5EF4-FFF2-40B4-BE49-F238E27FC236}">
                        <a16:creationId xmlns:a16="http://schemas.microsoft.com/office/drawing/2014/main" id="{D51A1611-C448-4679-AC6F-0684CD9961B7}"/>
                      </a:ext>
                    </a:extLst>
                  </p:cNvPr>
                  <p:cNvSpPr/>
                  <p:nvPr/>
                </p:nvSpPr>
                <p:spPr>
                  <a:xfrm>
                    <a:off x="6642097" y="2669986"/>
                    <a:ext cx="163388" cy="163388"/>
                  </a:xfrm>
                  <a:prstGeom prst="ellipse">
                    <a:avLst/>
                  </a:prstGeom>
                  <a:solidFill>
                    <a:srgbClr val="7F0000">
                      <a:lumMod val="20000"/>
                      <a:lumOff val="80000"/>
                    </a:srgbClr>
                  </a:solidFill>
                  <a:ln w="9525"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700" b="1" i="0" u="none" strike="noStrike" kern="0" cap="none" spc="0" normalizeH="0" baseline="0" noProof="0" dirty="0">
                        <a:ln>
                          <a:noFill/>
                        </a:ln>
                        <a:solidFill>
                          <a:srgbClr val="282828"/>
                        </a:solidFill>
                        <a:effectLst/>
                        <a:uLnTx/>
                        <a:uFillTx/>
                        <a:latin typeface="+mn-ea"/>
                        <a:cs typeface="Huawei Sans" panose="020C0503030203020204" pitchFamily="34" charset="0"/>
                      </a:rPr>
                      <a:t>D</a:t>
                    </a:r>
                    <a:endParaRPr kumimoji="0" lang="zh-CN" altLang="en-US" sz="700" b="1" i="0" u="none" strike="noStrike" kern="0" cap="none" spc="0" normalizeH="0" baseline="0" noProof="0" dirty="0">
                      <a:ln>
                        <a:noFill/>
                      </a:ln>
                      <a:solidFill>
                        <a:srgbClr val="282828"/>
                      </a:solidFill>
                      <a:effectLst/>
                      <a:uLnTx/>
                      <a:uFillTx/>
                      <a:latin typeface="+mn-ea"/>
                      <a:cs typeface="Huawei Sans" panose="020C0503030203020204" pitchFamily="34" charset="0"/>
                    </a:endParaRPr>
                  </a:p>
                </p:txBody>
              </p:sp>
              <p:sp>
                <p:nvSpPr>
                  <p:cNvPr id="175" name="椭圆 174">
                    <a:extLst>
                      <a:ext uri="{FF2B5EF4-FFF2-40B4-BE49-F238E27FC236}">
                        <a16:creationId xmlns:a16="http://schemas.microsoft.com/office/drawing/2014/main" id="{D9313AF8-A494-4FC6-8C4F-2BFD362F1582}"/>
                      </a:ext>
                    </a:extLst>
                  </p:cNvPr>
                  <p:cNvSpPr/>
                  <p:nvPr/>
                </p:nvSpPr>
                <p:spPr>
                  <a:xfrm>
                    <a:off x="6193960" y="3128306"/>
                    <a:ext cx="163388" cy="163388"/>
                  </a:xfrm>
                  <a:prstGeom prst="ellipse">
                    <a:avLst/>
                  </a:prstGeom>
                  <a:solidFill>
                    <a:srgbClr val="61B230">
                      <a:lumMod val="40000"/>
                      <a:lumOff val="60000"/>
                    </a:srgbClr>
                  </a:solidFill>
                  <a:ln w="9525"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700" b="1" i="0" u="none" strike="noStrike" kern="0" cap="none" spc="0" normalizeH="0" baseline="0" noProof="0" dirty="0">
                      <a:ln>
                        <a:noFill/>
                      </a:ln>
                      <a:solidFill>
                        <a:srgbClr val="282828"/>
                      </a:solidFill>
                      <a:effectLst/>
                      <a:uLnTx/>
                      <a:uFillTx/>
                      <a:latin typeface="+mn-ea"/>
                      <a:cs typeface="Huawei Sans" panose="020C0503030203020204" pitchFamily="34" charset="0"/>
                    </a:endParaRPr>
                  </a:p>
                </p:txBody>
              </p:sp>
              <p:sp>
                <p:nvSpPr>
                  <p:cNvPr id="176" name="椭圆 175">
                    <a:extLst>
                      <a:ext uri="{FF2B5EF4-FFF2-40B4-BE49-F238E27FC236}">
                        <a16:creationId xmlns:a16="http://schemas.microsoft.com/office/drawing/2014/main" id="{470A5605-154B-439E-A9D0-B0F1DFACA678}"/>
                      </a:ext>
                    </a:extLst>
                  </p:cNvPr>
                  <p:cNvSpPr/>
                  <p:nvPr/>
                </p:nvSpPr>
                <p:spPr>
                  <a:xfrm>
                    <a:off x="6520329" y="2999954"/>
                    <a:ext cx="163388" cy="163388"/>
                  </a:xfrm>
                  <a:prstGeom prst="ellipse">
                    <a:avLst/>
                  </a:prstGeom>
                  <a:solidFill>
                    <a:srgbClr val="61B230">
                      <a:lumMod val="40000"/>
                      <a:lumOff val="60000"/>
                    </a:srgbClr>
                  </a:solidFill>
                  <a:ln w="9525"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700" b="1" i="0" u="none" strike="noStrike" kern="0" cap="none" spc="0" normalizeH="0" baseline="0" noProof="0" dirty="0">
                      <a:ln>
                        <a:noFill/>
                      </a:ln>
                      <a:solidFill>
                        <a:srgbClr val="282828"/>
                      </a:solidFill>
                      <a:effectLst/>
                      <a:uLnTx/>
                      <a:uFillTx/>
                      <a:latin typeface="+mn-ea"/>
                      <a:cs typeface="Huawei Sans" panose="020C0503030203020204" pitchFamily="34" charset="0"/>
                    </a:endParaRPr>
                  </a:p>
                </p:txBody>
              </p:sp>
              <p:sp>
                <p:nvSpPr>
                  <p:cNvPr id="177" name="椭圆 176">
                    <a:extLst>
                      <a:ext uri="{FF2B5EF4-FFF2-40B4-BE49-F238E27FC236}">
                        <a16:creationId xmlns:a16="http://schemas.microsoft.com/office/drawing/2014/main" id="{90762CFD-D9C2-4C45-8469-06D38A1DF746}"/>
                      </a:ext>
                    </a:extLst>
                  </p:cNvPr>
                  <p:cNvSpPr/>
                  <p:nvPr/>
                </p:nvSpPr>
                <p:spPr>
                  <a:xfrm>
                    <a:off x="6510841" y="2366192"/>
                    <a:ext cx="163388" cy="163388"/>
                  </a:xfrm>
                  <a:prstGeom prst="ellipse">
                    <a:avLst/>
                  </a:prstGeom>
                  <a:solidFill>
                    <a:srgbClr val="61B230">
                      <a:lumMod val="40000"/>
                      <a:lumOff val="60000"/>
                    </a:srgbClr>
                  </a:solidFill>
                  <a:ln w="9525"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700" b="1" i="0" u="none" strike="noStrike" kern="0" cap="none" spc="0" normalizeH="0" baseline="0" noProof="0" dirty="0">
                      <a:ln>
                        <a:noFill/>
                      </a:ln>
                      <a:solidFill>
                        <a:srgbClr val="282828"/>
                      </a:solidFill>
                      <a:effectLst/>
                      <a:uLnTx/>
                      <a:uFillTx/>
                      <a:latin typeface="+mn-ea"/>
                      <a:cs typeface="Huawei Sans" panose="020C0503030203020204" pitchFamily="34" charset="0"/>
                    </a:endParaRPr>
                  </a:p>
                </p:txBody>
              </p:sp>
              <p:sp>
                <p:nvSpPr>
                  <p:cNvPr id="178" name="椭圆 177">
                    <a:extLst>
                      <a:ext uri="{FF2B5EF4-FFF2-40B4-BE49-F238E27FC236}">
                        <a16:creationId xmlns:a16="http://schemas.microsoft.com/office/drawing/2014/main" id="{E57966A5-FFB6-4475-A87D-C25202F7D039}"/>
                      </a:ext>
                    </a:extLst>
                  </p:cNvPr>
                  <p:cNvSpPr/>
                  <p:nvPr/>
                </p:nvSpPr>
                <p:spPr>
                  <a:xfrm>
                    <a:off x="5745823" y="2680346"/>
                    <a:ext cx="163388" cy="163388"/>
                  </a:xfrm>
                  <a:prstGeom prst="ellipse">
                    <a:avLst/>
                  </a:prstGeom>
                  <a:solidFill>
                    <a:srgbClr val="61B230">
                      <a:lumMod val="40000"/>
                      <a:lumOff val="60000"/>
                    </a:srgbClr>
                  </a:solidFill>
                  <a:ln w="9525"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700" b="1" i="0" u="none" strike="noStrike" kern="0" cap="none" spc="0" normalizeH="0" baseline="0" noProof="0" dirty="0">
                      <a:ln>
                        <a:noFill/>
                      </a:ln>
                      <a:solidFill>
                        <a:srgbClr val="282828"/>
                      </a:solidFill>
                      <a:effectLst/>
                      <a:uLnTx/>
                      <a:uFillTx/>
                      <a:latin typeface="+mn-ea"/>
                      <a:cs typeface="Huawei Sans" panose="020C0503030203020204" pitchFamily="34" charset="0"/>
                    </a:endParaRPr>
                  </a:p>
                </p:txBody>
              </p:sp>
            </p:grpSp>
          </p:grpSp>
          <p:cxnSp>
            <p:nvCxnSpPr>
              <p:cNvPr id="100" name="直接箭头连接符 99">
                <a:extLst>
                  <a:ext uri="{FF2B5EF4-FFF2-40B4-BE49-F238E27FC236}">
                    <a16:creationId xmlns:a16="http://schemas.microsoft.com/office/drawing/2014/main" id="{3AC80660-2DC8-4895-BBD2-8B7FD6E7F845}"/>
                  </a:ext>
                </a:extLst>
              </p:cNvPr>
              <p:cNvCxnSpPr>
                <a:stCxn id="171" idx="5"/>
                <a:endCxn id="174" idx="2"/>
              </p:cNvCxnSpPr>
              <p:nvPr/>
            </p:nvCxnSpPr>
            <p:spPr>
              <a:xfrm>
                <a:off x="2891747" y="2590532"/>
                <a:ext cx="1470379" cy="588344"/>
              </a:xfrm>
              <a:prstGeom prst="straightConnector1">
                <a:avLst/>
              </a:prstGeom>
              <a:noFill/>
              <a:ln w="9525" cap="flat" cmpd="sng" algn="ctr">
                <a:solidFill>
                  <a:srgbClr val="E9002F"/>
                </a:solidFill>
                <a:prstDash val="solid"/>
                <a:miter lim="800000"/>
                <a:tailEnd type="triangle"/>
              </a:ln>
              <a:effectLst/>
            </p:spPr>
          </p:cxnSp>
        </p:grpSp>
        <p:cxnSp>
          <p:nvCxnSpPr>
            <p:cNvPr id="92" name="直接箭头连接符 91">
              <a:extLst>
                <a:ext uri="{FF2B5EF4-FFF2-40B4-BE49-F238E27FC236}">
                  <a16:creationId xmlns:a16="http://schemas.microsoft.com/office/drawing/2014/main" id="{6DC1DCED-D215-4A73-8CE1-5E4201F86687}"/>
                </a:ext>
              </a:extLst>
            </p:cNvPr>
            <p:cNvCxnSpPr>
              <a:cxnSpLocks/>
              <a:stCxn id="171" idx="5"/>
              <a:endCxn id="173" idx="7"/>
            </p:cNvCxnSpPr>
            <p:nvPr/>
          </p:nvCxnSpPr>
          <p:spPr>
            <a:xfrm>
              <a:off x="1569457" y="5002443"/>
              <a:ext cx="4343" cy="391294"/>
            </a:xfrm>
            <a:prstGeom prst="straightConnector1">
              <a:avLst/>
            </a:prstGeom>
            <a:noFill/>
            <a:ln w="12700" cap="flat" cmpd="sng" algn="ctr">
              <a:solidFill>
                <a:srgbClr val="7030A0"/>
              </a:solidFill>
              <a:prstDash val="solid"/>
              <a:miter lim="800000"/>
              <a:tailEnd type="none" w="sm" len="sm"/>
            </a:ln>
            <a:effectLst/>
          </p:spPr>
        </p:cxnSp>
        <p:cxnSp>
          <p:nvCxnSpPr>
            <p:cNvPr id="93" name="直接箭头连接符 92">
              <a:extLst>
                <a:ext uri="{FF2B5EF4-FFF2-40B4-BE49-F238E27FC236}">
                  <a16:creationId xmlns:a16="http://schemas.microsoft.com/office/drawing/2014/main" id="{774B4040-96AD-4FE8-9F6A-384F1F03B673}"/>
                </a:ext>
              </a:extLst>
            </p:cNvPr>
            <p:cNvCxnSpPr>
              <a:cxnSpLocks/>
              <a:stCxn id="173" idx="7"/>
              <a:endCxn id="174" idx="2"/>
            </p:cNvCxnSpPr>
            <p:nvPr/>
          </p:nvCxnSpPr>
          <p:spPr>
            <a:xfrm flipV="1">
              <a:off x="1573800" y="5192204"/>
              <a:ext cx="474526" cy="201534"/>
            </a:xfrm>
            <a:prstGeom prst="straightConnector1">
              <a:avLst/>
            </a:prstGeom>
            <a:noFill/>
            <a:ln w="12700" cap="flat" cmpd="sng" algn="ctr">
              <a:solidFill>
                <a:srgbClr val="7030A0"/>
              </a:solidFill>
              <a:prstDash val="solid"/>
              <a:miter lim="800000"/>
              <a:tailEnd type="triangle"/>
            </a:ln>
            <a:effectLst/>
          </p:spPr>
        </p:cxnSp>
        <p:cxnSp>
          <p:nvCxnSpPr>
            <p:cNvPr id="94" name="直接箭头连接符 93">
              <a:extLst>
                <a:ext uri="{FF2B5EF4-FFF2-40B4-BE49-F238E27FC236}">
                  <a16:creationId xmlns:a16="http://schemas.microsoft.com/office/drawing/2014/main" id="{51E6D2BB-270A-4E0E-96C4-0A6917EA5E55}"/>
                </a:ext>
              </a:extLst>
            </p:cNvPr>
            <p:cNvCxnSpPr>
              <a:cxnSpLocks/>
              <a:stCxn id="175" idx="0"/>
              <a:endCxn id="174" idx="2"/>
            </p:cNvCxnSpPr>
            <p:nvPr/>
          </p:nvCxnSpPr>
          <p:spPr>
            <a:xfrm flipV="1">
              <a:off x="1767811" y="5192204"/>
              <a:ext cx="280515" cy="285528"/>
            </a:xfrm>
            <a:prstGeom prst="straightConnector1">
              <a:avLst/>
            </a:prstGeom>
            <a:noFill/>
            <a:ln w="12700" cap="flat" cmpd="sng" algn="ctr">
              <a:solidFill>
                <a:srgbClr val="00B0F0"/>
              </a:solidFill>
              <a:prstDash val="solid"/>
              <a:miter lim="800000"/>
              <a:tailEnd type="triangle"/>
            </a:ln>
            <a:effectLst/>
          </p:spPr>
        </p:cxnSp>
        <p:cxnSp>
          <p:nvCxnSpPr>
            <p:cNvPr id="95" name="直接箭头连接符 94">
              <a:extLst>
                <a:ext uri="{FF2B5EF4-FFF2-40B4-BE49-F238E27FC236}">
                  <a16:creationId xmlns:a16="http://schemas.microsoft.com/office/drawing/2014/main" id="{0CC2D181-AD5D-42F4-8A64-DDF0DABD3F1D}"/>
                </a:ext>
              </a:extLst>
            </p:cNvPr>
            <p:cNvCxnSpPr>
              <a:cxnSpLocks/>
              <a:stCxn id="172" idx="4"/>
              <a:endCxn id="174" idx="2"/>
            </p:cNvCxnSpPr>
            <p:nvPr/>
          </p:nvCxnSpPr>
          <p:spPr>
            <a:xfrm>
              <a:off x="1767811" y="4924318"/>
              <a:ext cx="280515" cy="267886"/>
            </a:xfrm>
            <a:prstGeom prst="straightConnector1">
              <a:avLst/>
            </a:prstGeom>
            <a:noFill/>
            <a:ln w="12700" cap="flat" cmpd="sng" algn="ctr">
              <a:solidFill>
                <a:srgbClr val="61B230"/>
              </a:solidFill>
              <a:prstDash val="solid"/>
              <a:miter lim="800000"/>
              <a:tailEnd type="triangle"/>
            </a:ln>
            <a:effectLst/>
          </p:spPr>
        </p:cxnSp>
        <p:cxnSp>
          <p:nvCxnSpPr>
            <p:cNvPr id="96" name="直接箭头连接符 95">
              <a:extLst>
                <a:ext uri="{FF2B5EF4-FFF2-40B4-BE49-F238E27FC236}">
                  <a16:creationId xmlns:a16="http://schemas.microsoft.com/office/drawing/2014/main" id="{BA771DA7-4E56-4AE6-96AE-C6237B225443}"/>
                </a:ext>
              </a:extLst>
            </p:cNvPr>
            <p:cNvCxnSpPr>
              <a:cxnSpLocks/>
              <a:stCxn id="171" idx="5"/>
              <a:endCxn id="172" idx="4"/>
            </p:cNvCxnSpPr>
            <p:nvPr/>
          </p:nvCxnSpPr>
          <p:spPr>
            <a:xfrm flipV="1">
              <a:off x="1569457" y="4924318"/>
              <a:ext cx="198355" cy="78126"/>
            </a:xfrm>
            <a:prstGeom prst="straightConnector1">
              <a:avLst/>
            </a:prstGeom>
            <a:noFill/>
            <a:ln w="12700" cap="flat" cmpd="sng" algn="ctr">
              <a:solidFill>
                <a:srgbClr val="61B230"/>
              </a:solidFill>
              <a:prstDash val="solid"/>
              <a:miter lim="800000"/>
              <a:tailEnd type="none" w="sm" len="sm"/>
            </a:ln>
            <a:effectLst/>
          </p:spPr>
        </p:cxnSp>
        <p:cxnSp>
          <p:nvCxnSpPr>
            <p:cNvPr id="97" name="直接箭头连接符 96">
              <a:extLst>
                <a:ext uri="{FF2B5EF4-FFF2-40B4-BE49-F238E27FC236}">
                  <a16:creationId xmlns:a16="http://schemas.microsoft.com/office/drawing/2014/main" id="{1869E59F-2C3D-48B2-8D23-C1D7398B6A19}"/>
                </a:ext>
              </a:extLst>
            </p:cNvPr>
            <p:cNvCxnSpPr>
              <a:cxnSpLocks/>
              <a:stCxn id="171" idx="5"/>
              <a:endCxn id="175" idx="0"/>
            </p:cNvCxnSpPr>
            <p:nvPr/>
          </p:nvCxnSpPr>
          <p:spPr>
            <a:xfrm>
              <a:off x="1569457" y="5002443"/>
              <a:ext cx="198355" cy="475288"/>
            </a:xfrm>
            <a:prstGeom prst="straightConnector1">
              <a:avLst/>
            </a:prstGeom>
            <a:noFill/>
            <a:ln w="12700" cap="flat" cmpd="sng" algn="ctr">
              <a:solidFill>
                <a:srgbClr val="00B0F0"/>
              </a:solidFill>
              <a:prstDash val="solid"/>
              <a:miter lim="800000"/>
              <a:tailEnd type="none" w="sm" len="sm"/>
            </a:ln>
            <a:effectLst/>
          </p:spPr>
        </p:cxnSp>
        <p:sp>
          <p:nvSpPr>
            <p:cNvPr id="98" name="箭头: 右 97">
              <a:extLst>
                <a:ext uri="{FF2B5EF4-FFF2-40B4-BE49-F238E27FC236}">
                  <a16:creationId xmlns:a16="http://schemas.microsoft.com/office/drawing/2014/main" id="{DFBAE8D1-B843-44EE-894D-2706605DE863}"/>
                </a:ext>
              </a:extLst>
            </p:cNvPr>
            <p:cNvSpPr/>
            <p:nvPr/>
          </p:nvSpPr>
          <p:spPr>
            <a:xfrm>
              <a:off x="1160346" y="5058514"/>
              <a:ext cx="187848" cy="297511"/>
            </a:xfrm>
            <a:prstGeom prst="rightArrow">
              <a:avLst>
                <a:gd name="adj1" fmla="val 50000"/>
                <a:gd name="adj2" fmla="val 70282"/>
              </a:avLst>
            </a:prstGeom>
            <a:solidFill>
              <a:srgbClr val="E9002F">
                <a:lumMod val="20000"/>
                <a:lumOff val="8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700" b="1" i="0" u="none" strike="noStrike" kern="0" cap="none" spc="0" normalizeH="0" baseline="0" noProof="0" dirty="0">
                <a:ln>
                  <a:noFill/>
                </a:ln>
                <a:solidFill>
                  <a:srgbClr val="282828"/>
                </a:solidFill>
                <a:effectLst/>
                <a:uLnTx/>
                <a:uFillTx/>
                <a:latin typeface="+mn-ea"/>
                <a:cs typeface="Huawei Sans" panose="020C0503030203020204" pitchFamily="34" charset="0"/>
              </a:endParaRPr>
            </a:p>
          </p:txBody>
        </p:sp>
      </p:grpSp>
      <p:sp>
        <p:nvSpPr>
          <p:cNvPr id="247" name="矩形: 圆角 246">
            <a:extLst>
              <a:ext uri="{FF2B5EF4-FFF2-40B4-BE49-F238E27FC236}">
                <a16:creationId xmlns:a16="http://schemas.microsoft.com/office/drawing/2014/main" id="{12B3AC11-6928-42D6-B61A-B7467B14C16D}"/>
              </a:ext>
            </a:extLst>
          </p:cNvPr>
          <p:cNvSpPr/>
          <p:nvPr/>
        </p:nvSpPr>
        <p:spPr>
          <a:xfrm>
            <a:off x="719966" y="5476910"/>
            <a:ext cx="3420654" cy="642818"/>
          </a:xfrm>
          <a:prstGeom prst="roundRect">
            <a:avLst/>
          </a:prstGeom>
          <a:solidFill>
            <a:srgbClr val="A6CAEC"/>
          </a:solidFill>
          <a:effectLst>
            <a:outerShdw blurRad="50800" dist="38100" dir="5400000" algn="t" rotWithShape="0">
              <a:prstClr val="black">
                <a:alpha val="40000"/>
              </a:prstClr>
            </a:outerShdw>
          </a:effectLst>
        </p:spPr>
        <p:txBody>
          <a:bodyPr wrap="square" anchor="ctr">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100" b="0" i="0" u="none" strike="noStrike" kern="1200" cap="none" spc="0" normalizeH="0" baseline="0" noProof="0" dirty="0">
                <a:ln>
                  <a:noFill/>
                </a:ln>
                <a:solidFill>
                  <a:srgbClr val="1D1D1A"/>
                </a:solidFill>
                <a:effectLst/>
                <a:uLnTx/>
                <a:uFillTx/>
                <a:latin typeface="+mn-ea"/>
                <a:cs typeface="Huawei Sans" panose="020C0503030203020204" pitchFamily="34" charset="0"/>
              </a:rPr>
              <a:t>Supports extensive routing strategies and enables user-defined mechanisms tailored to specific topology.</a:t>
            </a:r>
            <a:endParaRPr kumimoji="1" lang="zh-CN" altLang="en-US" sz="1100" b="0" i="0" u="none" strike="noStrike" kern="1200" cap="none" spc="0" normalizeH="0" baseline="0" noProof="0" dirty="0">
              <a:ln>
                <a:noFill/>
              </a:ln>
              <a:solidFill>
                <a:srgbClr val="1D1D1A"/>
              </a:solidFill>
              <a:effectLst/>
              <a:uLnTx/>
              <a:uFillTx/>
              <a:latin typeface="+mn-ea"/>
              <a:cs typeface="Huawei Sans" panose="020C0503030203020204" pitchFamily="34" charset="0"/>
            </a:endParaRPr>
          </a:p>
        </p:txBody>
      </p:sp>
      <p:sp>
        <p:nvSpPr>
          <p:cNvPr id="248" name="矩形 247">
            <a:extLst>
              <a:ext uri="{FF2B5EF4-FFF2-40B4-BE49-F238E27FC236}">
                <a16:creationId xmlns:a16="http://schemas.microsoft.com/office/drawing/2014/main" id="{0E921A2B-9B96-47AF-9EF0-3730AE982FB0}"/>
              </a:ext>
            </a:extLst>
          </p:cNvPr>
          <p:cNvSpPr/>
          <p:nvPr/>
        </p:nvSpPr>
        <p:spPr>
          <a:xfrm>
            <a:off x="4382983" y="1974918"/>
            <a:ext cx="3601474" cy="1200329"/>
          </a:xfrm>
          <a:prstGeom prst="rect">
            <a:avLst/>
          </a:prstGeom>
        </p:spPr>
        <p:txBody>
          <a:bodyPr wrap="square">
            <a:spAutoFit/>
          </a:bodyPr>
          <a:lstStyle/>
          <a:p>
            <a:pPr marL="171450" marR="0" lvl="0" indent="-171450" algn="l" defTabSz="914478"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1" lang="en-US" altLang="zh-CN" sz="1200" b="0" i="0" u="none" strike="noStrike" kern="1200" cap="none" spc="0" normalizeH="0" baseline="0" noProof="0" dirty="0">
                <a:ln>
                  <a:noFill/>
                </a:ln>
                <a:solidFill>
                  <a:srgbClr val="282828">
                    <a:lumMod val="95000"/>
                  </a:srgbClr>
                </a:solidFill>
                <a:effectLst/>
                <a:uLnTx/>
                <a:uFillTx/>
                <a:latin typeface="+mn-ea"/>
                <a:cs typeface="Huawei Sans" panose="020C0503030203020204" pitchFamily="34" charset="0"/>
              </a:rPr>
              <a:t>Generates standard algorithms and injects traffic in arbitrary serial/parallel patterns.</a:t>
            </a:r>
          </a:p>
          <a:p>
            <a:pPr marL="171450" marR="0" lvl="0" indent="-171450" algn="l" defTabSz="914478"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1" lang="en-US" altLang="zh-CN" sz="1200" b="0" i="0" u="none" strike="noStrike" kern="1200" cap="none" spc="0" normalizeH="0" baseline="0" noProof="0" dirty="0">
              <a:ln>
                <a:noFill/>
              </a:ln>
              <a:solidFill>
                <a:srgbClr val="282828">
                  <a:lumMod val="95000"/>
                </a:srgbClr>
              </a:solidFill>
              <a:effectLst/>
              <a:uLnTx/>
              <a:uFillTx/>
              <a:latin typeface="+mn-ea"/>
              <a:cs typeface="Huawei Sans" panose="020C0503030203020204" pitchFamily="34" charset="0"/>
            </a:endParaRPr>
          </a:p>
          <a:p>
            <a:pPr marL="171450" marR="0" lvl="0" indent="-171450" algn="l" defTabSz="914478"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1" lang="en-US" altLang="zh-CN" sz="1200" b="0" i="0" u="none" strike="noStrike" kern="1200" cap="none" spc="0" normalizeH="0" baseline="0" noProof="0" dirty="0">
                <a:ln>
                  <a:noFill/>
                </a:ln>
                <a:solidFill>
                  <a:srgbClr val="282828">
                    <a:lumMod val="95000"/>
                  </a:srgbClr>
                </a:solidFill>
                <a:effectLst/>
                <a:uLnTx/>
                <a:uFillTx/>
                <a:latin typeface="+mn-ea"/>
                <a:cs typeface="Huawei Sans" panose="020C0503030203020204" pitchFamily="34" charset="0"/>
              </a:rPr>
              <a:t>Allows users to design and simulate custom algorithms based on specific topology and traffic needs.</a:t>
            </a:r>
            <a:endParaRPr kumimoji="1" lang="zh-CN" altLang="en-US" sz="1200" b="0" i="0" u="none" strike="noStrike" kern="1200" cap="none" spc="0" normalizeH="0" baseline="0" noProof="0" dirty="0">
              <a:ln>
                <a:noFill/>
              </a:ln>
              <a:solidFill>
                <a:srgbClr val="282828">
                  <a:lumMod val="95000"/>
                </a:srgbClr>
              </a:solidFill>
              <a:effectLst/>
              <a:uLnTx/>
              <a:uFillTx/>
              <a:latin typeface="+mn-ea"/>
              <a:cs typeface="Huawei Sans" panose="020C0503030203020204" pitchFamily="34" charset="0"/>
            </a:endParaRPr>
          </a:p>
        </p:txBody>
      </p:sp>
      <p:pic>
        <p:nvPicPr>
          <p:cNvPr id="250" name="图片 249">
            <a:extLst>
              <a:ext uri="{FF2B5EF4-FFF2-40B4-BE49-F238E27FC236}">
                <a16:creationId xmlns:a16="http://schemas.microsoft.com/office/drawing/2014/main" id="{3D7031AC-D39A-4B26-8E33-E0D79521710A}"/>
              </a:ext>
            </a:extLst>
          </p:cNvPr>
          <p:cNvPicPr>
            <a:picLocks noChangeAspect="1"/>
          </p:cNvPicPr>
          <p:nvPr/>
        </p:nvPicPr>
        <p:blipFill rotWithShape="1">
          <a:blip r:embed="rId3">
            <a:clrChange>
              <a:clrFrom>
                <a:srgbClr val="FFFFFF"/>
              </a:clrFrom>
              <a:clrTo>
                <a:srgbClr val="FFFFFF">
                  <a:alpha val="0"/>
                </a:srgbClr>
              </a:clrTo>
            </a:clrChange>
          </a:blip>
          <a:srcRect b="61748"/>
          <a:stretch/>
        </p:blipFill>
        <p:spPr>
          <a:xfrm>
            <a:off x="4490510" y="3317588"/>
            <a:ext cx="3405876" cy="642819"/>
          </a:xfrm>
          <a:prstGeom prst="rect">
            <a:avLst/>
          </a:prstGeom>
        </p:spPr>
      </p:pic>
      <p:sp>
        <p:nvSpPr>
          <p:cNvPr id="251" name="矩形 250">
            <a:extLst>
              <a:ext uri="{FF2B5EF4-FFF2-40B4-BE49-F238E27FC236}">
                <a16:creationId xmlns:a16="http://schemas.microsoft.com/office/drawing/2014/main" id="{B38432E7-603D-48F5-A9DE-66BC882FE4AC}"/>
              </a:ext>
            </a:extLst>
          </p:cNvPr>
          <p:cNvSpPr/>
          <p:nvPr/>
        </p:nvSpPr>
        <p:spPr>
          <a:xfrm>
            <a:off x="4904113" y="3940773"/>
            <a:ext cx="2490713" cy="261610"/>
          </a:xfrm>
          <a:prstGeom prst="rect">
            <a:avLst/>
          </a:prstGeom>
        </p:spPr>
        <p:txBody>
          <a:bodyPr wrap="square">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100" b="0" i="1" u="none" strike="noStrike" kern="1200" cap="none" spc="0" normalizeH="0" baseline="0" noProof="0" dirty="0">
                <a:ln>
                  <a:noFill/>
                </a:ln>
                <a:solidFill>
                  <a:srgbClr val="282828"/>
                </a:solidFill>
                <a:effectLst/>
                <a:uLnTx/>
                <a:uFillTx/>
                <a:latin typeface="+mn-ea"/>
                <a:cs typeface="Huawei Sans" panose="020C0503030203020204" pitchFamily="34" charset="0"/>
              </a:rPr>
              <a:t>UB-Mesh</a:t>
            </a:r>
            <a:r>
              <a:rPr kumimoji="1" lang="en-US" altLang="zh-CN" sz="1100" b="0" i="0" u="none" strike="noStrike" kern="1200" cap="none" spc="0" normalizeH="0" baseline="0" noProof="0" dirty="0">
                <a:ln>
                  <a:noFill/>
                </a:ln>
                <a:solidFill>
                  <a:srgbClr val="282828"/>
                </a:solidFill>
                <a:effectLst/>
                <a:uLnTx/>
                <a:uFillTx/>
                <a:latin typeface="+mn-ea"/>
                <a:cs typeface="Huawei Sans" panose="020C0503030203020204" pitchFamily="34" charset="0"/>
              </a:rPr>
              <a:t> Multi-Ring </a:t>
            </a:r>
            <a:r>
              <a:rPr kumimoji="1" lang="en-US" altLang="zh-CN" sz="1100" b="0" i="0" u="none" strike="noStrike" kern="1200" cap="none" spc="0" normalizeH="0" baseline="0" noProof="0" dirty="0" err="1">
                <a:ln>
                  <a:noFill/>
                </a:ln>
                <a:solidFill>
                  <a:srgbClr val="282828"/>
                </a:solidFill>
                <a:effectLst/>
                <a:uLnTx/>
                <a:uFillTx/>
                <a:latin typeface="+mn-ea"/>
                <a:cs typeface="Huawei Sans" panose="020C0503030203020204" pitchFamily="34" charset="0"/>
              </a:rPr>
              <a:t>AllReduce</a:t>
            </a:r>
            <a:endParaRPr kumimoji="0" lang="zh-CN" altLang="en-US" sz="1600" b="0" i="0" u="none" strike="noStrike" kern="1200" cap="none" spc="0" normalizeH="0" baseline="0" noProof="0" dirty="0">
              <a:ln>
                <a:noFill/>
              </a:ln>
              <a:solidFill>
                <a:srgbClr val="282828"/>
              </a:solidFill>
              <a:effectLst/>
              <a:uLnTx/>
              <a:uFillTx/>
              <a:latin typeface="+mn-ea"/>
              <a:cs typeface="Huawei Sans" panose="020C0503030203020204" pitchFamily="34" charset="0"/>
            </a:endParaRPr>
          </a:p>
        </p:txBody>
      </p:sp>
      <p:pic>
        <p:nvPicPr>
          <p:cNvPr id="252" name="图片 251">
            <a:extLst>
              <a:ext uri="{FF2B5EF4-FFF2-40B4-BE49-F238E27FC236}">
                <a16:creationId xmlns:a16="http://schemas.microsoft.com/office/drawing/2014/main" id="{25A86A2F-0C30-472A-9B5A-1E1B3AE6809F}"/>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4749130" y="4196767"/>
            <a:ext cx="2851939" cy="803324"/>
          </a:xfrm>
          <a:prstGeom prst="rect">
            <a:avLst/>
          </a:prstGeom>
        </p:spPr>
      </p:pic>
      <p:sp>
        <p:nvSpPr>
          <p:cNvPr id="253" name="矩形 252">
            <a:extLst>
              <a:ext uri="{FF2B5EF4-FFF2-40B4-BE49-F238E27FC236}">
                <a16:creationId xmlns:a16="http://schemas.microsoft.com/office/drawing/2014/main" id="{3BF872B4-4B91-4EE0-8484-A409C2264E3F}"/>
              </a:ext>
            </a:extLst>
          </p:cNvPr>
          <p:cNvSpPr/>
          <p:nvPr/>
        </p:nvSpPr>
        <p:spPr>
          <a:xfrm>
            <a:off x="4482803" y="5032534"/>
            <a:ext cx="3325143" cy="261610"/>
          </a:xfrm>
          <a:prstGeom prst="rect">
            <a:avLst/>
          </a:prstGeom>
        </p:spPr>
        <p:txBody>
          <a:bodyPr wrap="square">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100" b="0" i="1" u="none" strike="noStrike" kern="1200" cap="none" spc="0" normalizeH="0" baseline="0" noProof="0" dirty="0">
                <a:ln>
                  <a:noFill/>
                </a:ln>
                <a:solidFill>
                  <a:srgbClr val="282828"/>
                </a:solidFill>
                <a:effectLst/>
                <a:uLnTx/>
                <a:uFillTx/>
                <a:latin typeface="+mn-ea"/>
                <a:cs typeface="Huawei Sans" panose="020C0503030203020204" pitchFamily="34" charset="0"/>
              </a:rPr>
              <a:t>UB-Mesh </a:t>
            </a:r>
            <a:r>
              <a:rPr kumimoji="1" lang="en-US" altLang="zh-CN" sz="1100" b="0" i="0" u="none" strike="noStrike" kern="1200" cap="none" spc="0" normalizeH="0" baseline="0" noProof="0" dirty="0">
                <a:ln>
                  <a:noFill/>
                </a:ln>
                <a:solidFill>
                  <a:srgbClr val="282828"/>
                </a:solidFill>
                <a:effectLst/>
                <a:uLnTx/>
                <a:uFillTx/>
                <a:latin typeface="+mn-ea"/>
                <a:cs typeface="Huawei Sans" panose="020C0503030203020204" pitchFamily="34" charset="0"/>
              </a:rPr>
              <a:t>Multi-Path and Hierarchical All-to-All</a:t>
            </a:r>
            <a:endParaRPr kumimoji="1" lang="zh-CN" altLang="en-US" sz="1100" b="0" i="0" u="none" strike="noStrike" kern="1200" cap="none" spc="0" normalizeH="0" baseline="0" noProof="0" dirty="0">
              <a:ln>
                <a:noFill/>
              </a:ln>
              <a:solidFill>
                <a:srgbClr val="282828"/>
              </a:solidFill>
              <a:effectLst/>
              <a:uLnTx/>
              <a:uFillTx/>
              <a:latin typeface="+mn-ea"/>
              <a:cs typeface="Huawei Sans" panose="020C0503030203020204" pitchFamily="34" charset="0"/>
            </a:endParaRPr>
          </a:p>
        </p:txBody>
      </p:sp>
      <p:sp>
        <p:nvSpPr>
          <p:cNvPr id="254" name="矩形: 圆角 253">
            <a:extLst>
              <a:ext uri="{FF2B5EF4-FFF2-40B4-BE49-F238E27FC236}">
                <a16:creationId xmlns:a16="http://schemas.microsoft.com/office/drawing/2014/main" id="{D851133E-5E31-43AA-B10C-3BBE938ED11D}"/>
              </a:ext>
            </a:extLst>
          </p:cNvPr>
          <p:cNvSpPr/>
          <p:nvPr/>
        </p:nvSpPr>
        <p:spPr>
          <a:xfrm>
            <a:off x="4490510" y="5476910"/>
            <a:ext cx="3420654" cy="642818"/>
          </a:xfrm>
          <a:prstGeom prst="roundRect">
            <a:avLst/>
          </a:prstGeom>
          <a:solidFill>
            <a:srgbClr val="A6CAEC"/>
          </a:solidFill>
          <a:effectLst>
            <a:outerShdw blurRad="50800" dist="38100" dir="5400000" algn="t" rotWithShape="0">
              <a:prstClr val="black">
                <a:alpha val="40000"/>
              </a:prstClr>
            </a:outerShdw>
          </a:effectLst>
        </p:spPr>
        <p:txBody>
          <a:bodyPr wrap="square" anchor="ctr">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srgbClr val="1D1D1A"/>
                </a:solidFill>
                <a:effectLst/>
                <a:uLnTx/>
                <a:uFillTx/>
                <a:latin typeface="+mn-ea"/>
                <a:cs typeface="Huawei Sans" panose="020C0503030203020204" pitchFamily="34" charset="0"/>
              </a:rPr>
              <a:t>Validates innovative algorithms using tools to generate arbitrary traffic types.</a:t>
            </a:r>
            <a:endParaRPr kumimoji="1" lang="zh-CN" altLang="en-US" sz="1200" b="0" i="0" u="none" strike="noStrike" kern="1200" cap="none" spc="0" normalizeH="0" baseline="0" noProof="0" dirty="0">
              <a:ln>
                <a:noFill/>
              </a:ln>
              <a:solidFill>
                <a:srgbClr val="1D1D1A"/>
              </a:solidFill>
              <a:effectLst/>
              <a:uLnTx/>
              <a:uFillTx/>
              <a:latin typeface="+mn-ea"/>
              <a:cs typeface="Huawei Sans" panose="020C0503030203020204" pitchFamily="34" charset="0"/>
            </a:endParaRPr>
          </a:p>
        </p:txBody>
      </p:sp>
      <p:sp>
        <p:nvSpPr>
          <p:cNvPr id="255" name="矩形 254">
            <a:extLst>
              <a:ext uri="{FF2B5EF4-FFF2-40B4-BE49-F238E27FC236}">
                <a16:creationId xmlns:a16="http://schemas.microsoft.com/office/drawing/2014/main" id="{A450D1CC-42AE-4490-8166-FD1D7142135A}"/>
              </a:ext>
            </a:extLst>
          </p:cNvPr>
          <p:cNvSpPr/>
          <p:nvPr/>
        </p:nvSpPr>
        <p:spPr>
          <a:xfrm>
            <a:off x="8120537" y="1974268"/>
            <a:ext cx="3579981" cy="1200329"/>
          </a:xfrm>
          <a:prstGeom prst="rect">
            <a:avLst/>
          </a:prstGeom>
        </p:spPr>
        <p:txBody>
          <a:bodyPr wrap="square">
            <a:spAutoFit/>
          </a:bodyPr>
          <a:lstStyle/>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1" lang="en-US" altLang="zh-CN" sz="1200" b="0" i="0" u="none" strike="noStrike" kern="1200" cap="none" spc="0" normalizeH="0" baseline="0" noProof="0" dirty="0">
                <a:ln>
                  <a:noFill/>
                </a:ln>
                <a:solidFill>
                  <a:srgbClr val="282828">
                    <a:lumMod val="95000"/>
                  </a:srgbClr>
                </a:solidFill>
                <a:effectLst/>
                <a:uLnTx/>
                <a:uFillTx/>
                <a:latin typeface="+mn-ea"/>
                <a:cs typeface="Huawei Sans" panose="020C0503030203020204" pitchFamily="34" charset="0"/>
              </a:rPr>
              <a:t>Supports CBFC/PFC and Virtual Channels for verifying flow control and deadlock prevention.</a:t>
            </a: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1" lang="en-US" altLang="zh-CN" sz="1200" b="0" i="0" u="none" strike="noStrike" kern="1200" cap="none" spc="0" normalizeH="0" baseline="0" noProof="0" dirty="0">
              <a:ln>
                <a:noFill/>
              </a:ln>
              <a:solidFill>
                <a:srgbClr val="282828">
                  <a:lumMod val="95000"/>
                </a:srgbClr>
              </a:solidFill>
              <a:effectLst/>
              <a:uLnTx/>
              <a:uFillTx/>
              <a:latin typeface="+mn-ea"/>
              <a:cs typeface="Huawei Sans" panose="020C0503030203020204" pitchFamily="34" charset="0"/>
            </a:endParaRP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1" lang="en-US" altLang="zh-CN" sz="1200" b="0" i="0" u="none" strike="noStrike" kern="1200" cap="none" spc="0" normalizeH="0" baseline="0" noProof="0" dirty="0">
                <a:ln>
                  <a:noFill/>
                </a:ln>
                <a:solidFill>
                  <a:srgbClr val="282828">
                    <a:lumMod val="95000"/>
                  </a:srgbClr>
                </a:solidFill>
                <a:effectLst/>
                <a:uLnTx/>
                <a:uFillTx/>
                <a:latin typeface="+mn-ea"/>
                <a:cs typeface="Huawei Sans" panose="020C0503030203020204" pitchFamily="34" charset="0"/>
              </a:rPr>
              <a:t>Enables deadlock reproduction and resolution algorithm design.</a:t>
            </a:r>
            <a:endParaRPr kumimoji="1" lang="zh-CN" altLang="en-US" sz="1200" b="0" i="0" u="none" strike="noStrike" kern="1200" cap="none" spc="0" normalizeH="0" baseline="0" noProof="0" dirty="0">
              <a:ln>
                <a:noFill/>
              </a:ln>
              <a:solidFill>
                <a:srgbClr val="282828">
                  <a:lumMod val="95000"/>
                </a:srgbClr>
              </a:solidFill>
              <a:effectLst/>
              <a:uLnTx/>
              <a:uFillTx/>
              <a:latin typeface="+mn-ea"/>
              <a:cs typeface="Huawei Sans" panose="020C0503030203020204" pitchFamily="34" charset="0"/>
            </a:endParaRPr>
          </a:p>
        </p:txBody>
      </p:sp>
      <p:sp>
        <p:nvSpPr>
          <p:cNvPr id="257" name="矩形: 圆角 256">
            <a:extLst>
              <a:ext uri="{FF2B5EF4-FFF2-40B4-BE49-F238E27FC236}">
                <a16:creationId xmlns:a16="http://schemas.microsoft.com/office/drawing/2014/main" id="{A30E8C05-00D2-4E11-A32A-D3B7112BE021}"/>
              </a:ext>
            </a:extLst>
          </p:cNvPr>
          <p:cNvSpPr/>
          <p:nvPr/>
        </p:nvSpPr>
        <p:spPr>
          <a:xfrm>
            <a:off x="8194243" y="5476910"/>
            <a:ext cx="3420654" cy="642818"/>
          </a:xfrm>
          <a:prstGeom prst="roundRect">
            <a:avLst/>
          </a:prstGeom>
          <a:solidFill>
            <a:srgbClr val="A6CAEC"/>
          </a:solidFill>
          <a:effectLst>
            <a:outerShdw blurRad="50800" dist="38100" dir="5400000" algn="t" rotWithShape="0">
              <a:prstClr val="black">
                <a:alpha val="40000"/>
              </a:prstClr>
            </a:outerShdw>
          </a:effectLst>
        </p:spPr>
        <p:txBody>
          <a:bodyPr wrap="square" anchor="ctr">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srgbClr val="1D1D1A"/>
                </a:solidFill>
                <a:effectLst/>
                <a:uLnTx/>
                <a:uFillTx/>
                <a:latin typeface="+mn-ea"/>
                <a:cs typeface="Huawei Sans" panose="020C0503030203020204" pitchFamily="34" charset="0"/>
              </a:rPr>
              <a:t>Reproduces deadlocks and analyzes root causes via logs; resolves issues using Virtual Channels.</a:t>
            </a:r>
            <a:endParaRPr kumimoji="1" lang="zh-CN" altLang="en-US" sz="1200" b="0" i="0" u="none" strike="noStrike" kern="1200" cap="none" spc="0" normalizeH="0" baseline="0" noProof="0" dirty="0">
              <a:ln>
                <a:noFill/>
              </a:ln>
              <a:solidFill>
                <a:srgbClr val="1D1D1A"/>
              </a:solidFill>
              <a:effectLst/>
              <a:uLnTx/>
              <a:uFillTx/>
              <a:latin typeface="+mn-ea"/>
              <a:cs typeface="Huawei Sans" panose="020C0503030203020204" pitchFamily="34" charset="0"/>
            </a:endParaRPr>
          </a:p>
        </p:txBody>
      </p:sp>
      <p:grpSp>
        <p:nvGrpSpPr>
          <p:cNvPr id="258" name="组合 257">
            <a:extLst>
              <a:ext uri="{FF2B5EF4-FFF2-40B4-BE49-F238E27FC236}">
                <a16:creationId xmlns:a16="http://schemas.microsoft.com/office/drawing/2014/main" id="{9044F906-CB23-4884-83F5-4745991C6361}"/>
              </a:ext>
            </a:extLst>
          </p:cNvPr>
          <p:cNvGrpSpPr/>
          <p:nvPr/>
        </p:nvGrpSpPr>
        <p:grpSpPr>
          <a:xfrm>
            <a:off x="8326858" y="3250121"/>
            <a:ext cx="3041270" cy="2015610"/>
            <a:chOff x="8522173" y="3653109"/>
            <a:chExt cx="2636073" cy="1727317"/>
          </a:xfrm>
        </p:grpSpPr>
        <p:grpSp>
          <p:nvGrpSpPr>
            <p:cNvPr id="259" name="组合 258">
              <a:extLst>
                <a:ext uri="{FF2B5EF4-FFF2-40B4-BE49-F238E27FC236}">
                  <a16:creationId xmlns:a16="http://schemas.microsoft.com/office/drawing/2014/main" id="{9DD633C6-DD0E-4489-977B-A0C31826424C}"/>
                </a:ext>
              </a:extLst>
            </p:cNvPr>
            <p:cNvGrpSpPr/>
            <p:nvPr/>
          </p:nvGrpSpPr>
          <p:grpSpPr>
            <a:xfrm>
              <a:off x="8522173" y="3653109"/>
              <a:ext cx="2636073" cy="1727317"/>
              <a:chOff x="8522173" y="3653109"/>
              <a:chExt cx="2636073" cy="1727317"/>
            </a:xfrm>
          </p:grpSpPr>
          <p:sp>
            <p:nvSpPr>
              <p:cNvPr id="263" name="矩形 262">
                <a:extLst>
                  <a:ext uri="{FF2B5EF4-FFF2-40B4-BE49-F238E27FC236}">
                    <a16:creationId xmlns:a16="http://schemas.microsoft.com/office/drawing/2014/main" id="{CE3EFE30-A203-4B4A-BFCF-20A749A71ACB}"/>
                  </a:ext>
                </a:extLst>
              </p:cNvPr>
              <p:cNvSpPr/>
              <p:nvPr/>
            </p:nvSpPr>
            <p:spPr>
              <a:xfrm>
                <a:off x="8721545" y="3740916"/>
                <a:ext cx="2393668" cy="453960"/>
              </a:xfrm>
              <a:prstGeom prst="rect">
                <a:avLst/>
              </a:prstGeom>
              <a:solidFill>
                <a:srgbClr val="61B230">
                  <a:lumMod val="20000"/>
                  <a:lumOff val="80000"/>
                  <a:alpha val="89000"/>
                </a:srgbClr>
              </a:solidFill>
              <a:ln w="28575" cap="flat" cmpd="sng" algn="ctr">
                <a:noFill/>
                <a:prstDash val="solid"/>
                <a:miter lim="800000"/>
                <a:headEnd type="none" w="med" len="med"/>
                <a:tailEnd type="arrow"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666666"/>
                  </a:solidFill>
                  <a:effectLst/>
                  <a:uLnTx/>
                  <a:uFillTx/>
                  <a:latin typeface="+mn-ea"/>
                  <a:cs typeface="Huawei Sans" panose="020C0503030203020204" pitchFamily="34" charset="0"/>
                </a:endParaRPr>
              </a:p>
            </p:txBody>
          </p:sp>
          <p:sp>
            <p:nvSpPr>
              <p:cNvPr id="264" name="矩形 263">
                <a:extLst>
                  <a:ext uri="{FF2B5EF4-FFF2-40B4-BE49-F238E27FC236}">
                    <a16:creationId xmlns:a16="http://schemas.microsoft.com/office/drawing/2014/main" id="{6435FE9B-22A3-4698-BD68-87FDF0691164}"/>
                  </a:ext>
                </a:extLst>
              </p:cNvPr>
              <p:cNvSpPr/>
              <p:nvPr/>
            </p:nvSpPr>
            <p:spPr>
              <a:xfrm>
                <a:off x="8721545" y="3740916"/>
                <a:ext cx="554323" cy="1639510"/>
              </a:xfrm>
              <a:prstGeom prst="rect">
                <a:avLst/>
              </a:prstGeom>
              <a:solidFill>
                <a:srgbClr val="30B5C5">
                  <a:lumMod val="20000"/>
                  <a:lumOff val="80000"/>
                  <a:alpha val="84000"/>
                </a:srgbClr>
              </a:solidFill>
              <a:ln w="28575" cap="flat" cmpd="sng" algn="ctr">
                <a:noFill/>
                <a:prstDash val="solid"/>
                <a:miter lim="800000"/>
                <a:headEnd type="none" w="med" len="med"/>
                <a:tailEnd type="arrow"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666666"/>
                  </a:solidFill>
                  <a:effectLst/>
                  <a:uLnTx/>
                  <a:uFillTx/>
                  <a:latin typeface="+mn-ea"/>
                  <a:cs typeface="Huawei Sans" panose="020C0503030203020204" pitchFamily="34" charset="0"/>
                </a:endParaRPr>
              </a:p>
            </p:txBody>
          </p:sp>
          <p:sp>
            <p:nvSpPr>
              <p:cNvPr id="265" name="矩形 264">
                <a:extLst>
                  <a:ext uri="{FF2B5EF4-FFF2-40B4-BE49-F238E27FC236}">
                    <a16:creationId xmlns:a16="http://schemas.microsoft.com/office/drawing/2014/main" id="{C34742BE-FB3A-4134-B124-48CC055EF80F}"/>
                  </a:ext>
                </a:extLst>
              </p:cNvPr>
              <p:cNvSpPr/>
              <p:nvPr/>
            </p:nvSpPr>
            <p:spPr>
              <a:xfrm>
                <a:off x="8779314" y="3835981"/>
                <a:ext cx="417117" cy="275732"/>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mn-ea"/>
                    <a:cs typeface="Huawei Sans" panose="020C0503030203020204" pitchFamily="34" charset="0"/>
                  </a:rPr>
                  <a:t>UBPU</a:t>
                </a:r>
              </a:p>
            </p:txBody>
          </p:sp>
          <p:sp>
            <p:nvSpPr>
              <p:cNvPr id="266" name="矩形 265">
                <a:extLst>
                  <a:ext uri="{FF2B5EF4-FFF2-40B4-BE49-F238E27FC236}">
                    <a16:creationId xmlns:a16="http://schemas.microsoft.com/office/drawing/2014/main" id="{20B5F5E9-61D4-4DFF-AB84-88E58FE81E66}"/>
                  </a:ext>
                </a:extLst>
              </p:cNvPr>
              <p:cNvSpPr/>
              <p:nvPr/>
            </p:nvSpPr>
            <p:spPr>
              <a:xfrm>
                <a:off x="8779314" y="4211980"/>
                <a:ext cx="417117" cy="275732"/>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mn-ea"/>
                    <a:cs typeface="Huawei Sans" panose="020C0503030203020204" pitchFamily="34" charset="0"/>
                  </a:rPr>
                  <a:t>UBPU</a:t>
                </a:r>
              </a:p>
            </p:txBody>
          </p:sp>
          <p:sp>
            <p:nvSpPr>
              <p:cNvPr id="267" name="矩形 266">
                <a:extLst>
                  <a:ext uri="{FF2B5EF4-FFF2-40B4-BE49-F238E27FC236}">
                    <a16:creationId xmlns:a16="http://schemas.microsoft.com/office/drawing/2014/main" id="{791059B9-39F5-4BDC-9A46-F65F67FB8C90}"/>
                  </a:ext>
                </a:extLst>
              </p:cNvPr>
              <p:cNvSpPr/>
              <p:nvPr/>
            </p:nvSpPr>
            <p:spPr>
              <a:xfrm>
                <a:off x="8779314" y="4588098"/>
                <a:ext cx="417117" cy="275732"/>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mn-ea"/>
                    <a:cs typeface="Huawei Sans" panose="020C0503030203020204" pitchFamily="34" charset="0"/>
                  </a:rPr>
                  <a:t>UBPU</a:t>
                </a:r>
              </a:p>
            </p:txBody>
          </p:sp>
          <p:sp>
            <p:nvSpPr>
              <p:cNvPr id="268" name="矩形 267">
                <a:extLst>
                  <a:ext uri="{FF2B5EF4-FFF2-40B4-BE49-F238E27FC236}">
                    <a16:creationId xmlns:a16="http://schemas.microsoft.com/office/drawing/2014/main" id="{0CF5E61E-922A-4F92-BEFD-F0687CD8D121}"/>
                  </a:ext>
                </a:extLst>
              </p:cNvPr>
              <p:cNvSpPr/>
              <p:nvPr/>
            </p:nvSpPr>
            <p:spPr>
              <a:xfrm>
                <a:off x="8779314" y="4964096"/>
                <a:ext cx="417117" cy="275732"/>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mn-ea"/>
                    <a:cs typeface="Huawei Sans" panose="020C0503030203020204" pitchFamily="34" charset="0"/>
                  </a:rPr>
                  <a:t>UBPU</a:t>
                </a:r>
              </a:p>
            </p:txBody>
          </p:sp>
          <p:sp>
            <p:nvSpPr>
              <p:cNvPr id="269" name="矩形 268">
                <a:extLst>
                  <a:ext uri="{FF2B5EF4-FFF2-40B4-BE49-F238E27FC236}">
                    <a16:creationId xmlns:a16="http://schemas.microsoft.com/office/drawing/2014/main" id="{D57A4068-C596-43C5-BBEC-7C18F8F7F25B}"/>
                  </a:ext>
                </a:extLst>
              </p:cNvPr>
              <p:cNvSpPr/>
              <p:nvPr/>
            </p:nvSpPr>
            <p:spPr>
              <a:xfrm>
                <a:off x="9360554" y="3835981"/>
                <a:ext cx="417117" cy="275732"/>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mn-ea"/>
                    <a:cs typeface="Huawei Sans" panose="020C0503030203020204" pitchFamily="34" charset="0"/>
                  </a:rPr>
                  <a:t>UBPU</a:t>
                </a:r>
              </a:p>
            </p:txBody>
          </p:sp>
          <p:sp>
            <p:nvSpPr>
              <p:cNvPr id="270" name="矩形 269">
                <a:extLst>
                  <a:ext uri="{FF2B5EF4-FFF2-40B4-BE49-F238E27FC236}">
                    <a16:creationId xmlns:a16="http://schemas.microsoft.com/office/drawing/2014/main" id="{F5CEBCAD-7162-4248-8FFB-F6D82815F04E}"/>
                  </a:ext>
                </a:extLst>
              </p:cNvPr>
              <p:cNvSpPr/>
              <p:nvPr/>
            </p:nvSpPr>
            <p:spPr>
              <a:xfrm>
                <a:off x="9360554" y="4211980"/>
                <a:ext cx="417117" cy="275732"/>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mn-ea"/>
                    <a:cs typeface="Huawei Sans" panose="020C0503030203020204" pitchFamily="34" charset="0"/>
                  </a:rPr>
                  <a:t>UBPU</a:t>
                </a:r>
              </a:p>
            </p:txBody>
          </p:sp>
          <p:sp>
            <p:nvSpPr>
              <p:cNvPr id="271" name="矩形 270">
                <a:extLst>
                  <a:ext uri="{FF2B5EF4-FFF2-40B4-BE49-F238E27FC236}">
                    <a16:creationId xmlns:a16="http://schemas.microsoft.com/office/drawing/2014/main" id="{4910599B-B466-41C6-9759-3EF5DF7826F7}"/>
                  </a:ext>
                </a:extLst>
              </p:cNvPr>
              <p:cNvSpPr/>
              <p:nvPr/>
            </p:nvSpPr>
            <p:spPr>
              <a:xfrm>
                <a:off x="9360554" y="4588098"/>
                <a:ext cx="417117" cy="275732"/>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mn-ea"/>
                    <a:cs typeface="Huawei Sans" panose="020C0503030203020204" pitchFamily="34" charset="0"/>
                  </a:rPr>
                  <a:t>UBPU</a:t>
                </a:r>
              </a:p>
            </p:txBody>
          </p:sp>
          <p:sp>
            <p:nvSpPr>
              <p:cNvPr id="272" name="矩形 271">
                <a:extLst>
                  <a:ext uri="{FF2B5EF4-FFF2-40B4-BE49-F238E27FC236}">
                    <a16:creationId xmlns:a16="http://schemas.microsoft.com/office/drawing/2014/main" id="{9CAD0831-4914-42D7-B1F0-BCD41AFA1E27}"/>
                  </a:ext>
                </a:extLst>
              </p:cNvPr>
              <p:cNvSpPr/>
              <p:nvPr/>
            </p:nvSpPr>
            <p:spPr>
              <a:xfrm>
                <a:off x="9360554" y="4964096"/>
                <a:ext cx="417117" cy="275732"/>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mn-ea"/>
                    <a:cs typeface="Huawei Sans" panose="020C0503030203020204" pitchFamily="34" charset="0"/>
                  </a:rPr>
                  <a:t>UBPU</a:t>
                </a:r>
              </a:p>
            </p:txBody>
          </p:sp>
          <p:sp>
            <p:nvSpPr>
              <p:cNvPr id="273" name="矩形 272">
                <a:extLst>
                  <a:ext uri="{FF2B5EF4-FFF2-40B4-BE49-F238E27FC236}">
                    <a16:creationId xmlns:a16="http://schemas.microsoft.com/office/drawing/2014/main" id="{A110411A-F078-4B15-A5AC-EC1C46919E47}"/>
                  </a:ext>
                </a:extLst>
              </p:cNvPr>
              <p:cNvSpPr/>
              <p:nvPr/>
            </p:nvSpPr>
            <p:spPr>
              <a:xfrm>
                <a:off x="9941793" y="3835981"/>
                <a:ext cx="417117" cy="275732"/>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mn-ea"/>
                    <a:cs typeface="Huawei Sans" panose="020C0503030203020204" pitchFamily="34" charset="0"/>
                  </a:rPr>
                  <a:t>UBPU</a:t>
                </a:r>
              </a:p>
            </p:txBody>
          </p:sp>
          <p:sp>
            <p:nvSpPr>
              <p:cNvPr id="274" name="矩形 273">
                <a:extLst>
                  <a:ext uri="{FF2B5EF4-FFF2-40B4-BE49-F238E27FC236}">
                    <a16:creationId xmlns:a16="http://schemas.microsoft.com/office/drawing/2014/main" id="{130C0EDE-3500-4FB9-B208-A0733C971CA8}"/>
                  </a:ext>
                </a:extLst>
              </p:cNvPr>
              <p:cNvSpPr/>
              <p:nvPr/>
            </p:nvSpPr>
            <p:spPr>
              <a:xfrm>
                <a:off x="9941793" y="4211980"/>
                <a:ext cx="417117" cy="275732"/>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mn-ea"/>
                    <a:cs typeface="Huawei Sans" panose="020C0503030203020204" pitchFamily="34" charset="0"/>
                  </a:rPr>
                  <a:t>UBPU</a:t>
                </a:r>
              </a:p>
            </p:txBody>
          </p:sp>
          <p:sp>
            <p:nvSpPr>
              <p:cNvPr id="275" name="矩形 274">
                <a:extLst>
                  <a:ext uri="{FF2B5EF4-FFF2-40B4-BE49-F238E27FC236}">
                    <a16:creationId xmlns:a16="http://schemas.microsoft.com/office/drawing/2014/main" id="{7D216F1C-F301-4188-8AFE-14D30863B50A}"/>
                  </a:ext>
                </a:extLst>
              </p:cNvPr>
              <p:cNvSpPr/>
              <p:nvPr/>
            </p:nvSpPr>
            <p:spPr>
              <a:xfrm>
                <a:off x="9941793" y="4588098"/>
                <a:ext cx="417117" cy="275732"/>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mn-ea"/>
                    <a:cs typeface="Huawei Sans" panose="020C0503030203020204" pitchFamily="34" charset="0"/>
                  </a:rPr>
                  <a:t>UBPU</a:t>
                </a:r>
              </a:p>
            </p:txBody>
          </p:sp>
          <p:sp>
            <p:nvSpPr>
              <p:cNvPr id="276" name="矩形 275">
                <a:extLst>
                  <a:ext uri="{FF2B5EF4-FFF2-40B4-BE49-F238E27FC236}">
                    <a16:creationId xmlns:a16="http://schemas.microsoft.com/office/drawing/2014/main" id="{A2DD9725-F199-4734-AEEB-F93DA819C957}"/>
                  </a:ext>
                </a:extLst>
              </p:cNvPr>
              <p:cNvSpPr/>
              <p:nvPr/>
            </p:nvSpPr>
            <p:spPr>
              <a:xfrm>
                <a:off x="9941793" y="4964096"/>
                <a:ext cx="417117" cy="275732"/>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mn-ea"/>
                    <a:cs typeface="Huawei Sans" panose="020C0503030203020204" pitchFamily="34" charset="0"/>
                  </a:rPr>
                  <a:t>UBPU</a:t>
                </a:r>
              </a:p>
            </p:txBody>
          </p:sp>
          <p:sp>
            <p:nvSpPr>
              <p:cNvPr id="277" name="矩形 276">
                <a:extLst>
                  <a:ext uri="{FF2B5EF4-FFF2-40B4-BE49-F238E27FC236}">
                    <a16:creationId xmlns:a16="http://schemas.microsoft.com/office/drawing/2014/main" id="{74CAF2BD-5E82-422D-880D-D67BD7A57E57}"/>
                  </a:ext>
                </a:extLst>
              </p:cNvPr>
              <p:cNvSpPr/>
              <p:nvPr/>
            </p:nvSpPr>
            <p:spPr>
              <a:xfrm>
                <a:off x="10523033" y="3835981"/>
                <a:ext cx="417117" cy="275732"/>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mn-ea"/>
                    <a:cs typeface="Huawei Sans" panose="020C0503030203020204" pitchFamily="34" charset="0"/>
                  </a:rPr>
                  <a:t>UBPU</a:t>
                </a:r>
              </a:p>
            </p:txBody>
          </p:sp>
          <p:sp>
            <p:nvSpPr>
              <p:cNvPr id="278" name="矩形 277">
                <a:extLst>
                  <a:ext uri="{FF2B5EF4-FFF2-40B4-BE49-F238E27FC236}">
                    <a16:creationId xmlns:a16="http://schemas.microsoft.com/office/drawing/2014/main" id="{63927F96-CA54-4CD3-B7CD-165FEA8D6D9B}"/>
                  </a:ext>
                </a:extLst>
              </p:cNvPr>
              <p:cNvSpPr/>
              <p:nvPr/>
            </p:nvSpPr>
            <p:spPr>
              <a:xfrm>
                <a:off x="10523033" y="4211980"/>
                <a:ext cx="417117" cy="275732"/>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mn-ea"/>
                    <a:cs typeface="Huawei Sans" panose="020C0503030203020204" pitchFamily="34" charset="0"/>
                  </a:rPr>
                  <a:t>UBPU</a:t>
                </a:r>
              </a:p>
            </p:txBody>
          </p:sp>
          <p:sp>
            <p:nvSpPr>
              <p:cNvPr id="279" name="矩形 278">
                <a:extLst>
                  <a:ext uri="{FF2B5EF4-FFF2-40B4-BE49-F238E27FC236}">
                    <a16:creationId xmlns:a16="http://schemas.microsoft.com/office/drawing/2014/main" id="{AB4CD0E3-7F4F-4B04-9FE9-8914962E37AD}"/>
                  </a:ext>
                </a:extLst>
              </p:cNvPr>
              <p:cNvSpPr/>
              <p:nvPr/>
            </p:nvSpPr>
            <p:spPr>
              <a:xfrm>
                <a:off x="10523033" y="4588098"/>
                <a:ext cx="417117" cy="275732"/>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mn-ea"/>
                    <a:cs typeface="Huawei Sans" panose="020C0503030203020204" pitchFamily="34" charset="0"/>
                  </a:rPr>
                  <a:t>UBPU</a:t>
                </a:r>
              </a:p>
            </p:txBody>
          </p:sp>
          <p:sp>
            <p:nvSpPr>
              <p:cNvPr id="280" name="矩形 279">
                <a:extLst>
                  <a:ext uri="{FF2B5EF4-FFF2-40B4-BE49-F238E27FC236}">
                    <a16:creationId xmlns:a16="http://schemas.microsoft.com/office/drawing/2014/main" id="{87958BF8-BC82-48E7-90AB-C6BCF5A87005}"/>
                  </a:ext>
                </a:extLst>
              </p:cNvPr>
              <p:cNvSpPr/>
              <p:nvPr/>
            </p:nvSpPr>
            <p:spPr>
              <a:xfrm>
                <a:off x="10523033" y="4964096"/>
                <a:ext cx="417117" cy="275732"/>
              </a:xfrm>
              <a:prstGeom prst="rect">
                <a:avLst/>
              </a:prstGeom>
              <a:solidFill>
                <a:srgbClr val="FFFFFF"/>
              </a:solidFill>
              <a:ln w="9525" cap="flat" cmpd="sng" algn="ctr">
                <a:solidFill>
                  <a:srgbClr val="1D1D1A"/>
                </a:solid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mn-ea"/>
                    <a:cs typeface="Huawei Sans" panose="020C0503030203020204" pitchFamily="34" charset="0"/>
                  </a:rPr>
                  <a:t>UBPU</a:t>
                </a:r>
              </a:p>
            </p:txBody>
          </p:sp>
          <p:sp>
            <p:nvSpPr>
              <p:cNvPr id="281" name="矩形 280">
                <a:extLst>
                  <a:ext uri="{FF2B5EF4-FFF2-40B4-BE49-F238E27FC236}">
                    <a16:creationId xmlns:a16="http://schemas.microsoft.com/office/drawing/2014/main" id="{17B2B2F8-6170-4200-9EC5-343FE2031E2C}"/>
                  </a:ext>
                </a:extLst>
              </p:cNvPr>
              <p:cNvSpPr/>
              <p:nvPr/>
            </p:nvSpPr>
            <p:spPr>
              <a:xfrm>
                <a:off x="10247891" y="3653109"/>
                <a:ext cx="910355" cy="237380"/>
              </a:xfrm>
              <a:prstGeom prst="rect">
                <a:avLst/>
              </a:prstGeom>
            </p:spPr>
            <p:txBody>
              <a:bodyPr wrap="none">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00"/>
                    </a:solidFill>
                    <a:effectLst/>
                    <a:uLnTx/>
                    <a:uFillTx/>
                    <a:latin typeface="+mn-ea"/>
                    <a:cs typeface="Huawei Sans" panose="020C0503030203020204" pitchFamily="34" charset="0"/>
                  </a:rPr>
                  <a:t>X-</a:t>
                </a:r>
                <a:r>
                  <a:rPr kumimoji="1" lang="en-US" altLang="zh-CN" sz="1200" b="1" i="0" u="none" strike="noStrike" kern="0" cap="none" spc="0" normalizeH="0" baseline="0" noProof="0" dirty="0" err="1">
                    <a:ln>
                      <a:noFill/>
                    </a:ln>
                    <a:solidFill>
                      <a:srgbClr val="000000"/>
                    </a:solidFill>
                    <a:effectLst/>
                    <a:uLnTx/>
                    <a:uFillTx/>
                    <a:latin typeface="+mn-ea"/>
                    <a:cs typeface="Huawei Sans" panose="020C0503030203020204" pitchFamily="34" charset="0"/>
                  </a:rPr>
                  <a:t>Fullmesh</a:t>
                </a:r>
                <a:endParaRPr kumimoji="0" lang="zh-CN" altLang="en-US" sz="1200" b="0" i="0" u="none" strike="noStrike" kern="0" cap="none" spc="0" normalizeH="0" baseline="0" noProof="0" dirty="0">
                  <a:ln>
                    <a:noFill/>
                  </a:ln>
                  <a:solidFill>
                    <a:srgbClr val="1D1D1A"/>
                  </a:solidFill>
                  <a:effectLst/>
                  <a:uLnTx/>
                  <a:uFillTx/>
                  <a:latin typeface="+mn-ea"/>
                  <a:cs typeface="Huawei Sans" panose="020C0503030203020204" pitchFamily="34" charset="0"/>
                </a:endParaRPr>
              </a:p>
            </p:txBody>
          </p:sp>
          <p:sp>
            <p:nvSpPr>
              <p:cNvPr id="282" name="矩形 281">
                <a:extLst>
                  <a:ext uri="{FF2B5EF4-FFF2-40B4-BE49-F238E27FC236}">
                    <a16:creationId xmlns:a16="http://schemas.microsoft.com/office/drawing/2014/main" id="{F3C50E3B-94D2-4BDE-BCC0-010A322BBBC6}"/>
                  </a:ext>
                </a:extLst>
              </p:cNvPr>
              <p:cNvSpPr/>
              <p:nvPr/>
            </p:nvSpPr>
            <p:spPr>
              <a:xfrm rot="16200000">
                <a:off x="8195621" y="4036879"/>
                <a:ext cx="893197" cy="240094"/>
              </a:xfrm>
              <a:prstGeom prst="rect">
                <a:avLst/>
              </a:prstGeom>
            </p:spPr>
            <p:txBody>
              <a:bodyPr wrap="none">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00"/>
                    </a:solidFill>
                    <a:effectLst/>
                    <a:uLnTx/>
                    <a:uFillTx/>
                    <a:latin typeface="+mn-ea"/>
                    <a:cs typeface="Huawei Sans" panose="020C0503030203020204" pitchFamily="34" charset="0"/>
                  </a:rPr>
                  <a:t>Y-</a:t>
                </a:r>
                <a:r>
                  <a:rPr kumimoji="1" lang="en-US" altLang="zh-CN" sz="1200" b="1" i="0" u="none" strike="noStrike" kern="0" cap="none" spc="0" normalizeH="0" baseline="0" noProof="0" dirty="0" err="1">
                    <a:ln>
                      <a:noFill/>
                    </a:ln>
                    <a:solidFill>
                      <a:srgbClr val="000000"/>
                    </a:solidFill>
                    <a:effectLst/>
                    <a:uLnTx/>
                    <a:uFillTx/>
                    <a:latin typeface="+mn-ea"/>
                    <a:cs typeface="Huawei Sans" panose="020C0503030203020204" pitchFamily="34" charset="0"/>
                  </a:rPr>
                  <a:t>Fullmesh</a:t>
                </a:r>
                <a:endParaRPr kumimoji="0" lang="zh-CN" altLang="en-US" sz="1200" b="0" i="0" u="none" strike="noStrike" kern="0" cap="none" spc="0" normalizeH="0" baseline="0" noProof="0" dirty="0">
                  <a:ln>
                    <a:noFill/>
                  </a:ln>
                  <a:solidFill>
                    <a:srgbClr val="1D1D1A"/>
                  </a:solidFill>
                  <a:effectLst/>
                  <a:uLnTx/>
                  <a:uFillTx/>
                  <a:latin typeface="+mn-ea"/>
                  <a:cs typeface="Huawei Sans" panose="020C0503030203020204" pitchFamily="34" charset="0"/>
                </a:endParaRPr>
              </a:p>
            </p:txBody>
          </p:sp>
        </p:grpSp>
        <p:sp>
          <p:nvSpPr>
            <p:cNvPr id="260" name="任意多边形: 形状 259">
              <a:extLst>
                <a:ext uri="{FF2B5EF4-FFF2-40B4-BE49-F238E27FC236}">
                  <a16:creationId xmlns:a16="http://schemas.microsoft.com/office/drawing/2014/main" id="{789CBF95-3979-4630-B462-9ADF43794681}"/>
                </a:ext>
              </a:extLst>
            </p:cNvPr>
            <p:cNvSpPr/>
            <p:nvPr/>
          </p:nvSpPr>
          <p:spPr>
            <a:xfrm>
              <a:off x="9497070" y="4346883"/>
              <a:ext cx="750821" cy="886706"/>
            </a:xfrm>
            <a:custGeom>
              <a:avLst/>
              <a:gdLst>
                <a:gd name="connsiteX0" fmla="*/ 61246 w 750821"/>
                <a:gd name="connsiteY0" fmla="*/ 0 h 886706"/>
                <a:gd name="connsiteX1" fmla="*/ 61246 w 750821"/>
                <a:gd name="connsiteY1" fmla="*/ 779929 h 886706"/>
                <a:gd name="connsiteX2" fmla="*/ 697740 w 750821"/>
                <a:gd name="connsiteY2" fmla="*/ 797859 h 886706"/>
                <a:gd name="connsiteX3" fmla="*/ 670846 w 750821"/>
                <a:gd name="connsiteY3" fmla="*/ 17929 h 886706"/>
              </a:gdLst>
              <a:ahLst/>
              <a:cxnLst>
                <a:cxn ang="0">
                  <a:pos x="connsiteX0" y="connsiteY0"/>
                </a:cxn>
                <a:cxn ang="0">
                  <a:pos x="connsiteX1" y="connsiteY1"/>
                </a:cxn>
                <a:cxn ang="0">
                  <a:pos x="connsiteX2" y="connsiteY2"/>
                </a:cxn>
                <a:cxn ang="0">
                  <a:pos x="connsiteX3" y="connsiteY3"/>
                </a:cxn>
              </a:cxnLst>
              <a:rect l="l" t="t" r="r" b="b"/>
              <a:pathLst>
                <a:path w="750821" h="886706">
                  <a:moveTo>
                    <a:pt x="61246" y="0"/>
                  </a:moveTo>
                  <a:cubicBezTo>
                    <a:pt x="8205" y="323476"/>
                    <a:pt x="-44836" y="646953"/>
                    <a:pt x="61246" y="779929"/>
                  </a:cubicBezTo>
                  <a:cubicBezTo>
                    <a:pt x="167328" y="912905"/>
                    <a:pt x="596140" y="924859"/>
                    <a:pt x="697740" y="797859"/>
                  </a:cubicBezTo>
                  <a:cubicBezTo>
                    <a:pt x="799340" y="670859"/>
                    <a:pt x="735093" y="344394"/>
                    <a:pt x="670846" y="17929"/>
                  </a:cubicBezTo>
                </a:path>
              </a:pathLst>
            </a:custGeom>
            <a:noFill/>
            <a:ln w="38100" cap="flat" cmpd="sng" algn="ctr">
              <a:solidFill>
                <a:srgbClr val="C00000"/>
              </a:solidFill>
              <a:prstDash val="solid"/>
              <a:miter lim="800000"/>
              <a:headEnd type="none" w="med" len="med"/>
              <a:tailEnd type="arrow" w="med" len="med"/>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666666"/>
                </a:solidFill>
                <a:effectLst/>
                <a:uLnTx/>
                <a:uFillTx/>
                <a:latin typeface="+mn-ea"/>
                <a:cs typeface="Huawei Sans" panose="020C0503030203020204" pitchFamily="34" charset="0"/>
              </a:endParaRPr>
            </a:p>
          </p:txBody>
        </p:sp>
        <p:sp>
          <p:nvSpPr>
            <p:cNvPr id="261" name="任意多边形: 形状 260">
              <a:extLst>
                <a:ext uri="{FF2B5EF4-FFF2-40B4-BE49-F238E27FC236}">
                  <a16:creationId xmlns:a16="http://schemas.microsoft.com/office/drawing/2014/main" id="{A8EAE840-2A8A-497E-9F02-766568B1C30A}"/>
                </a:ext>
              </a:extLst>
            </p:cNvPr>
            <p:cNvSpPr/>
            <p:nvPr/>
          </p:nvSpPr>
          <p:spPr>
            <a:xfrm>
              <a:off x="10094476" y="4265820"/>
              <a:ext cx="818978" cy="914781"/>
            </a:xfrm>
            <a:custGeom>
              <a:avLst/>
              <a:gdLst>
                <a:gd name="connsiteX0" fmla="*/ 28616 w 818978"/>
                <a:gd name="connsiteY0" fmla="*/ 583086 h 914781"/>
                <a:gd name="connsiteX1" fmla="*/ 28616 w 818978"/>
                <a:gd name="connsiteY1" fmla="*/ 475510 h 914781"/>
                <a:gd name="connsiteX2" fmla="*/ 64475 w 818978"/>
                <a:gd name="connsiteY2" fmla="*/ 27275 h 914781"/>
                <a:gd name="connsiteX3" fmla="*/ 772687 w 818978"/>
                <a:gd name="connsiteY3" fmla="*/ 143816 h 914781"/>
                <a:gd name="connsiteX4" fmla="*/ 692004 w 818978"/>
                <a:gd name="connsiteY4" fmla="*/ 914781 h 91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978" h="914781">
                  <a:moveTo>
                    <a:pt x="28616" y="583086"/>
                  </a:moveTo>
                  <a:cubicBezTo>
                    <a:pt x="25627" y="575615"/>
                    <a:pt x="22639" y="568145"/>
                    <a:pt x="28616" y="475510"/>
                  </a:cubicBezTo>
                  <a:cubicBezTo>
                    <a:pt x="34593" y="382875"/>
                    <a:pt x="-59537" y="82557"/>
                    <a:pt x="64475" y="27275"/>
                  </a:cubicBezTo>
                  <a:cubicBezTo>
                    <a:pt x="188487" y="-28007"/>
                    <a:pt x="668099" y="-4102"/>
                    <a:pt x="772687" y="143816"/>
                  </a:cubicBezTo>
                  <a:cubicBezTo>
                    <a:pt x="877275" y="291734"/>
                    <a:pt x="784639" y="603257"/>
                    <a:pt x="692004" y="914781"/>
                  </a:cubicBezTo>
                </a:path>
              </a:pathLst>
            </a:custGeom>
            <a:noFill/>
            <a:ln w="38100" cap="flat" cmpd="sng" algn="ctr">
              <a:solidFill>
                <a:srgbClr val="0070C0"/>
              </a:solidFill>
              <a:prstDash val="solid"/>
              <a:miter lim="800000"/>
              <a:headEnd type="none" w="med" len="med"/>
              <a:tailEnd type="arrow" w="med" len="med"/>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666666"/>
                </a:solidFill>
                <a:effectLst/>
                <a:uLnTx/>
                <a:uFillTx/>
                <a:latin typeface="+mn-ea"/>
                <a:cs typeface="Huawei Sans" panose="020C0503030203020204" pitchFamily="34" charset="0"/>
              </a:endParaRPr>
            </a:p>
          </p:txBody>
        </p:sp>
        <p:sp>
          <p:nvSpPr>
            <p:cNvPr id="262" name="任意多边形: 形状 261">
              <a:extLst>
                <a:ext uri="{FF2B5EF4-FFF2-40B4-BE49-F238E27FC236}">
                  <a16:creationId xmlns:a16="http://schemas.microsoft.com/office/drawing/2014/main" id="{55804670-69E1-4C88-BAB8-43282E2BB47D}"/>
                </a:ext>
              </a:extLst>
            </p:cNvPr>
            <p:cNvSpPr/>
            <p:nvPr/>
          </p:nvSpPr>
          <p:spPr>
            <a:xfrm>
              <a:off x="9502250" y="4599385"/>
              <a:ext cx="1221478" cy="530489"/>
            </a:xfrm>
            <a:custGeom>
              <a:avLst/>
              <a:gdLst>
                <a:gd name="connsiteX0" fmla="*/ 1095972 w 1221478"/>
                <a:gd name="connsiteY0" fmla="*/ 491569 h 530489"/>
                <a:gd name="connsiteX1" fmla="*/ 181572 w 1221478"/>
                <a:gd name="connsiteY1" fmla="*/ 482604 h 530489"/>
                <a:gd name="connsiteX2" fmla="*/ 91925 w 1221478"/>
                <a:gd name="connsiteY2" fmla="*/ 16439 h 530489"/>
                <a:gd name="connsiteX3" fmla="*/ 1221478 w 1221478"/>
                <a:gd name="connsiteY3" fmla="*/ 106086 h 530489"/>
              </a:gdLst>
              <a:ahLst/>
              <a:cxnLst>
                <a:cxn ang="0">
                  <a:pos x="connsiteX0" y="connsiteY0"/>
                </a:cxn>
                <a:cxn ang="0">
                  <a:pos x="connsiteX1" y="connsiteY1"/>
                </a:cxn>
                <a:cxn ang="0">
                  <a:pos x="connsiteX2" y="connsiteY2"/>
                </a:cxn>
                <a:cxn ang="0">
                  <a:pos x="connsiteX3" y="connsiteY3"/>
                </a:cxn>
              </a:cxnLst>
              <a:rect l="l" t="t" r="r" b="b"/>
              <a:pathLst>
                <a:path w="1221478" h="530489">
                  <a:moveTo>
                    <a:pt x="1095972" y="491569"/>
                  </a:moveTo>
                  <a:cubicBezTo>
                    <a:pt x="722442" y="526680"/>
                    <a:pt x="348913" y="561792"/>
                    <a:pt x="181572" y="482604"/>
                  </a:cubicBezTo>
                  <a:cubicBezTo>
                    <a:pt x="14231" y="403416"/>
                    <a:pt x="-81393" y="79192"/>
                    <a:pt x="91925" y="16439"/>
                  </a:cubicBezTo>
                  <a:cubicBezTo>
                    <a:pt x="265243" y="-46314"/>
                    <a:pt x="1042184" y="89651"/>
                    <a:pt x="1221478" y="106086"/>
                  </a:cubicBezTo>
                </a:path>
              </a:pathLst>
            </a:custGeom>
            <a:noFill/>
            <a:ln w="38100" cap="flat" cmpd="sng" algn="ctr">
              <a:solidFill>
                <a:srgbClr val="61B230">
                  <a:lumMod val="75000"/>
                </a:srgbClr>
              </a:solidFill>
              <a:prstDash val="solid"/>
              <a:miter lim="800000"/>
              <a:headEnd type="arrow" w="med" len="med"/>
              <a:tailEnd type="none" w="med" len="med"/>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666666"/>
                </a:solidFill>
                <a:effectLst/>
                <a:uLnTx/>
                <a:uFillTx/>
                <a:latin typeface="+mn-ea"/>
                <a:cs typeface="Huawei Sans" panose="020C0503030203020204" pitchFamily="34" charset="0"/>
              </a:endParaRPr>
            </a:p>
          </p:txBody>
        </p:sp>
      </p:grpSp>
      <p:sp>
        <p:nvSpPr>
          <p:cNvPr id="283" name="矩形 282">
            <a:extLst>
              <a:ext uri="{FF2B5EF4-FFF2-40B4-BE49-F238E27FC236}">
                <a16:creationId xmlns:a16="http://schemas.microsoft.com/office/drawing/2014/main" id="{CCABC2CD-DB1D-47FA-9692-1D56A397AC1A}"/>
              </a:ext>
            </a:extLst>
          </p:cNvPr>
          <p:cNvSpPr/>
          <p:nvPr/>
        </p:nvSpPr>
        <p:spPr>
          <a:xfrm>
            <a:off x="1394189" y="1652456"/>
            <a:ext cx="1991123" cy="307777"/>
          </a:xfrm>
          <a:prstGeom prst="rect">
            <a:avLst/>
          </a:prstGeom>
          <a:solidFill>
            <a:schemeClr val="bg1"/>
          </a:solidFill>
        </p:spPr>
        <p:txBody>
          <a:bodyPr wrap="none">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282828"/>
                </a:solidFill>
                <a:effectLst/>
                <a:uLnTx/>
                <a:uFillTx/>
                <a:latin typeface="+mn-ea"/>
                <a:cs typeface="+mn-cs"/>
              </a:rPr>
              <a:t>Routing Mechanism</a:t>
            </a:r>
          </a:p>
        </p:txBody>
      </p:sp>
      <p:sp>
        <p:nvSpPr>
          <p:cNvPr id="284" name="矩形 283">
            <a:extLst>
              <a:ext uri="{FF2B5EF4-FFF2-40B4-BE49-F238E27FC236}">
                <a16:creationId xmlns:a16="http://schemas.microsoft.com/office/drawing/2014/main" id="{ACE95590-D4A4-4BED-A930-DBDF01906B3A}"/>
              </a:ext>
            </a:extLst>
          </p:cNvPr>
          <p:cNvSpPr/>
          <p:nvPr/>
        </p:nvSpPr>
        <p:spPr>
          <a:xfrm>
            <a:off x="4565461" y="1652456"/>
            <a:ext cx="3065839" cy="307777"/>
          </a:xfrm>
          <a:prstGeom prst="rect">
            <a:avLst/>
          </a:prstGeom>
          <a:solidFill>
            <a:schemeClr val="bg1"/>
          </a:solidFill>
        </p:spPr>
        <p:txBody>
          <a:bodyPr wrap="none">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282828"/>
                </a:solidFill>
                <a:effectLst/>
                <a:uLnTx/>
                <a:uFillTx/>
                <a:latin typeface="+mn-ea"/>
                <a:cs typeface="+mn-cs"/>
              </a:rPr>
              <a:t>Collective Algorithm Innovation</a:t>
            </a:r>
          </a:p>
        </p:txBody>
      </p:sp>
      <p:sp>
        <p:nvSpPr>
          <p:cNvPr id="285" name="矩形 284">
            <a:extLst>
              <a:ext uri="{FF2B5EF4-FFF2-40B4-BE49-F238E27FC236}">
                <a16:creationId xmlns:a16="http://schemas.microsoft.com/office/drawing/2014/main" id="{C0B6C7B3-4B19-42B2-8CEC-95DC733ED2BE}"/>
              </a:ext>
            </a:extLst>
          </p:cNvPr>
          <p:cNvSpPr/>
          <p:nvPr/>
        </p:nvSpPr>
        <p:spPr>
          <a:xfrm>
            <a:off x="8188866" y="1652456"/>
            <a:ext cx="3344185" cy="307777"/>
          </a:xfrm>
          <a:prstGeom prst="rect">
            <a:avLst/>
          </a:prstGeom>
          <a:solidFill>
            <a:schemeClr val="bg1"/>
          </a:solidFill>
        </p:spPr>
        <p:txBody>
          <a:bodyPr wrap="none">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282828"/>
                </a:solidFill>
                <a:effectLst/>
                <a:uLnTx/>
                <a:uFillTx/>
                <a:latin typeface="+mn-ea"/>
                <a:cs typeface="+mn-cs"/>
              </a:rPr>
              <a:t>Flow Control Algorithm Innovation</a:t>
            </a:r>
            <a:endParaRPr kumimoji="0" lang="zh-CN" altLang="en-US" sz="1400" b="1" i="0" u="none" strike="noStrike" kern="1200" cap="none" spc="0" normalizeH="0" baseline="0" noProof="0" dirty="0">
              <a:ln>
                <a:noFill/>
              </a:ln>
              <a:solidFill>
                <a:srgbClr val="282828"/>
              </a:solidFill>
              <a:effectLst/>
              <a:uLnTx/>
              <a:uFillTx/>
              <a:latin typeface="+mn-ea"/>
              <a:cs typeface="+mn-cs"/>
            </a:endParaRPr>
          </a:p>
        </p:txBody>
      </p:sp>
      <p:sp>
        <p:nvSpPr>
          <p:cNvPr id="286" name="矩形 285">
            <a:extLst>
              <a:ext uri="{FF2B5EF4-FFF2-40B4-BE49-F238E27FC236}">
                <a16:creationId xmlns:a16="http://schemas.microsoft.com/office/drawing/2014/main" id="{23491505-C092-44B5-B7EA-9244E6610BD7}"/>
              </a:ext>
            </a:extLst>
          </p:cNvPr>
          <p:cNvSpPr/>
          <p:nvPr/>
        </p:nvSpPr>
        <p:spPr>
          <a:xfrm>
            <a:off x="1197558" y="3970664"/>
            <a:ext cx="2490713" cy="261610"/>
          </a:xfrm>
          <a:prstGeom prst="rect">
            <a:avLst/>
          </a:prstGeom>
        </p:spPr>
        <p:txBody>
          <a:bodyPr wrap="square">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100" b="0" i="0" u="none" strike="noStrike" kern="1200" cap="none" spc="0" normalizeH="0" baseline="0" noProof="0" dirty="0">
                <a:ln>
                  <a:noFill/>
                </a:ln>
                <a:solidFill>
                  <a:srgbClr val="282828"/>
                </a:solidFill>
                <a:effectLst/>
                <a:uLnTx/>
                <a:uFillTx/>
                <a:latin typeface="+mn-ea"/>
                <a:cs typeface="Huawei Sans" panose="020C0503030203020204" pitchFamily="34" charset="0"/>
              </a:rPr>
              <a:t>Supported Routing Strategies</a:t>
            </a:r>
            <a:endParaRPr kumimoji="0" lang="zh-CN" altLang="en-US" sz="1600" b="0" i="0" u="none" strike="noStrike" kern="1200" cap="none" spc="0" normalizeH="0" baseline="0" noProof="0" dirty="0">
              <a:ln>
                <a:noFill/>
              </a:ln>
              <a:solidFill>
                <a:srgbClr val="282828"/>
              </a:solidFill>
              <a:effectLst/>
              <a:uLnTx/>
              <a:uFillTx/>
              <a:latin typeface="+mn-ea"/>
              <a:cs typeface="Huawei Sans" panose="020C0503030203020204" pitchFamily="34" charset="0"/>
            </a:endParaRPr>
          </a:p>
        </p:txBody>
      </p:sp>
      <p:sp>
        <p:nvSpPr>
          <p:cNvPr id="287" name="矩形 286">
            <a:extLst>
              <a:ext uri="{FF2B5EF4-FFF2-40B4-BE49-F238E27FC236}">
                <a16:creationId xmlns:a16="http://schemas.microsoft.com/office/drawing/2014/main" id="{18E18E04-0C7E-4E68-B3B9-28A40B2EF364}"/>
              </a:ext>
            </a:extLst>
          </p:cNvPr>
          <p:cNvSpPr/>
          <p:nvPr/>
        </p:nvSpPr>
        <p:spPr>
          <a:xfrm>
            <a:off x="1197558" y="5074369"/>
            <a:ext cx="2490713" cy="261610"/>
          </a:xfrm>
          <a:prstGeom prst="rect">
            <a:avLst/>
          </a:prstGeom>
        </p:spPr>
        <p:txBody>
          <a:bodyPr wrap="square">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1" lang="en-US" altLang="zh-CN" sz="1100" b="0" i="1" u="none" strike="noStrike" kern="1200" cap="none" spc="0" normalizeH="0" baseline="0" noProof="0" dirty="0">
                <a:ln>
                  <a:noFill/>
                </a:ln>
                <a:solidFill>
                  <a:srgbClr val="282828"/>
                </a:solidFill>
                <a:effectLst/>
                <a:uLnTx/>
                <a:uFillTx/>
                <a:latin typeface="+mn-ea"/>
                <a:cs typeface="Huawei Sans" panose="020C0503030203020204" pitchFamily="34" charset="0"/>
              </a:rPr>
              <a:t>UB-Mesh </a:t>
            </a:r>
            <a:r>
              <a:rPr kumimoji="1" lang="en-US" altLang="zh-CN" sz="1100" b="0" i="0" u="none" strike="noStrike" kern="1200" cap="none" spc="0" normalizeH="0" baseline="0" noProof="0" dirty="0">
                <a:ln>
                  <a:noFill/>
                </a:ln>
                <a:solidFill>
                  <a:srgbClr val="282828"/>
                </a:solidFill>
                <a:effectLst/>
                <a:uLnTx/>
                <a:uFillTx/>
                <a:latin typeface="+mn-ea"/>
                <a:cs typeface="Huawei Sans" panose="020C0503030203020204" pitchFamily="34" charset="0"/>
              </a:rPr>
              <a:t>Source Routing Strategy</a:t>
            </a:r>
            <a:endParaRPr kumimoji="0" lang="zh-CN" altLang="en-US" sz="1600" b="0" i="0" u="none" strike="noStrike" kern="1200" cap="none" spc="0" normalizeH="0" baseline="0" noProof="0" dirty="0">
              <a:ln>
                <a:noFill/>
              </a:ln>
              <a:solidFill>
                <a:srgbClr val="282828"/>
              </a:solidFill>
              <a:effectLst/>
              <a:uLnTx/>
              <a:uFillTx/>
              <a:latin typeface="+mn-ea"/>
              <a:cs typeface="Huawei Sans" panose="020C0503030203020204" pitchFamily="34" charset="0"/>
            </a:endParaRPr>
          </a:p>
        </p:txBody>
      </p:sp>
      <p:pic>
        <p:nvPicPr>
          <p:cNvPr id="288" name="图片 287">
            <a:extLst>
              <a:ext uri="{FF2B5EF4-FFF2-40B4-BE49-F238E27FC236}">
                <a16:creationId xmlns:a16="http://schemas.microsoft.com/office/drawing/2014/main" id="{0FBD5297-33C1-48E2-B98F-D63E240A2117}"/>
              </a:ext>
            </a:extLst>
          </p:cNvPr>
          <p:cNvPicPr>
            <a:picLocks noChangeAspect="1"/>
          </p:cNvPicPr>
          <p:nvPr/>
        </p:nvPicPr>
        <p:blipFill>
          <a:blip r:embed="rId5"/>
          <a:stretch>
            <a:fillRect/>
          </a:stretch>
        </p:blipFill>
        <p:spPr>
          <a:xfrm>
            <a:off x="2571562" y="4418290"/>
            <a:ext cx="1470233" cy="397034"/>
          </a:xfrm>
          <a:prstGeom prst="rect">
            <a:avLst/>
          </a:prstGeom>
        </p:spPr>
      </p:pic>
    </p:spTree>
    <p:extLst>
      <p:ext uri="{BB962C8B-B14F-4D97-AF65-F5344CB8AC3E}">
        <p14:creationId xmlns:p14="http://schemas.microsoft.com/office/powerpoint/2010/main" val="1253939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标题 1">
            <a:extLst>
              <a:ext uri="{FF2B5EF4-FFF2-40B4-BE49-F238E27FC236}">
                <a16:creationId xmlns:a16="http://schemas.microsoft.com/office/drawing/2014/main" id="{2AD3965F-0FB0-45B4-AF0A-8C7BE62857FB}"/>
              </a:ext>
            </a:extLst>
          </p:cNvPr>
          <p:cNvSpPr>
            <a:spLocks noGrp="1"/>
          </p:cNvSpPr>
          <p:nvPr>
            <p:ph type="title"/>
          </p:nvPr>
        </p:nvSpPr>
        <p:spPr>
          <a:xfrm>
            <a:off x="561005" y="275992"/>
            <a:ext cx="11208246" cy="798839"/>
          </a:xfrm>
        </p:spPr>
        <p:txBody>
          <a:bodyPr wrap="square">
            <a:noAutofit/>
          </a:bodyPr>
          <a:lstStyle/>
          <a:p>
            <a:r>
              <a:rPr lang="en-US" altLang="zh-CN" dirty="0">
                <a:cs typeface="Huawei Sans" panose="020C0503030203020204" pitchFamily="34" charset="0"/>
              </a:rPr>
              <a:t>UB protocol Verification Platform: </a:t>
            </a:r>
            <a:br>
              <a:rPr lang="en-US" altLang="zh-CN" dirty="0">
                <a:cs typeface="Huawei Sans" panose="020C0503030203020204" pitchFamily="34" charset="0"/>
              </a:rPr>
            </a:br>
            <a:r>
              <a:rPr lang="en-US" altLang="zh-CN" dirty="0">
                <a:cs typeface="Huawei Sans" panose="020C0503030203020204" pitchFamily="34" charset="0"/>
              </a:rPr>
              <a:t>The Verifier for UnifiedBus Protocol Designing</a:t>
            </a:r>
            <a:endParaRPr lang="zh-CN" altLang="en-US" dirty="0">
              <a:cs typeface="Huawei Sans" panose="020C0503030203020204" pitchFamily="34" charset="0"/>
            </a:endParaRPr>
          </a:p>
        </p:txBody>
      </p:sp>
      <p:sp>
        <p:nvSpPr>
          <p:cNvPr id="102" name="文本占位符 7">
            <a:extLst>
              <a:ext uri="{FF2B5EF4-FFF2-40B4-BE49-F238E27FC236}">
                <a16:creationId xmlns:a16="http://schemas.microsoft.com/office/drawing/2014/main" id="{657E6A59-7E65-4BAB-9B02-7933C0431EBE}"/>
              </a:ext>
            </a:extLst>
          </p:cNvPr>
          <p:cNvSpPr txBox="1">
            <a:spLocks/>
          </p:cNvSpPr>
          <p:nvPr/>
        </p:nvSpPr>
        <p:spPr>
          <a:xfrm>
            <a:off x="314923" y="1180927"/>
            <a:ext cx="5109772" cy="4875627"/>
          </a:xfrm>
          <a:prstGeom prst="rect">
            <a:avLst/>
          </a:prstGeom>
        </p:spPr>
        <p:txBody>
          <a:bodyPr/>
          <a:lstStyle>
            <a:lvl1pPr marL="268074" indent="-268074" algn="l" defTabSz="913759" rtl="0" eaLnBrk="1" latinLnBrk="0" hangingPunct="1">
              <a:lnSpc>
                <a:spcPct val="130000"/>
              </a:lnSpc>
              <a:spcBef>
                <a:spcPts val="0"/>
              </a:spcBef>
              <a:spcAft>
                <a:spcPts val="400"/>
              </a:spcAft>
              <a:buClr>
                <a:schemeClr val="tx1">
                  <a:lumMod val="50000"/>
                  <a:lumOff val="50000"/>
                </a:schemeClr>
              </a:buClr>
              <a:buSzPct val="100000"/>
              <a:buFont typeface="Wingdings 2" panose="05020102010507070707" pitchFamily="18" charset="2"/>
              <a:buChar char="¡"/>
              <a:defRPr sz="1798" kern="1200">
                <a:solidFill>
                  <a:schemeClr val="tx1"/>
                </a:solidFill>
                <a:latin typeface="+mn-lt"/>
                <a:ea typeface="+mn-ea"/>
                <a:cs typeface="+mn-cs"/>
              </a:defRPr>
            </a:lvl1pPr>
            <a:lvl2pPr marL="444144" indent="-176073" algn="l" defTabSz="913759" rtl="0" eaLnBrk="1" latinLnBrk="0" hangingPunct="1">
              <a:lnSpc>
                <a:spcPct val="130000"/>
              </a:lnSpc>
              <a:spcBef>
                <a:spcPts val="0"/>
              </a:spcBef>
              <a:spcAft>
                <a:spcPts val="400"/>
              </a:spcAft>
              <a:buClr>
                <a:schemeClr val="tx1">
                  <a:lumMod val="50000"/>
                  <a:lumOff val="50000"/>
                </a:schemeClr>
              </a:buClr>
              <a:buFont typeface="微软雅黑" panose="020B0503020204020204" pitchFamily="34" charset="-122"/>
              <a:buChar char="›"/>
              <a:defRPr sz="1598" kern="1200">
                <a:solidFill>
                  <a:schemeClr val="tx1"/>
                </a:solidFill>
                <a:latin typeface="+mn-lt"/>
                <a:ea typeface="+mn-ea"/>
                <a:cs typeface="+mn-cs"/>
              </a:defRPr>
            </a:lvl2pPr>
            <a:lvl3pPr marL="628148" indent="-184002" algn="l" defTabSz="913759" rtl="0" eaLnBrk="1" latinLnBrk="0" hangingPunct="1">
              <a:lnSpc>
                <a:spcPct val="130000"/>
              </a:lnSpc>
              <a:spcBef>
                <a:spcPts val="0"/>
              </a:spcBef>
              <a:spcAft>
                <a:spcPts val="400"/>
              </a:spcAft>
              <a:buClr>
                <a:schemeClr val="tx1">
                  <a:lumMod val="50000"/>
                  <a:lumOff val="50000"/>
                </a:schemeClr>
              </a:buClr>
              <a:buFont typeface="FrutigerNext LT Regular" panose="020B0503040504020204" pitchFamily="34" charset="0"/>
              <a:buChar char="»"/>
              <a:defRPr sz="1398" kern="1200">
                <a:solidFill>
                  <a:schemeClr val="tx1"/>
                </a:solidFill>
                <a:latin typeface="+mn-lt"/>
                <a:ea typeface="+mn-ea"/>
                <a:cs typeface="+mn-cs"/>
              </a:defRPr>
            </a:lvl3pPr>
            <a:lvl4pPr marL="1599080" indent="-228441" algn="l" defTabSz="913759" rtl="0" eaLnBrk="1" latinLnBrk="0" hangingPunct="1">
              <a:lnSpc>
                <a:spcPct val="130000"/>
              </a:lnSpc>
              <a:spcBef>
                <a:spcPts val="500"/>
              </a:spcBef>
              <a:spcAft>
                <a:spcPts val="300"/>
              </a:spcAft>
              <a:buFont typeface="Wingdings" panose="05000000000000000000" pitchFamily="2" charset="2"/>
              <a:buChar char="n"/>
              <a:defRPr sz="1798" kern="1200">
                <a:solidFill>
                  <a:schemeClr val="tx1">
                    <a:lumMod val="75000"/>
                    <a:lumOff val="25000"/>
                  </a:schemeClr>
                </a:solidFill>
                <a:latin typeface="+mn-lt"/>
                <a:ea typeface="+mn-ea"/>
                <a:cs typeface="+mn-cs"/>
              </a:defRPr>
            </a:lvl4pPr>
            <a:lvl5pPr marL="2055960" indent="-228441" algn="l" defTabSz="913759" rtl="0" eaLnBrk="1" latinLnBrk="0" hangingPunct="1">
              <a:lnSpc>
                <a:spcPct val="130000"/>
              </a:lnSpc>
              <a:spcBef>
                <a:spcPts val="500"/>
              </a:spcBef>
              <a:spcAft>
                <a:spcPts val="300"/>
              </a:spcAft>
              <a:buFont typeface="Wingdings" panose="05000000000000000000" pitchFamily="2" charset="2"/>
              <a:buChar char="n"/>
              <a:defRPr sz="1798" kern="1200">
                <a:solidFill>
                  <a:schemeClr val="tx1">
                    <a:lumMod val="75000"/>
                    <a:lumOff val="25000"/>
                  </a:schemeClr>
                </a:solidFill>
                <a:latin typeface="+mn-lt"/>
                <a:ea typeface="+mn-ea"/>
                <a:cs typeface="+mn-cs"/>
              </a:defRPr>
            </a:lvl5pPr>
            <a:lvl6pPr marL="2512839"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0" indent="-228441" algn="l" defTabSz="913759"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a:lstStyle>
          <a:p>
            <a:pPr marL="0" indent="0" defTabSz="914034">
              <a:lnSpc>
                <a:spcPct val="150000"/>
              </a:lnSpc>
              <a:buNone/>
              <a:defRPr/>
            </a:pPr>
            <a:r>
              <a:rPr lang="en-US" altLang="zh-CN" sz="1400" b="1" dirty="0">
                <a:latin typeface="+mn-ea"/>
                <a:cs typeface="Huawei Sans" panose="020C0503030203020204" pitchFamily="34" charset="0"/>
              </a:rPr>
              <a:t>Supporting verification in the following areas</a:t>
            </a:r>
            <a:r>
              <a:rPr lang="zh-CN" altLang="en-US" sz="1400" b="1" dirty="0">
                <a:latin typeface="+mn-ea"/>
                <a:cs typeface="Huawei Sans" panose="020C0503030203020204" pitchFamily="34" charset="0"/>
              </a:rPr>
              <a:t>：</a:t>
            </a:r>
          </a:p>
          <a:p>
            <a:pPr defTabSz="914034">
              <a:lnSpc>
                <a:spcPct val="150000"/>
              </a:lnSpc>
              <a:defRPr/>
            </a:pPr>
            <a:r>
              <a:rPr lang="en-US" altLang="zh-CN" sz="1400" dirty="0">
                <a:latin typeface="+mn-ea"/>
                <a:cs typeface="Huawei Sans" panose="020C0503030203020204" pitchFamily="34" charset="0"/>
              </a:rPr>
              <a:t>Correctness of protocol designs.</a:t>
            </a:r>
            <a:endParaRPr lang="zh-CN" altLang="en-US" sz="1400" dirty="0">
              <a:latin typeface="+mn-ea"/>
              <a:cs typeface="Huawei Sans" panose="020C0503030203020204" pitchFamily="34" charset="0"/>
            </a:endParaRPr>
          </a:p>
          <a:p>
            <a:pPr defTabSz="914034">
              <a:lnSpc>
                <a:spcPct val="150000"/>
              </a:lnSpc>
              <a:defRPr/>
            </a:pPr>
            <a:r>
              <a:rPr lang="en-US" altLang="zh-CN" sz="1400" dirty="0">
                <a:latin typeface="+mn-ea"/>
                <a:cs typeface="Huawei Sans" panose="020C0503030203020204" pitchFamily="34" charset="0"/>
              </a:rPr>
              <a:t>Correctness of configurations.</a:t>
            </a:r>
            <a:endParaRPr lang="zh-CN" altLang="en-US" sz="1400" dirty="0">
              <a:latin typeface="+mn-ea"/>
              <a:cs typeface="Huawei Sans" panose="020C0503030203020204" pitchFamily="34" charset="0"/>
            </a:endParaRPr>
          </a:p>
          <a:p>
            <a:pPr defTabSz="914034">
              <a:lnSpc>
                <a:spcPct val="150000"/>
              </a:lnSpc>
              <a:defRPr/>
            </a:pPr>
            <a:r>
              <a:rPr lang="en-US" altLang="zh-CN" sz="1400" dirty="0">
                <a:latin typeface="+mn-ea"/>
                <a:cs typeface="Huawei Sans" panose="020C0503030203020204" pitchFamily="34" charset="0"/>
              </a:rPr>
              <a:t>Compatibility of new designs.</a:t>
            </a:r>
            <a:endParaRPr lang="zh-CN" altLang="en-US" sz="1400" dirty="0">
              <a:latin typeface="+mn-ea"/>
              <a:cs typeface="Huawei Sans" panose="020C0503030203020204" pitchFamily="34" charset="0"/>
            </a:endParaRPr>
          </a:p>
          <a:p>
            <a:pPr defTabSz="914034">
              <a:lnSpc>
                <a:spcPct val="150000"/>
              </a:lnSpc>
              <a:defRPr/>
            </a:pPr>
            <a:r>
              <a:rPr lang="en-US" altLang="zh-CN" sz="1400" dirty="0">
                <a:latin typeface="+mn-ea"/>
                <a:cs typeface="Huawei Sans" panose="020C0503030203020204" pitchFamily="34" charset="0"/>
              </a:rPr>
              <a:t>Robustness of control plane algorithms.</a:t>
            </a:r>
          </a:p>
          <a:p>
            <a:pPr marL="0" indent="0" defTabSz="914034">
              <a:lnSpc>
                <a:spcPct val="150000"/>
              </a:lnSpc>
              <a:buNone/>
              <a:defRPr/>
            </a:pPr>
            <a:r>
              <a:rPr lang="en-US" altLang="zh-CN" sz="1400" b="1" dirty="0">
                <a:latin typeface="+mn-ea"/>
                <a:cs typeface="Huawei Sans" panose="020C0503030203020204" pitchFamily="34" charset="0"/>
              </a:rPr>
              <a:t>Usage:</a:t>
            </a:r>
            <a:r>
              <a:rPr lang="zh-CN" altLang="en-US" sz="1400" b="1" dirty="0">
                <a:latin typeface="+mn-ea"/>
                <a:cs typeface="Huawei Sans" panose="020C0503030203020204" pitchFamily="34" charset="0"/>
              </a:rPr>
              <a:t> </a:t>
            </a:r>
            <a:endParaRPr lang="en-US" altLang="zh-CN" sz="1400" b="1" dirty="0">
              <a:latin typeface="+mn-ea"/>
              <a:cs typeface="Huawei Sans" panose="020C0503030203020204" pitchFamily="34" charset="0"/>
            </a:endParaRPr>
          </a:p>
          <a:p>
            <a:pPr defTabSz="914034">
              <a:lnSpc>
                <a:spcPct val="150000"/>
              </a:lnSpc>
              <a:defRPr/>
            </a:pPr>
            <a:r>
              <a:rPr lang="en-US" altLang="zh-CN" sz="1400" dirty="0">
                <a:latin typeface="+mn-ea"/>
                <a:cs typeface="Huawei Sans" panose="020C0503030203020204" pitchFamily="34" charset="0"/>
              </a:rPr>
              <a:t>By defining new protocol designs in this platform, the verifier can automatically verify their correctness.</a:t>
            </a:r>
          </a:p>
          <a:p>
            <a:pPr defTabSz="914034">
              <a:lnSpc>
                <a:spcPct val="150000"/>
              </a:lnSpc>
              <a:defRPr/>
            </a:pPr>
            <a:r>
              <a:rPr lang="en-US" altLang="zh-CN" sz="1400" dirty="0">
                <a:latin typeface="+mn-ea"/>
                <a:cs typeface="Huawei Sans" panose="020C0503030203020204" pitchFamily="34" charset="0"/>
              </a:rPr>
              <a:t>By inputting the deployment configurations to this platform, the verifier can determine the correctness of configurations and compatibility between protocols.</a:t>
            </a:r>
          </a:p>
          <a:p>
            <a:pPr marL="0" indent="0" defTabSz="914034">
              <a:lnSpc>
                <a:spcPct val="150000"/>
              </a:lnSpc>
              <a:buNone/>
              <a:defRPr/>
            </a:pPr>
            <a:r>
              <a:rPr lang="en-US" altLang="zh-CN" sz="1400" b="1" dirty="0">
                <a:latin typeface="+mn-ea"/>
                <a:cs typeface="Huawei Sans" panose="020C0503030203020204" pitchFamily="34" charset="0"/>
              </a:rPr>
              <a:t>Access: </a:t>
            </a:r>
          </a:p>
          <a:p>
            <a:pPr defTabSz="914034">
              <a:lnSpc>
                <a:spcPct val="150000"/>
              </a:lnSpc>
              <a:defRPr/>
            </a:pPr>
            <a:r>
              <a:rPr lang="en-US" altLang="zh-CN" sz="1400" dirty="0">
                <a:latin typeface="+mn-ea"/>
                <a:cs typeface="Huawei Sans" panose="020C0503030203020204" pitchFamily="34" charset="0"/>
              </a:rPr>
              <a:t>Repo: </a:t>
            </a:r>
            <a:r>
              <a:rPr kumimoji="1" lang="en-US" altLang="zh-CN" sz="1400" dirty="0">
                <a:latin typeface="微软雅黑" panose="020B0503020204020204" pitchFamily="34" charset="-122"/>
                <a:ea typeface="微软雅黑" panose="020B0503020204020204" pitchFamily="34" charset="-122"/>
              </a:rPr>
              <a:t>https://gitcode.com/open-uvfy/ub-NetVerify</a:t>
            </a:r>
            <a:endParaRPr lang="zh-CN" altLang="en-US" sz="1400" dirty="0">
              <a:latin typeface="+mn-ea"/>
              <a:cs typeface="Huawei Sans" panose="020C0503030203020204" pitchFamily="34" charset="0"/>
            </a:endParaRPr>
          </a:p>
          <a:p>
            <a:pPr marL="0" indent="0" defTabSz="914034">
              <a:lnSpc>
                <a:spcPct val="150000"/>
              </a:lnSpc>
              <a:buNone/>
              <a:defRPr/>
            </a:pPr>
            <a:endParaRPr lang="en-US" altLang="zh-CN" sz="1400" b="1" dirty="0">
              <a:latin typeface="+mn-ea"/>
              <a:cs typeface="Huawei Sans" panose="020C0503030203020204" pitchFamily="34" charset="0"/>
            </a:endParaRPr>
          </a:p>
        </p:txBody>
      </p:sp>
      <p:grpSp>
        <p:nvGrpSpPr>
          <p:cNvPr id="4" name="组合 3">
            <a:extLst>
              <a:ext uri="{FF2B5EF4-FFF2-40B4-BE49-F238E27FC236}">
                <a16:creationId xmlns:a16="http://schemas.microsoft.com/office/drawing/2014/main" id="{B8608BA7-E1D3-4881-8A7A-48979AE5E8B5}"/>
              </a:ext>
            </a:extLst>
          </p:cNvPr>
          <p:cNvGrpSpPr/>
          <p:nvPr/>
        </p:nvGrpSpPr>
        <p:grpSpPr>
          <a:xfrm>
            <a:off x="5380336" y="1312735"/>
            <a:ext cx="6339841" cy="4017475"/>
            <a:chOff x="5380336" y="1312735"/>
            <a:chExt cx="6339841" cy="4017475"/>
          </a:xfrm>
        </p:grpSpPr>
        <p:sp>
          <p:nvSpPr>
            <p:cNvPr id="244" name="矩形: 圆角 243">
              <a:extLst>
                <a:ext uri="{FF2B5EF4-FFF2-40B4-BE49-F238E27FC236}">
                  <a16:creationId xmlns:a16="http://schemas.microsoft.com/office/drawing/2014/main" id="{5B1A4120-1866-4B32-97B7-BCB99E64B6FE}"/>
                </a:ext>
              </a:extLst>
            </p:cNvPr>
            <p:cNvSpPr/>
            <p:nvPr/>
          </p:nvSpPr>
          <p:spPr>
            <a:xfrm>
              <a:off x="5380336" y="1312735"/>
              <a:ext cx="6339841" cy="4017475"/>
            </a:xfrm>
            <a:prstGeom prst="roundRect">
              <a:avLst>
                <a:gd name="adj" fmla="val 4649"/>
              </a:avLst>
            </a:prstGeom>
            <a:solidFill>
              <a:srgbClr val="156082">
                <a:lumMod val="20000"/>
                <a:lumOff val="80000"/>
              </a:srgbClr>
            </a:solidFill>
            <a:ln w="19050" cap="flat" cmpd="sng" algn="ctr">
              <a:solidFill>
                <a:srgbClr val="156082">
                  <a:shade val="50000"/>
                </a:srgb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prstClr val="white"/>
                </a:solidFill>
                <a:effectLst/>
                <a:uLnTx/>
                <a:uFillTx/>
                <a:latin typeface="微软雅黑" panose="020B0503020204020204" pitchFamily="34" charset="-122"/>
                <a:ea typeface="等线" panose="02010600030101010101" pitchFamily="2" charset="-122"/>
                <a:cs typeface="+mn-cs"/>
              </a:endParaRPr>
            </a:p>
          </p:txBody>
        </p:sp>
        <p:sp>
          <p:nvSpPr>
            <p:cNvPr id="245" name="箭头: 五边形 17">
              <a:extLst>
                <a:ext uri="{FF2B5EF4-FFF2-40B4-BE49-F238E27FC236}">
                  <a16:creationId xmlns:a16="http://schemas.microsoft.com/office/drawing/2014/main" id="{646ED8B6-02B2-4507-BBC9-5F0E6B4705D2}"/>
                </a:ext>
              </a:extLst>
            </p:cNvPr>
            <p:cNvSpPr/>
            <p:nvPr/>
          </p:nvSpPr>
          <p:spPr>
            <a:xfrm>
              <a:off x="5502257" y="4824193"/>
              <a:ext cx="3310324" cy="330804"/>
            </a:xfrm>
            <a:prstGeom prst="rect">
              <a:avLst/>
            </a:prstGeom>
            <a:solidFill>
              <a:srgbClr val="FFFFFF">
                <a:lumMod val="95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defRPr/>
              </a:pPr>
              <a:r>
                <a:rPr lang="en-US" altLang="zh-CN" sz="1100" kern="0" dirty="0">
                  <a:solidFill>
                    <a:srgbClr val="1D1D1A"/>
                  </a:solidFill>
                  <a:latin typeface="微软雅黑" panose="020B0503020204020204" pitchFamily="34" charset="-122"/>
                  <a:cs typeface="Huawei Sans" panose="020C0503030203020204" pitchFamily="34" charset="0"/>
                </a:rPr>
                <a:t>Data plane verification for UB</a:t>
              </a:r>
              <a:endParaRPr lang="zh-CN" altLang="en-US" sz="1100" kern="0" dirty="0">
                <a:solidFill>
                  <a:srgbClr val="1D1D1A"/>
                </a:solidFill>
                <a:latin typeface="微软雅黑" panose="020B0503020204020204" pitchFamily="34" charset="-122"/>
              </a:endParaRPr>
            </a:p>
          </p:txBody>
        </p:sp>
        <p:sp>
          <p:nvSpPr>
            <p:cNvPr id="246" name="矩形: 圆角 21">
              <a:extLst>
                <a:ext uri="{FF2B5EF4-FFF2-40B4-BE49-F238E27FC236}">
                  <a16:creationId xmlns:a16="http://schemas.microsoft.com/office/drawing/2014/main" id="{4E0613C1-293E-47B5-9492-CED343672AEF}"/>
                </a:ext>
              </a:extLst>
            </p:cNvPr>
            <p:cNvSpPr/>
            <p:nvPr/>
          </p:nvSpPr>
          <p:spPr>
            <a:xfrm>
              <a:off x="5502256" y="1957229"/>
              <a:ext cx="3310324" cy="671763"/>
            </a:xfrm>
            <a:prstGeom prst="rect">
              <a:avLst/>
            </a:prstGeom>
            <a:noFill/>
            <a:ln w="12700" cap="flat" cmpd="sng" algn="ctr">
              <a:solidFill>
                <a:srgbClr val="0E2841"/>
              </a:solidFill>
              <a:prstDash val="dash"/>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666666"/>
                </a:solidFill>
                <a:effectLst/>
                <a:uLnTx/>
                <a:uFillTx/>
                <a:latin typeface="微软雅黑" panose="020B0503020204020204" pitchFamily="34" charset="-122"/>
              </a:endParaRPr>
            </a:p>
          </p:txBody>
        </p:sp>
        <p:sp>
          <p:nvSpPr>
            <p:cNvPr id="247" name="矩形 246">
              <a:extLst>
                <a:ext uri="{FF2B5EF4-FFF2-40B4-BE49-F238E27FC236}">
                  <a16:creationId xmlns:a16="http://schemas.microsoft.com/office/drawing/2014/main" id="{EBE3ECC5-0656-4A7C-80E8-2AC5335C4F92}"/>
                </a:ext>
              </a:extLst>
            </p:cNvPr>
            <p:cNvSpPr/>
            <p:nvPr/>
          </p:nvSpPr>
          <p:spPr>
            <a:xfrm>
              <a:off x="5480551" y="1986448"/>
              <a:ext cx="2079881" cy="261610"/>
            </a:xfrm>
            <a:prstGeom prst="rect">
              <a:avLst/>
            </a:prstGeom>
          </p:spPr>
          <p:txBody>
            <a:bodyPr wrap="square">
              <a:spAutoFit/>
            </a:bodyPr>
            <a:lstStyle/>
            <a:p>
              <a:pPr>
                <a:defRPr/>
              </a:pPr>
              <a:r>
                <a:rPr lang="en-US" altLang="zh-CN" sz="1100" i="1" kern="0" dirty="0">
                  <a:solidFill>
                    <a:prstClr val="black"/>
                  </a:solidFill>
                  <a:latin typeface="微软雅黑" panose="020B0503020204020204" pitchFamily="34" charset="-122"/>
                  <a:cs typeface="Huawei Sans" panose="020C0503030203020204" pitchFamily="34" charset="0"/>
                </a:rPr>
                <a:t>UB Control Plane Model</a:t>
              </a:r>
              <a:endParaRPr lang="zh-CN" altLang="en-US" sz="1100" i="1" dirty="0">
                <a:solidFill>
                  <a:prstClr val="black"/>
                </a:solidFill>
                <a:latin typeface="微软雅黑" panose="020B0503020204020204" pitchFamily="34" charset="-122"/>
              </a:endParaRPr>
            </a:p>
          </p:txBody>
        </p:sp>
        <p:sp>
          <p:nvSpPr>
            <p:cNvPr id="248" name="矩形 247">
              <a:extLst>
                <a:ext uri="{FF2B5EF4-FFF2-40B4-BE49-F238E27FC236}">
                  <a16:creationId xmlns:a16="http://schemas.microsoft.com/office/drawing/2014/main" id="{08A9C9DB-44CD-4FD4-B33F-8139F7B765B0}"/>
                </a:ext>
              </a:extLst>
            </p:cNvPr>
            <p:cNvSpPr/>
            <p:nvPr/>
          </p:nvSpPr>
          <p:spPr>
            <a:xfrm>
              <a:off x="5897208" y="2240599"/>
              <a:ext cx="954841" cy="300478"/>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defRPr/>
              </a:pPr>
              <a:r>
                <a:rPr lang="en-US" altLang="zh-CN" sz="1100" kern="0" dirty="0">
                  <a:solidFill>
                    <a:srgbClr val="1D1D1A"/>
                  </a:solidFill>
                  <a:latin typeface="微软雅黑" panose="020B0503020204020204" pitchFamily="34" charset="-122"/>
                </a:rPr>
                <a:t>Routing</a:t>
              </a:r>
              <a:endParaRPr lang="zh-CN" altLang="en-US" sz="1100" kern="0" dirty="0">
                <a:solidFill>
                  <a:srgbClr val="1D1D1A"/>
                </a:solidFill>
                <a:latin typeface="微软雅黑" panose="020B0503020204020204" pitchFamily="34" charset="-122"/>
              </a:endParaRPr>
            </a:p>
          </p:txBody>
        </p:sp>
        <p:sp>
          <p:nvSpPr>
            <p:cNvPr id="249" name="矩形 248">
              <a:extLst>
                <a:ext uri="{FF2B5EF4-FFF2-40B4-BE49-F238E27FC236}">
                  <a16:creationId xmlns:a16="http://schemas.microsoft.com/office/drawing/2014/main" id="{FADE9EB9-EB98-4DBF-BFBD-48ADA551F9E8}"/>
                </a:ext>
              </a:extLst>
            </p:cNvPr>
            <p:cNvSpPr/>
            <p:nvPr/>
          </p:nvSpPr>
          <p:spPr>
            <a:xfrm>
              <a:off x="7216335" y="2254149"/>
              <a:ext cx="1410739" cy="304120"/>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defRPr/>
              </a:pPr>
              <a:r>
                <a:rPr lang="en-US" altLang="zh-CN" sz="1100" kern="0" dirty="0">
                  <a:solidFill>
                    <a:srgbClr val="1D1D1A"/>
                  </a:solidFill>
                  <a:latin typeface="微软雅黑" panose="020B0503020204020204" pitchFamily="34" charset="-122"/>
                </a:rPr>
                <a:t>Load-balance</a:t>
              </a:r>
              <a:endParaRPr lang="zh-CN" altLang="en-US" sz="1100" kern="0" dirty="0">
                <a:solidFill>
                  <a:srgbClr val="1D1D1A"/>
                </a:solidFill>
                <a:latin typeface="微软雅黑" panose="020B0503020204020204" pitchFamily="34" charset="-122"/>
              </a:endParaRPr>
            </a:p>
          </p:txBody>
        </p:sp>
        <p:sp>
          <p:nvSpPr>
            <p:cNvPr id="250" name="矩形: 圆角 21">
              <a:extLst>
                <a:ext uri="{FF2B5EF4-FFF2-40B4-BE49-F238E27FC236}">
                  <a16:creationId xmlns:a16="http://schemas.microsoft.com/office/drawing/2014/main" id="{78872C23-6312-464E-B68E-7F8FE2B71997}"/>
                </a:ext>
              </a:extLst>
            </p:cNvPr>
            <p:cNvSpPr/>
            <p:nvPr/>
          </p:nvSpPr>
          <p:spPr>
            <a:xfrm>
              <a:off x="5502257" y="2777139"/>
              <a:ext cx="3310324" cy="1905044"/>
            </a:xfrm>
            <a:prstGeom prst="rect">
              <a:avLst/>
            </a:prstGeom>
            <a:solidFill>
              <a:srgbClr val="FFFFFF">
                <a:lumMod val="95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defRPr/>
              </a:pPr>
              <a:endParaRPr lang="zh-CN" altLang="en-US" sz="1100" kern="0">
                <a:solidFill>
                  <a:srgbClr val="1D1D1A"/>
                </a:solidFill>
                <a:latin typeface="微软雅黑" panose="020B0503020204020204" pitchFamily="34" charset="-122"/>
              </a:endParaRPr>
            </a:p>
          </p:txBody>
        </p:sp>
        <p:sp>
          <p:nvSpPr>
            <p:cNvPr id="251" name="矩形 250">
              <a:extLst>
                <a:ext uri="{FF2B5EF4-FFF2-40B4-BE49-F238E27FC236}">
                  <a16:creationId xmlns:a16="http://schemas.microsoft.com/office/drawing/2014/main" id="{6F8D59F7-B5A4-4B1B-B917-51E07477FAF8}"/>
                </a:ext>
              </a:extLst>
            </p:cNvPr>
            <p:cNvSpPr/>
            <p:nvPr/>
          </p:nvSpPr>
          <p:spPr>
            <a:xfrm>
              <a:off x="6413526" y="2789322"/>
              <a:ext cx="1666539" cy="261610"/>
            </a:xfrm>
            <a:prstGeom prst="rect">
              <a:avLst/>
            </a:prstGeom>
          </p:spPr>
          <p:txBody>
            <a:bodyPr wrap="square">
              <a:spAutoFit/>
            </a:bodyPr>
            <a:lstStyle/>
            <a:p>
              <a:pPr>
                <a:defRPr/>
              </a:pPr>
              <a:r>
                <a:rPr lang="en-US" altLang="zh-CN" sz="1100" dirty="0">
                  <a:solidFill>
                    <a:srgbClr val="1D1D1A"/>
                  </a:solidFill>
                  <a:latin typeface="微软雅黑" panose="020B0503020204020204" pitchFamily="34" charset="-122"/>
                  <a:cs typeface="Huawei Sans" panose="020C0503030203020204" pitchFamily="34" charset="0"/>
                </a:rPr>
                <a:t>UB Data Plane Model</a:t>
              </a:r>
              <a:endParaRPr lang="zh-CN" altLang="en-US" sz="1100" dirty="0">
                <a:solidFill>
                  <a:srgbClr val="1D1D1A"/>
                </a:solidFill>
                <a:latin typeface="微软雅黑" panose="020B0503020204020204" pitchFamily="34" charset="-122"/>
              </a:endParaRPr>
            </a:p>
          </p:txBody>
        </p:sp>
        <p:sp>
          <p:nvSpPr>
            <p:cNvPr id="252" name="矩形: 折角 251">
              <a:extLst>
                <a:ext uri="{FF2B5EF4-FFF2-40B4-BE49-F238E27FC236}">
                  <a16:creationId xmlns:a16="http://schemas.microsoft.com/office/drawing/2014/main" id="{FCC2BAA8-4BDE-40B5-860F-AAAB13CCB219}"/>
                </a:ext>
              </a:extLst>
            </p:cNvPr>
            <p:cNvSpPr/>
            <p:nvPr/>
          </p:nvSpPr>
          <p:spPr>
            <a:xfrm>
              <a:off x="5518434" y="1524026"/>
              <a:ext cx="1506713" cy="299070"/>
            </a:xfrm>
            <a:prstGeom prst="foldedCorner">
              <a:avLst/>
            </a:prstGeom>
            <a:solidFill>
              <a:srgbClr val="FCC800">
                <a:lumMod val="60000"/>
                <a:lumOff val="4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altLang="zh-CN" sz="1200" i="1" kern="0" dirty="0">
                  <a:solidFill>
                    <a:srgbClr val="1D1D1A"/>
                  </a:solidFill>
                  <a:latin typeface="微软雅黑" panose="020B0503020204020204" pitchFamily="34" charset="-122"/>
                </a:rPr>
                <a:t>Configuration</a:t>
              </a:r>
              <a:endParaRPr lang="zh-CN" altLang="en-US" sz="1200" i="1" kern="0" dirty="0">
                <a:solidFill>
                  <a:srgbClr val="1D1D1A"/>
                </a:solidFill>
                <a:latin typeface="微软雅黑" panose="020B0503020204020204" pitchFamily="34" charset="-122"/>
              </a:endParaRPr>
            </a:p>
          </p:txBody>
        </p:sp>
        <p:sp>
          <p:nvSpPr>
            <p:cNvPr id="253" name="矩形: 折角 252">
              <a:extLst>
                <a:ext uri="{FF2B5EF4-FFF2-40B4-BE49-F238E27FC236}">
                  <a16:creationId xmlns:a16="http://schemas.microsoft.com/office/drawing/2014/main" id="{838B1E02-D46B-4505-9C71-9233F312B4E5}"/>
                </a:ext>
              </a:extLst>
            </p:cNvPr>
            <p:cNvSpPr/>
            <p:nvPr/>
          </p:nvSpPr>
          <p:spPr>
            <a:xfrm>
              <a:off x="7305867" y="1524025"/>
              <a:ext cx="1506713" cy="296808"/>
            </a:xfrm>
            <a:prstGeom prst="foldedCorner">
              <a:avLst/>
            </a:prstGeom>
            <a:solidFill>
              <a:srgbClr val="FCC800">
                <a:lumMod val="60000"/>
                <a:lumOff val="4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altLang="zh-CN" sz="1200" i="1" kern="0" dirty="0">
                  <a:solidFill>
                    <a:srgbClr val="1D1D1A"/>
                  </a:solidFill>
                  <a:latin typeface="微软雅黑" panose="020B0503020204020204" pitchFamily="34" charset="-122"/>
                  <a:cs typeface="Huawei Sans" panose="020C0503030203020204" pitchFamily="34" charset="0"/>
                </a:rPr>
                <a:t>UB Topology</a:t>
              </a:r>
              <a:endParaRPr lang="zh-CN" altLang="en-US" sz="1200" i="1" kern="0" dirty="0">
                <a:solidFill>
                  <a:srgbClr val="1D1D1A"/>
                </a:solidFill>
                <a:latin typeface="微软雅黑" panose="020B0503020204020204" pitchFamily="34" charset="-122"/>
              </a:endParaRPr>
            </a:p>
          </p:txBody>
        </p:sp>
        <p:pic>
          <p:nvPicPr>
            <p:cNvPr id="254" name="Picture 27">
              <a:extLst>
                <a:ext uri="{FF2B5EF4-FFF2-40B4-BE49-F238E27FC236}">
                  <a16:creationId xmlns:a16="http://schemas.microsoft.com/office/drawing/2014/main" id="{72166185-9BE2-4462-A88E-2AD343720D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4216" y="4003471"/>
              <a:ext cx="377778" cy="275172"/>
            </a:xfrm>
            <a:prstGeom prst="rect">
              <a:avLst/>
            </a:prstGeom>
            <a:noFill/>
            <a:extLst>
              <a:ext uri="{909E8E84-426E-40DD-AFC4-6F175D3DCCD1}">
                <a14:hiddenFill xmlns:a14="http://schemas.microsoft.com/office/drawing/2010/main">
                  <a:solidFill>
                    <a:srgbClr val="FFFFFF"/>
                  </a:solidFill>
                </a14:hiddenFill>
              </a:ext>
            </a:extLst>
          </p:spPr>
        </p:pic>
        <p:pic>
          <p:nvPicPr>
            <p:cNvPr id="255" name="Picture 27">
              <a:extLst>
                <a:ext uri="{FF2B5EF4-FFF2-40B4-BE49-F238E27FC236}">
                  <a16:creationId xmlns:a16="http://schemas.microsoft.com/office/drawing/2014/main" id="{3CFA4D09-8F45-4F27-A29A-23F91C7F2B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2175" y="4003471"/>
              <a:ext cx="377778" cy="275172"/>
            </a:xfrm>
            <a:prstGeom prst="rect">
              <a:avLst/>
            </a:prstGeom>
            <a:noFill/>
            <a:extLst>
              <a:ext uri="{909E8E84-426E-40DD-AFC4-6F175D3DCCD1}">
                <a14:hiddenFill xmlns:a14="http://schemas.microsoft.com/office/drawing/2010/main">
                  <a:solidFill>
                    <a:srgbClr val="FFFFFF"/>
                  </a:solidFill>
                </a14:hiddenFill>
              </a:ext>
            </a:extLst>
          </p:spPr>
        </p:pic>
        <p:pic>
          <p:nvPicPr>
            <p:cNvPr id="256" name="Picture 27">
              <a:extLst>
                <a:ext uri="{FF2B5EF4-FFF2-40B4-BE49-F238E27FC236}">
                  <a16:creationId xmlns:a16="http://schemas.microsoft.com/office/drawing/2014/main" id="{BC322C3C-6101-4BF8-9AC2-74A6033EE0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4217" y="3222215"/>
              <a:ext cx="377778" cy="275172"/>
            </a:xfrm>
            <a:prstGeom prst="rect">
              <a:avLst/>
            </a:prstGeom>
            <a:noFill/>
            <a:extLst>
              <a:ext uri="{909E8E84-426E-40DD-AFC4-6F175D3DCCD1}">
                <a14:hiddenFill xmlns:a14="http://schemas.microsoft.com/office/drawing/2010/main">
                  <a:solidFill>
                    <a:srgbClr val="FFFFFF"/>
                  </a:solidFill>
                </a14:hiddenFill>
              </a:ext>
            </a:extLst>
          </p:spPr>
        </p:pic>
        <p:pic>
          <p:nvPicPr>
            <p:cNvPr id="257" name="Picture 27">
              <a:extLst>
                <a:ext uri="{FF2B5EF4-FFF2-40B4-BE49-F238E27FC236}">
                  <a16:creationId xmlns:a16="http://schemas.microsoft.com/office/drawing/2014/main" id="{85CC221B-045E-4E75-85B9-5FBF1452CC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2175" y="3222215"/>
              <a:ext cx="377778" cy="275172"/>
            </a:xfrm>
            <a:prstGeom prst="rect">
              <a:avLst/>
            </a:prstGeom>
            <a:noFill/>
            <a:extLst>
              <a:ext uri="{909E8E84-426E-40DD-AFC4-6F175D3DCCD1}">
                <a14:hiddenFill xmlns:a14="http://schemas.microsoft.com/office/drawing/2010/main">
                  <a:solidFill>
                    <a:srgbClr val="FFFFFF"/>
                  </a:solidFill>
                </a14:hiddenFill>
              </a:ext>
            </a:extLst>
          </p:spPr>
        </p:pic>
        <p:cxnSp>
          <p:nvCxnSpPr>
            <p:cNvPr id="258" name="直接连接符 257">
              <a:extLst>
                <a:ext uri="{FF2B5EF4-FFF2-40B4-BE49-F238E27FC236}">
                  <a16:creationId xmlns:a16="http://schemas.microsoft.com/office/drawing/2014/main" id="{0D9B9116-66F7-4329-89A3-5319C834BB07}"/>
                </a:ext>
              </a:extLst>
            </p:cNvPr>
            <p:cNvCxnSpPr>
              <a:cxnSpLocks/>
              <a:stCxn id="256" idx="2"/>
              <a:endCxn id="254" idx="0"/>
            </p:cNvCxnSpPr>
            <p:nvPr/>
          </p:nvCxnSpPr>
          <p:spPr>
            <a:xfrm flipH="1">
              <a:off x="7413105" y="3497387"/>
              <a:ext cx="1" cy="506084"/>
            </a:xfrm>
            <a:prstGeom prst="line">
              <a:avLst/>
            </a:prstGeom>
            <a:noFill/>
            <a:ln w="6350" cap="flat" cmpd="sng" algn="ctr">
              <a:solidFill>
                <a:srgbClr val="1D1D1A"/>
              </a:solidFill>
              <a:prstDash val="solid"/>
              <a:miter lim="800000"/>
            </a:ln>
            <a:effectLst/>
          </p:spPr>
        </p:cxnSp>
        <p:cxnSp>
          <p:nvCxnSpPr>
            <p:cNvPr id="259" name="直接连接符 258">
              <a:extLst>
                <a:ext uri="{FF2B5EF4-FFF2-40B4-BE49-F238E27FC236}">
                  <a16:creationId xmlns:a16="http://schemas.microsoft.com/office/drawing/2014/main" id="{79BBC4E0-FE6F-465E-B99B-A0790703F372}"/>
                </a:ext>
              </a:extLst>
            </p:cNvPr>
            <p:cNvCxnSpPr>
              <a:cxnSpLocks/>
              <a:stCxn id="256" idx="2"/>
              <a:endCxn id="255" idx="0"/>
            </p:cNvCxnSpPr>
            <p:nvPr/>
          </p:nvCxnSpPr>
          <p:spPr>
            <a:xfrm>
              <a:off x="7413106" y="3497387"/>
              <a:ext cx="957958" cy="506084"/>
            </a:xfrm>
            <a:prstGeom prst="line">
              <a:avLst/>
            </a:prstGeom>
            <a:noFill/>
            <a:ln w="6350" cap="flat" cmpd="sng" algn="ctr">
              <a:solidFill>
                <a:srgbClr val="1D1D1A"/>
              </a:solidFill>
              <a:prstDash val="solid"/>
              <a:miter lim="800000"/>
            </a:ln>
            <a:effectLst/>
          </p:spPr>
        </p:cxnSp>
        <p:cxnSp>
          <p:nvCxnSpPr>
            <p:cNvPr id="260" name="直接连接符 259">
              <a:extLst>
                <a:ext uri="{FF2B5EF4-FFF2-40B4-BE49-F238E27FC236}">
                  <a16:creationId xmlns:a16="http://schemas.microsoft.com/office/drawing/2014/main" id="{8DA63AD4-B693-4892-975E-0FEF91B3239E}"/>
                </a:ext>
              </a:extLst>
            </p:cNvPr>
            <p:cNvCxnSpPr>
              <a:cxnSpLocks/>
              <a:stCxn id="256" idx="2"/>
              <a:endCxn id="257" idx="2"/>
            </p:cNvCxnSpPr>
            <p:nvPr/>
          </p:nvCxnSpPr>
          <p:spPr>
            <a:xfrm>
              <a:off x="7413106" y="3497387"/>
              <a:ext cx="957958" cy="0"/>
            </a:xfrm>
            <a:prstGeom prst="line">
              <a:avLst/>
            </a:prstGeom>
            <a:noFill/>
            <a:ln w="6350" cap="flat" cmpd="sng" algn="ctr">
              <a:solidFill>
                <a:srgbClr val="1D1D1A"/>
              </a:solidFill>
              <a:prstDash val="solid"/>
              <a:miter lim="800000"/>
            </a:ln>
            <a:effectLst/>
          </p:spPr>
        </p:cxnSp>
        <p:cxnSp>
          <p:nvCxnSpPr>
            <p:cNvPr id="261" name="直接连接符 260">
              <a:extLst>
                <a:ext uri="{FF2B5EF4-FFF2-40B4-BE49-F238E27FC236}">
                  <a16:creationId xmlns:a16="http://schemas.microsoft.com/office/drawing/2014/main" id="{114F9557-C65A-4B00-B705-0C5DB89D814F}"/>
                </a:ext>
              </a:extLst>
            </p:cNvPr>
            <p:cNvCxnSpPr>
              <a:cxnSpLocks/>
              <a:stCxn id="255" idx="0"/>
              <a:endCxn id="257" idx="2"/>
            </p:cNvCxnSpPr>
            <p:nvPr/>
          </p:nvCxnSpPr>
          <p:spPr>
            <a:xfrm flipV="1">
              <a:off x="8371064" y="3497387"/>
              <a:ext cx="0" cy="506084"/>
            </a:xfrm>
            <a:prstGeom prst="line">
              <a:avLst/>
            </a:prstGeom>
            <a:noFill/>
            <a:ln w="6350" cap="flat" cmpd="sng" algn="ctr">
              <a:solidFill>
                <a:srgbClr val="1D1D1A"/>
              </a:solidFill>
              <a:prstDash val="solid"/>
              <a:miter lim="800000"/>
            </a:ln>
            <a:effectLst/>
          </p:spPr>
        </p:cxnSp>
        <p:cxnSp>
          <p:nvCxnSpPr>
            <p:cNvPr id="262" name="直接连接符 261">
              <a:extLst>
                <a:ext uri="{FF2B5EF4-FFF2-40B4-BE49-F238E27FC236}">
                  <a16:creationId xmlns:a16="http://schemas.microsoft.com/office/drawing/2014/main" id="{761BBDB4-D400-4BC4-8306-5D2FA1DECE65}"/>
                </a:ext>
              </a:extLst>
            </p:cNvPr>
            <p:cNvCxnSpPr>
              <a:cxnSpLocks/>
              <a:stCxn id="254" idx="0"/>
              <a:endCxn id="257" idx="2"/>
            </p:cNvCxnSpPr>
            <p:nvPr/>
          </p:nvCxnSpPr>
          <p:spPr>
            <a:xfrm flipV="1">
              <a:off x="7413105" y="3497387"/>
              <a:ext cx="957959" cy="506084"/>
            </a:xfrm>
            <a:prstGeom prst="line">
              <a:avLst/>
            </a:prstGeom>
            <a:noFill/>
            <a:ln w="6350" cap="flat" cmpd="sng" algn="ctr">
              <a:solidFill>
                <a:srgbClr val="1D1D1A"/>
              </a:solidFill>
              <a:prstDash val="solid"/>
              <a:miter lim="800000"/>
            </a:ln>
            <a:effectLst/>
          </p:spPr>
        </p:cxnSp>
        <p:cxnSp>
          <p:nvCxnSpPr>
            <p:cNvPr id="263" name="直接连接符 262">
              <a:extLst>
                <a:ext uri="{FF2B5EF4-FFF2-40B4-BE49-F238E27FC236}">
                  <a16:creationId xmlns:a16="http://schemas.microsoft.com/office/drawing/2014/main" id="{90E61168-63D6-4902-A20A-649A35A5F440}"/>
                </a:ext>
              </a:extLst>
            </p:cNvPr>
            <p:cNvCxnSpPr>
              <a:cxnSpLocks/>
              <a:stCxn id="254" idx="0"/>
              <a:endCxn id="255" idx="0"/>
            </p:cNvCxnSpPr>
            <p:nvPr/>
          </p:nvCxnSpPr>
          <p:spPr>
            <a:xfrm>
              <a:off x="7413105" y="4003471"/>
              <a:ext cx="957959" cy="0"/>
            </a:xfrm>
            <a:prstGeom prst="line">
              <a:avLst/>
            </a:prstGeom>
            <a:noFill/>
            <a:ln w="6350" cap="flat" cmpd="sng" algn="ctr">
              <a:solidFill>
                <a:srgbClr val="1D1D1A"/>
              </a:solidFill>
              <a:prstDash val="solid"/>
              <a:miter lim="800000"/>
            </a:ln>
            <a:effectLst/>
          </p:spPr>
        </p:cxnSp>
        <p:sp>
          <p:nvSpPr>
            <p:cNvPr id="264" name="文本框 263">
              <a:extLst>
                <a:ext uri="{FF2B5EF4-FFF2-40B4-BE49-F238E27FC236}">
                  <a16:creationId xmlns:a16="http://schemas.microsoft.com/office/drawing/2014/main" id="{78215851-3A19-488E-B45A-A9DBCC8FB040}"/>
                </a:ext>
              </a:extLst>
            </p:cNvPr>
            <p:cNvSpPr txBox="1"/>
            <p:nvPr/>
          </p:nvSpPr>
          <p:spPr>
            <a:xfrm>
              <a:off x="7108694" y="3268243"/>
              <a:ext cx="99386" cy="169277"/>
            </a:xfrm>
            <a:prstGeom prst="rect">
              <a:avLst/>
            </a:prstGeom>
            <a:noFill/>
          </p:spPr>
          <p:txBody>
            <a:bodyPr wrap="none" lIns="0" tIns="0" rIns="0" bIns="0" rtlCol="0">
              <a:spAutoFit/>
            </a:bodyPr>
            <a:lstStyle/>
            <a:p>
              <a:pPr algn="ctr">
                <a:defRPr/>
              </a:pPr>
              <a:r>
                <a:rPr lang="en-US" altLang="zh-CN" sz="1100" kern="0" dirty="0">
                  <a:solidFill>
                    <a:srgbClr val="1D1D1A"/>
                  </a:solidFill>
                  <a:latin typeface="微软雅黑" panose="020B0503020204020204" pitchFamily="34" charset="-122"/>
                  <a:cs typeface="Huawei Sans" panose="020C0503030203020204" pitchFamily="34" charset="0"/>
                </a:rPr>
                <a:t>A</a:t>
              </a:r>
              <a:endParaRPr lang="zh-CN" altLang="en-US" sz="1100" kern="0" dirty="0">
                <a:solidFill>
                  <a:srgbClr val="1D1D1A"/>
                </a:solidFill>
                <a:latin typeface="微软雅黑" panose="020B0503020204020204" pitchFamily="34" charset="-122"/>
                <a:cs typeface="Huawei Sans" panose="020C0503030203020204" pitchFamily="34" charset="0"/>
              </a:endParaRPr>
            </a:p>
          </p:txBody>
        </p:sp>
        <p:sp>
          <p:nvSpPr>
            <p:cNvPr id="265" name="文本框 264">
              <a:extLst>
                <a:ext uri="{FF2B5EF4-FFF2-40B4-BE49-F238E27FC236}">
                  <a16:creationId xmlns:a16="http://schemas.microsoft.com/office/drawing/2014/main" id="{AE1B90E2-9F16-4ECF-BE4B-8FDD3DB95B68}"/>
                </a:ext>
              </a:extLst>
            </p:cNvPr>
            <p:cNvSpPr txBox="1"/>
            <p:nvPr/>
          </p:nvSpPr>
          <p:spPr>
            <a:xfrm>
              <a:off x="7106942" y="4049499"/>
              <a:ext cx="94578" cy="169277"/>
            </a:xfrm>
            <a:prstGeom prst="rect">
              <a:avLst/>
            </a:prstGeom>
            <a:noFill/>
          </p:spPr>
          <p:txBody>
            <a:bodyPr wrap="none" lIns="0" tIns="0" rIns="0" bIns="0" rtlCol="0">
              <a:spAutoFit/>
            </a:bodyPr>
            <a:lstStyle/>
            <a:p>
              <a:pPr algn="ctr">
                <a:defRPr/>
              </a:pPr>
              <a:r>
                <a:rPr lang="en-US" altLang="zh-CN" sz="1100" kern="0" dirty="0">
                  <a:solidFill>
                    <a:srgbClr val="1D1D1A"/>
                  </a:solidFill>
                  <a:latin typeface="微软雅黑" panose="020B0503020204020204" pitchFamily="34" charset="-122"/>
                  <a:cs typeface="Huawei Sans" panose="020C0503030203020204" pitchFamily="34" charset="0"/>
                </a:rPr>
                <a:t>C</a:t>
              </a:r>
              <a:endParaRPr lang="zh-CN" altLang="en-US" sz="1100" kern="0" dirty="0">
                <a:solidFill>
                  <a:srgbClr val="1D1D1A"/>
                </a:solidFill>
                <a:latin typeface="微软雅黑" panose="020B0503020204020204" pitchFamily="34" charset="-122"/>
                <a:cs typeface="Huawei Sans" panose="020C0503030203020204" pitchFamily="34" charset="0"/>
              </a:endParaRPr>
            </a:p>
          </p:txBody>
        </p:sp>
        <p:sp>
          <p:nvSpPr>
            <p:cNvPr id="266" name="文本框 265">
              <a:extLst>
                <a:ext uri="{FF2B5EF4-FFF2-40B4-BE49-F238E27FC236}">
                  <a16:creationId xmlns:a16="http://schemas.microsoft.com/office/drawing/2014/main" id="{4D07D308-8C52-444B-9CB0-2464B4697977}"/>
                </a:ext>
              </a:extLst>
            </p:cNvPr>
            <p:cNvSpPr txBox="1"/>
            <p:nvPr/>
          </p:nvSpPr>
          <p:spPr>
            <a:xfrm>
              <a:off x="8639455" y="3268243"/>
              <a:ext cx="88166" cy="169277"/>
            </a:xfrm>
            <a:prstGeom prst="rect">
              <a:avLst/>
            </a:prstGeom>
            <a:noFill/>
          </p:spPr>
          <p:txBody>
            <a:bodyPr wrap="none" lIns="0" tIns="0" rIns="0" bIns="0" rtlCol="0">
              <a:spAutoFit/>
            </a:bodyPr>
            <a:lstStyle/>
            <a:p>
              <a:pPr algn="ctr">
                <a:defRPr/>
              </a:pPr>
              <a:r>
                <a:rPr lang="en-US" altLang="zh-CN" sz="1100" kern="0" dirty="0">
                  <a:solidFill>
                    <a:srgbClr val="1D1D1A"/>
                  </a:solidFill>
                  <a:latin typeface="微软雅黑" panose="020B0503020204020204" pitchFamily="34" charset="-122"/>
                  <a:cs typeface="Huawei Sans" panose="020C0503030203020204" pitchFamily="34" charset="0"/>
                </a:rPr>
                <a:t>B</a:t>
              </a:r>
              <a:endParaRPr lang="zh-CN" altLang="en-US" sz="1100" kern="0" dirty="0">
                <a:solidFill>
                  <a:srgbClr val="1D1D1A"/>
                </a:solidFill>
                <a:latin typeface="微软雅黑" panose="020B0503020204020204" pitchFamily="34" charset="-122"/>
                <a:cs typeface="Huawei Sans" panose="020C0503030203020204" pitchFamily="34" charset="0"/>
              </a:endParaRPr>
            </a:p>
          </p:txBody>
        </p:sp>
        <p:sp>
          <p:nvSpPr>
            <p:cNvPr id="267" name="文本框 266">
              <a:extLst>
                <a:ext uri="{FF2B5EF4-FFF2-40B4-BE49-F238E27FC236}">
                  <a16:creationId xmlns:a16="http://schemas.microsoft.com/office/drawing/2014/main" id="{68445EFE-B7EB-45B0-BC7C-485E6D073DDE}"/>
                </a:ext>
              </a:extLst>
            </p:cNvPr>
            <p:cNvSpPr txBox="1"/>
            <p:nvPr/>
          </p:nvSpPr>
          <p:spPr>
            <a:xfrm>
              <a:off x="8633845" y="4049499"/>
              <a:ext cx="107401" cy="169277"/>
            </a:xfrm>
            <a:prstGeom prst="rect">
              <a:avLst/>
            </a:prstGeom>
            <a:noFill/>
          </p:spPr>
          <p:txBody>
            <a:bodyPr wrap="none" lIns="0" tIns="0" rIns="0" bIns="0" rtlCol="0">
              <a:spAutoFit/>
            </a:bodyPr>
            <a:lstStyle/>
            <a:p>
              <a:pPr algn="ctr">
                <a:defRPr/>
              </a:pPr>
              <a:r>
                <a:rPr lang="en-US" altLang="zh-CN" sz="1100" kern="0" dirty="0">
                  <a:solidFill>
                    <a:srgbClr val="1D1D1A"/>
                  </a:solidFill>
                  <a:latin typeface="微软雅黑" panose="020B0503020204020204" pitchFamily="34" charset="-122"/>
                  <a:cs typeface="Huawei Sans" panose="020C0503030203020204" pitchFamily="34" charset="0"/>
                </a:rPr>
                <a:t>D</a:t>
              </a:r>
              <a:endParaRPr lang="zh-CN" altLang="en-US" sz="1100" kern="0" dirty="0">
                <a:solidFill>
                  <a:srgbClr val="1D1D1A"/>
                </a:solidFill>
                <a:latin typeface="微软雅黑" panose="020B0503020204020204" pitchFamily="34" charset="-122"/>
                <a:cs typeface="Huawei Sans" panose="020C0503030203020204" pitchFamily="34" charset="0"/>
              </a:endParaRPr>
            </a:p>
          </p:txBody>
        </p:sp>
        <p:sp>
          <p:nvSpPr>
            <p:cNvPr id="268" name="矩形: 圆角 21">
              <a:extLst>
                <a:ext uri="{FF2B5EF4-FFF2-40B4-BE49-F238E27FC236}">
                  <a16:creationId xmlns:a16="http://schemas.microsoft.com/office/drawing/2014/main" id="{7A871CC2-677E-45D6-AB60-D78193A43DE9}"/>
                </a:ext>
              </a:extLst>
            </p:cNvPr>
            <p:cNvSpPr/>
            <p:nvPr/>
          </p:nvSpPr>
          <p:spPr>
            <a:xfrm>
              <a:off x="5653654" y="3222215"/>
              <a:ext cx="1262270" cy="603411"/>
            </a:xfrm>
            <a:prstGeom prst="rect">
              <a:avLst/>
            </a:prstGeom>
            <a:noFill/>
            <a:ln w="12700"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defRPr/>
              </a:pPr>
              <a:r>
                <a:rPr lang="en-US" altLang="zh-CN" sz="1050" kern="0" dirty="0">
                  <a:solidFill>
                    <a:srgbClr val="1D1D1A"/>
                  </a:solidFill>
                  <a:latin typeface="微软雅黑" panose="020B0503020204020204" pitchFamily="34" charset="-122"/>
                </a:rPr>
                <a:t>FIB of A</a:t>
              </a:r>
            </a:p>
            <a:p>
              <a:pPr>
                <a:defRPr/>
              </a:pPr>
              <a:r>
                <a:rPr lang="en-US" altLang="zh-CN" sz="1050" kern="0" dirty="0">
                  <a:solidFill>
                    <a:srgbClr val="1D1D1A"/>
                  </a:solidFill>
                  <a:latin typeface="微软雅黑" panose="020B0503020204020204" pitchFamily="34" charset="-122"/>
                </a:rPr>
                <a:t>FIB of B</a:t>
              </a:r>
            </a:p>
            <a:p>
              <a:pPr>
                <a:defRPr/>
              </a:pPr>
              <a:r>
                <a:rPr lang="en-US" altLang="zh-CN" sz="1050" kern="0" dirty="0">
                  <a:solidFill>
                    <a:srgbClr val="1D1D1A"/>
                  </a:solidFill>
                  <a:latin typeface="微软雅黑" panose="020B0503020204020204" pitchFamily="34" charset="-122"/>
                </a:rPr>
                <a:t>…</a:t>
              </a:r>
              <a:endParaRPr lang="zh-CN" altLang="en-US" sz="1050" kern="0" dirty="0">
                <a:solidFill>
                  <a:srgbClr val="1D1D1A"/>
                </a:solidFill>
                <a:latin typeface="微软雅黑" panose="020B0503020204020204" pitchFamily="34" charset="-122"/>
              </a:endParaRPr>
            </a:p>
          </p:txBody>
        </p:sp>
        <p:sp>
          <p:nvSpPr>
            <p:cNvPr id="269" name="矩形: 圆角 21">
              <a:extLst>
                <a:ext uri="{FF2B5EF4-FFF2-40B4-BE49-F238E27FC236}">
                  <a16:creationId xmlns:a16="http://schemas.microsoft.com/office/drawing/2014/main" id="{44B2B6C2-D0F8-4AE9-AB72-9CDC621A7AD9}"/>
                </a:ext>
              </a:extLst>
            </p:cNvPr>
            <p:cNvSpPr/>
            <p:nvPr/>
          </p:nvSpPr>
          <p:spPr>
            <a:xfrm>
              <a:off x="5660175" y="4118692"/>
              <a:ext cx="1262268" cy="403122"/>
            </a:xfrm>
            <a:prstGeom prst="rect">
              <a:avLst/>
            </a:prstGeom>
            <a:noFill/>
            <a:ln w="12700" cap="flat" cmpd="sng" algn="ctr">
              <a:solidFill>
                <a:srgbClr val="1D1D1A"/>
              </a:solidFill>
              <a:prstDash val="solid"/>
              <a:miter lim="800000"/>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defRPr/>
              </a:pPr>
              <a:r>
                <a:rPr lang="en-US" altLang="zh-CN" sz="1050" kern="0" dirty="0">
                  <a:solidFill>
                    <a:srgbClr val="1D1D1A"/>
                  </a:solidFill>
                  <a:latin typeface="微软雅黑" panose="020B0503020204020204" pitchFamily="34" charset="-122"/>
                </a:rPr>
                <a:t>ACL of A</a:t>
              </a:r>
            </a:p>
            <a:p>
              <a:pPr>
                <a:defRPr/>
              </a:pPr>
              <a:r>
                <a:rPr lang="en-US" altLang="zh-CN" sz="1050" kern="0" dirty="0">
                  <a:solidFill>
                    <a:srgbClr val="1D1D1A"/>
                  </a:solidFill>
                  <a:latin typeface="微软雅黑" panose="020B0503020204020204" pitchFamily="34" charset="-122"/>
                </a:rPr>
                <a:t>…</a:t>
              </a:r>
              <a:endParaRPr lang="zh-CN" altLang="en-US" sz="1050" kern="0" dirty="0">
                <a:solidFill>
                  <a:srgbClr val="1D1D1A"/>
                </a:solidFill>
                <a:latin typeface="微软雅黑" panose="020B0503020204020204" pitchFamily="34" charset="-122"/>
              </a:endParaRPr>
            </a:p>
          </p:txBody>
        </p:sp>
        <p:sp>
          <p:nvSpPr>
            <p:cNvPr id="270" name="矩形 269">
              <a:extLst>
                <a:ext uri="{FF2B5EF4-FFF2-40B4-BE49-F238E27FC236}">
                  <a16:creationId xmlns:a16="http://schemas.microsoft.com/office/drawing/2014/main" id="{D38574CC-3CFC-4854-A81D-665B047F35BD}"/>
                </a:ext>
              </a:extLst>
            </p:cNvPr>
            <p:cNvSpPr/>
            <p:nvPr/>
          </p:nvSpPr>
          <p:spPr>
            <a:xfrm>
              <a:off x="5579651" y="2988647"/>
              <a:ext cx="543693" cy="261610"/>
            </a:xfrm>
            <a:prstGeom prst="rect">
              <a:avLst/>
            </a:prstGeom>
          </p:spPr>
          <p:txBody>
            <a:bodyPr wrap="square">
              <a:spAutoFit/>
            </a:bodyPr>
            <a:lstStyle/>
            <a:p>
              <a:pPr algn="ctr">
                <a:defRPr/>
              </a:pPr>
              <a:r>
                <a:rPr lang="en-US" altLang="zh-CN" sz="1100" kern="0" dirty="0">
                  <a:solidFill>
                    <a:srgbClr val="1D1D1A"/>
                  </a:solidFill>
                  <a:latin typeface="微软雅黑" panose="020B0503020204020204" pitchFamily="34" charset="-122"/>
                  <a:cs typeface="Huawei Sans" panose="020C0503030203020204" pitchFamily="34" charset="0"/>
                </a:rPr>
                <a:t>FIBs</a:t>
              </a:r>
              <a:endParaRPr lang="zh-CN" altLang="en-US" sz="1100" kern="0" dirty="0">
                <a:solidFill>
                  <a:srgbClr val="1D1D1A"/>
                </a:solidFill>
                <a:latin typeface="微软雅黑" panose="020B0503020204020204" pitchFamily="34" charset="-122"/>
                <a:cs typeface="Huawei Sans" panose="020C0503030203020204" pitchFamily="34" charset="0"/>
              </a:endParaRPr>
            </a:p>
          </p:txBody>
        </p:sp>
        <p:sp>
          <p:nvSpPr>
            <p:cNvPr id="271" name="矩形 270">
              <a:extLst>
                <a:ext uri="{FF2B5EF4-FFF2-40B4-BE49-F238E27FC236}">
                  <a16:creationId xmlns:a16="http://schemas.microsoft.com/office/drawing/2014/main" id="{BDB1B8A9-125A-48FE-9866-831F5F513989}"/>
                </a:ext>
              </a:extLst>
            </p:cNvPr>
            <p:cNvSpPr/>
            <p:nvPr/>
          </p:nvSpPr>
          <p:spPr>
            <a:xfrm>
              <a:off x="5579651" y="3825627"/>
              <a:ext cx="1342791" cy="261610"/>
            </a:xfrm>
            <a:prstGeom prst="rect">
              <a:avLst/>
            </a:prstGeom>
          </p:spPr>
          <p:txBody>
            <a:bodyPr wrap="square">
              <a:spAutoFit/>
            </a:bodyPr>
            <a:lstStyle/>
            <a:p>
              <a:pPr>
                <a:defRPr/>
              </a:pPr>
              <a:r>
                <a:rPr lang="en-US" altLang="zh-CN" sz="1100" dirty="0">
                  <a:solidFill>
                    <a:srgbClr val="1D1D1A"/>
                  </a:solidFill>
                  <a:latin typeface="微软雅黑" panose="020B0503020204020204" pitchFamily="34" charset="-122"/>
                </a:rPr>
                <a:t>Access</a:t>
              </a:r>
              <a:r>
                <a:rPr lang="zh-CN" altLang="en-US" sz="1100" dirty="0">
                  <a:solidFill>
                    <a:srgbClr val="1D1D1A"/>
                  </a:solidFill>
                  <a:latin typeface="微软雅黑" panose="020B0503020204020204" pitchFamily="34" charset="-122"/>
                </a:rPr>
                <a:t> </a:t>
              </a:r>
              <a:r>
                <a:rPr lang="en-US" altLang="zh-CN" sz="1100" dirty="0">
                  <a:solidFill>
                    <a:srgbClr val="1D1D1A"/>
                  </a:solidFill>
                  <a:latin typeface="微软雅黑" panose="020B0503020204020204" pitchFamily="34" charset="-122"/>
                </a:rPr>
                <a:t>control</a:t>
              </a:r>
              <a:endParaRPr lang="zh-CN" altLang="en-US" sz="1100" dirty="0">
                <a:solidFill>
                  <a:srgbClr val="1D1D1A"/>
                </a:solidFill>
                <a:latin typeface="微软雅黑" panose="020B0503020204020204" pitchFamily="34" charset="-122"/>
              </a:endParaRPr>
            </a:p>
          </p:txBody>
        </p:sp>
        <p:sp>
          <p:nvSpPr>
            <p:cNvPr id="272" name="矩形 271">
              <a:extLst>
                <a:ext uri="{FF2B5EF4-FFF2-40B4-BE49-F238E27FC236}">
                  <a16:creationId xmlns:a16="http://schemas.microsoft.com/office/drawing/2014/main" id="{B2416D78-43F2-4A8F-AA8D-95B3CD0A022B}"/>
                </a:ext>
              </a:extLst>
            </p:cNvPr>
            <p:cNvSpPr/>
            <p:nvPr/>
          </p:nvSpPr>
          <p:spPr>
            <a:xfrm>
              <a:off x="9051799" y="4824193"/>
              <a:ext cx="2468082" cy="330804"/>
            </a:xfrm>
            <a:prstGeom prst="rect">
              <a:avLst/>
            </a:prstGeom>
            <a:solidFill>
              <a:srgbClr val="FFFFFF">
                <a:lumMod val="95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defRPr/>
              </a:pPr>
              <a:r>
                <a:rPr lang="en-US" altLang="zh-CN" sz="1100" kern="0" dirty="0">
                  <a:solidFill>
                    <a:srgbClr val="1D1D1A"/>
                  </a:solidFill>
                  <a:latin typeface="微软雅黑" panose="020B0503020204020204" pitchFamily="34" charset="-122"/>
                  <a:cs typeface="Huawei Sans" panose="020C0503030203020204" pitchFamily="34" charset="0"/>
                </a:rPr>
                <a:t>SPIN model checker</a:t>
              </a:r>
              <a:endParaRPr lang="zh-CN" altLang="en-US" sz="1100" kern="0" dirty="0">
                <a:solidFill>
                  <a:srgbClr val="1D1D1A"/>
                </a:solidFill>
                <a:latin typeface="微软雅黑" panose="020B0503020204020204" pitchFamily="34" charset="-122"/>
              </a:endParaRPr>
            </a:p>
          </p:txBody>
        </p:sp>
        <p:sp>
          <p:nvSpPr>
            <p:cNvPr id="273" name="矩形 272">
              <a:extLst>
                <a:ext uri="{FF2B5EF4-FFF2-40B4-BE49-F238E27FC236}">
                  <a16:creationId xmlns:a16="http://schemas.microsoft.com/office/drawing/2014/main" id="{4CBA3CC5-0043-44F6-A22A-ACE6E69B1424}"/>
                </a:ext>
              </a:extLst>
            </p:cNvPr>
            <p:cNvSpPr/>
            <p:nvPr/>
          </p:nvSpPr>
          <p:spPr>
            <a:xfrm>
              <a:off x="9157434" y="4072754"/>
              <a:ext cx="467285" cy="359602"/>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defRPr/>
              </a:pPr>
              <a:r>
                <a:rPr lang="en-US" altLang="zh-CN" sz="1000" kern="0" dirty="0">
                  <a:solidFill>
                    <a:srgbClr val="1D1D1A"/>
                  </a:solidFill>
                  <a:latin typeface="微软雅黑" panose="020B0503020204020204" pitchFamily="34" charset="-122"/>
                  <a:cs typeface="Huawei Sans" panose="020C0503030203020204" pitchFamily="34" charset="0"/>
                </a:rPr>
                <a:t>VL</a:t>
              </a:r>
              <a:endParaRPr lang="zh-CN" altLang="en-US" sz="1000" kern="0" dirty="0">
                <a:solidFill>
                  <a:srgbClr val="1D1D1A"/>
                </a:solidFill>
                <a:latin typeface="微软雅黑" panose="020B0503020204020204" pitchFamily="34" charset="-122"/>
              </a:endParaRPr>
            </a:p>
          </p:txBody>
        </p:sp>
        <p:sp>
          <p:nvSpPr>
            <p:cNvPr id="274" name="矩形: 圆角 21">
              <a:extLst>
                <a:ext uri="{FF2B5EF4-FFF2-40B4-BE49-F238E27FC236}">
                  <a16:creationId xmlns:a16="http://schemas.microsoft.com/office/drawing/2014/main" id="{59049B6D-0F93-476F-8AC0-9E56C5487FF3}"/>
                </a:ext>
              </a:extLst>
            </p:cNvPr>
            <p:cNvSpPr/>
            <p:nvPr/>
          </p:nvSpPr>
          <p:spPr>
            <a:xfrm>
              <a:off x="9047873" y="1527790"/>
              <a:ext cx="2472008" cy="3154393"/>
            </a:xfrm>
            <a:prstGeom prst="rect">
              <a:avLst/>
            </a:prstGeom>
            <a:noFill/>
            <a:ln w="12700" cap="flat" cmpd="sng" algn="ctr">
              <a:solidFill>
                <a:sysClr val="windowText" lastClr="000000"/>
              </a:solidFill>
              <a:prstDash val="dash"/>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666666"/>
                </a:solidFill>
                <a:effectLst/>
                <a:uLnTx/>
                <a:uFillTx/>
                <a:latin typeface="微软雅黑" panose="020B0503020204020204" pitchFamily="34" charset="-122"/>
              </a:endParaRPr>
            </a:p>
          </p:txBody>
        </p:sp>
        <p:sp>
          <p:nvSpPr>
            <p:cNvPr id="275" name="矩形 274">
              <a:extLst>
                <a:ext uri="{FF2B5EF4-FFF2-40B4-BE49-F238E27FC236}">
                  <a16:creationId xmlns:a16="http://schemas.microsoft.com/office/drawing/2014/main" id="{9E188904-763E-47F6-B183-5110EAFEE0C4}"/>
                </a:ext>
              </a:extLst>
            </p:cNvPr>
            <p:cNvSpPr/>
            <p:nvPr/>
          </p:nvSpPr>
          <p:spPr>
            <a:xfrm>
              <a:off x="9074934" y="1637097"/>
              <a:ext cx="1864462" cy="261610"/>
            </a:xfrm>
            <a:prstGeom prst="rect">
              <a:avLst/>
            </a:prstGeom>
          </p:spPr>
          <p:txBody>
            <a:bodyPr wrap="square">
              <a:spAutoFit/>
            </a:bodyPr>
            <a:lstStyle/>
            <a:p>
              <a:pPr>
                <a:defRPr/>
              </a:pPr>
              <a:r>
                <a:rPr lang="en-US" altLang="zh-CN" sz="1100" i="1" kern="0" dirty="0">
                  <a:solidFill>
                    <a:prstClr val="black"/>
                  </a:solidFill>
                  <a:latin typeface="微软雅黑" panose="020B0503020204020204" pitchFamily="34" charset="-122"/>
                  <a:cs typeface="Huawei Sans" panose="020C0503030203020204" pitchFamily="34" charset="0"/>
                </a:rPr>
                <a:t>Formal definition of UB</a:t>
              </a:r>
              <a:endParaRPr lang="zh-CN" altLang="en-US" sz="1100" i="1" dirty="0">
                <a:solidFill>
                  <a:prstClr val="black"/>
                </a:solidFill>
                <a:latin typeface="微软雅黑" panose="020B0503020204020204" pitchFamily="34" charset="-122"/>
              </a:endParaRPr>
            </a:p>
          </p:txBody>
        </p:sp>
        <p:sp>
          <p:nvSpPr>
            <p:cNvPr id="276" name="矩形 275">
              <a:extLst>
                <a:ext uri="{FF2B5EF4-FFF2-40B4-BE49-F238E27FC236}">
                  <a16:creationId xmlns:a16="http://schemas.microsoft.com/office/drawing/2014/main" id="{265D4B22-FADA-48C9-A0DD-177AEA8AD0CB}"/>
                </a:ext>
              </a:extLst>
            </p:cNvPr>
            <p:cNvSpPr/>
            <p:nvPr/>
          </p:nvSpPr>
          <p:spPr>
            <a:xfrm>
              <a:off x="11088319" y="3476024"/>
              <a:ext cx="346565" cy="359602"/>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defRPr/>
              </a:pPr>
              <a:r>
                <a:rPr lang="en-US" altLang="zh-CN" sz="1000" kern="0" dirty="0">
                  <a:solidFill>
                    <a:srgbClr val="1D1D1A"/>
                  </a:solidFill>
                  <a:latin typeface="微软雅黑" panose="020B0503020204020204" pitchFamily="34" charset="-122"/>
                  <a:cs typeface="Huawei Sans" panose="020C0503030203020204" pitchFamily="34" charset="0"/>
                </a:rPr>
                <a:t>LLR</a:t>
              </a:r>
              <a:endParaRPr lang="zh-CN" altLang="en-US" sz="1000" kern="0" dirty="0">
                <a:solidFill>
                  <a:srgbClr val="1D1D1A"/>
                </a:solidFill>
                <a:latin typeface="微软雅黑" panose="020B0503020204020204" pitchFamily="34" charset="-122"/>
                <a:cs typeface="Huawei Sans" panose="020C0503030203020204" pitchFamily="34" charset="0"/>
              </a:endParaRPr>
            </a:p>
          </p:txBody>
        </p:sp>
        <p:sp>
          <p:nvSpPr>
            <p:cNvPr id="277" name="矩形 276">
              <a:extLst>
                <a:ext uri="{FF2B5EF4-FFF2-40B4-BE49-F238E27FC236}">
                  <a16:creationId xmlns:a16="http://schemas.microsoft.com/office/drawing/2014/main" id="{B8E0574C-ACDE-4707-A65E-957389F8A32C}"/>
                </a:ext>
              </a:extLst>
            </p:cNvPr>
            <p:cNvSpPr/>
            <p:nvPr/>
          </p:nvSpPr>
          <p:spPr>
            <a:xfrm>
              <a:off x="10869056" y="4072754"/>
              <a:ext cx="569176" cy="359602"/>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defRPr/>
              </a:pPr>
              <a:r>
                <a:rPr lang="en-US" altLang="zh-CN" sz="1000" kern="0" dirty="0">
                  <a:solidFill>
                    <a:srgbClr val="1D1D1A"/>
                  </a:solidFill>
                  <a:latin typeface="微软雅黑" panose="020B0503020204020204" pitchFamily="34" charset="-122"/>
                </a:rPr>
                <a:t>Routing</a:t>
              </a:r>
              <a:endParaRPr lang="zh-CN" altLang="en-US" sz="1000" kern="0" dirty="0">
                <a:solidFill>
                  <a:srgbClr val="1D1D1A"/>
                </a:solidFill>
                <a:latin typeface="微软雅黑" panose="020B0503020204020204" pitchFamily="34" charset="-122"/>
              </a:endParaRPr>
            </a:p>
          </p:txBody>
        </p:sp>
        <p:sp>
          <p:nvSpPr>
            <p:cNvPr id="278" name="矩形 277">
              <a:extLst>
                <a:ext uri="{FF2B5EF4-FFF2-40B4-BE49-F238E27FC236}">
                  <a16:creationId xmlns:a16="http://schemas.microsoft.com/office/drawing/2014/main" id="{BD31B068-2A65-441A-9012-A8981635A884}"/>
                </a:ext>
              </a:extLst>
            </p:cNvPr>
            <p:cNvSpPr/>
            <p:nvPr/>
          </p:nvSpPr>
          <p:spPr>
            <a:xfrm>
              <a:off x="9165708" y="3468029"/>
              <a:ext cx="1011817" cy="359602"/>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defRPr/>
              </a:pPr>
              <a:r>
                <a:rPr lang="en-US" altLang="zh-CN" sz="1000" kern="0" dirty="0">
                  <a:solidFill>
                    <a:srgbClr val="1D1D1A"/>
                  </a:solidFill>
                  <a:latin typeface="微软雅黑" panose="020B0503020204020204" pitchFamily="34" charset="-122"/>
                </a:rPr>
                <a:t>Load-balance</a:t>
              </a:r>
              <a:endParaRPr lang="zh-CN" altLang="en-US" sz="1000" kern="0" dirty="0">
                <a:solidFill>
                  <a:srgbClr val="1D1D1A"/>
                </a:solidFill>
                <a:latin typeface="微软雅黑" panose="020B0503020204020204" pitchFamily="34" charset="-122"/>
              </a:endParaRPr>
            </a:p>
          </p:txBody>
        </p:sp>
        <p:sp>
          <p:nvSpPr>
            <p:cNvPr id="280" name="矩形 279">
              <a:extLst>
                <a:ext uri="{FF2B5EF4-FFF2-40B4-BE49-F238E27FC236}">
                  <a16:creationId xmlns:a16="http://schemas.microsoft.com/office/drawing/2014/main" id="{5F12A489-FA53-47CB-A8E4-FFB4E86B89DE}"/>
                </a:ext>
              </a:extLst>
            </p:cNvPr>
            <p:cNvSpPr/>
            <p:nvPr/>
          </p:nvSpPr>
          <p:spPr>
            <a:xfrm>
              <a:off x="10268008" y="3476024"/>
              <a:ext cx="748928" cy="359602"/>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defRPr/>
              </a:pPr>
              <a:r>
                <a:rPr lang="en-US" altLang="zh-CN" sz="1000" kern="0" dirty="0">
                  <a:solidFill>
                    <a:srgbClr val="1D1D1A"/>
                  </a:solidFill>
                  <a:latin typeface="微软雅黑" panose="020B0503020204020204" pitchFamily="34" charset="-122"/>
                </a:rPr>
                <a:t>Priority</a:t>
              </a:r>
              <a:endParaRPr lang="zh-CN" altLang="en-US" sz="1000" kern="0" dirty="0">
                <a:solidFill>
                  <a:srgbClr val="1D1D1A"/>
                </a:solidFill>
                <a:latin typeface="微软雅黑" panose="020B0503020204020204" pitchFamily="34" charset="-122"/>
              </a:endParaRPr>
            </a:p>
          </p:txBody>
        </p:sp>
        <p:sp>
          <p:nvSpPr>
            <p:cNvPr id="281" name="矩形 280">
              <a:extLst>
                <a:ext uri="{FF2B5EF4-FFF2-40B4-BE49-F238E27FC236}">
                  <a16:creationId xmlns:a16="http://schemas.microsoft.com/office/drawing/2014/main" id="{3B10DBE7-3544-4D01-AEDF-620320E37456}"/>
                </a:ext>
              </a:extLst>
            </p:cNvPr>
            <p:cNvSpPr/>
            <p:nvPr/>
          </p:nvSpPr>
          <p:spPr>
            <a:xfrm>
              <a:off x="9157434" y="2759304"/>
              <a:ext cx="755242" cy="359602"/>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defRPr/>
              </a:pPr>
              <a:r>
                <a:rPr lang="en-US" altLang="zh-CN" sz="1000" kern="0" dirty="0">
                  <a:solidFill>
                    <a:srgbClr val="1D1D1A"/>
                  </a:solidFill>
                  <a:latin typeface="微软雅黑" panose="020B0503020204020204" pitchFamily="34" charset="-122"/>
                </a:rPr>
                <a:t>TP model</a:t>
              </a:r>
              <a:endParaRPr lang="zh-CN" altLang="en-US" sz="1000" kern="0" dirty="0">
                <a:solidFill>
                  <a:srgbClr val="1D1D1A"/>
                </a:solidFill>
                <a:latin typeface="微软雅黑" panose="020B0503020204020204" pitchFamily="34" charset="-122"/>
              </a:endParaRPr>
            </a:p>
          </p:txBody>
        </p:sp>
        <p:sp>
          <p:nvSpPr>
            <p:cNvPr id="283" name="矩形 282">
              <a:extLst>
                <a:ext uri="{FF2B5EF4-FFF2-40B4-BE49-F238E27FC236}">
                  <a16:creationId xmlns:a16="http://schemas.microsoft.com/office/drawing/2014/main" id="{E4C52F9C-0C85-48BF-AB80-30CEDEA6FA18}"/>
                </a:ext>
              </a:extLst>
            </p:cNvPr>
            <p:cNvSpPr/>
            <p:nvPr/>
          </p:nvSpPr>
          <p:spPr>
            <a:xfrm>
              <a:off x="9972240" y="2764001"/>
              <a:ext cx="1044696" cy="359602"/>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defRPr/>
              </a:pPr>
              <a:r>
                <a:rPr lang="en-US" altLang="zh-CN" sz="1000" kern="0" dirty="0">
                  <a:solidFill>
                    <a:srgbClr val="1D1D1A"/>
                  </a:solidFill>
                  <a:latin typeface="微软雅黑" panose="020B0503020204020204" pitchFamily="34" charset="-122"/>
                </a:rPr>
                <a:t>Retransmission</a:t>
              </a:r>
              <a:endParaRPr lang="zh-CN" altLang="en-US" sz="1000" kern="0" dirty="0">
                <a:solidFill>
                  <a:srgbClr val="1D1D1A"/>
                </a:solidFill>
                <a:latin typeface="微软雅黑" panose="020B0503020204020204" pitchFamily="34" charset="-122"/>
              </a:endParaRPr>
            </a:p>
          </p:txBody>
        </p:sp>
        <p:sp>
          <p:nvSpPr>
            <p:cNvPr id="284" name="矩形 283">
              <a:extLst>
                <a:ext uri="{FF2B5EF4-FFF2-40B4-BE49-F238E27FC236}">
                  <a16:creationId xmlns:a16="http://schemas.microsoft.com/office/drawing/2014/main" id="{0590DB52-7A66-4C40-9FA6-CED855A2D8EE}"/>
                </a:ext>
              </a:extLst>
            </p:cNvPr>
            <p:cNvSpPr/>
            <p:nvPr/>
          </p:nvSpPr>
          <p:spPr>
            <a:xfrm>
              <a:off x="11076817" y="2759304"/>
              <a:ext cx="346566" cy="359602"/>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defRPr/>
              </a:pPr>
              <a:r>
                <a:rPr lang="en-US" altLang="zh-CN" sz="1000" kern="0" dirty="0">
                  <a:solidFill>
                    <a:srgbClr val="1D1D1A"/>
                  </a:solidFill>
                  <a:latin typeface="微软雅黑" panose="020B0503020204020204" pitchFamily="34" charset="-122"/>
                </a:rPr>
                <a:t>CC</a:t>
              </a:r>
              <a:endParaRPr lang="zh-CN" altLang="en-US" sz="1000" kern="0" dirty="0">
                <a:solidFill>
                  <a:srgbClr val="1D1D1A"/>
                </a:solidFill>
                <a:latin typeface="微软雅黑" panose="020B0503020204020204" pitchFamily="34" charset="-122"/>
              </a:endParaRPr>
            </a:p>
          </p:txBody>
        </p:sp>
        <p:sp>
          <p:nvSpPr>
            <p:cNvPr id="285" name="矩形 284">
              <a:extLst>
                <a:ext uri="{FF2B5EF4-FFF2-40B4-BE49-F238E27FC236}">
                  <a16:creationId xmlns:a16="http://schemas.microsoft.com/office/drawing/2014/main" id="{E42BD791-0440-473E-B369-667B902533BF}"/>
                </a:ext>
              </a:extLst>
            </p:cNvPr>
            <p:cNvSpPr/>
            <p:nvPr/>
          </p:nvSpPr>
          <p:spPr>
            <a:xfrm>
              <a:off x="9161556" y="2106681"/>
              <a:ext cx="477153" cy="359602"/>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defRPr/>
              </a:pPr>
              <a:r>
                <a:rPr lang="en-US" altLang="zh-CN" sz="1000" kern="0" dirty="0">
                  <a:solidFill>
                    <a:srgbClr val="1D1D1A"/>
                  </a:solidFill>
                  <a:latin typeface="微软雅黑" panose="020B0503020204020204" pitchFamily="34" charset="-122"/>
                  <a:cs typeface="Huawei Sans" panose="020C0503030203020204" pitchFamily="34" charset="0"/>
                </a:rPr>
                <a:t>Jetty</a:t>
              </a:r>
              <a:endParaRPr lang="zh-CN" altLang="en-US" sz="1000" kern="0" dirty="0">
                <a:solidFill>
                  <a:srgbClr val="1D1D1A"/>
                </a:solidFill>
                <a:latin typeface="微软雅黑" panose="020B0503020204020204" pitchFamily="34" charset="-122"/>
                <a:cs typeface="Huawei Sans" panose="020C0503030203020204" pitchFamily="34" charset="0"/>
              </a:endParaRPr>
            </a:p>
          </p:txBody>
        </p:sp>
        <p:sp>
          <p:nvSpPr>
            <p:cNvPr id="286" name="矩形 285">
              <a:extLst>
                <a:ext uri="{FF2B5EF4-FFF2-40B4-BE49-F238E27FC236}">
                  <a16:creationId xmlns:a16="http://schemas.microsoft.com/office/drawing/2014/main" id="{3760E681-9E81-4723-B535-F86A244C14AE}"/>
                </a:ext>
              </a:extLst>
            </p:cNvPr>
            <p:cNvSpPr/>
            <p:nvPr/>
          </p:nvSpPr>
          <p:spPr>
            <a:xfrm>
              <a:off x="9861512" y="2103933"/>
              <a:ext cx="696922" cy="359602"/>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defRPr/>
              </a:pPr>
              <a:r>
                <a:rPr lang="en-US" altLang="zh-CN" sz="1000" kern="0" dirty="0">
                  <a:solidFill>
                    <a:srgbClr val="1D1D1A"/>
                  </a:solidFill>
                  <a:latin typeface="微软雅黑" panose="020B0503020204020204" pitchFamily="34" charset="-122"/>
                  <a:cs typeface="Huawei Sans" panose="020C0503030203020204" pitchFamily="34" charset="0"/>
                </a:rPr>
                <a:t>URMA</a:t>
              </a:r>
              <a:endParaRPr lang="zh-CN" altLang="en-US" sz="1000" kern="0" dirty="0">
                <a:solidFill>
                  <a:srgbClr val="1D1D1A"/>
                </a:solidFill>
                <a:latin typeface="微软雅黑" panose="020B0503020204020204" pitchFamily="34" charset="-122"/>
              </a:endParaRPr>
            </a:p>
          </p:txBody>
        </p:sp>
        <p:sp>
          <p:nvSpPr>
            <p:cNvPr id="287" name="矩形 286">
              <a:extLst>
                <a:ext uri="{FF2B5EF4-FFF2-40B4-BE49-F238E27FC236}">
                  <a16:creationId xmlns:a16="http://schemas.microsoft.com/office/drawing/2014/main" id="{1E3BF880-EAAD-4C91-B655-14ACF75BB10E}"/>
                </a:ext>
              </a:extLst>
            </p:cNvPr>
            <p:cNvSpPr/>
            <p:nvPr/>
          </p:nvSpPr>
          <p:spPr>
            <a:xfrm>
              <a:off x="10708333" y="2104150"/>
              <a:ext cx="726552" cy="359602"/>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defRPr/>
              </a:pPr>
              <a:r>
                <a:rPr lang="en-US" altLang="zh-CN" sz="1000" kern="0" dirty="0">
                  <a:solidFill>
                    <a:srgbClr val="1D1D1A"/>
                  </a:solidFill>
                  <a:latin typeface="微软雅黑" panose="020B0503020204020204" pitchFamily="34" charset="-122"/>
                </a:rPr>
                <a:t>Load/Store</a:t>
              </a:r>
              <a:endParaRPr lang="zh-CN" altLang="en-US" sz="1000" kern="0" dirty="0">
                <a:solidFill>
                  <a:srgbClr val="1D1D1A"/>
                </a:solidFill>
                <a:latin typeface="微软雅黑" panose="020B0503020204020204" pitchFamily="34" charset="-122"/>
              </a:endParaRPr>
            </a:p>
          </p:txBody>
        </p:sp>
        <p:sp>
          <p:nvSpPr>
            <p:cNvPr id="289" name="矩形 288">
              <a:extLst>
                <a:ext uri="{FF2B5EF4-FFF2-40B4-BE49-F238E27FC236}">
                  <a16:creationId xmlns:a16="http://schemas.microsoft.com/office/drawing/2014/main" id="{DFF02C20-1C04-46C3-A756-1A37DF67F9D7}"/>
                </a:ext>
              </a:extLst>
            </p:cNvPr>
            <p:cNvSpPr/>
            <p:nvPr/>
          </p:nvSpPr>
          <p:spPr>
            <a:xfrm>
              <a:off x="9742688" y="4072754"/>
              <a:ext cx="965644" cy="359602"/>
            </a:xfrm>
            <a:prstGeom prst="rect">
              <a:avLst/>
            </a:prstGeom>
            <a:solidFill>
              <a:srgbClr val="61B230">
                <a:lumMod val="20000"/>
                <a:lumOff val="80000"/>
              </a:srgbClr>
            </a:solidFill>
            <a:ln w="9525" cap="flat" cmpd="sng" algn="ctr">
              <a:solidFill>
                <a:srgbClr val="1D1D1A"/>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defRPr/>
              </a:pPr>
              <a:r>
                <a:rPr lang="en-US" altLang="zh-CN" sz="1000" kern="0" dirty="0">
                  <a:solidFill>
                    <a:srgbClr val="1D1D1A"/>
                  </a:solidFill>
                  <a:latin typeface="微软雅黑" panose="020B0503020204020204" pitchFamily="34" charset="-122"/>
                  <a:cs typeface="Huawei Sans" panose="020C0503030203020204" pitchFamily="34" charset="0"/>
                </a:rPr>
                <a:t>CBFC</a:t>
              </a:r>
              <a:endParaRPr lang="zh-CN" altLang="en-US" sz="1000" kern="0" dirty="0">
                <a:solidFill>
                  <a:srgbClr val="1D1D1A"/>
                </a:solidFill>
                <a:latin typeface="微软雅黑" panose="020B0503020204020204" pitchFamily="34" charset="-122"/>
              </a:endParaRPr>
            </a:p>
          </p:txBody>
        </p:sp>
      </p:grpSp>
    </p:spTree>
    <p:extLst>
      <p:ext uri="{BB962C8B-B14F-4D97-AF65-F5344CB8AC3E}">
        <p14:creationId xmlns:p14="http://schemas.microsoft.com/office/powerpoint/2010/main" val="1256061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标题 1">
            <a:extLst>
              <a:ext uri="{FF2B5EF4-FFF2-40B4-BE49-F238E27FC236}">
                <a16:creationId xmlns:a16="http://schemas.microsoft.com/office/drawing/2014/main" id="{2AD3965F-0FB0-45B4-AF0A-8C7BE62857FB}"/>
              </a:ext>
            </a:extLst>
          </p:cNvPr>
          <p:cNvSpPr>
            <a:spLocks noGrp="1"/>
          </p:cNvSpPr>
          <p:nvPr>
            <p:ph type="title"/>
          </p:nvPr>
        </p:nvSpPr>
        <p:spPr>
          <a:xfrm>
            <a:off x="561005" y="275992"/>
            <a:ext cx="11208246" cy="798839"/>
          </a:xfrm>
        </p:spPr>
        <p:txBody>
          <a:bodyPr wrap="square">
            <a:noAutofit/>
          </a:bodyPr>
          <a:lstStyle/>
          <a:p>
            <a:pPr algn="l"/>
            <a:r>
              <a:rPr lang="en-US" altLang="zh-CN" dirty="0">
                <a:cs typeface="Huawei Sans" panose="020C0503030203020204" pitchFamily="34" charset="0"/>
              </a:rPr>
              <a:t>Supporting Research Areas: </a:t>
            </a:r>
            <a:br>
              <a:rPr lang="en-US" altLang="zh-CN" dirty="0">
                <a:cs typeface="Huawei Sans" panose="020C0503030203020204" pitchFamily="34" charset="0"/>
              </a:rPr>
            </a:br>
            <a:r>
              <a:rPr lang="en-US" altLang="zh-CN" dirty="0">
                <a:cs typeface="Huawei Sans" panose="020C0503030203020204" pitchFamily="34" charset="0"/>
              </a:rPr>
              <a:t>Protocol Design and Control Plane Algorithm Design</a:t>
            </a:r>
            <a:endParaRPr lang="zh-CN" altLang="en-US" dirty="0"/>
          </a:p>
        </p:txBody>
      </p:sp>
      <p:sp>
        <p:nvSpPr>
          <p:cNvPr id="102" name="矩形: 圆角 101">
            <a:extLst>
              <a:ext uri="{FF2B5EF4-FFF2-40B4-BE49-F238E27FC236}">
                <a16:creationId xmlns:a16="http://schemas.microsoft.com/office/drawing/2014/main" id="{4B133C3F-13A6-4268-A267-1CE59A77BFF2}"/>
              </a:ext>
            </a:extLst>
          </p:cNvPr>
          <p:cNvSpPr/>
          <p:nvPr/>
        </p:nvSpPr>
        <p:spPr>
          <a:xfrm>
            <a:off x="464298" y="1316696"/>
            <a:ext cx="5390623" cy="5417283"/>
          </a:xfrm>
          <a:prstGeom prst="roundRect">
            <a:avLst>
              <a:gd name="adj" fmla="val 2641"/>
            </a:avLst>
          </a:prstGeom>
          <a:noFill/>
          <a:ln w="25400" cap="flat" cmpd="sng" algn="ctr">
            <a:solidFill>
              <a:schemeClr val="tx1"/>
            </a:solidFill>
            <a:prstDash val="solid"/>
            <a:round/>
            <a:headEnd type="none" w="med" len="med"/>
            <a:tailEnd type="none" w="med" len="med"/>
          </a:ln>
          <a:effectLst>
            <a:outerShdw blurRad="50800" dist="38100" dir="5400000" algn="t" rotWithShape="0">
              <a:sysClr val="window" lastClr="FFFFFF">
                <a:alpha val="40000"/>
              </a:sysClr>
            </a:outerShdw>
          </a:effectLst>
        </p:spPr>
        <p:txBody>
          <a:bodyPr rot="0" spcFirstLastPara="0" vertOverflow="overflow" horzOverflow="overflow" vert="horz" wrap="none" lIns="91440" tIns="14400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400" b="1" i="0" u="none" strike="noStrike" kern="0" cap="none" spc="0" normalizeH="0" baseline="0" noProof="0" dirty="0">
              <a:ln>
                <a:noFill/>
              </a:ln>
              <a:effectLst/>
              <a:uLnTx/>
              <a:uFillTx/>
              <a:latin typeface="微软雅黑" panose="020B0503020204020204" pitchFamily="34" charset="-122"/>
            </a:endParaRPr>
          </a:p>
        </p:txBody>
      </p:sp>
      <p:sp>
        <p:nvSpPr>
          <p:cNvPr id="171" name="文本框 170">
            <a:extLst>
              <a:ext uri="{FF2B5EF4-FFF2-40B4-BE49-F238E27FC236}">
                <a16:creationId xmlns:a16="http://schemas.microsoft.com/office/drawing/2014/main" id="{4C4997E4-6FAD-41E6-B829-A71762F8E1CB}"/>
              </a:ext>
            </a:extLst>
          </p:cNvPr>
          <p:cNvSpPr txBox="1"/>
          <p:nvPr/>
        </p:nvSpPr>
        <p:spPr>
          <a:xfrm>
            <a:off x="679212" y="1529232"/>
            <a:ext cx="4947713" cy="1075359"/>
          </a:xfrm>
          <a:prstGeom prst="rect">
            <a:avLst/>
          </a:prstGeom>
          <a:noFill/>
        </p:spPr>
        <p:txBody>
          <a:bodyPr wrap="square" lIns="0" tIns="0" rIns="0" bIns="0" rtlCol="0">
            <a:spAutoFit/>
          </a:bodyPr>
          <a:lstStyle/>
          <a:p>
            <a:pPr marL="171450" indent="-171450" defTabSz="457200">
              <a:lnSpc>
                <a:spcPct val="150000"/>
              </a:lnSpc>
              <a:buFont typeface="Wingdings" panose="05000000000000000000" pitchFamily="2" charset="2"/>
              <a:buChar char="n"/>
              <a:defRPr/>
            </a:pPr>
            <a:r>
              <a:rPr kumimoji="1" lang="en-US" altLang="zh-CN" sz="1200" dirty="0">
                <a:latin typeface="微软雅黑" panose="020B0503020204020204" pitchFamily="34" charset="-122"/>
              </a:rPr>
              <a:t>The platform contains complete formal descriptions of the main features of the UB protocol, as shown below. </a:t>
            </a:r>
          </a:p>
          <a:p>
            <a:pPr marL="171450" indent="-171450" defTabSz="457200">
              <a:lnSpc>
                <a:spcPct val="150000"/>
              </a:lnSpc>
              <a:buFont typeface="Wingdings" panose="05000000000000000000" pitchFamily="2" charset="2"/>
              <a:buChar char="n"/>
              <a:defRPr/>
            </a:pPr>
            <a:r>
              <a:rPr kumimoji="1" lang="en-US" altLang="zh-CN" sz="1200" dirty="0">
                <a:latin typeface="微软雅黑" panose="020B0503020204020204" pitchFamily="34" charset="-122"/>
              </a:rPr>
              <a:t>New protocol designs can be verified on this platform by modifying the formal description.</a:t>
            </a:r>
          </a:p>
        </p:txBody>
      </p:sp>
      <p:graphicFrame>
        <p:nvGraphicFramePr>
          <p:cNvPr id="172" name="表格 171">
            <a:extLst>
              <a:ext uri="{FF2B5EF4-FFF2-40B4-BE49-F238E27FC236}">
                <a16:creationId xmlns:a16="http://schemas.microsoft.com/office/drawing/2014/main" id="{9944F86A-5358-4DAD-986E-81B5AA51DF16}"/>
              </a:ext>
            </a:extLst>
          </p:cNvPr>
          <p:cNvGraphicFramePr>
            <a:graphicFrameLocks noGrp="1"/>
          </p:cNvGraphicFramePr>
          <p:nvPr>
            <p:extLst>
              <p:ext uri="{D42A27DB-BD31-4B8C-83A1-F6EECF244321}">
                <p14:modId xmlns:p14="http://schemas.microsoft.com/office/powerpoint/2010/main" val="4041619871"/>
              </p:ext>
            </p:extLst>
          </p:nvPr>
        </p:nvGraphicFramePr>
        <p:xfrm>
          <a:off x="697319" y="2729583"/>
          <a:ext cx="4947713" cy="3909488"/>
        </p:xfrm>
        <a:graphic>
          <a:graphicData uri="http://schemas.openxmlformats.org/drawingml/2006/table">
            <a:tbl>
              <a:tblPr firstRow="1" bandRow="1"/>
              <a:tblGrid>
                <a:gridCol w="843984">
                  <a:extLst>
                    <a:ext uri="{9D8B030D-6E8A-4147-A177-3AD203B41FA5}">
                      <a16:colId xmlns:a16="http://schemas.microsoft.com/office/drawing/2014/main" val="3600154952"/>
                    </a:ext>
                  </a:extLst>
                </a:gridCol>
                <a:gridCol w="916780">
                  <a:extLst>
                    <a:ext uri="{9D8B030D-6E8A-4147-A177-3AD203B41FA5}">
                      <a16:colId xmlns:a16="http://schemas.microsoft.com/office/drawing/2014/main" val="2871166625"/>
                    </a:ext>
                  </a:extLst>
                </a:gridCol>
                <a:gridCol w="3186949">
                  <a:extLst>
                    <a:ext uri="{9D8B030D-6E8A-4147-A177-3AD203B41FA5}">
                      <a16:colId xmlns:a16="http://schemas.microsoft.com/office/drawing/2014/main" val="258601254"/>
                    </a:ext>
                  </a:extLst>
                </a:gridCol>
              </a:tblGrid>
              <a:tr h="350053">
                <a:tc>
                  <a:txBody>
                    <a:bodyPr/>
                    <a:lstStyle>
                      <a:lvl1pPr marL="0" algn="l" defTabSz="913759" rtl="0" eaLnBrk="1" latinLnBrk="0" hangingPunct="1">
                        <a:defRPr sz="1798" b="1" kern="1200">
                          <a:solidFill>
                            <a:schemeClr val="dk1"/>
                          </a:solidFill>
                          <a:latin typeface="Aptos" panose="02110004020202020204"/>
                        </a:defRPr>
                      </a:lvl1pPr>
                      <a:lvl2pPr marL="456880" algn="l" defTabSz="913759" rtl="0" eaLnBrk="1" latinLnBrk="0" hangingPunct="1">
                        <a:defRPr sz="1798" b="1" kern="1200">
                          <a:solidFill>
                            <a:schemeClr val="dk1"/>
                          </a:solidFill>
                          <a:latin typeface="Aptos" panose="02110004020202020204"/>
                        </a:defRPr>
                      </a:lvl2pPr>
                      <a:lvl3pPr marL="913759" algn="l" defTabSz="913759" rtl="0" eaLnBrk="1" latinLnBrk="0" hangingPunct="1">
                        <a:defRPr sz="1798" b="1" kern="1200">
                          <a:solidFill>
                            <a:schemeClr val="dk1"/>
                          </a:solidFill>
                          <a:latin typeface="Aptos" panose="02110004020202020204"/>
                        </a:defRPr>
                      </a:lvl3pPr>
                      <a:lvl4pPr marL="1370640" algn="l" defTabSz="913759" rtl="0" eaLnBrk="1" latinLnBrk="0" hangingPunct="1">
                        <a:defRPr sz="1798" b="1" kern="1200">
                          <a:solidFill>
                            <a:schemeClr val="dk1"/>
                          </a:solidFill>
                          <a:latin typeface="Aptos" panose="02110004020202020204"/>
                        </a:defRPr>
                      </a:lvl4pPr>
                      <a:lvl5pPr marL="1827520" algn="l" defTabSz="913759" rtl="0" eaLnBrk="1" latinLnBrk="0" hangingPunct="1">
                        <a:defRPr sz="1798" b="1" kern="1200">
                          <a:solidFill>
                            <a:schemeClr val="dk1"/>
                          </a:solidFill>
                          <a:latin typeface="Aptos" panose="02110004020202020204"/>
                        </a:defRPr>
                      </a:lvl5pPr>
                      <a:lvl6pPr marL="2284401" algn="l" defTabSz="913759" rtl="0" eaLnBrk="1" latinLnBrk="0" hangingPunct="1">
                        <a:defRPr sz="1798" b="1" kern="1200">
                          <a:solidFill>
                            <a:schemeClr val="dk1"/>
                          </a:solidFill>
                          <a:latin typeface="Aptos" panose="02110004020202020204"/>
                        </a:defRPr>
                      </a:lvl6pPr>
                      <a:lvl7pPr marL="2741280" algn="l" defTabSz="913759" rtl="0" eaLnBrk="1" latinLnBrk="0" hangingPunct="1">
                        <a:defRPr sz="1798" b="1" kern="1200">
                          <a:solidFill>
                            <a:schemeClr val="dk1"/>
                          </a:solidFill>
                          <a:latin typeface="Aptos" panose="02110004020202020204"/>
                        </a:defRPr>
                      </a:lvl7pPr>
                      <a:lvl8pPr marL="3198160" algn="l" defTabSz="913759" rtl="0" eaLnBrk="1" latinLnBrk="0" hangingPunct="1">
                        <a:defRPr sz="1798" b="1" kern="1200">
                          <a:solidFill>
                            <a:schemeClr val="dk1"/>
                          </a:solidFill>
                          <a:latin typeface="Aptos" panose="02110004020202020204"/>
                        </a:defRPr>
                      </a:lvl8pPr>
                      <a:lvl9pPr marL="3655040" algn="l" defTabSz="913759" rtl="0" eaLnBrk="1" latinLnBrk="0" hangingPunct="1">
                        <a:defRPr sz="1798" b="1"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Protocol Layer</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20000"/>
                      </a:srgbClr>
                    </a:solidFill>
                  </a:tcPr>
                </a:tc>
                <a:tc>
                  <a:txBody>
                    <a:bodyPr/>
                    <a:lstStyle>
                      <a:lvl1pPr marL="0" algn="l" defTabSz="913759" rtl="0" eaLnBrk="1" latinLnBrk="0" hangingPunct="1">
                        <a:defRPr sz="1798" b="1" kern="1200">
                          <a:solidFill>
                            <a:schemeClr val="dk1"/>
                          </a:solidFill>
                          <a:latin typeface="Aptos" panose="02110004020202020204"/>
                        </a:defRPr>
                      </a:lvl1pPr>
                      <a:lvl2pPr marL="456880" algn="l" defTabSz="913759" rtl="0" eaLnBrk="1" latinLnBrk="0" hangingPunct="1">
                        <a:defRPr sz="1798" b="1" kern="1200">
                          <a:solidFill>
                            <a:schemeClr val="dk1"/>
                          </a:solidFill>
                          <a:latin typeface="Aptos" panose="02110004020202020204"/>
                        </a:defRPr>
                      </a:lvl2pPr>
                      <a:lvl3pPr marL="913759" algn="l" defTabSz="913759" rtl="0" eaLnBrk="1" latinLnBrk="0" hangingPunct="1">
                        <a:defRPr sz="1798" b="1" kern="1200">
                          <a:solidFill>
                            <a:schemeClr val="dk1"/>
                          </a:solidFill>
                          <a:latin typeface="Aptos" panose="02110004020202020204"/>
                        </a:defRPr>
                      </a:lvl3pPr>
                      <a:lvl4pPr marL="1370640" algn="l" defTabSz="913759" rtl="0" eaLnBrk="1" latinLnBrk="0" hangingPunct="1">
                        <a:defRPr sz="1798" b="1" kern="1200">
                          <a:solidFill>
                            <a:schemeClr val="dk1"/>
                          </a:solidFill>
                          <a:latin typeface="Aptos" panose="02110004020202020204"/>
                        </a:defRPr>
                      </a:lvl4pPr>
                      <a:lvl5pPr marL="1827520" algn="l" defTabSz="913759" rtl="0" eaLnBrk="1" latinLnBrk="0" hangingPunct="1">
                        <a:defRPr sz="1798" b="1" kern="1200">
                          <a:solidFill>
                            <a:schemeClr val="dk1"/>
                          </a:solidFill>
                          <a:latin typeface="Aptos" panose="02110004020202020204"/>
                        </a:defRPr>
                      </a:lvl5pPr>
                      <a:lvl6pPr marL="2284401" algn="l" defTabSz="913759" rtl="0" eaLnBrk="1" latinLnBrk="0" hangingPunct="1">
                        <a:defRPr sz="1798" b="1" kern="1200">
                          <a:solidFill>
                            <a:schemeClr val="dk1"/>
                          </a:solidFill>
                          <a:latin typeface="Aptos" panose="02110004020202020204"/>
                        </a:defRPr>
                      </a:lvl6pPr>
                      <a:lvl7pPr marL="2741280" algn="l" defTabSz="913759" rtl="0" eaLnBrk="1" latinLnBrk="0" hangingPunct="1">
                        <a:defRPr sz="1798" b="1" kern="1200">
                          <a:solidFill>
                            <a:schemeClr val="dk1"/>
                          </a:solidFill>
                          <a:latin typeface="Aptos" panose="02110004020202020204"/>
                        </a:defRPr>
                      </a:lvl7pPr>
                      <a:lvl8pPr marL="3198160" algn="l" defTabSz="913759" rtl="0" eaLnBrk="1" latinLnBrk="0" hangingPunct="1">
                        <a:defRPr sz="1798" b="1" kern="1200">
                          <a:solidFill>
                            <a:schemeClr val="dk1"/>
                          </a:solidFill>
                          <a:latin typeface="Aptos" panose="02110004020202020204"/>
                        </a:defRPr>
                      </a:lvl8pPr>
                      <a:lvl9pPr marL="3655040" algn="l" defTabSz="913759" rtl="0" eaLnBrk="1" latinLnBrk="0" hangingPunct="1">
                        <a:defRPr sz="1798" b="1"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Protocol Function</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20000"/>
                      </a:srgbClr>
                    </a:solidFill>
                  </a:tcPr>
                </a:tc>
                <a:tc>
                  <a:txBody>
                    <a:bodyPr/>
                    <a:lstStyle>
                      <a:lvl1pPr marL="0" algn="l" defTabSz="913759" rtl="0" eaLnBrk="1" latinLnBrk="0" hangingPunct="1">
                        <a:defRPr sz="1798" b="1" kern="1200">
                          <a:solidFill>
                            <a:schemeClr val="dk1"/>
                          </a:solidFill>
                          <a:latin typeface="Aptos" panose="02110004020202020204"/>
                        </a:defRPr>
                      </a:lvl1pPr>
                      <a:lvl2pPr marL="456880" algn="l" defTabSz="913759" rtl="0" eaLnBrk="1" latinLnBrk="0" hangingPunct="1">
                        <a:defRPr sz="1798" b="1" kern="1200">
                          <a:solidFill>
                            <a:schemeClr val="dk1"/>
                          </a:solidFill>
                          <a:latin typeface="Aptos" panose="02110004020202020204"/>
                        </a:defRPr>
                      </a:lvl2pPr>
                      <a:lvl3pPr marL="913759" algn="l" defTabSz="913759" rtl="0" eaLnBrk="1" latinLnBrk="0" hangingPunct="1">
                        <a:defRPr sz="1798" b="1" kern="1200">
                          <a:solidFill>
                            <a:schemeClr val="dk1"/>
                          </a:solidFill>
                          <a:latin typeface="Aptos" panose="02110004020202020204"/>
                        </a:defRPr>
                      </a:lvl3pPr>
                      <a:lvl4pPr marL="1370640" algn="l" defTabSz="913759" rtl="0" eaLnBrk="1" latinLnBrk="0" hangingPunct="1">
                        <a:defRPr sz="1798" b="1" kern="1200">
                          <a:solidFill>
                            <a:schemeClr val="dk1"/>
                          </a:solidFill>
                          <a:latin typeface="Aptos" panose="02110004020202020204"/>
                        </a:defRPr>
                      </a:lvl4pPr>
                      <a:lvl5pPr marL="1827520" algn="l" defTabSz="913759" rtl="0" eaLnBrk="1" latinLnBrk="0" hangingPunct="1">
                        <a:defRPr sz="1798" b="1" kern="1200">
                          <a:solidFill>
                            <a:schemeClr val="dk1"/>
                          </a:solidFill>
                          <a:latin typeface="Aptos" panose="02110004020202020204"/>
                        </a:defRPr>
                      </a:lvl5pPr>
                      <a:lvl6pPr marL="2284401" algn="l" defTabSz="913759" rtl="0" eaLnBrk="1" latinLnBrk="0" hangingPunct="1">
                        <a:defRPr sz="1798" b="1" kern="1200">
                          <a:solidFill>
                            <a:schemeClr val="dk1"/>
                          </a:solidFill>
                          <a:latin typeface="Aptos" panose="02110004020202020204"/>
                        </a:defRPr>
                      </a:lvl6pPr>
                      <a:lvl7pPr marL="2741280" algn="l" defTabSz="913759" rtl="0" eaLnBrk="1" latinLnBrk="0" hangingPunct="1">
                        <a:defRPr sz="1798" b="1" kern="1200">
                          <a:solidFill>
                            <a:schemeClr val="dk1"/>
                          </a:solidFill>
                          <a:latin typeface="Aptos" panose="02110004020202020204"/>
                        </a:defRPr>
                      </a:lvl7pPr>
                      <a:lvl8pPr marL="3198160" algn="l" defTabSz="913759" rtl="0" eaLnBrk="1" latinLnBrk="0" hangingPunct="1">
                        <a:defRPr sz="1798" b="1" kern="1200">
                          <a:solidFill>
                            <a:schemeClr val="dk1"/>
                          </a:solidFill>
                          <a:latin typeface="Aptos" panose="02110004020202020204"/>
                        </a:defRPr>
                      </a:lvl8pPr>
                      <a:lvl9pPr marL="3655040" algn="l" defTabSz="913759" rtl="0" eaLnBrk="1" latinLnBrk="0" hangingPunct="1">
                        <a:defRPr sz="1798" b="1"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Verification Features</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20000"/>
                      </a:srgbClr>
                    </a:solidFill>
                  </a:tcPr>
                </a:tc>
                <a:extLst>
                  <a:ext uri="{0D108BD9-81ED-4DB2-BD59-A6C34878D82A}">
                    <a16:rowId xmlns:a16="http://schemas.microsoft.com/office/drawing/2014/main" val="3760757570"/>
                  </a:ext>
                </a:extLst>
              </a:tr>
              <a:tr h="241816">
                <a:tc rowSpan="2">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Datalink</a:t>
                      </a:r>
                    </a:p>
                    <a:p>
                      <a:r>
                        <a:rPr lang="en-US" altLang="zh-CN" sz="800" baseline="0" dirty="0">
                          <a:latin typeface="微软雅黑" panose="020B0503020204020204" pitchFamily="34" charset="-122"/>
                          <a:ea typeface="方正兰亭黑简体" panose="02000000000000000000" pitchFamily="2" charset="-122"/>
                        </a:rPr>
                        <a:t>Layer</a:t>
                      </a:r>
                      <a:endParaRPr lang="zh-CN" altLang="en-US" sz="800" baseline="0" dirty="0">
                        <a:latin typeface="微软雅黑" panose="020B0503020204020204" pitchFamily="34" charset="-122"/>
                        <a:ea typeface="方正兰亭黑简体" panose="02000000000000000000" pitchFamily="2" charset="-122"/>
                      </a:endParaRPr>
                    </a:p>
                  </a:txBody>
                  <a:tcPr marL="72000" marR="72000" anchor="ctr">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40000"/>
                      </a:srgbClr>
                    </a:solidFill>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cs typeface="Huawei Sans" panose="020C0503030203020204" pitchFamily="34" charset="0"/>
                        </a:rPr>
                        <a:t>VL&amp;</a:t>
                      </a:r>
                      <a:r>
                        <a:rPr lang="en-US" altLang="zh-CN" sz="800" baseline="0" dirty="0">
                          <a:latin typeface="微软雅黑" panose="020B0503020204020204" pitchFamily="34" charset="-122"/>
                          <a:ea typeface="方正兰亭黑简体" panose="02000000000000000000" pitchFamily="2" charset="-122"/>
                        </a:rPr>
                        <a:t>CBFC</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40000"/>
                      </a:srgbClr>
                    </a:solidFill>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pPr marL="0" marR="0" lvl="0" indent="0" algn="l" defTabSz="1187798" rtl="0" eaLnBrk="1" fontAlgn="auto" latinLnBrk="0" hangingPunct="1">
                        <a:lnSpc>
                          <a:spcPct val="100000"/>
                        </a:lnSpc>
                        <a:spcBef>
                          <a:spcPts val="0"/>
                        </a:spcBef>
                        <a:spcAft>
                          <a:spcPts val="0"/>
                        </a:spcAft>
                        <a:buClrTx/>
                        <a:buSzTx/>
                        <a:buFontTx/>
                        <a:buNone/>
                        <a:tabLst/>
                        <a:defRPr/>
                      </a:pPr>
                      <a:r>
                        <a:rPr lang="en-US" altLang="zh-CN" sz="800" baseline="0" dirty="0">
                          <a:latin typeface="微软雅黑" panose="020B0503020204020204" pitchFamily="34" charset="-122"/>
                          <a:ea typeface="方正兰亭黑简体" panose="02000000000000000000" pitchFamily="2" charset="-122"/>
                        </a:rPr>
                        <a:t>Correctness and deadlock-free of credit subscribe and release.</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40000"/>
                      </a:srgbClr>
                    </a:solidFill>
                  </a:tcPr>
                </a:tc>
                <a:extLst>
                  <a:ext uri="{0D108BD9-81ED-4DB2-BD59-A6C34878D82A}">
                    <a16:rowId xmlns:a16="http://schemas.microsoft.com/office/drawing/2014/main" val="1944566439"/>
                  </a:ext>
                </a:extLst>
              </a:tr>
              <a:tr h="222761">
                <a:tc vMerge="1">
                  <a:txBody>
                    <a:bodyPr/>
                    <a:lstStyle/>
                    <a:p>
                      <a:endParaRPr lang="zh-CN" altLang="en-US" sz="1600" dirty="0"/>
                    </a:p>
                  </a:txBody>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LLR</a:t>
                      </a:r>
                      <a:endParaRPr lang="zh-CN" altLang="en-US" sz="800" baseline="0" dirty="0">
                        <a:latin typeface="微软雅黑" panose="020B0503020204020204" pitchFamily="34" charset="-122"/>
                        <a:ea typeface="方正兰亭黑简体" panose="02000000000000000000" pitchFamily="2" charset="-122"/>
                        <a:cs typeface="Huawei Sans" panose="020C0503030203020204" pitchFamily="34" charset="0"/>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20000"/>
                      </a:srgbClr>
                    </a:solidFill>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Correctness of state transition and error handling.</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20000"/>
                      </a:srgbClr>
                    </a:solidFill>
                  </a:tcPr>
                </a:tc>
                <a:extLst>
                  <a:ext uri="{0D108BD9-81ED-4DB2-BD59-A6C34878D82A}">
                    <a16:rowId xmlns:a16="http://schemas.microsoft.com/office/drawing/2014/main" val="2621640157"/>
                  </a:ext>
                </a:extLst>
              </a:tr>
              <a:tr h="241816">
                <a:tc rowSpan="3">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Network</a:t>
                      </a:r>
                      <a:r>
                        <a:rPr lang="zh-CN" altLang="en-US" sz="800" baseline="0" dirty="0">
                          <a:latin typeface="微软雅黑" panose="020B0503020204020204" pitchFamily="34" charset="-122"/>
                          <a:ea typeface="方正兰亭黑简体" panose="02000000000000000000" pitchFamily="2" charset="-122"/>
                        </a:rPr>
                        <a:t> </a:t>
                      </a:r>
                      <a:r>
                        <a:rPr lang="en-US" altLang="zh-CN" sz="800" baseline="0" dirty="0">
                          <a:latin typeface="微软雅黑" panose="020B0503020204020204" pitchFamily="34" charset="-122"/>
                          <a:ea typeface="方正兰亭黑简体" panose="02000000000000000000" pitchFamily="2" charset="-122"/>
                        </a:rPr>
                        <a:t>Layer</a:t>
                      </a:r>
                      <a:endParaRPr lang="zh-CN" altLang="en-US" sz="800" baseline="0" dirty="0">
                        <a:latin typeface="微软雅黑" panose="020B0503020204020204" pitchFamily="34" charset="-122"/>
                        <a:ea typeface="方正兰亭黑简体" panose="02000000000000000000" pitchFamily="2" charset="-122"/>
                      </a:endParaRPr>
                    </a:p>
                  </a:txBody>
                  <a:tcPr marL="72000" marR="72000" anchor="ctr">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40000"/>
                      </a:srgbClr>
                    </a:solidFill>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Routing</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40000"/>
                      </a:srgbClr>
                    </a:solidFill>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Correctness and </a:t>
                      </a:r>
                      <a:r>
                        <a:rPr lang="en-US" altLang="zh-CN" sz="800" baseline="0" dirty="0">
                          <a:latin typeface="+mn-ea"/>
                          <a:ea typeface="方正兰亭黑简体" panose="02000000000000000000" pitchFamily="2" charset="-122"/>
                        </a:rPr>
                        <a:t>c</a:t>
                      </a:r>
                      <a:r>
                        <a:rPr lang="en-US" altLang="zh-CN" sz="800" dirty="0">
                          <a:latin typeface="+mn-ea"/>
                          <a:cs typeface="Huawei Sans" panose="020C0503030203020204" pitchFamily="34" charset="0"/>
                        </a:rPr>
                        <a:t>ompatibility of routing.</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40000"/>
                      </a:srgbClr>
                    </a:solidFill>
                  </a:tcPr>
                </a:tc>
                <a:extLst>
                  <a:ext uri="{0D108BD9-81ED-4DB2-BD59-A6C34878D82A}">
                    <a16:rowId xmlns:a16="http://schemas.microsoft.com/office/drawing/2014/main" val="1255853108"/>
                  </a:ext>
                </a:extLst>
              </a:tr>
              <a:tr h="344539">
                <a:tc vMerge="1">
                  <a:txBody>
                    <a:bodyPr/>
                    <a:lstStyle/>
                    <a:p>
                      <a:endParaRPr lang="zh-CN" altLang="en-US" sz="1600" dirty="0"/>
                    </a:p>
                  </a:txBody>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Isolation</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20000"/>
                      </a:srgbClr>
                    </a:solidFill>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pPr marL="0" marR="0" lvl="0" indent="0" algn="l" defTabSz="1187798" rtl="0" eaLnBrk="1" fontAlgn="auto" latinLnBrk="0" hangingPunct="1">
                        <a:lnSpc>
                          <a:spcPct val="100000"/>
                        </a:lnSpc>
                        <a:spcBef>
                          <a:spcPts val="0"/>
                        </a:spcBef>
                        <a:spcAft>
                          <a:spcPts val="0"/>
                        </a:spcAft>
                        <a:buClrTx/>
                        <a:buSzTx/>
                        <a:buFontTx/>
                        <a:buNone/>
                        <a:tabLst/>
                        <a:defRPr/>
                      </a:pPr>
                      <a:r>
                        <a:rPr lang="en-US" altLang="zh-CN" sz="800" baseline="0" dirty="0">
                          <a:latin typeface="微软雅黑" panose="020B0503020204020204" pitchFamily="34" charset="-122"/>
                          <a:ea typeface="方正兰亭黑简体" panose="02000000000000000000" pitchFamily="2" charset="-122"/>
                        </a:rPr>
                        <a:t>Effectiveness of the isolation strategy and correctness of isolation.</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20000"/>
                      </a:srgbClr>
                    </a:solidFill>
                  </a:tcPr>
                </a:tc>
                <a:extLst>
                  <a:ext uri="{0D108BD9-81ED-4DB2-BD59-A6C34878D82A}">
                    <a16:rowId xmlns:a16="http://schemas.microsoft.com/office/drawing/2014/main" val="1387242186"/>
                  </a:ext>
                </a:extLst>
              </a:tr>
              <a:tr h="344539">
                <a:tc vMerge="1">
                  <a:txBody>
                    <a:bodyPr/>
                    <a:lstStyle/>
                    <a:p>
                      <a:endParaRPr lang="zh-CN" altLang="en-US" sz="1400" dirty="0"/>
                    </a:p>
                  </a:txBody>
                  <a:tcPr anchor="ct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Priority</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40000"/>
                      </a:srgbClr>
                    </a:solidFill>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pPr marL="0" marR="0" lvl="0" indent="0" algn="l" defTabSz="1187798" rtl="0" eaLnBrk="1" fontAlgn="auto" latinLnBrk="0" hangingPunct="1">
                        <a:lnSpc>
                          <a:spcPct val="100000"/>
                        </a:lnSpc>
                        <a:spcBef>
                          <a:spcPts val="0"/>
                        </a:spcBef>
                        <a:spcAft>
                          <a:spcPts val="0"/>
                        </a:spcAft>
                        <a:buClrTx/>
                        <a:buSzTx/>
                        <a:buFontTx/>
                        <a:buNone/>
                        <a:tabLst/>
                        <a:defRPr/>
                      </a:pPr>
                      <a:r>
                        <a:rPr lang="en-US" altLang="zh-CN" sz="800" baseline="0" dirty="0">
                          <a:latin typeface="微软雅黑" panose="020B0503020204020204" pitchFamily="34" charset="-122"/>
                          <a:ea typeface="方正兰亭黑简体" panose="02000000000000000000" pitchFamily="2" charset="-122"/>
                        </a:rPr>
                        <a:t>Starvation detection and conflicts detection.</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40000"/>
                      </a:srgbClr>
                    </a:solidFill>
                  </a:tcPr>
                </a:tc>
                <a:extLst>
                  <a:ext uri="{0D108BD9-81ED-4DB2-BD59-A6C34878D82A}">
                    <a16:rowId xmlns:a16="http://schemas.microsoft.com/office/drawing/2014/main" val="84975104"/>
                  </a:ext>
                </a:extLst>
              </a:tr>
              <a:tr h="350053">
                <a:tc rowSpan="4">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Transport</a:t>
                      </a:r>
                      <a:r>
                        <a:rPr lang="zh-CN" altLang="en-US" sz="800" baseline="0" dirty="0">
                          <a:latin typeface="微软雅黑" panose="020B0503020204020204" pitchFamily="34" charset="-122"/>
                          <a:ea typeface="方正兰亭黑简体" panose="02000000000000000000" pitchFamily="2" charset="-122"/>
                        </a:rPr>
                        <a:t> </a:t>
                      </a:r>
                      <a:r>
                        <a:rPr lang="en-US" altLang="zh-CN" sz="800" baseline="0" dirty="0">
                          <a:latin typeface="微软雅黑" panose="020B0503020204020204" pitchFamily="34" charset="-122"/>
                          <a:ea typeface="方正兰亭黑简体" panose="02000000000000000000" pitchFamily="2" charset="-122"/>
                        </a:rPr>
                        <a:t>Layer</a:t>
                      </a:r>
                    </a:p>
                  </a:txBody>
                  <a:tcPr marL="72000" marR="72000" anchor="ctr">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20000"/>
                      </a:srgbClr>
                    </a:solidFill>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TP</a:t>
                      </a:r>
                      <a:r>
                        <a:rPr lang="zh-CN" altLang="en-US" sz="800" baseline="0" dirty="0">
                          <a:latin typeface="微软雅黑" panose="020B0503020204020204" pitchFamily="34" charset="-122"/>
                          <a:ea typeface="方正兰亭黑简体" panose="02000000000000000000" pitchFamily="2" charset="-122"/>
                        </a:rPr>
                        <a:t> </a:t>
                      </a:r>
                      <a:r>
                        <a:rPr lang="en-US" altLang="zh-CN" sz="800" baseline="0" dirty="0">
                          <a:latin typeface="微软雅黑" panose="020B0503020204020204" pitchFamily="34" charset="-122"/>
                          <a:ea typeface="方正兰亭黑简体" panose="02000000000000000000" pitchFamily="2" charset="-122"/>
                        </a:rPr>
                        <a:t>model</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20000"/>
                      </a:srgbClr>
                    </a:solidFill>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Correctness of state transition and reliability function.</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20000"/>
                      </a:srgbClr>
                    </a:solidFill>
                  </a:tcPr>
                </a:tc>
                <a:extLst>
                  <a:ext uri="{0D108BD9-81ED-4DB2-BD59-A6C34878D82A}">
                    <a16:rowId xmlns:a16="http://schemas.microsoft.com/office/drawing/2014/main" val="3215152168"/>
                  </a:ext>
                </a:extLst>
              </a:tr>
              <a:tr h="222761">
                <a:tc vMerge="1">
                  <a:txBody>
                    <a:bodyPr/>
                    <a:lstStyle/>
                    <a:p>
                      <a:endParaRPr lang="zh-CN" altLang="en-US" sz="1600" dirty="0"/>
                    </a:p>
                  </a:txBody>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TP</a:t>
                      </a:r>
                      <a:endParaRPr lang="zh-CN" altLang="en-US" sz="800" baseline="0" dirty="0">
                        <a:latin typeface="微软雅黑" panose="020B0503020204020204" pitchFamily="34" charset="-122"/>
                        <a:ea typeface="方正兰亭黑简体" panose="02000000000000000000" pitchFamily="2" charset="-122"/>
                        <a:cs typeface="Huawei Sans" panose="020C0503030203020204" pitchFamily="34" charset="0"/>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40000"/>
                      </a:srgbClr>
                    </a:solidFill>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Correctness of transmission process.</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40000"/>
                      </a:srgbClr>
                    </a:solidFill>
                  </a:tcPr>
                </a:tc>
                <a:extLst>
                  <a:ext uri="{0D108BD9-81ED-4DB2-BD59-A6C34878D82A}">
                    <a16:rowId xmlns:a16="http://schemas.microsoft.com/office/drawing/2014/main" val="890917224"/>
                  </a:ext>
                </a:extLst>
              </a:tr>
              <a:tr h="350053">
                <a:tc vMerge="1">
                  <a:txBody>
                    <a:bodyPr/>
                    <a:lstStyle/>
                    <a:p>
                      <a:endParaRPr lang="zh-CN" altLang="en-US"/>
                    </a:p>
                  </a:txBody>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Retransmission</a:t>
                      </a:r>
                      <a:endParaRPr lang="zh-CN" altLang="en-US" sz="800" baseline="0" dirty="0">
                        <a:latin typeface="微软雅黑" panose="020B0503020204020204" pitchFamily="34" charset="-122"/>
                        <a:ea typeface="方正兰亭黑简体" panose="02000000000000000000" pitchFamily="2" charset="-122"/>
                        <a:cs typeface="Huawei Sans" panose="020C0503030203020204" pitchFamily="34" charset="0"/>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20000"/>
                      </a:srgbClr>
                    </a:solidFill>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Detection of packet loss status and packet loss deadlock.</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20000"/>
                      </a:srgbClr>
                    </a:solidFill>
                  </a:tcPr>
                </a:tc>
                <a:extLst>
                  <a:ext uri="{0D108BD9-81ED-4DB2-BD59-A6C34878D82A}">
                    <a16:rowId xmlns:a16="http://schemas.microsoft.com/office/drawing/2014/main" val="553205755"/>
                  </a:ext>
                </a:extLst>
              </a:tr>
              <a:tr h="222761">
                <a:tc vMerge="1">
                  <a:txBody>
                    <a:bodyPr/>
                    <a:lstStyle/>
                    <a:p>
                      <a:endParaRPr lang="zh-CN" altLang="en-US" sz="1600" dirty="0"/>
                    </a:p>
                  </a:txBody>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CC</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40000"/>
                      </a:srgbClr>
                    </a:solidFill>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Congestion control process verification.</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40000"/>
                      </a:srgbClr>
                    </a:solidFill>
                  </a:tcPr>
                </a:tc>
                <a:extLst>
                  <a:ext uri="{0D108BD9-81ED-4DB2-BD59-A6C34878D82A}">
                    <a16:rowId xmlns:a16="http://schemas.microsoft.com/office/drawing/2014/main" val="2050734573"/>
                  </a:ext>
                </a:extLst>
              </a:tr>
              <a:tr h="350053">
                <a:tc rowSpan="4">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0" baseline="0" dirty="0">
                          <a:latin typeface="微软雅黑" panose="020B0503020204020204" pitchFamily="34" charset="-122"/>
                          <a:ea typeface="方正兰亭黑简体" panose="02000000000000000000" pitchFamily="2" charset="-122"/>
                        </a:rPr>
                        <a:t>Transaction Layer</a:t>
                      </a:r>
                      <a:endParaRPr lang="zh-CN" altLang="en-US" sz="800" b="0" baseline="0" dirty="0">
                        <a:latin typeface="微软雅黑" panose="020B0503020204020204" pitchFamily="34" charset="-122"/>
                        <a:ea typeface="方正兰亭黑简体" panose="02000000000000000000" pitchFamily="2" charset="-122"/>
                      </a:endParaRPr>
                    </a:p>
                  </a:txBody>
                  <a:tcPr marL="72000" marR="72000" anchor="ctr">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20000"/>
                      </a:srgbClr>
                    </a:solidFill>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Jetty</a:t>
                      </a:r>
                      <a:endParaRPr lang="zh-CN" altLang="en-US" sz="800" baseline="0" dirty="0">
                        <a:latin typeface="微软雅黑" panose="020B0503020204020204" pitchFamily="34" charset="-122"/>
                        <a:ea typeface="方正兰亭黑简体" panose="02000000000000000000" pitchFamily="2" charset="-122"/>
                        <a:cs typeface="Huawei Sans" panose="020C0503030203020204" pitchFamily="34" charset="0"/>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20000"/>
                      </a:srgbClr>
                    </a:solidFill>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Correctness of Jetty state transition.</a:t>
                      </a:r>
                      <a:r>
                        <a:rPr lang="zh-CN" altLang="en-US" sz="800" baseline="0" dirty="0">
                          <a:latin typeface="微软雅黑" panose="020B0503020204020204" pitchFamily="34" charset="-122"/>
                          <a:ea typeface="方正兰亭黑简体" panose="02000000000000000000" pitchFamily="2" charset="-122"/>
                        </a:rPr>
                        <a:t> </a:t>
                      </a:r>
                      <a:r>
                        <a:rPr lang="en-US" altLang="zh-CN" sz="800" baseline="0" dirty="0">
                          <a:latin typeface="微软雅黑" panose="020B0503020204020204" pitchFamily="34" charset="-122"/>
                          <a:ea typeface="方正兰亭黑简体" panose="02000000000000000000" pitchFamily="2" charset="-122"/>
                        </a:rPr>
                        <a:t>Jetty abnormal state detection.</a:t>
                      </a: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20000"/>
                      </a:srgbClr>
                    </a:solidFill>
                  </a:tcPr>
                </a:tc>
                <a:extLst>
                  <a:ext uri="{0D108BD9-81ED-4DB2-BD59-A6C34878D82A}">
                    <a16:rowId xmlns:a16="http://schemas.microsoft.com/office/drawing/2014/main" val="3178008318"/>
                  </a:ext>
                </a:extLst>
              </a:tr>
              <a:tr h="222761">
                <a:tc vMerge="1">
                  <a:txBody>
                    <a:bodyPr/>
                    <a:lstStyle/>
                    <a:p>
                      <a:endParaRPr lang="zh-CN" altLang="en-US"/>
                    </a:p>
                  </a:txBody>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URMA</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40000"/>
                      </a:srgbClr>
                    </a:solidFill>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Correctness of URMA interaction process and state transition.</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40000"/>
                      </a:srgbClr>
                    </a:solidFill>
                  </a:tcPr>
                </a:tc>
                <a:extLst>
                  <a:ext uri="{0D108BD9-81ED-4DB2-BD59-A6C34878D82A}">
                    <a16:rowId xmlns:a16="http://schemas.microsoft.com/office/drawing/2014/main" val="1010469470"/>
                  </a:ext>
                </a:extLst>
              </a:tr>
              <a:tr h="222761">
                <a:tc vMerge="1">
                  <a:txBody>
                    <a:bodyPr/>
                    <a:lstStyle/>
                    <a:p>
                      <a:endParaRPr lang="zh-CN" altLang="en-US"/>
                    </a:p>
                  </a:txBody>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Security</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20000"/>
                      </a:srgbClr>
                    </a:solidFill>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pPr marL="0" marR="0" lvl="0" indent="0" algn="l" defTabSz="1187798" rtl="0" eaLnBrk="1" fontAlgn="auto" latinLnBrk="0" hangingPunct="1">
                        <a:lnSpc>
                          <a:spcPct val="100000"/>
                        </a:lnSpc>
                        <a:spcBef>
                          <a:spcPts val="0"/>
                        </a:spcBef>
                        <a:spcAft>
                          <a:spcPts val="0"/>
                        </a:spcAft>
                        <a:buClrTx/>
                        <a:buSzTx/>
                        <a:buFontTx/>
                        <a:buNone/>
                        <a:tabLst/>
                        <a:defRPr/>
                      </a:pPr>
                      <a:r>
                        <a:rPr lang="en-US" altLang="zh-CN" sz="800" baseline="0" dirty="0">
                          <a:latin typeface="微软雅黑" panose="020B0503020204020204" pitchFamily="34" charset="-122"/>
                          <a:ea typeface="方正兰亭黑简体" panose="02000000000000000000" pitchFamily="2" charset="-122"/>
                        </a:rPr>
                        <a:t>Correctness of the security state space.</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20000"/>
                      </a:srgbClr>
                    </a:solidFill>
                  </a:tcPr>
                </a:tc>
                <a:extLst>
                  <a:ext uri="{0D108BD9-81ED-4DB2-BD59-A6C34878D82A}">
                    <a16:rowId xmlns:a16="http://schemas.microsoft.com/office/drawing/2014/main" val="1339253379"/>
                  </a:ext>
                </a:extLst>
              </a:tr>
              <a:tr h="222761">
                <a:tc vMerge="1">
                  <a:txBody>
                    <a:bodyPr/>
                    <a:lstStyle/>
                    <a:p>
                      <a:endParaRPr lang="zh-CN" altLang="en-US" sz="1000" dirty="0"/>
                    </a:p>
                  </a:txBody>
                  <a:tcPr anchor="ct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r>
                        <a:rPr lang="en-US" altLang="zh-CN" sz="800" baseline="0" dirty="0">
                          <a:latin typeface="微软雅黑" panose="020B0503020204020204" pitchFamily="34" charset="-122"/>
                          <a:ea typeface="方正兰亭黑简体" panose="02000000000000000000" pitchFamily="2" charset="-122"/>
                        </a:rPr>
                        <a:t>Load/Store</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40000"/>
                      </a:srgbClr>
                    </a:solidFill>
                  </a:tcPr>
                </a:tc>
                <a:tc>
                  <a:txBody>
                    <a:bodyPr/>
                    <a:lstStyle>
                      <a:lvl1pPr marL="0" algn="l" defTabSz="913759" rtl="0" eaLnBrk="1" latinLnBrk="0" hangingPunct="1">
                        <a:defRPr sz="1798" kern="1200">
                          <a:solidFill>
                            <a:schemeClr val="dk1"/>
                          </a:solidFill>
                          <a:latin typeface="Aptos" panose="02110004020202020204"/>
                        </a:defRPr>
                      </a:lvl1pPr>
                      <a:lvl2pPr marL="456880" algn="l" defTabSz="913759" rtl="0" eaLnBrk="1" latinLnBrk="0" hangingPunct="1">
                        <a:defRPr sz="1798" kern="1200">
                          <a:solidFill>
                            <a:schemeClr val="dk1"/>
                          </a:solidFill>
                          <a:latin typeface="Aptos" panose="02110004020202020204"/>
                        </a:defRPr>
                      </a:lvl2pPr>
                      <a:lvl3pPr marL="913759" algn="l" defTabSz="913759" rtl="0" eaLnBrk="1" latinLnBrk="0" hangingPunct="1">
                        <a:defRPr sz="1798" kern="1200">
                          <a:solidFill>
                            <a:schemeClr val="dk1"/>
                          </a:solidFill>
                          <a:latin typeface="Aptos" panose="02110004020202020204"/>
                        </a:defRPr>
                      </a:lvl3pPr>
                      <a:lvl4pPr marL="1370640" algn="l" defTabSz="913759" rtl="0" eaLnBrk="1" latinLnBrk="0" hangingPunct="1">
                        <a:defRPr sz="1798" kern="1200">
                          <a:solidFill>
                            <a:schemeClr val="dk1"/>
                          </a:solidFill>
                          <a:latin typeface="Aptos" panose="02110004020202020204"/>
                        </a:defRPr>
                      </a:lvl4pPr>
                      <a:lvl5pPr marL="1827520" algn="l" defTabSz="913759" rtl="0" eaLnBrk="1" latinLnBrk="0" hangingPunct="1">
                        <a:defRPr sz="1798" kern="1200">
                          <a:solidFill>
                            <a:schemeClr val="dk1"/>
                          </a:solidFill>
                          <a:latin typeface="Aptos" panose="02110004020202020204"/>
                        </a:defRPr>
                      </a:lvl5pPr>
                      <a:lvl6pPr marL="2284401" algn="l" defTabSz="913759" rtl="0" eaLnBrk="1" latinLnBrk="0" hangingPunct="1">
                        <a:defRPr sz="1798" kern="1200">
                          <a:solidFill>
                            <a:schemeClr val="dk1"/>
                          </a:solidFill>
                          <a:latin typeface="Aptos" panose="02110004020202020204"/>
                        </a:defRPr>
                      </a:lvl6pPr>
                      <a:lvl7pPr marL="2741280" algn="l" defTabSz="913759" rtl="0" eaLnBrk="1" latinLnBrk="0" hangingPunct="1">
                        <a:defRPr sz="1798" kern="1200">
                          <a:solidFill>
                            <a:schemeClr val="dk1"/>
                          </a:solidFill>
                          <a:latin typeface="Aptos" panose="02110004020202020204"/>
                        </a:defRPr>
                      </a:lvl7pPr>
                      <a:lvl8pPr marL="3198160" algn="l" defTabSz="913759" rtl="0" eaLnBrk="1" latinLnBrk="0" hangingPunct="1">
                        <a:defRPr sz="1798" kern="1200">
                          <a:solidFill>
                            <a:schemeClr val="dk1"/>
                          </a:solidFill>
                          <a:latin typeface="Aptos" panose="02110004020202020204"/>
                        </a:defRPr>
                      </a:lvl8pPr>
                      <a:lvl9pPr marL="3655040" algn="l" defTabSz="913759" rtl="0" eaLnBrk="1" latinLnBrk="0" hangingPunct="1">
                        <a:defRPr sz="1798" kern="1200">
                          <a:solidFill>
                            <a:schemeClr val="dk1"/>
                          </a:solidFill>
                          <a:latin typeface="Aptos" panose="02110004020202020204"/>
                        </a:defRPr>
                      </a:lvl9pPr>
                    </a:lstStyle>
                    <a:p>
                      <a:pPr marL="0" marR="0" lvl="0" indent="0" algn="l" defTabSz="1187798" rtl="0" eaLnBrk="1" fontAlgn="auto" latinLnBrk="0" hangingPunct="1">
                        <a:lnSpc>
                          <a:spcPct val="100000"/>
                        </a:lnSpc>
                        <a:spcBef>
                          <a:spcPts val="0"/>
                        </a:spcBef>
                        <a:spcAft>
                          <a:spcPts val="0"/>
                        </a:spcAft>
                        <a:buClrTx/>
                        <a:buSzTx/>
                        <a:buFontTx/>
                        <a:buNone/>
                        <a:tabLst/>
                        <a:defRPr/>
                      </a:pPr>
                      <a:r>
                        <a:rPr lang="en-US" altLang="zh-CN" sz="800" baseline="0" dirty="0">
                          <a:latin typeface="微软雅黑" panose="020B0503020204020204" pitchFamily="34" charset="-122"/>
                          <a:ea typeface="方正兰亭黑简体" panose="02000000000000000000" pitchFamily="2" charset="-122"/>
                        </a:rPr>
                        <a:t>Correctness and deadlock-free of memory transactions.</a:t>
                      </a:r>
                      <a:endParaRPr lang="zh-CN" altLang="en-US" sz="800" baseline="0" dirty="0">
                        <a:latin typeface="微软雅黑" panose="020B0503020204020204" pitchFamily="34" charset="-122"/>
                        <a:ea typeface="方正兰亭黑简体" panose="02000000000000000000" pitchFamily="2" charset="-122"/>
                      </a:endParaRPr>
                    </a:p>
                  </a:txBody>
                  <a:tcPr marL="72000" marR="72000">
                    <a:lnL w="12700" cmpd="sng">
                      <a:solidFill>
                        <a:srgbClr val="0F9ED5"/>
                      </a:solidFill>
                    </a:lnL>
                    <a:lnR w="12700" cmpd="sng">
                      <a:solidFill>
                        <a:srgbClr val="0F9ED5"/>
                      </a:solidFill>
                    </a:lnR>
                    <a:lnT w="12700" cmpd="sng">
                      <a:solidFill>
                        <a:srgbClr val="0F9ED5"/>
                      </a:solidFill>
                    </a:lnT>
                    <a:lnB w="12700" cmpd="sng">
                      <a:solidFill>
                        <a:srgbClr val="0F9ED5"/>
                      </a:solidFill>
                    </a:lnB>
                    <a:lnTlToBr w="12700" cmpd="sng">
                      <a:noFill/>
                      <a:prstDash val="solid"/>
                    </a:lnTlToBr>
                    <a:lnBlToTr w="12700" cmpd="sng">
                      <a:noFill/>
                      <a:prstDash val="solid"/>
                    </a:lnBlToTr>
                    <a:solidFill>
                      <a:srgbClr val="0F9ED5">
                        <a:tint val="40000"/>
                      </a:srgbClr>
                    </a:solidFill>
                  </a:tcPr>
                </a:tc>
                <a:extLst>
                  <a:ext uri="{0D108BD9-81ED-4DB2-BD59-A6C34878D82A}">
                    <a16:rowId xmlns:a16="http://schemas.microsoft.com/office/drawing/2014/main" val="2000617524"/>
                  </a:ext>
                </a:extLst>
              </a:tr>
            </a:tbl>
          </a:graphicData>
        </a:graphic>
      </p:graphicFrame>
      <p:sp>
        <p:nvSpPr>
          <p:cNvPr id="173" name="文本框 172">
            <a:extLst>
              <a:ext uri="{FF2B5EF4-FFF2-40B4-BE49-F238E27FC236}">
                <a16:creationId xmlns:a16="http://schemas.microsoft.com/office/drawing/2014/main" id="{D08BCA07-106C-46FD-9CA0-7A906CFA9642}"/>
              </a:ext>
            </a:extLst>
          </p:cNvPr>
          <p:cNvSpPr txBox="1"/>
          <p:nvPr/>
        </p:nvSpPr>
        <p:spPr>
          <a:xfrm>
            <a:off x="1033224" y="1178921"/>
            <a:ext cx="4175550" cy="246221"/>
          </a:xfrm>
          <a:prstGeom prst="rect">
            <a:avLst/>
          </a:prstGeom>
          <a:solidFill>
            <a:schemeClr val="bg1"/>
          </a:solidFill>
        </p:spPr>
        <p:txBody>
          <a:bodyPr wrap="square" lIns="0" tIns="0" rIns="0" bIns="0" rtlCol="0">
            <a:spAutoFit/>
          </a:bodyPr>
          <a:lstStyle>
            <a:defPPr>
              <a:defRPr lang="en-US"/>
            </a:defPPr>
            <a:lvl1pPr algn="ctr" defTabSz="914112">
              <a:defRPr kumimoji="1" b="1">
                <a:solidFill>
                  <a:srgbClr val="000000"/>
                </a:solidFill>
                <a:latin typeface="Microsoft YaHei" panose="020B0503020204020204" pitchFamily="34" charset="-122"/>
                <a:ea typeface="Microsoft YaHei" panose="020B0503020204020204" pitchFamily="34" charset="-122"/>
              </a:defRPr>
            </a:lvl1pPr>
          </a:lstStyle>
          <a:p>
            <a:pPr>
              <a:defRPr/>
            </a:pPr>
            <a:r>
              <a:rPr lang="it-IT" altLang="zh-CN" sz="1600" dirty="0">
                <a:solidFill>
                  <a:schemeClr val="tx1"/>
                </a:solidFill>
                <a:latin typeface="微软雅黑" panose="020B0503020204020204" pitchFamily="34" charset="-122"/>
                <a:ea typeface="微软雅黑" panose="020B0503020204020204" pitchFamily="34" charset="-122"/>
              </a:rPr>
              <a:t>Support for Innovative Protocol Design</a:t>
            </a:r>
            <a:endParaRPr lang="en-US" sz="1600" dirty="0">
              <a:solidFill>
                <a:schemeClr val="tx1"/>
              </a:solidFill>
              <a:latin typeface="微软雅黑" panose="020B0503020204020204" pitchFamily="34" charset="-122"/>
              <a:ea typeface="微软雅黑" panose="020B0503020204020204" pitchFamily="34" charset="-122"/>
            </a:endParaRPr>
          </a:p>
        </p:txBody>
      </p:sp>
      <p:sp>
        <p:nvSpPr>
          <p:cNvPr id="174" name="矩形: 圆角 173">
            <a:extLst>
              <a:ext uri="{FF2B5EF4-FFF2-40B4-BE49-F238E27FC236}">
                <a16:creationId xmlns:a16="http://schemas.microsoft.com/office/drawing/2014/main" id="{CCAB5A6A-480D-42B2-925C-0924DB80322D}"/>
              </a:ext>
            </a:extLst>
          </p:cNvPr>
          <p:cNvSpPr/>
          <p:nvPr/>
        </p:nvSpPr>
        <p:spPr>
          <a:xfrm>
            <a:off x="6525492" y="1316696"/>
            <a:ext cx="5390623" cy="5417283"/>
          </a:xfrm>
          <a:prstGeom prst="roundRect">
            <a:avLst>
              <a:gd name="adj" fmla="val 2641"/>
            </a:avLst>
          </a:prstGeom>
          <a:noFill/>
          <a:ln w="25400" cap="flat" cmpd="sng" algn="ctr">
            <a:solidFill>
              <a:schemeClr val="tx1"/>
            </a:solidFill>
            <a:prstDash val="solid"/>
            <a:round/>
            <a:headEnd type="none" w="med" len="med"/>
            <a:tailEnd type="none" w="med" len="med"/>
          </a:ln>
          <a:effectLst>
            <a:outerShdw blurRad="50800" dist="38100" dir="5400000" algn="t" rotWithShape="0">
              <a:sysClr val="window" lastClr="FFFFFF">
                <a:alpha val="40000"/>
              </a:sysClr>
            </a:outerShdw>
          </a:effectLst>
        </p:spPr>
        <p:txBody>
          <a:bodyPr rot="0" spcFirstLastPara="0" vertOverflow="overflow" horzOverflow="overflow" vert="horz" wrap="none" lIns="91440" tIns="14400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400" b="1" i="0" u="none" strike="noStrike" kern="0" cap="none" spc="0" normalizeH="0" baseline="0" noProof="0" dirty="0">
              <a:ln>
                <a:noFill/>
              </a:ln>
              <a:effectLst/>
              <a:uLnTx/>
              <a:uFillTx/>
              <a:latin typeface="微软雅黑" panose="020B0503020204020204" pitchFamily="34" charset="-122"/>
            </a:endParaRPr>
          </a:p>
        </p:txBody>
      </p:sp>
      <p:sp>
        <p:nvSpPr>
          <p:cNvPr id="175" name="文本框 174">
            <a:extLst>
              <a:ext uri="{FF2B5EF4-FFF2-40B4-BE49-F238E27FC236}">
                <a16:creationId xmlns:a16="http://schemas.microsoft.com/office/drawing/2014/main" id="{53665B8D-3DBF-474A-8B96-0DB2F16B93EE}"/>
              </a:ext>
            </a:extLst>
          </p:cNvPr>
          <p:cNvSpPr txBox="1"/>
          <p:nvPr/>
        </p:nvSpPr>
        <p:spPr>
          <a:xfrm>
            <a:off x="6907048" y="1178921"/>
            <a:ext cx="4627510" cy="246221"/>
          </a:xfrm>
          <a:prstGeom prst="rect">
            <a:avLst/>
          </a:prstGeom>
          <a:solidFill>
            <a:schemeClr val="bg1"/>
          </a:solidFill>
        </p:spPr>
        <p:txBody>
          <a:bodyPr wrap="square" lIns="0" tIns="0" rIns="0" bIns="0" rtlCol="0">
            <a:spAutoFit/>
          </a:bodyPr>
          <a:lstStyle>
            <a:defPPr>
              <a:defRPr lang="en-US"/>
            </a:defPPr>
            <a:lvl1pPr algn="ctr" defTabSz="914112">
              <a:defRPr kumimoji="1" b="1">
                <a:solidFill>
                  <a:srgbClr val="000000"/>
                </a:solidFill>
                <a:latin typeface="Microsoft YaHei" panose="020B0503020204020204" pitchFamily="34" charset="-122"/>
                <a:ea typeface="Microsoft YaHei" panose="020B0503020204020204" pitchFamily="34" charset="-122"/>
              </a:defRPr>
            </a:lvl1pPr>
          </a:lstStyle>
          <a:p>
            <a:pPr>
              <a:defRPr/>
            </a:pPr>
            <a:r>
              <a:rPr lang="it-IT" altLang="zh-CN" sz="1600" dirty="0">
                <a:solidFill>
                  <a:schemeClr val="tx1"/>
                </a:solidFill>
                <a:latin typeface="微软雅黑" panose="020B0503020204020204" pitchFamily="34" charset="-122"/>
                <a:ea typeface="微软雅黑" panose="020B0503020204020204" pitchFamily="34" charset="-122"/>
              </a:rPr>
              <a:t>Support for </a:t>
            </a:r>
            <a:r>
              <a:rPr lang="en-US" altLang="zh-CN" sz="1600" dirty="0">
                <a:solidFill>
                  <a:schemeClr val="tx1"/>
                </a:solidFill>
                <a:latin typeface="微软雅黑" panose="020B0503020204020204" pitchFamily="34" charset="-122"/>
                <a:ea typeface="微软雅黑" panose="020B0503020204020204" pitchFamily="34" charset="-122"/>
              </a:rPr>
              <a:t>Control Plane Algorithm Design</a:t>
            </a:r>
            <a:endParaRPr lang="en-US" sz="1600" dirty="0">
              <a:solidFill>
                <a:schemeClr val="tx1"/>
              </a:solidFill>
              <a:latin typeface="微软雅黑" panose="020B0503020204020204" pitchFamily="34" charset="-122"/>
              <a:ea typeface="微软雅黑" panose="020B0503020204020204" pitchFamily="34" charset="-122"/>
            </a:endParaRPr>
          </a:p>
        </p:txBody>
      </p:sp>
      <p:sp>
        <p:nvSpPr>
          <p:cNvPr id="176" name="文本框 175">
            <a:extLst>
              <a:ext uri="{FF2B5EF4-FFF2-40B4-BE49-F238E27FC236}">
                <a16:creationId xmlns:a16="http://schemas.microsoft.com/office/drawing/2014/main" id="{C66CC718-673D-49C9-8662-C870A09285AB}"/>
              </a:ext>
            </a:extLst>
          </p:cNvPr>
          <p:cNvSpPr txBox="1"/>
          <p:nvPr/>
        </p:nvSpPr>
        <p:spPr>
          <a:xfrm>
            <a:off x="6755185" y="1565513"/>
            <a:ext cx="4913891" cy="521361"/>
          </a:xfrm>
          <a:prstGeom prst="rect">
            <a:avLst/>
          </a:prstGeom>
          <a:noFill/>
        </p:spPr>
        <p:txBody>
          <a:bodyPr wrap="square" lIns="0" tIns="0" rIns="0" bIns="0" rtlCol="0">
            <a:spAutoFit/>
          </a:bodyPr>
          <a:lstStyle/>
          <a:p>
            <a:pPr marL="171450" indent="-171450" defTabSz="457200">
              <a:lnSpc>
                <a:spcPct val="150000"/>
              </a:lnSpc>
              <a:buFont typeface="Wingdings" panose="05000000000000000000" pitchFamily="2" charset="2"/>
              <a:buChar char="n"/>
              <a:defRPr/>
            </a:pPr>
            <a:r>
              <a:rPr lang="en-US" altLang="zh-CN" sz="1200" b="1" kern="0" dirty="0">
                <a:latin typeface="微软雅黑" panose="020B0503020204020204" pitchFamily="34" charset="-122"/>
                <a:sym typeface="微软雅黑" panose="020B0503020204020204" pitchFamily="34" charset="-122"/>
              </a:rPr>
              <a:t>Verification of load balancing and packet reordering in the control plane.</a:t>
            </a:r>
          </a:p>
        </p:txBody>
      </p:sp>
      <p:sp>
        <p:nvSpPr>
          <p:cNvPr id="177" name="文本框 176">
            <a:extLst>
              <a:ext uri="{FF2B5EF4-FFF2-40B4-BE49-F238E27FC236}">
                <a16:creationId xmlns:a16="http://schemas.microsoft.com/office/drawing/2014/main" id="{BE36CD52-C38A-46AC-B8CD-5520880AF542}"/>
              </a:ext>
            </a:extLst>
          </p:cNvPr>
          <p:cNvSpPr txBox="1"/>
          <p:nvPr/>
        </p:nvSpPr>
        <p:spPr>
          <a:xfrm>
            <a:off x="6778171" y="2158949"/>
            <a:ext cx="4913891" cy="1352358"/>
          </a:xfrm>
          <a:prstGeom prst="rect">
            <a:avLst/>
          </a:prstGeom>
          <a:noFill/>
        </p:spPr>
        <p:txBody>
          <a:bodyPr wrap="square" lIns="0" tIns="0" rIns="0" bIns="0" rtlCol="0">
            <a:spAutoFit/>
          </a:bodyPr>
          <a:lstStyle/>
          <a:p>
            <a:pPr defTabSz="457200">
              <a:lnSpc>
                <a:spcPct val="150000"/>
              </a:lnSpc>
              <a:defRPr/>
            </a:pPr>
            <a:r>
              <a:rPr kumimoji="1" lang="en-US" altLang="zh-CN" sz="1200" dirty="0">
                <a:latin typeface="+mn-ea"/>
              </a:rPr>
              <a:t>The platform can verify the balance and multi-path consistency of innovative control plane algorithms under the following situations:</a:t>
            </a:r>
          </a:p>
          <a:p>
            <a:pPr marL="628690" lvl="1" indent="-171450" defTabSz="457200">
              <a:lnSpc>
                <a:spcPct val="150000"/>
              </a:lnSpc>
              <a:buFont typeface="Wingdings" panose="05000000000000000000" pitchFamily="2" charset="2"/>
              <a:buChar char="Ø"/>
              <a:defRPr/>
            </a:pPr>
            <a:r>
              <a:rPr kumimoji="1" lang="en-US" altLang="zh-CN" sz="1200" dirty="0">
                <a:latin typeface="+mn-ea"/>
              </a:rPr>
              <a:t>Different topologies, such as UB-mesh, CLOS, etc.</a:t>
            </a:r>
          </a:p>
          <a:p>
            <a:pPr marL="628690" lvl="1" indent="-171450" defTabSz="457200">
              <a:lnSpc>
                <a:spcPct val="150000"/>
              </a:lnSpc>
              <a:buFont typeface="Wingdings" panose="05000000000000000000" pitchFamily="2" charset="2"/>
              <a:buChar char="Ø"/>
              <a:defRPr/>
            </a:pPr>
            <a:r>
              <a:rPr kumimoji="1" lang="en-US" altLang="zh-CN" sz="1200" dirty="0">
                <a:latin typeface="+mn-ea"/>
              </a:rPr>
              <a:t>Link</a:t>
            </a:r>
            <a:r>
              <a:rPr kumimoji="1" lang="zh-CN" altLang="en-US" sz="1200" dirty="0">
                <a:latin typeface="+mn-ea"/>
              </a:rPr>
              <a:t> </a:t>
            </a:r>
            <a:r>
              <a:rPr kumimoji="1" lang="en-US" altLang="zh-CN" sz="1200" dirty="0">
                <a:latin typeface="+mn-ea"/>
              </a:rPr>
              <a:t>failures.</a:t>
            </a:r>
          </a:p>
          <a:p>
            <a:pPr marL="628690" lvl="1" indent="-171450" defTabSz="457200">
              <a:lnSpc>
                <a:spcPct val="150000"/>
              </a:lnSpc>
              <a:buFont typeface="Wingdings" panose="05000000000000000000" pitchFamily="2" charset="2"/>
              <a:buChar char="Ø"/>
              <a:defRPr/>
            </a:pPr>
            <a:r>
              <a:rPr kumimoji="1" lang="en-US" altLang="zh-CN" sz="1200" dirty="0">
                <a:latin typeface="+mn-ea"/>
              </a:rPr>
              <a:t>Different traffic characteristics.</a:t>
            </a:r>
          </a:p>
        </p:txBody>
      </p:sp>
      <p:grpSp>
        <p:nvGrpSpPr>
          <p:cNvPr id="8" name="组合 7">
            <a:extLst>
              <a:ext uri="{FF2B5EF4-FFF2-40B4-BE49-F238E27FC236}">
                <a16:creationId xmlns:a16="http://schemas.microsoft.com/office/drawing/2014/main" id="{831121B9-2424-49B5-9D41-45B59D8959B1}"/>
              </a:ext>
            </a:extLst>
          </p:cNvPr>
          <p:cNvGrpSpPr/>
          <p:nvPr/>
        </p:nvGrpSpPr>
        <p:grpSpPr>
          <a:xfrm>
            <a:off x="6716027" y="3764998"/>
            <a:ext cx="4976035" cy="2646621"/>
            <a:chOff x="6793216" y="3764998"/>
            <a:chExt cx="4976035" cy="2646621"/>
          </a:xfrm>
        </p:grpSpPr>
        <p:sp>
          <p:nvSpPr>
            <p:cNvPr id="101" name="矩形: 圆角 100">
              <a:extLst>
                <a:ext uri="{FF2B5EF4-FFF2-40B4-BE49-F238E27FC236}">
                  <a16:creationId xmlns:a16="http://schemas.microsoft.com/office/drawing/2014/main" id="{B4D384A6-F53D-479A-BC66-93E91579CE28}"/>
                </a:ext>
              </a:extLst>
            </p:cNvPr>
            <p:cNvSpPr/>
            <p:nvPr/>
          </p:nvSpPr>
          <p:spPr>
            <a:xfrm>
              <a:off x="6793216" y="3764998"/>
              <a:ext cx="4976035" cy="2646621"/>
            </a:xfrm>
            <a:prstGeom prst="roundRect">
              <a:avLst>
                <a:gd name="adj" fmla="val 8259"/>
              </a:avLst>
            </a:prstGeom>
            <a:solidFill>
              <a:srgbClr val="156082">
                <a:lumMod val="20000"/>
                <a:lumOff val="80000"/>
              </a:srgbClr>
            </a:solidFill>
            <a:ln w="19050" cap="flat" cmpd="sng" algn="ctr">
              <a:solidFill>
                <a:srgbClr val="156082">
                  <a:shade val="50000"/>
                </a:srgb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endParaRPr>
            </a:p>
          </p:txBody>
        </p:sp>
        <p:sp>
          <p:nvSpPr>
            <p:cNvPr id="179" name="AutoShape 152">
              <a:extLst>
                <a:ext uri="{FF2B5EF4-FFF2-40B4-BE49-F238E27FC236}">
                  <a16:creationId xmlns:a16="http://schemas.microsoft.com/office/drawing/2014/main" id="{0FF80773-5245-48D2-B722-728F7B77C9EC}"/>
                </a:ext>
              </a:extLst>
            </p:cNvPr>
            <p:cNvSpPr>
              <a:spLocks noChangeArrowheads="1"/>
            </p:cNvSpPr>
            <p:nvPr/>
          </p:nvSpPr>
          <p:spPr bwMode="auto">
            <a:xfrm>
              <a:off x="6900703" y="4435875"/>
              <a:ext cx="730097" cy="298473"/>
            </a:xfrm>
            <a:prstGeom prst="foldedCorner">
              <a:avLst>
                <a:gd name="adj" fmla="val 12500"/>
              </a:avLst>
            </a:prstGeom>
            <a:solidFill>
              <a:srgbClr val="0F9ED5">
                <a:lumMod val="60000"/>
                <a:lumOff val="40000"/>
              </a:srgbClr>
            </a:solidFill>
            <a:ln>
              <a:noFill/>
            </a:ln>
          </p:spPr>
          <p:txBody>
            <a:bodyPr lIns="0" tIns="0" rIns="0" bIns="0" anchor="ctr">
              <a:noAutofit/>
            </a:bodyPr>
            <a:lstStyle>
              <a:lvl1pPr>
                <a:spcBef>
                  <a:spcPct val="20000"/>
                </a:spcBef>
                <a:buClr>
                  <a:srgbClr val="FF0000"/>
                </a:buClr>
                <a:buSzPct val="60000"/>
                <a:buFont typeface="Wingdings" panose="05000000000000000000" pitchFamily="2" charset="2"/>
                <a:buChar char="n"/>
                <a:defRPr kumimoji="1" sz="3600">
                  <a:solidFill>
                    <a:schemeClr val="tx1"/>
                  </a:solidFill>
                  <a:latin typeface="Arial Narrow" panose="020B0606020202030204" pitchFamily="34" charset="0"/>
                  <a:ea typeface="黑体" panose="02010609060101010101" pitchFamily="49" charset="-122"/>
                </a:defRPr>
              </a:lvl1pPr>
              <a:lvl2pPr marL="742950" indent="-285750">
                <a:spcBef>
                  <a:spcPct val="20000"/>
                </a:spcBef>
                <a:buClr>
                  <a:srgbClr val="008000"/>
                </a:buClr>
                <a:buSzPct val="55000"/>
                <a:buFont typeface="Wingdings" panose="05000000000000000000" pitchFamily="2" charset="2"/>
                <a:buChar char="n"/>
                <a:defRPr kumimoji="1" sz="3200">
                  <a:solidFill>
                    <a:schemeClr val="tx1"/>
                  </a:solidFill>
                  <a:latin typeface="Arial Narrow" panose="020B0606020202030204" pitchFamily="34" charset="0"/>
                  <a:ea typeface="黑体" panose="02010609060101010101" pitchFamily="49" charset="-122"/>
                </a:defRPr>
              </a:lvl2pPr>
              <a:lvl3pPr marL="1143000" indent="-228600">
                <a:spcBef>
                  <a:spcPct val="20000"/>
                </a:spcBef>
                <a:buClr>
                  <a:srgbClr val="A400A4"/>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3pPr>
              <a:lvl4pPr marL="1600200" indent="-228600">
                <a:spcBef>
                  <a:spcPct val="20000"/>
                </a:spcBef>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4pPr>
              <a:lvl5pPr marL="2057400" indent="-228600">
                <a:spcBef>
                  <a:spcPct val="20000"/>
                </a:spcBef>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5pPr>
              <a:lvl6pPr marL="2514600" indent="-228600" eaLnBrk="0" fontAlgn="base" hangingPunct="0">
                <a:spcBef>
                  <a:spcPct val="20000"/>
                </a:spcBef>
                <a:spcAft>
                  <a:spcPct val="0"/>
                </a:spcAft>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6pPr>
              <a:lvl7pPr marL="2971800" indent="-228600" eaLnBrk="0" fontAlgn="base" hangingPunct="0">
                <a:spcBef>
                  <a:spcPct val="20000"/>
                </a:spcBef>
                <a:spcAft>
                  <a:spcPct val="0"/>
                </a:spcAft>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7pPr>
              <a:lvl8pPr marL="3429000" indent="-228600" eaLnBrk="0" fontAlgn="base" hangingPunct="0">
                <a:spcBef>
                  <a:spcPct val="20000"/>
                </a:spcBef>
                <a:spcAft>
                  <a:spcPct val="0"/>
                </a:spcAft>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8pPr>
              <a:lvl9pPr marL="3886200" indent="-228600" eaLnBrk="0" fontAlgn="base" hangingPunct="0">
                <a:spcBef>
                  <a:spcPct val="20000"/>
                </a:spcBef>
                <a:spcAft>
                  <a:spcPct val="0"/>
                </a:spcAft>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800" kern="0" dirty="0">
                  <a:latin typeface="微软雅黑" panose="020B0503020204020204" pitchFamily="34" charset="-122"/>
                  <a:ea typeface="微软雅黑" panose="020B0503020204020204" pitchFamily="34" charset="-122"/>
                </a:rPr>
                <a:t>Network Configuration</a:t>
              </a:r>
              <a:endParaRPr kumimoji="0" lang="en-GB" altLang="zh-CN" sz="8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80" name="AutoShape 152">
              <a:extLst>
                <a:ext uri="{FF2B5EF4-FFF2-40B4-BE49-F238E27FC236}">
                  <a16:creationId xmlns:a16="http://schemas.microsoft.com/office/drawing/2014/main" id="{B0DDABD7-AD01-4C2D-861A-D2D5435F5ADC}"/>
                </a:ext>
              </a:extLst>
            </p:cNvPr>
            <p:cNvSpPr>
              <a:spLocks noChangeArrowheads="1"/>
            </p:cNvSpPr>
            <p:nvPr/>
          </p:nvSpPr>
          <p:spPr bwMode="auto">
            <a:xfrm>
              <a:off x="6900703" y="4862168"/>
              <a:ext cx="730097" cy="298473"/>
            </a:xfrm>
            <a:prstGeom prst="foldedCorner">
              <a:avLst>
                <a:gd name="adj" fmla="val 12500"/>
              </a:avLst>
            </a:prstGeom>
            <a:solidFill>
              <a:srgbClr val="0F9ED5">
                <a:lumMod val="60000"/>
                <a:lumOff val="40000"/>
              </a:srgbClr>
            </a:solidFill>
            <a:ln>
              <a:noFill/>
            </a:ln>
          </p:spPr>
          <p:txBody>
            <a:bodyPr lIns="0" tIns="0" rIns="0" bIns="0" anchor="ctr">
              <a:noAutofit/>
            </a:bodyPr>
            <a:lstStyle>
              <a:lvl1pPr>
                <a:spcBef>
                  <a:spcPct val="20000"/>
                </a:spcBef>
                <a:buClr>
                  <a:srgbClr val="FF0000"/>
                </a:buClr>
                <a:buSzPct val="60000"/>
                <a:buFont typeface="Wingdings" panose="05000000000000000000" pitchFamily="2" charset="2"/>
                <a:buChar char="n"/>
                <a:defRPr kumimoji="1" sz="3600">
                  <a:solidFill>
                    <a:schemeClr val="tx1"/>
                  </a:solidFill>
                  <a:latin typeface="Arial Narrow" panose="020B0606020202030204" pitchFamily="34" charset="0"/>
                  <a:ea typeface="黑体" panose="02010609060101010101" pitchFamily="49" charset="-122"/>
                </a:defRPr>
              </a:lvl1pPr>
              <a:lvl2pPr marL="742950" indent="-285750">
                <a:spcBef>
                  <a:spcPct val="20000"/>
                </a:spcBef>
                <a:buClr>
                  <a:srgbClr val="008000"/>
                </a:buClr>
                <a:buSzPct val="55000"/>
                <a:buFont typeface="Wingdings" panose="05000000000000000000" pitchFamily="2" charset="2"/>
                <a:buChar char="n"/>
                <a:defRPr kumimoji="1" sz="3200">
                  <a:solidFill>
                    <a:schemeClr val="tx1"/>
                  </a:solidFill>
                  <a:latin typeface="Arial Narrow" panose="020B0606020202030204" pitchFamily="34" charset="0"/>
                  <a:ea typeface="黑体" panose="02010609060101010101" pitchFamily="49" charset="-122"/>
                </a:defRPr>
              </a:lvl2pPr>
              <a:lvl3pPr marL="1143000" indent="-228600">
                <a:spcBef>
                  <a:spcPct val="20000"/>
                </a:spcBef>
                <a:buClr>
                  <a:srgbClr val="A400A4"/>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3pPr>
              <a:lvl4pPr marL="1600200" indent="-228600">
                <a:spcBef>
                  <a:spcPct val="20000"/>
                </a:spcBef>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4pPr>
              <a:lvl5pPr marL="2057400" indent="-228600">
                <a:spcBef>
                  <a:spcPct val="20000"/>
                </a:spcBef>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5pPr>
              <a:lvl6pPr marL="2514600" indent="-228600" eaLnBrk="0" fontAlgn="base" hangingPunct="0">
                <a:spcBef>
                  <a:spcPct val="20000"/>
                </a:spcBef>
                <a:spcAft>
                  <a:spcPct val="0"/>
                </a:spcAft>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6pPr>
              <a:lvl7pPr marL="2971800" indent="-228600" eaLnBrk="0" fontAlgn="base" hangingPunct="0">
                <a:spcBef>
                  <a:spcPct val="20000"/>
                </a:spcBef>
                <a:spcAft>
                  <a:spcPct val="0"/>
                </a:spcAft>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7pPr>
              <a:lvl8pPr marL="3429000" indent="-228600" eaLnBrk="0" fontAlgn="base" hangingPunct="0">
                <a:spcBef>
                  <a:spcPct val="20000"/>
                </a:spcBef>
                <a:spcAft>
                  <a:spcPct val="0"/>
                </a:spcAft>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8pPr>
              <a:lvl9pPr marL="3886200" indent="-228600" eaLnBrk="0" fontAlgn="base" hangingPunct="0">
                <a:spcBef>
                  <a:spcPct val="20000"/>
                </a:spcBef>
                <a:spcAft>
                  <a:spcPct val="0"/>
                </a:spcAft>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8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Topology</a:t>
              </a:r>
              <a:endParaRPr kumimoji="0" lang="en-GB" altLang="zh-CN" sz="8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81" name="AutoShape 152">
              <a:extLst>
                <a:ext uri="{FF2B5EF4-FFF2-40B4-BE49-F238E27FC236}">
                  <a16:creationId xmlns:a16="http://schemas.microsoft.com/office/drawing/2014/main" id="{490E8C54-6928-482A-B9B6-F18D1E62CE44}"/>
                </a:ext>
              </a:extLst>
            </p:cNvPr>
            <p:cNvSpPr>
              <a:spLocks noChangeArrowheads="1"/>
            </p:cNvSpPr>
            <p:nvPr/>
          </p:nvSpPr>
          <p:spPr bwMode="auto">
            <a:xfrm>
              <a:off x="6900703" y="5288460"/>
              <a:ext cx="730097" cy="298473"/>
            </a:xfrm>
            <a:prstGeom prst="foldedCorner">
              <a:avLst>
                <a:gd name="adj" fmla="val 12500"/>
              </a:avLst>
            </a:prstGeom>
            <a:solidFill>
              <a:srgbClr val="0F9ED5">
                <a:lumMod val="60000"/>
                <a:lumOff val="40000"/>
              </a:srgbClr>
            </a:solidFill>
            <a:ln>
              <a:noFill/>
            </a:ln>
          </p:spPr>
          <p:txBody>
            <a:bodyPr lIns="0" tIns="0" rIns="0" bIns="0" anchor="ctr">
              <a:noAutofit/>
            </a:bodyPr>
            <a:lstStyle>
              <a:lvl1pPr>
                <a:spcBef>
                  <a:spcPct val="20000"/>
                </a:spcBef>
                <a:buClr>
                  <a:srgbClr val="FF0000"/>
                </a:buClr>
                <a:buSzPct val="60000"/>
                <a:buFont typeface="Wingdings" panose="05000000000000000000" pitchFamily="2" charset="2"/>
                <a:buChar char="n"/>
                <a:defRPr kumimoji="1" sz="3600">
                  <a:solidFill>
                    <a:schemeClr val="tx1"/>
                  </a:solidFill>
                  <a:latin typeface="Arial Narrow" panose="020B0606020202030204" pitchFamily="34" charset="0"/>
                  <a:ea typeface="黑体" panose="02010609060101010101" pitchFamily="49" charset="-122"/>
                </a:defRPr>
              </a:lvl1pPr>
              <a:lvl2pPr marL="742950" indent="-285750">
                <a:spcBef>
                  <a:spcPct val="20000"/>
                </a:spcBef>
                <a:buClr>
                  <a:srgbClr val="008000"/>
                </a:buClr>
                <a:buSzPct val="55000"/>
                <a:buFont typeface="Wingdings" panose="05000000000000000000" pitchFamily="2" charset="2"/>
                <a:buChar char="n"/>
                <a:defRPr kumimoji="1" sz="3200">
                  <a:solidFill>
                    <a:schemeClr val="tx1"/>
                  </a:solidFill>
                  <a:latin typeface="Arial Narrow" panose="020B0606020202030204" pitchFamily="34" charset="0"/>
                  <a:ea typeface="黑体" panose="02010609060101010101" pitchFamily="49" charset="-122"/>
                </a:defRPr>
              </a:lvl2pPr>
              <a:lvl3pPr marL="1143000" indent="-228600">
                <a:spcBef>
                  <a:spcPct val="20000"/>
                </a:spcBef>
                <a:buClr>
                  <a:srgbClr val="A400A4"/>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3pPr>
              <a:lvl4pPr marL="1600200" indent="-228600">
                <a:spcBef>
                  <a:spcPct val="20000"/>
                </a:spcBef>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4pPr>
              <a:lvl5pPr marL="2057400" indent="-228600">
                <a:spcBef>
                  <a:spcPct val="20000"/>
                </a:spcBef>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5pPr>
              <a:lvl6pPr marL="2514600" indent="-228600" eaLnBrk="0" fontAlgn="base" hangingPunct="0">
                <a:spcBef>
                  <a:spcPct val="20000"/>
                </a:spcBef>
                <a:spcAft>
                  <a:spcPct val="0"/>
                </a:spcAft>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6pPr>
              <a:lvl7pPr marL="2971800" indent="-228600" eaLnBrk="0" fontAlgn="base" hangingPunct="0">
                <a:spcBef>
                  <a:spcPct val="20000"/>
                </a:spcBef>
                <a:spcAft>
                  <a:spcPct val="0"/>
                </a:spcAft>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7pPr>
              <a:lvl8pPr marL="3429000" indent="-228600" eaLnBrk="0" fontAlgn="base" hangingPunct="0">
                <a:spcBef>
                  <a:spcPct val="20000"/>
                </a:spcBef>
                <a:spcAft>
                  <a:spcPct val="0"/>
                </a:spcAft>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8pPr>
              <a:lvl9pPr marL="3886200" indent="-228600" eaLnBrk="0" fontAlgn="base" hangingPunct="0">
                <a:spcBef>
                  <a:spcPct val="20000"/>
                </a:spcBef>
                <a:spcAft>
                  <a:spcPct val="0"/>
                </a:spcAft>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8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Fault definition</a:t>
              </a:r>
              <a:endParaRPr kumimoji="0" lang="en-GB" altLang="zh-CN" sz="8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82" name="AutoShape 152">
              <a:extLst>
                <a:ext uri="{FF2B5EF4-FFF2-40B4-BE49-F238E27FC236}">
                  <a16:creationId xmlns:a16="http://schemas.microsoft.com/office/drawing/2014/main" id="{C43691C9-F5CF-43A5-80EA-946244CAD7F3}"/>
                </a:ext>
              </a:extLst>
            </p:cNvPr>
            <p:cNvSpPr>
              <a:spLocks noChangeArrowheads="1"/>
            </p:cNvSpPr>
            <p:nvPr/>
          </p:nvSpPr>
          <p:spPr bwMode="auto">
            <a:xfrm>
              <a:off x="6900703" y="5714752"/>
              <a:ext cx="730097" cy="298473"/>
            </a:xfrm>
            <a:prstGeom prst="foldedCorner">
              <a:avLst>
                <a:gd name="adj" fmla="val 12500"/>
              </a:avLst>
            </a:prstGeom>
            <a:solidFill>
              <a:srgbClr val="0F9ED5">
                <a:lumMod val="60000"/>
                <a:lumOff val="40000"/>
              </a:srgbClr>
            </a:solidFill>
            <a:ln>
              <a:noFill/>
            </a:ln>
          </p:spPr>
          <p:txBody>
            <a:bodyPr lIns="0" tIns="0" rIns="0" bIns="0" anchor="ctr">
              <a:noAutofit/>
            </a:bodyPr>
            <a:lstStyle>
              <a:lvl1pPr>
                <a:spcBef>
                  <a:spcPct val="20000"/>
                </a:spcBef>
                <a:buClr>
                  <a:srgbClr val="FF0000"/>
                </a:buClr>
                <a:buSzPct val="60000"/>
                <a:buFont typeface="Wingdings" panose="05000000000000000000" pitchFamily="2" charset="2"/>
                <a:buChar char="n"/>
                <a:defRPr kumimoji="1" sz="3600">
                  <a:solidFill>
                    <a:schemeClr val="tx1"/>
                  </a:solidFill>
                  <a:latin typeface="Arial Narrow" panose="020B0606020202030204" pitchFamily="34" charset="0"/>
                  <a:ea typeface="黑体" panose="02010609060101010101" pitchFamily="49" charset="-122"/>
                </a:defRPr>
              </a:lvl1pPr>
              <a:lvl2pPr marL="742950" indent="-285750">
                <a:spcBef>
                  <a:spcPct val="20000"/>
                </a:spcBef>
                <a:buClr>
                  <a:srgbClr val="008000"/>
                </a:buClr>
                <a:buSzPct val="55000"/>
                <a:buFont typeface="Wingdings" panose="05000000000000000000" pitchFamily="2" charset="2"/>
                <a:buChar char="n"/>
                <a:defRPr kumimoji="1" sz="3200">
                  <a:solidFill>
                    <a:schemeClr val="tx1"/>
                  </a:solidFill>
                  <a:latin typeface="Arial Narrow" panose="020B0606020202030204" pitchFamily="34" charset="0"/>
                  <a:ea typeface="黑体" panose="02010609060101010101" pitchFamily="49" charset="-122"/>
                </a:defRPr>
              </a:lvl2pPr>
              <a:lvl3pPr marL="1143000" indent="-228600">
                <a:spcBef>
                  <a:spcPct val="20000"/>
                </a:spcBef>
                <a:buClr>
                  <a:srgbClr val="A400A4"/>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3pPr>
              <a:lvl4pPr marL="1600200" indent="-228600">
                <a:spcBef>
                  <a:spcPct val="20000"/>
                </a:spcBef>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4pPr>
              <a:lvl5pPr marL="2057400" indent="-228600">
                <a:spcBef>
                  <a:spcPct val="20000"/>
                </a:spcBef>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5pPr>
              <a:lvl6pPr marL="2514600" indent="-228600" eaLnBrk="0" fontAlgn="base" hangingPunct="0">
                <a:spcBef>
                  <a:spcPct val="20000"/>
                </a:spcBef>
                <a:spcAft>
                  <a:spcPct val="0"/>
                </a:spcAft>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6pPr>
              <a:lvl7pPr marL="2971800" indent="-228600" eaLnBrk="0" fontAlgn="base" hangingPunct="0">
                <a:spcBef>
                  <a:spcPct val="20000"/>
                </a:spcBef>
                <a:spcAft>
                  <a:spcPct val="0"/>
                </a:spcAft>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7pPr>
              <a:lvl8pPr marL="3429000" indent="-228600" eaLnBrk="0" fontAlgn="base" hangingPunct="0">
                <a:spcBef>
                  <a:spcPct val="20000"/>
                </a:spcBef>
                <a:spcAft>
                  <a:spcPct val="0"/>
                </a:spcAft>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8pPr>
              <a:lvl9pPr marL="3886200" indent="-228600" eaLnBrk="0" fontAlgn="base" hangingPunct="0">
                <a:spcBef>
                  <a:spcPct val="20000"/>
                </a:spcBef>
                <a:spcAft>
                  <a:spcPct val="0"/>
                </a:spcAft>
                <a:buClr>
                  <a:srgbClr val="008000"/>
                </a:buClr>
                <a:buSzPct val="50000"/>
                <a:buFont typeface="Wingdings" panose="05000000000000000000" pitchFamily="2" charset="2"/>
                <a:buChar char="n"/>
                <a:defRPr kumimoji="1" sz="2800">
                  <a:solidFill>
                    <a:schemeClr val="tx1"/>
                  </a:solidFill>
                  <a:latin typeface="Arial Narrow" panose="020B0606020202030204" pitchFamily="34" charset="0"/>
                  <a:ea typeface="黑体" panose="02010609060101010101"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8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Verification Target</a:t>
              </a:r>
              <a:endParaRPr kumimoji="0" lang="en-GB" altLang="zh-CN" sz="8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83" name="文本框 182">
              <a:extLst>
                <a:ext uri="{FF2B5EF4-FFF2-40B4-BE49-F238E27FC236}">
                  <a16:creationId xmlns:a16="http://schemas.microsoft.com/office/drawing/2014/main" id="{12DD7CFD-E695-422A-99E9-3CC0D09994A5}"/>
                </a:ext>
              </a:extLst>
            </p:cNvPr>
            <p:cNvSpPr txBox="1"/>
            <p:nvPr/>
          </p:nvSpPr>
          <p:spPr>
            <a:xfrm>
              <a:off x="6832374" y="4189334"/>
              <a:ext cx="1009069" cy="161583"/>
            </a:xfrm>
            <a:prstGeom prst="rect">
              <a:avLst/>
            </a:prstGeom>
            <a:noFill/>
          </p:spPr>
          <p:txBody>
            <a:bodyPr wrap="square" lIns="0" tIns="0" rIns="0" bIns="0"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1" lang="en-US" altLang="zh-CN" sz="1050" b="0" i="0" u="none" strike="noStrike" kern="0" cap="none" spc="0" normalizeH="0" baseline="0" noProof="0" dirty="0">
                  <a:ln>
                    <a:noFill/>
                  </a:ln>
                  <a:effectLst/>
                  <a:uLnTx/>
                  <a:uFillTx/>
                  <a:latin typeface="微软雅黑" panose="020B0503020204020204" pitchFamily="34" charset="-122"/>
                </a:rPr>
                <a:t>Configuration</a:t>
              </a:r>
              <a:endParaRPr kumimoji="1" lang="zh-CN" altLang="en-US" sz="1100" b="0" i="0" u="none" strike="noStrike" kern="0" cap="none" spc="0" normalizeH="0" baseline="0" noProof="0" dirty="0">
                <a:ln>
                  <a:noFill/>
                </a:ln>
                <a:effectLst/>
                <a:uLnTx/>
                <a:uFillTx/>
                <a:latin typeface="微软雅黑" panose="020B0503020204020204" pitchFamily="34" charset="-122"/>
              </a:endParaRPr>
            </a:p>
          </p:txBody>
        </p:sp>
        <p:sp>
          <p:nvSpPr>
            <p:cNvPr id="184" name="矩形: 圆角 21">
              <a:extLst>
                <a:ext uri="{FF2B5EF4-FFF2-40B4-BE49-F238E27FC236}">
                  <a16:creationId xmlns:a16="http://schemas.microsoft.com/office/drawing/2014/main" id="{DBAFF28B-F130-42FD-9817-97476F1150CC}"/>
                </a:ext>
              </a:extLst>
            </p:cNvPr>
            <p:cNvSpPr/>
            <p:nvPr/>
          </p:nvSpPr>
          <p:spPr>
            <a:xfrm>
              <a:off x="7899616" y="4435606"/>
              <a:ext cx="579598" cy="1759673"/>
            </a:xfrm>
            <a:prstGeom prst="rect">
              <a:avLst/>
            </a:prstGeom>
            <a:solidFill>
              <a:srgbClr val="E8E8E8">
                <a:lumMod val="95000"/>
              </a:srgbClr>
            </a:solidFill>
            <a:ln w="9525" cap="flat" cmpd="sng" algn="ctr">
              <a:solidFill>
                <a:sysClr val="windowText" lastClr="000000"/>
              </a:solidFill>
              <a:prstDash val="solid"/>
              <a:round/>
              <a:headEnd type="none" w="med" len="med"/>
              <a:tailEnd type="none" w="med" len="med"/>
            </a:ln>
            <a:effectLst/>
          </p:spPr>
          <p:txBody>
            <a:bodyPr rot="0" spcFirstLastPara="0" vertOverflow="overflow" horzOverflow="overflow" vert="eaVert" wrap="non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050" b="0"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rPr>
                <a:t>Control Plane Model</a:t>
              </a:r>
              <a:endParaRPr kumimoji="0" lang="zh-CN" altLang="en-US" sz="1050" b="0"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endParaRPr>
            </a:p>
          </p:txBody>
        </p:sp>
        <p:sp>
          <p:nvSpPr>
            <p:cNvPr id="185" name="矩形: 圆角 21">
              <a:extLst>
                <a:ext uri="{FF2B5EF4-FFF2-40B4-BE49-F238E27FC236}">
                  <a16:creationId xmlns:a16="http://schemas.microsoft.com/office/drawing/2014/main" id="{D2B10CCE-8CAC-4C85-B1AD-CC54FF9B66BE}"/>
                </a:ext>
              </a:extLst>
            </p:cNvPr>
            <p:cNvSpPr/>
            <p:nvPr/>
          </p:nvSpPr>
          <p:spPr>
            <a:xfrm>
              <a:off x="8800388" y="4435606"/>
              <a:ext cx="579598" cy="1759673"/>
            </a:xfrm>
            <a:prstGeom prst="rect">
              <a:avLst/>
            </a:prstGeom>
            <a:solidFill>
              <a:srgbClr val="E8E8E8">
                <a:lumMod val="95000"/>
              </a:srgbClr>
            </a:solidFill>
            <a:ln w="9525" cap="flat" cmpd="sng" algn="ctr">
              <a:solidFill>
                <a:sysClr val="windowText" lastClr="000000"/>
              </a:solidFill>
              <a:prstDash val="solid"/>
              <a:round/>
              <a:headEnd type="none" w="med" len="med"/>
              <a:tailEnd type="none" w="med" len="med"/>
            </a:ln>
            <a:effectLst/>
          </p:spPr>
          <p:txBody>
            <a:bodyPr rot="0" spcFirstLastPara="0" vertOverflow="overflow" horzOverflow="overflow" vert="eaVert" wrap="non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050" b="0"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rPr>
                <a:t>Link Failure Handling</a:t>
              </a:r>
              <a:endParaRPr kumimoji="0" lang="zh-CN" altLang="en-US" sz="1050" b="0"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endParaRPr>
            </a:p>
          </p:txBody>
        </p:sp>
        <p:sp>
          <p:nvSpPr>
            <p:cNvPr id="186" name="矩形: 圆角 21">
              <a:extLst>
                <a:ext uri="{FF2B5EF4-FFF2-40B4-BE49-F238E27FC236}">
                  <a16:creationId xmlns:a16="http://schemas.microsoft.com/office/drawing/2014/main" id="{8B5F0F4E-DBA9-469E-9EB1-7BC6E73D6C7F}"/>
                </a:ext>
              </a:extLst>
            </p:cNvPr>
            <p:cNvSpPr/>
            <p:nvPr/>
          </p:nvSpPr>
          <p:spPr>
            <a:xfrm>
              <a:off x="9701159" y="4435606"/>
              <a:ext cx="579598" cy="1759673"/>
            </a:xfrm>
            <a:prstGeom prst="rect">
              <a:avLst/>
            </a:prstGeom>
            <a:solidFill>
              <a:srgbClr val="E8E8E8">
                <a:lumMod val="95000"/>
              </a:srgbClr>
            </a:solidFill>
            <a:ln w="9525" cap="flat" cmpd="sng" algn="ctr">
              <a:solidFill>
                <a:sysClr val="windowText" lastClr="000000"/>
              </a:solidFill>
              <a:prstDash val="solid"/>
              <a:round/>
              <a:headEnd type="none" w="med" len="med"/>
              <a:tailEnd type="none" w="med" len="med"/>
            </a:ln>
            <a:effectLst/>
          </p:spPr>
          <p:txBody>
            <a:bodyPr rot="0" spcFirstLastPara="0" vertOverflow="overflow" horzOverflow="overflow" vert="eaVert" wrap="non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050" b="0"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rPr>
                <a:t>Data Plane Model</a:t>
              </a:r>
              <a:endParaRPr kumimoji="0" lang="zh-CN" altLang="en-US" sz="1050" b="0"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endParaRPr>
            </a:p>
          </p:txBody>
        </p:sp>
        <p:sp>
          <p:nvSpPr>
            <p:cNvPr id="187" name="矩形: 圆角 21">
              <a:extLst>
                <a:ext uri="{FF2B5EF4-FFF2-40B4-BE49-F238E27FC236}">
                  <a16:creationId xmlns:a16="http://schemas.microsoft.com/office/drawing/2014/main" id="{D6993532-34F5-43EE-BD1F-6B31A17BAF41}"/>
                </a:ext>
              </a:extLst>
            </p:cNvPr>
            <p:cNvSpPr/>
            <p:nvPr/>
          </p:nvSpPr>
          <p:spPr>
            <a:xfrm>
              <a:off x="10456875" y="4429025"/>
              <a:ext cx="1198401" cy="1764173"/>
            </a:xfrm>
            <a:prstGeom prst="rect">
              <a:avLst/>
            </a:prstGeom>
            <a:noFill/>
            <a:ln w="9525" cap="flat" cmpd="sng" algn="ctr">
              <a:solidFill>
                <a:sysClr val="windowText" lastClr="000000"/>
              </a:solidFill>
              <a:prstDash val="solid"/>
              <a:round/>
              <a:headEnd type="none" w="med" len="med"/>
              <a:tailEnd type="none" w="med" len="med"/>
            </a:ln>
            <a:effectLst/>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rPr>
                <a:t>Results:</a:t>
              </a:r>
            </a:p>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rPr>
                <a:t>No loops</a:t>
              </a:r>
              <a:r>
                <a:rPr kumimoji="0" lang="zh-CN" altLang="en-US" sz="900" b="0"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rPr>
                <a:t>√ </a:t>
              </a:r>
              <a:endParaRPr lang="en-US" altLang="zh-CN" sz="900" kern="0" dirty="0">
                <a:latin typeface="微软雅黑" panose="020B0503020204020204" pitchFamily="34" charset="-122"/>
                <a:ea typeface="等线" panose="02010600030101010101" pitchFamily="2" charset="-122"/>
              </a:endParaRPr>
            </a:p>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rPr>
                <a:t>No black-hole</a:t>
              </a:r>
              <a:r>
                <a:rPr kumimoji="0" lang="zh-CN" altLang="en-US" sz="900" b="0"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rPr>
                <a:t> √</a:t>
              </a:r>
              <a:endParaRPr kumimoji="0" lang="en-US" altLang="zh-CN" sz="900" b="0"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endParaRPr>
            </a:p>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rPr>
                <a:t>Balanced enough</a:t>
              </a:r>
              <a:r>
                <a:rPr kumimoji="0" lang="zh-CN" altLang="en-US" sz="900" b="0"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rPr>
                <a:t> √</a:t>
              </a:r>
              <a:endParaRPr kumimoji="0" lang="en-US" altLang="zh-CN" sz="900" b="0"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endParaRPr>
            </a:p>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rPr>
                <a:t>Consistency</a:t>
              </a:r>
              <a:r>
                <a:rPr kumimoji="0" lang="zh-CN" altLang="en-US" sz="900" b="0"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rPr>
                <a:t> </a:t>
              </a:r>
              <a:r>
                <a:rPr kumimoji="0" lang="en-US" altLang="zh-CN" sz="900" b="0"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rPr>
                <a:t>×</a:t>
              </a:r>
            </a:p>
            <a:p>
              <a:pPr marL="0" marR="0" lvl="0" indent="0" defTabSz="457200" eaLnBrk="1" fontAlgn="auto" latinLnBrk="0" hangingPunct="1">
                <a:lnSpc>
                  <a:spcPct val="100000"/>
                </a:lnSpc>
                <a:spcBef>
                  <a:spcPts val="0"/>
                </a:spcBef>
                <a:spcAft>
                  <a:spcPts val="0"/>
                </a:spcAft>
                <a:buClrTx/>
                <a:buSzTx/>
                <a:buFontTx/>
                <a:buNone/>
                <a:tabLst/>
                <a:defRPr/>
              </a:pPr>
              <a:r>
                <a:rPr lang="en-US" altLang="zh-CN" sz="900" b="1" kern="0" dirty="0">
                  <a:latin typeface="微软雅黑" panose="020B0503020204020204" pitchFamily="34" charset="-122"/>
                  <a:ea typeface="等线" panose="02010600030101010101" pitchFamily="2" charset="-122"/>
                </a:rPr>
                <a:t>Counter</a:t>
              </a:r>
              <a:r>
                <a:rPr lang="zh-CN" altLang="en-US" sz="900" b="1" kern="0" dirty="0">
                  <a:latin typeface="微软雅黑" panose="020B0503020204020204" pitchFamily="34" charset="-122"/>
                  <a:ea typeface="等线" panose="02010600030101010101" pitchFamily="2" charset="-122"/>
                </a:rPr>
                <a:t> </a:t>
              </a:r>
              <a:r>
                <a:rPr lang="en-US" altLang="zh-CN" sz="900" b="1" kern="0" dirty="0">
                  <a:latin typeface="微软雅黑" panose="020B0503020204020204" pitchFamily="34" charset="-122"/>
                  <a:ea typeface="等线" panose="02010600030101010101" pitchFamily="2" charset="-122"/>
                </a:rPr>
                <a:t>Examples:</a:t>
              </a:r>
              <a:endParaRPr kumimoji="0" lang="en-US" altLang="zh-CN" sz="900" b="1"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endParaRPr>
            </a:p>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rPr>
                <a:t>In topology X</a:t>
              </a:r>
              <a:r>
                <a:rPr lang="en-US" altLang="zh-CN" sz="900" kern="0" dirty="0">
                  <a:latin typeface="微软雅黑" panose="020B0503020204020204" pitchFamily="34" charset="-122"/>
                  <a:ea typeface="等线" panose="02010600030101010101" pitchFamily="2" charset="-122"/>
                </a:rPr>
                <a:t>,</a:t>
              </a:r>
              <a:r>
                <a:rPr lang="zh-CN" altLang="en-US" sz="900" kern="0" dirty="0">
                  <a:latin typeface="微软雅黑" panose="020B0503020204020204" pitchFamily="34" charset="-122"/>
                  <a:ea typeface="等线" panose="02010600030101010101" pitchFamily="2" charset="-122"/>
                </a:rPr>
                <a:t> </a:t>
              </a:r>
              <a:r>
                <a:rPr lang="en-US" altLang="zh-CN" sz="900" kern="0" dirty="0">
                  <a:latin typeface="微软雅黑" panose="020B0503020204020204" pitchFamily="34" charset="-122"/>
                  <a:ea typeface="等线" panose="02010600030101010101" pitchFamily="2" charset="-122"/>
                </a:rPr>
                <a:t>the multi-path consistency of flow Y is inadequate</a:t>
              </a:r>
              <a:endParaRPr kumimoji="0" lang="en-US" altLang="zh-CN" sz="900" b="0"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endParaRPr>
            </a:p>
          </p:txBody>
        </p:sp>
        <p:sp>
          <p:nvSpPr>
            <p:cNvPr id="188" name="文本框 187">
              <a:extLst>
                <a:ext uri="{FF2B5EF4-FFF2-40B4-BE49-F238E27FC236}">
                  <a16:creationId xmlns:a16="http://schemas.microsoft.com/office/drawing/2014/main" id="{A71484C9-071A-4B75-B28C-BC0512D49A67}"/>
                </a:ext>
              </a:extLst>
            </p:cNvPr>
            <p:cNvSpPr txBox="1"/>
            <p:nvPr/>
          </p:nvSpPr>
          <p:spPr>
            <a:xfrm>
              <a:off x="10456875" y="4182754"/>
              <a:ext cx="1009069" cy="145771"/>
            </a:xfrm>
            <a:prstGeom prst="rect">
              <a:avLst/>
            </a:prstGeom>
            <a:noFill/>
          </p:spPr>
          <p:txBody>
            <a:bodyPr wrap="square" lIns="0" tIns="0" rIns="0" bIns="0"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1" lang="en-US" altLang="zh-CN" sz="1100" b="0" i="0" u="none" strike="noStrike" kern="0" cap="none" spc="0" normalizeH="0" baseline="0" noProof="0" dirty="0">
                  <a:ln>
                    <a:noFill/>
                  </a:ln>
                  <a:effectLst/>
                  <a:uLnTx/>
                  <a:uFillTx/>
                  <a:latin typeface="微软雅黑" panose="020B0503020204020204" pitchFamily="34" charset="-122"/>
                </a:rPr>
                <a:t>Output</a:t>
              </a:r>
              <a:endParaRPr kumimoji="1" lang="zh-CN" altLang="en-US" sz="1100" b="0" i="0" u="none" strike="noStrike" kern="0" cap="none" spc="0" normalizeH="0" baseline="0" noProof="0" dirty="0">
                <a:ln>
                  <a:noFill/>
                </a:ln>
                <a:effectLst/>
                <a:uLnTx/>
                <a:uFillTx/>
                <a:latin typeface="微软雅黑" panose="020B0503020204020204" pitchFamily="34" charset="-122"/>
              </a:endParaRPr>
            </a:p>
          </p:txBody>
        </p:sp>
        <p:cxnSp>
          <p:nvCxnSpPr>
            <p:cNvPr id="189" name="直接箭头连接符 188">
              <a:extLst>
                <a:ext uri="{FF2B5EF4-FFF2-40B4-BE49-F238E27FC236}">
                  <a16:creationId xmlns:a16="http://schemas.microsoft.com/office/drawing/2014/main" id="{D3CA9391-AEF6-4898-9DE3-419AE6F2987D}"/>
                </a:ext>
              </a:extLst>
            </p:cNvPr>
            <p:cNvCxnSpPr>
              <a:cxnSpLocks/>
              <a:stCxn id="179" idx="3"/>
            </p:cNvCxnSpPr>
            <p:nvPr/>
          </p:nvCxnSpPr>
          <p:spPr>
            <a:xfrm>
              <a:off x="7630800" y="4585112"/>
              <a:ext cx="268816" cy="0"/>
            </a:xfrm>
            <a:prstGeom prst="straightConnector1">
              <a:avLst/>
            </a:prstGeom>
            <a:noFill/>
            <a:ln w="12700" cap="flat" cmpd="sng" algn="ctr">
              <a:solidFill>
                <a:srgbClr val="156082"/>
              </a:solidFill>
              <a:prstDash val="solid"/>
              <a:miter lim="800000"/>
              <a:tailEnd type="triangle"/>
            </a:ln>
            <a:effectLst/>
          </p:spPr>
        </p:cxnSp>
        <p:cxnSp>
          <p:nvCxnSpPr>
            <p:cNvPr id="190" name="直接箭头连接符 189">
              <a:extLst>
                <a:ext uri="{FF2B5EF4-FFF2-40B4-BE49-F238E27FC236}">
                  <a16:creationId xmlns:a16="http://schemas.microsoft.com/office/drawing/2014/main" id="{7C4CB449-EF79-4337-9EFD-84A914C70BCA}"/>
                </a:ext>
              </a:extLst>
            </p:cNvPr>
            <p:cNvCxnSpPr>
              <a:cxnSpLocks/>
              <a:stCxn id="180" idx="3"/>
            </p:cNvCxnSpPr>
            <p:nvPr/>
          </p:nvCxnSpPr>
          <p:spPr>
            <a:xfrm flipV="1">
              <a:off x="7630800" y="5008407"/>
              <a:ext cx="268816" cy="2998"/>
            </a:xfrm>
            <a:prstGeom prst="straightConnector1">
              <a:avLst/>
            </a:prstGeom>
            <a:noFill/>
            <a:ln w="12700" cap="flat" cmpd="sng" algn="ctr">
              <a:solidFill>
                <a:srgbClr val="156082"/>
              </a:solidFill>
              <a:prstDash val="solid"/>
              <a:miter lim="800000"/>
              <a:tailEnd type="triangle"/>
            </a:ln>
            <a:effectLst/>
          </p:spPr>
        </p:cxnSp>
        <p:cxnSp>
          <p:nvCxnSpPr>
            <p:cNvPr id="191" name="直接箭头连接符 190">
              <a:extLst>
                <a:ext uri="{FF2B5EF4-FFF2-40B4-BE49-F238E27FC236}">
                  <a16:creationId xmlns:a16="http://schemas.microsoft.com/office/drawing/2014/main" id="{86BDDF1B-DAA4-4575-837B-F20401773435}"/>
                </a:ext>
              </a:extLst>
            </p:cNvPr>
            <p:cNvCxnSpPr>
              <a:cxnSpLocks/>
              <a:stCxn id="181" idx="3"/>
            </p:cNvCxnSpPr>
            <p:nvPr/>
          </p:nvCxnSpPr>
          <p:spPr>
            <a:xfrm flipV="1">
              <a:off x="7630800" y="5433201"/>
              <a:ext cx="278972" cy="4496"/>
            </a:xfrm>
            <a:prstGeom prst="straightConnector1">
              <a:avLst/>
            </a:prstGeom>
            <a:noFill/>
            <a:ln w="12700" cap="flat" cmpd="sng" algn="ctr">
              <a:solidFill>
                <a:srgbClr val="156082"/>
              </a:solidFill>
              <a:prstDash val="solid"/>
              <a:miter lim="800000"/>
              <a:tailEnd type="triangle"/>
            </a:ln>
            <a:effectLst/>
          </p:spPr>
        </p:cxnSp>
        <p:cxnSp>
          <p:nvCxnSpPr>
            <p:cNvPr id="192" name="直接箭头连接符 191">
              <a:extLst>
                <a:ext uri="{FF2B5EF4-FFF2-40B4-BE49-F238E27FC236}">
                  <a16:creationId xmlns:a16="http://schemas.microsoft.com/office/drawing/2014/main" id="{33D14B21-4D85-47F4-945D-BCB292D9BA66}"/>
                </a:ext>
              </a:extLst>
            </p:cNvPr>
            <p:cNvCxnSpPr>
              <a:cxnSpLocks/>
              <a:stCxn id="182" idx="3"/>
            </p:cNvCxnSpPr>
            <p:nvPr/>
          </p:nvCxnSpPr>
          <p:spPr>
            <a:xfrm flipV="1">
              <a:off x="7630800" y="5859491"/>
              <a:ext cx="268816" cy="4498"/>
            </a:xfrm>
            <a:prstGeom prst="straightConnector1">
              <a:avLst/>
            </a:prstGeom>
            <a:noFill/>
            <a:ln w="12700" cap="flat" cmpd="sng" algn="ctr">
              <a:solidFill>
                <a:srgbClr val="156082"/>
              </a:solidFill>
              <a:prstDash val="solid"/>
              <a:miter lim="800000"/>
              <a:tailEnd type="triangle"/>
            </a:ln>
            <a:effectLst/>
          </p:spPr>
        </p:cxnSp>
        <p:sp>
          <p:nvSpPr>
            <p:cNvPr id="193" name="箭头: 右 192">
              <a:extLst>
                <a:ext uri="{FF2B5EF4-FFF2-40B4-BE49-F238E27FC236}">
                  <a16:creationId xmlns:a16="http://schemas.microsoft.com/office/drawing/2014/main" id="{4FA6A956-7E2D-4A92-BC23-3DF30BA64F14}"/>
                </a:ext>
              </a:extLst>
            </p:cNvPr>
            <p:cNvSpPr/>
            <p:nvPr/>
          </p:nvSpPr>
          <p:spPr>
            <a:xfrm>
              <a:off x="8560147" y="4862168"/>
              <a:ext cx="161784" cy="724765"/>
            </a:xfrm>
            <a:prstGeom prst="rightArrow">
              <a:avLst/>
            </a:prstGeom>
            <a:noFill/>
            <a:ln w="19050" cap="flat" cmpd="sng" algn="ctr">
              <a:solidFill>
                <a:srgbClr val="0F9ED5">
                  <a:lumMod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latin typeface="微软雅黑" panose="020B0503020204020204" pitchFamily="34" charset="-122"/>
                <a:ea typeface="等线" panose="02010600030101010101" pitchFamily="2" charset="-122"/>
                <a:cs typeface="+mn-cs"/>
              </a:endParaRPr>
            </a:p>
          </p:txBody>
        </p:sp>
        <p:sp>
          <p:nvSpPr>
            <p:cNvPr id="194" name="箭头: 右 193">
              <a:extLst>
                <a:ext uri="{FF2B5EF4-FFF2-40B4-BE49-F238E27FC236}">
                  <a16:creationId xmlns:a16="http://schemas.microsoft.com/office/drawing/2014/main" id="{99D75548-75A1-4AC0-B1E3-E6EE5929668E}"/>
                </a:ext>
              </a:extLst>
            </p:cNvPr>
            <p:cNvSpPr/>
            <p:nvPr/>
          </p:nvSpPr>
          <p:spPr>
            <a:xfrm>
              <a:off x="9470627" y="4862168"/>
              <a:ext cx="161784" cy="724765"/>
            </a:xfrm>
            <a:prstGeom prst="rightArrow">
              <a:avLst/>
            </a:prstGeom>
            <a:noFill/>
            <a:ln w="19050" cap="flat" cmpd="sng" algn="ctr">
              <a:solidFill>
                <a:srgbClr val="0F9ED5">
                  <a:lumMod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latin typeface="微软雅黑" panose="020B0503020204020204" pitchFamily="34" charset="-122"/>
                <a:ea typeface="等线" panose="02010600030101010101" pitchFamily="2" charset="-122"/>
                <a:cs typeface="+mn-cs"/>
              </a:endParaRPr>
            </a:p>
          </p:txBody>
        </p:sp>
        <p:cxnSp>
          <p:nvCxnSpPr>
            <p:cNvPr id="195" name="直接箭头连接符 194">
              <a:extLst>
                <a:ext uri="{FF2B5EF4-FFF2-40B4-BE49-F238E27FC236}">
                  <a16:creationId xmlns:a16="http://schemas.microsoft.com/office/drawing/2014/main" id="{CFBB162C-0A63-4388-B98D-F4A4DBC1AE73}"/>
                </a:ext>
              </a:extLst>
            </p:cNvPr>
            <p:cNvCxnSpPr>
              <a:cxnSpLocks/>
              <a:stCxn id="186" idx="3"/>
              <a:endCxn id="187" idx="1"/>
            </p:cNvCxnSpPr>
            <p:nvPr/>
          </p:nvCxnSpPr>
          <p:spPr>
            <a:xfrm flipV="1">
              <a:off x="10280757" y="5311112"/>
              <a:ext cx="176118" cy="4331"/>
            </a:xfrm>
            <a:prstGeom prst="straightConnector1">
              <a:avLst/>
            </a:prstGeom>
            <a:noFill/>
            <a:ln w="12700" cap="flat" cmpd="sng" algn="ctr">
              <a:solidFill>
                <a:srgbClr val="156082"/>
              </a:solidFill>
              <a:prstDash val="solid"/>
              <a:miter lim="800000"/>
              <a:tailEnd type="triangle"/>
            </a:ln>
            <a:effectLst/>
          </p:spPr>
        </p:cxnSp>
        <p:sp>
          <p:nvSpPr>
            <p:cNvPr id="196" name="矩形 195">
              <a:extLst>
                <a:ext uri="{FF2B5EF4-FFF2-40B4-BE49-F238E27FC236}">
                  <a16:creationId xmlns:a16="http://schemas.microsoft.com/office/drawing/2014/main" id="{9DA57895-D1BF-4E12-9362-35AA3E9FC108}"/>
                </a:ext>
              </a:extLst>
            </p:cNvPr>
            <p:cNvSpPr/>
            <p:nvPr/>
          </p:nvSpPr>
          <p:spPr>
            <a:xfrm>
              <a:off x="7899616" y="3845091"/>
              <a:ext cx="579599" cy="464515"/>
            </a:xfrm>
            <a:prstGeom prst="rect">
              <a:avLst/>
            </a:prstGeom>
            <a:solidFill>
              <a:srgbClr val="A02B93">
                <a:lumMod val="20000"/>
                <a:lumOff val="80000"/>
              </a:srgbClr>
            </a:solidFill>
            <a:ln w="9525" cap="flat" cmpd="sng" algn="ctr">
              <a:solidFill>
                <a:sysClr val="windowText" lastClr="000000"/>
              </a:solidFill>
              <a:prstDash val="solid"/>
              <a:round/>
              <a:headEnd type="none" w="med" len="med"/>
              <a:tailEnd type="none" w="med" len="med"/>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800" b="0"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rPr>
                <a:t>Control Plane</a:t>
              </a:r>
            </a:p>
            <a:p>
              <a:pPr marL="0" marR="0" lvl="0" indent="0" algn="ctr" defTabSz="457200" eaLnBrk="1" fontAlgn="auto" latinLnBrk="0" hangingPunct="1">
                <a:lnSpc>
                  <a:spcPct val="100000"/>
                </a:lnSpc>
                <a:spcBef>
                  <a:spcPts val="0"/>
                </a:spcBef>
                <a:spcAft>
                  <a:spcPts val="0"/>
                </a:spcAft>
                <a:buClrTx/>
                <a:buSzTx/>
                <a:buFontTx/>
                <a:buNone/>
                <a:tabLst/>
                <a:defRPr/>
              </a:pPr>
              <a:r>
                <a:rPr lang="en-US" altLang="zh-CN" sz="800" kern="0" dirty="0">
                  <a:latin typeface="微软雅黑" panose="020B0503020204020204" pitchFamily="34" charset="-122"/>
                  <a:ea typeface="等线" panose="02010600030101010101" pitchFamily="2" charset="-122"/>
                </a:rPr>
                <a:t>Algorithms</a:t>
              </a:r>
              <a:endParaRPr kumimoji="0" lang="zh-CN" altLang="en-US" sz="800" b="0" i="0" u="none" strike="noStrike" kern="0" cap="none" spc="0" normalizeH="0" baseline="0" noProof="0" dirty="0">
                <a:ln>
                  <a:noFill/>
                </a:ln>
                <a:effectLst/>
                <a:uLnTx/>
                <a:uFillTx/>
                <a:latin typeface="微软雅黑" panose="020B0503020204020204" pitchFamily="34" charset="-122"/>
                <a:ea typeface="等线" panose="02010600030101010101" pitchFamily="2" charset="-122"/>
                <a:cs typeface="+mn-cs"/>
              </a:endParaRPr>
            </a:p>
          </p:txBody>
        </p:sp>
        <p:sp>
          <p:nvSpPr>
            <p:cNvPr id="197" name="箭头: 下 196">
              <a:extLst>
                <a:ext uri="{FF2B5EF4-FFF2-40B4-BE49-F238E27FC236}">
                  <a16:creationId xmlns:a16="http://schemas.microsoft.com/office/drawing/2014/main" id="{8B8BED6B-3FC5-4140-8C6B-0443B03723CB}"/>
                </a:ext>
              </a:extLst>
            </p:cNvPr>
            <p:cNvSpPr/>
            <p:nvPr/>
          </p:nvSpPr>
          <p:spPr>
            <a:xfrm>
              <a:off x="8059719" y="4334992"/>
              <a:ext cx="269548" cy="94292"/>
            </a:xfrm>
            <a:prstGeom prst="downArrow">
              <a:avLst/>
            </a:prstGeom>
            <a:noFill/>
            <a:ln w="19050" cap="flat" cmpd="sng" algn="ctr">
              <a:solidFill>
                <a:srgbClr val="0F9ED5">
                  <a:lumMod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effectLst/>
                <a:uLnTx/>
                <a:uFillTx/>
                <a:latin typeface="微软雅黑" panose="020B0503020204020204" pitchFamily="34" charset="-122"/>
                <a:ea typeface="等线" panose="02010600030101010101" pitchFamily="2" charset="-122"/>
                <a:cs typeface="+mn-cs"/>
              </a:endParaRPr>
            </a:p>
          </p:txBody>
        </p:sp>
        <p:sp>
          <p:nvSpPr>
            <p:cNvPr id="198" name="文本框 197">
              <a:extLst>
                <a:ext uri="{FF2B5EF4-FFF2-40B4-BE49-F238E27FC236}">
                  <a16:creationId xmlns:a16="http://schemas.microsoft.com/office/drawing/2014/main" id="{F0FB0503-829F-4D40-94B8-CAB0654AB82A}"/>
                </a:ext>
              </a:extLst>
            </p:cNvPr>
            <p:cNvSpPr txBox="1"/>
            <p:nvPr/>
          </p:nvSpPr>
          <p:spPr>
            <a:xfrm>
              <a:off x="8512005" y="6235497"/>
              <a:ext cx="2001565" cy="161583"/>
            </a:xfrm>
            <a:prstGeom prst="rect">
              <a:avLst/>
            </a:prstGeom>
            <a:noFill/>
          </p:spPr>
          <p:txBody>
            <a:bodyPr wrap="square" lIns="0" tIns="0" rIns="0" bIns="0" rtlCol="0">
              <a:spAutoFit/>
            </a:bodyPr>
            <a:lstStyle/>
            <a:p>
              <a:pPr defTabSz="457200">
                <a:defRPr/>
              </a:pPr>
              <a:r>
                <a:rPr kumimoji="1" lang="en-US" altLang="zh-CN" sz="1050" i="1" dirty="0">
                  <a:latin typeface="微软雅黑" panose="020B0503020204020204" pitchFamily="34" charset="-122"/>
                </a:rPr>
                <a:t>Control Plane Verification</a:t>
              </a:r>
              <a:endParaRPr kumimoji="1" lang="zh-CN" altLang="en-US" sz="1050" i="1" dirty="0">
                <a:latin typeface="微软雅黑" panose="020B0503020204020204" pitchFamily="34" charset="-122"/>
              </a:endParaRPr>
            </a:p>
          </p:txBody>
        </p:sp>
      </p:grpSp>
    </p:spTree>
    <p:extLst>
      <p:ext uri="{BB962C8B-B14F-4D97-AF65-F5344CB8AC3E}">
        <p14:creationId xmlns:p14="http://schemas.microsoft.com/office/powerpoint/2010/main" val="1522926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标题 1">
            <a:extLst>
              <a:ext uri="{FF2B5EF4-FFF2-40B4-BE49-F238E27FC236}">
                <a16:creationId xmlns:a16="http://schemas.microsoft.com/office/drawing/2014/main" id="{2AD3965F-0FB0-45B4-AF0A-8C7BE62857FB}"/>
              </a:ext>
            </a:extLst>
          </p:cNvPr>
          <p:cNvSpPr>
            <a:spLocks noGrp="1"/>
          </p:cNvSpPr>
          <p:nvPr>
            <p:ph type="title"/>
          </p:nvPr>
        </p:nvSpPr>
        <p:spPr>
          <a:xfrm>
            <a:off x="561005" y="275992"/>
            <a:ext cx="11208246" cy="798839"/>
          </a:xfrm>
        </p:spPr>
        <p:txBody>
          <a:bodyPr wrap="square">
            <a:noAutofit/>
          </a:bodyPr>
          <a:lstStyle/>
          <a:p>
            <a:r>
              <a:rPr lang="en-US" altLang="zh-CN" dirty="0" err="1">
                <a:cs typeface="Huawei Sans" panose="020C0503030203020204" pitchFamily="34" charset="0"/>
              </a:rPr>
              <a:t>SuperPod</a:t>
            </a:r>
            <a:r>
              <a:rPr lang="en-US" altLang="zh-CN" dirty="0">
                <a:cs typeface="Huawei Sans" panose="020C0503030203020204" pitchFamily="34" charset="0"/>
              </a:rPr>
              <a:t> Networking Innovation Platform:</a:t>
            </a:r>
            <a:r>
              <a:rPr lang="zh-CN" altLang="en-US" dirty="0">
                <a:cs typeface="Huawei Sans" panose="020C0503030203020204" pitchFamily="34" charset="0"/>
              </a:rPr>
              <a:t> </a:t>
            </a:r>
            <a:r>
              <a:rPr lang="en-US" altLang="zh-CN" dirty="0"/>
              <a:t>Support innovative UB topology construction and verification of topology designs.</a:t>
            </a:r>
            <a:endParaRPr lang="zh-CN" altLang="en-US" dirty="0">
              <a:cs typeface="Huawei Sans" panose="020C0503030203020204" pitchFamily="34" charset="0"/>
            </a:endParaRPr>
          </a:p>
        </p:txBody>
      </p:sp>
      <p:sp>
        <p:nvSpPr>
          <p:cNvPr id="34" name="圆角矩形 4">
            <a:extLst>
              <a:ext uri="{FF2B5EF4-FFF2-40B4-BE49-F238E27FC236}">
                <a16:creationId xmlns:a16="http://schemas.microsoft.com/office/drawing/2014/main" id="{AF51EA64-8463-4CDA-B376-913BAABB1CFE}"/>
              </a:ext>
            </a:extLst>
          </p:cNvPr>
          <p:cNvSpPr/>
          <p:nvPr/>
        </p:nvSpPr>
        <p:spPr>
          <a:xfrm>
            <a:off x="5257193" y="1431313"/>
            <a:ext cx="6691781" cy="4689280"/>
          </a:xfrm>
          <a:prstGeom prst="roundRect">
            <a:avLst>
              <a:gd name="adj" fmla="val 1626"/>
            </a:avLst>
          </a:prstGeom>
          <a:solidFill>
            <a:schemeClr val="bg2">
              <a:lumMod val="10000"/>
              <a:lumOff val="90000"/>
            </a:schemeClr>
          </a:solidFill>
          <a:ln w="12700" cap="flat" cmpd="sng" algn="ctr">
            <a:noFill/>
            <a:prstDash val="dash"/>
            <a:miter lim="800000"/>
          </a:ln>
          <a:effectLst>
            <a:glow rad="63500">
              <a:srgbClr val="0070C0">
                <a:alpha val="40000"/>
              </a:srgbClr>
            </a:glow>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4035">
              <a:defRPr/>
            </a:pPr>
            <a:endParaRPr lang="zh-CN" altLang="en-US" sz="1799" kern="0">
              <a:solidFill>
                <a:srgbClr val="666666"/>
              </a:solidFill>
              <a:latin typeface="Calibri" panose="020F0502020204030204"/>
              <a:ea typeface="等线" panose="02010600030101010101" pitchFamily="2" charset="-122"/>
            </a:endParaRPr>
          </a:p>
        </p:txBody>
      </p:sp>
      <p:grpSp>
        <p:nvGrpSpPr>
          <p:cNvPr id="35" name="组合 34">
            <a:extLst>
              <a:ext uri="{FF2B5EF4-FFF2-40B4-BE49-F238E27FC236}">
                <a16:creationId xmlns:a16="http://schemas.microsoft.com/office/drawing/2014/main" id="{5A611DB3-D3E6-455A-9FDD-AA75B93166C8}"/>
              </a:ext>
            </a:extLst>
          </p:cNvPr>
          <p:cNvGrpSpPr/>
          <p:nvPr/>
        </p:nvGrpSpPr>
        <p:grpSpPr>
          <a:xfrm>
            <a:off x="5517878" y="2451521"/>
            <a:ext cx="6218479" cy="3517225"/>
            <a:chOff x="6281625" y="1802021"/>
            <a:chExt cx="4748016" cy="2971728"/>
          </a:xfrm>
        </p:grpSpPr>
        <p:pic>
          <p:nvPicPr>
            <p:cNvPr id="36" name="Picture 2" descr="C:\Users\c00535321\AppData\Roaming\eSpace_Desktop\UserData\c00535321\imagefiles\originalImgfiles\c7ba69d8-0d57-43cc-bd19-06422f115369.jpg">
              <a:extLst>
                <a:ext uri="{FF2B5EF4-FFF2-40B4-BE49-F238E27FC236}">
                  <a16:creationId xmlns:a16="http://schemas.microsoft.com/office/drawing/2014/main" id="{65FD259E-A236-4953-9132-DE39D146A2A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81625" y="1802021"/>
              <a:ext cx="4748016" cy="2971728"/>
            </a:xfrm>
            <a:prstGeom prst="rect">
              <a:avLst/>
            </a:prstGeom>
            <a:noFill/>
            <a:extLst>
              <a:ext uri="{909E8E84-426E-40DD-AFC4-6F175D3DCCD1}">
                <a14:hiddenFill xmlns:a14="http://schemas.microsoft.com/office/drawing/2010/main">
                  <a:solidFill>
                    <a:srgbClr val="FFFFFF"/>
                  </a:solidFill>
                </a14:hiddenFill>
              </a:ext>
            </a:extLst>
          </p:spPr>
        </p:pic>
        <p:sp>
          <p:nvSpPr>
            <p:cNvPr id="37" name="矩形: 圆角 47">
              <a:extLst>
                <a:ext uri="{FF2B5EF4-FFF2-40B4-BE49-F238E27FC236}">
                  <a16:creationId xmlns:a16="http://schemas.microsoft.com/office/drawing/2014/main" id="{578A20BA-E861-4762-BAA4-87D429EE7C6B}"/>
                </a:ext>
              </a:extLst>
            </p:cNvPr>
            <p:cNvSpPr/>
            <p:nvPr/>
          </p:nvSpPr>
          <p:spPr>
            <a:xfrm>
              <a:off x="7797800" y="2692400"/>
              <a:ext cx="990600" cy="501650"/>
            </a:xfrm>
            <a:prstGeom prst="roundRect">
              <a:avLst>
                <a:gd name="adj" fmla="val 13221"/>
              </a:avLst>
            </a:prstGeom>
            <a:noFill/>
            <a:ln w="19050" cap="flat" cmpd="sng" algn="ctr">
              <a:solidFill>
                <a:srgbClr val="FFFFFF"/>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r>
                <a:rPr lang="en-US" altLang="zh-CN" sz="1399" b="1" kern="0">
                  <a:solidFill>
                    <a:srgbClr val="FFFFFF"/>
                  </a:solidFill>
                  <a:latin typeface="微软雅黑" panose="020B0503020204020204" pitchFamily="34" charset="-122"/>
                  <a:ea typeface="微软雅黑" panose="020B0503020204020204" pitchFamily="34" charset="-122"/>
                </a:rPr>
                <a:t>OCS</a:t>
              </a:r>
              <a:endParaRPr lang="en-US" altLang="zh-CN" sz="1399" b="1" kern="0" dirty="0">
                <a:solidFill>
                  <a:srgbClr val="FFFFFF"/>
                </a:solidFill>
                <a:latin typeface="微软雅黑" panose="020B0503020204020204" pitchFamily="34" charset="-122"/>
                <a:ea typeface="微软雅黑" panose="020B0503020204020204" pitchFamily="34" charset="-122"/>
              </a:endParaRPr>
            </a:p>
          </p:txBody>
        </p:sp>
        <p:sp>
          <p:nvSpPr>
            <p:cNvPr id="38" name="矩形: 圆角 47">
              <a:extLst>
                <a:ext uri="{FF2B5EF4-FFF2-40B4-BE49-F238E27FC236}">
                  <a16:creationId xmlns:a16="http://schemas.microsoft.com/office/drawing/2014/main" id="{0E694DBD-9566-4B83-AE9F-976439055FEA}"/>
                </a:ext>
              </a:extLst>
            </p:cNvPr>
            <p:cNvSpPr/>
            <p:nvPr/>
          </p:nvSpPr>
          <p:spPr>
            <a:xfrm>
              <a:off x="9003766" y="3037060"/>
              <a:ext cx="1829333" cy="501650"/>
            </a:xfrm>
            <a:prstGeom prst="roundRect">
              <a:avLst>
                <a:gd name="adj" fmla="val 13221"/>
              </a:avLst>
            </a:prstGeom>
            <a:noFill/>
            <a:ln w="19050" cap="flat" cmpd="sng" algn="ctr">
              <a:solidFill>
                <a:srgbClr val="FFFFFF"/>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r>
                <a:rPr lang="en-US" altLang="zh-CN" sz="1399" b="1" kern="0" dirty="0">
                  <a:solidFill>
                    <a:srgbClr val="FFFFFF"/>
                  </a:solidFill>
                  <a:latin typeface="微软雅黑" panose="020B0503020204020204" pitchFamily="34" charset="-122"/>
                  <a:ea typeface="微软雅黑" panose="020B0503020204020204" pitchFamily="34" charset="-122"/>
                </a:rPr>
                <a:t>Switches</a:t>
              </a:r>
            </a:p>
          </p:txBody>
        </p:sp>
        <p:sp>
          <p:nvSpPr>
            <p:cNvPr id="39" name="矩形: 圆角 47">
              <a:extLst>
                <a:ext uri="{FF2B5EF4-FFF2-40B4-BE49-F238E27FC236}">
                  <a16:creationId xmlns:a16="http://schemas.microsoft.com/office/drawing/2014/main" id="{B690E230-A4A7-4F9D-A05C-E8B9E018BEAB}"/>
                </a:ext>
              </a:extLst>
            </p:cNvPr>
            <p:cNvSpPr/>
            <p:nvPr/>
          </p:nvSpPr>
          <p:spPr>
            <a:xfrm>
              <a:off x="6756500" y="3613272"/>
              <a:ext cx="4076599" cy="730128"/>
            </a:xfrm>
            <a:prstGeom prst="roundRect">
              <a:avLst>
                <a:gd name="adj" fmla="val 9742"/>
              </a:avLst>
            </a:prstGeom>
            <a:noFill/>
            <a:ln w="19050" cap="flat" cmpd="sng" algn="ctr">
              <a:solidFill>
                <a:srgbClr val="ED6D00">
                  <a:lumMod val="40000"/>
                  <a:lumOff val="60000"/>
                </a:srgbClr>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r>
                <a:rPr lang="en-US" altLang="zh-CN" sz="1399" b="1" kern="0" dirty="0">
                  <a:solidFill>
                    <a:srgbClr val="ED6D00">
                      <a:lumMod val="40000"/>
                      <a:lumOff val="60000"/>
                    </a:srgbClr>
                  </a:solidFill>
                  <a:latin typeface="微软雅黑" panose="020B0503020204020204" pitchFamily="34" charset="-122"/>
                  <a:ea typeface="微软雅黑" panose="020B0503020204020204" pitchFamily="34" charset="-122"/>
                </a:rPr>
                <a:t>Ascend Servers</a:t>
              </a:r>
            </a:p>
          </p:txBody>
        </p:sp>
      </p:grpSp>
      <p:sp>
        <p:nvSpPr>
          <p:cNvPr id="40" name="矩形 39">
            <a:extLst>
              <a:ext uri="{FF2B5EF4-FFF2-40B4-BE49-F238E27FC236}">
                <a16:creationId xmlns:a16="http://schemas.microsoft.com/office/drawing/2014/main" id="{F011A55A-B7D7-477F-8D79-C7BA394ADE7D}"/>
              </a:ext>
            </a:extLst>
          </p:cNvPr>
          <p:cNvSpPr/>
          <p:nvPr/>
        </p:nvSpPr>
        <p:spPr>
          <a:xfrm>
            <a:off x="5484466" y="1579419"/>
            <a:ext cx="6464507" cy="738279"/>
          </a:xfrm>
          <a:prstGeom prst="rect">
            <a:avLst/>
          </a:prstGeom>
        </p:spPr>
        <p:txBody>
          <a:bodyPr wrap="square">
            <a:spAutoFit/>
          </a:bodyPr>
          <a:lstStyle/>
          <a:p>
            <a:pPr defTabSz="913591">
              <a:spcBef>
                <a:spcPts val="600"/>
              </a:spcBef>
              <a:spcAft>
                <a:spcPts val="600"/>
              </a:spcAft>
              <a:defRPr/>
            </a:pPr>
            <a:r>
              <a:rPr kumimoji="1" lang="en-US" altLang="zh-CN" sz="1399" b="1" dirty="0">
                <a:solidFill>
                  <a:srgbClr val="1D1D1A"/>
                </a:solidFill>
                <a:latin typeface="微软雅黑" panose="020B0503020204020204" pitchFamily="34" charset="-122"/>
                <a:ea typeface="微软雅黑" panose="020B0503020204020204" pitchFamily="34" charset="-122"/>
              </a:rPr>
              <a:t>Networking Innovation Platform: </a:t>
            </a:r>
            <a:r>
              <a:rPr kumimoji="1" lang="en-US" altLang="zh-CN" sz="1399" dirty="0">
                <a:solidFill>
                  <a:srgbClr val="1D1D1A"/>
                </a:solidFill>
                <a:latin typeface="微软雅黑" panose="020B0503020204020204" pitchFamily="34" charset="-122"/>
                <a:ea typeface="微软雅黑" panose="020B0503020204020204" pitchFamily="34" charset="-122"/>
              </a:rPr>
              <a:t>Supports customized interconnection of Ascend servers, switches, and OCS hardware, and integration, configuration, and verification of routing and communication algorithms.</a:t>
            </a:r>
          </a:p>
        </p:txBody>
      </p:sp>
      <p:sp>
        <p:nvSpPr>
          <p:cNvPr id="41" name="文本框 40">
            <a:extLst>
              <a:ext uri="{FF2B5EF4-FFF2-40B4-BE49-F238E27FC236}">
                <a16:creationId xmlns:a16="http://schemas.microsoft.com/office/drawing/2014/main" id="{F329518E-AC04-423B-A942-76CF555E4289}"/>
              </a:ext>
            </a:extLst>
          </p:cNvPr>
          <p:cNvSpPr txBox="1"/>
          <p:nvPr/>
        </p:nvSpPr>
        <p:spPr>
          <a:xfrm>
            <a:off x="431372" y="1076822"/>
            <a:ext cx="4720288" cy="418000"/>
          </a:xfrm>
          <a:prstGeom prst="rect">
            <a:avLst/>
          </a:prstGeom>
          <a:noFill/>
        </p:spPr>
        <p:txBody>
          <a:bodyPr wrap="square">
            <a:spAutoFit/>
          </a:bodyPr>
          <a:lstStyle/>
          <a:p>
            <a:pPr marL="285611" indent="-285611" defTabSz="913591">
              <a:lnSpc>
                <a:spcPct val="150000"/>
              </a:lnSpc>
              <a:buFont typeface="Wingdings" panose="05000000000000000000" pitchFamily="2" charset="2"/>
              <a:buChar char="n"/>
              <a:defRPr/>
            </a:pPr>
            <a:r>
              <a:rPr kumimoji="1" lang="en-US" altLang="zh-CN" sz="1599" b="1" dirty="0">
                <a:latin typeface="微软雅黑" panose="020B0503020204020204" pitchFamily="34" charset="-122"/>
                <a:ea typeface="微软雅黑" panose="020B0503020204020204" pitchFamily="34" charset="-122"/>
              </a:rPr>
              <a:t>Capability Features of the platform</a:t>
            </a:r>
            <a:r>
              <a:rPr kumimoji="1" lang="zh-CN" altLang="en-US" sz="1599" b="1" dirty="0">
                <a:latin typeface="微软雅黑" panose="020B0503020204020204" pitchFamily="34" charset="-122"/>
                <a:ea typeface="微软雅黑" panose="020B0503020204020204" pitchFamily="34" charset="-122"/>
              </a:rPr>
              <a:t>：</a:t>
            </a:r>
            <a:endParaRPr kumimoji="1" lang="en-US" altLang="zh-CN" sz="1599" b="1" dirty="0">
              <a:latin typeface="微软雅黑" panose="020B0503020204020204" pitchFamily="34" charset="-122"/>
              <a:ea typeface="微软雅黑" panose="020B0503020204020204" pitchFamily="34" charset="-122"/>
            </a:endParaRPr>
          </a:p>
        </p:txBody>
      </p:sp>
      <p:sp>
        <p:nvSpPr>
          <p:cNvPr id="42" name="矩形: 圆角 41">
            <a:extLst>
              <a:ext uri="{FF2B5EF4-FFF2-40B4-BE49-F238E27FC236}">
                <a16:creationId xmlns:a16="http://schemas.microsoft.com/office/drawing/2014/main" id="{56F6E848-D144-4FEC-AD21-2A87B590F74C}"/>
              </a:ext>
            </a:extLst>
          </p:cNvPr>
          <p:cNvSpPr/>
          <p:nvPr/>
        </p:nvSpPr>
        <p:spPr>
          <a:xfrm>
            <a:off x="794323" y="1590768"/>
            <a:ext cx="4252259" cy="559602"/>
          </a:xfrm>
          <a:prstGeom prst="roundRect">
            <a:avLst>
              <a:gd name="adj" fmla="val 10317"/>
            </a:avLst>
          </a:prstGeom>
          <a:solidFill>
            <a:srgbClr val="FFFFFF">
              <a:lumMod val="95000"/>
            </a:srgbClr>
          </a:solidFill>
          <a:ln w="12700" cap="flat" cmpd="sng" algn="ctr">
            <a:solidFill>
              <a:srgbClr val="DDDDDD">
                <a:lumMod val="90000"/>
              </a:srgbClr>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4035">
              <a:lnSpc>
                <a:spcPct val="125000"/>
              </a:lnSpc>
              <a:defRPr/>
            </a:pPr>
            <a:r>
              <a:rPr kumimoji="1" lang="en-US" altLang="zh-CN" sz="1399" b="1" kern="0" dirty="0">
                <a:solidFill>
                  <a:srgbClr val="1D1D1A"/>
                </a:solidFill>
                <a:latin typeface="微软雅黑" panose="020B0503020204020204" pitchFamily="34" charset="-122"/>
                <a:ea typeface="微软雅黑" panose="020B0503020204020204" pitchFamily="34" charset="-122"/>
              </a:rPr>
              <a:t>Infrastructure</a:t>
            </a:r>
          </a:p>
          <a:p>
            <a:pPr algn="ctr" defTabSz="914035">
              <a:lnSpc>
                <a:spcPct val="125000"/>
              </a:lnSpc>
              <a:defRPr/>
            </a:pPr>
            <a:r>
              <a:rPr kumimoji="1" lang="en-US" altLang="zh-CN" sz="1199" kern="0" dirty="0">
                <a:solidFill>
                  <a:srgbClr val="1D1D1A"/>
                </a:solidFill>
                <a:latin typeface="微软雅黑" panose="020B0503020204020204" pitchFamily="34" charset="-122"/>
                <a:ea typeface="微软雅黑" panose="020B0503020204020204" pitchFamily="34" charset="-122"/>
              </a:rPr>
              <a:t>Ascend / Kunpeng Servers, OCS, Electrical Switches</a:t>
            </a:r>
          </a:p>
        </p:txBody>
      </p:sp>
      <p:sp>
        <p:nvSpPr>
          <p:cNvPr id="43" name="矩形: 圆角 42">
            <a:extLst>
              <a:ext uri="{FF2B5EF4-FFF2-40B4-BE49-F238E27FC236}">
                <a16:creationId xmlns:a16="http://schemas.microsoft.com/office/drawing/2014/main" id="{0943ADFA-33C1-4B05-92D3-FC5EE20EC887}"/>
              </a:ext>
            </a:extLst>
          </p:cNvPr>
          <p:cNvSpPr/>
          <p:nvPr/>
        </p:nvSpPr>
        <p:spPr>
          <a:xfrm>
            <a:off x="794323" y="2350879"/>
            <a:ext cx="4244461" cy="1471882"/>
          </a:xfrm>
          <a:prstGeom prst="roundRect">
            <a:avLst>
              <a:gd name="adj" fmla="val 10317"/>
            </a:avLst>
          </a:prstGeom>
          <a:solidFill>
            <a:schemeClr val="bg2">
              <a:lumMod val="10000"/>
              <a:lumOff val="90000"/>
            </a:schemeClr>
          </a:solidFill>
          <a:ln w="12700" cap="flat" cmpd="sng" algn="ctr">
            <a:solidFill>
              <a:srgbClr val="DDDDDD">
                <a:lumMod val="90000"/>
              </a:srgbClr>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4035">
              <a:defRPr/>
            </a:pPr>
            <a:r>
              <a:rPr kumimoji="1" lang="en-US" altLang="zh-CN" sz="1399" b="1" kern="0" dirty="0">
                <a:solidFill>
                  <a:srgbClr val="C00000"/>
                </a:solidFill>
                <a:latin typeface="微软雅黑" panose="020B0503020204020204" pitchFamily="34" charset="-122"/>
                <a:ea typeface="微软雅黑" panose="020B0503020204020204" pitchFamily="34" charset="-122"/>
              </a:rPr>
              <a:t>Feature 1: Innovative Topology Definition and Construction</a:t>
            </a:r>
          </a:p>
          <a:p>
            <a:pPr marL="217742" indent="-217742" defTabSz="914035">
              <a:buFont typeface="Arial" panose="020B0604020202020204" pitchFamily="34" charset="0"/>
              <a:buChar char="•"/>
              <a:defRPr/>
            </a:pPr>
            <a:r>
              <a:rPr kumimoji="1" lang="en-US" altLang="zh-CN" sz="1199" b="1" kern="0" dirty="0">
                <a:solidFill>
                  <a:srgbClr val="1D1D1A"/>
                </a:solidFill>
                <a:latin typeface="微软雅黑" panose="020B0503020204020204" pitchFamily="34" charset="-122"/>
                <a:ea typeface="微软雅黑" panose="020B0503020204020204" pitchFamily="34" charset="-122"/>
              </a:rPr>
              <a:t>Direct topologies (</a:t>
            </a:r>
            <a:r>
              <a:rPr kumimoji="1" lang="en-US" altLang="zh-CN" sz="1199" b="1" kern="0" dirty="0" err="1">
                <a:solidFill>
                  <a:srgbClr val="1D1D1A"/>
                </a:solidFill>
                <a:latin typeface="微软雅黑" panose="020B0503020204020204" pitchFamily="34" charset="-122"/>
                <a:ea typeface="微软雅黑" panose="020B0503020204020204" pitchFamily="34" charset="-122"/>
              </a:rPr>
              <a:t>FullMesh</a:t>
            </a:r>
            <a:r>
              <a:rPr kumimoji="1" lang="en-US" altLang="zh-CN" sz="1199" b="1" kern="0" dirty="0">
                <a:solidFill>
                  <a:srgbClr val="1D1D1A"/>
                </a:solidFill>
                <a:latin typeface="微软雅黑" panose="020B0503020204020204" pitchFamily="34" charset="-122"/>
                <a:ea typeface="微软雅黑" panose="020B0503020204020204" pitchFamily="34" charset="-122"/>
              </a:rPr>
              <a:t>, 2D-FM, Torus)</a:t>
            </a:r>
          </a:p>
          <a:p>
            <a:pPr marL="217742" indent="-217742" defTabSz="914035">
              <a:buFont typeface="Arial" panose="020B0604020202020204" pitchFamily="34" charset="0"/>
              <a:buChar char="•"/>
              <a:defRPr/>
            </a:pPr>
            <a:r>
              <a:rPr kumimoji="1" lang="en-US" altLang="zh-CN" sz="1199" b="1" kern="0" dirty="0">
                <a:solidFill>
                  <a:srgbClr val="1D1D1A"/>
                </a:solidFill>
                <a:latin typeface="微软雅黑" panose="020B0503020204020204" pitchFamily="34" charset="-122"/>
                <a:ea typeface="微软雅黑" panose="020B0503020204020204" pitchFamily="34" charset="-122"/>
              </a:rPr>
              <a:t>Indirect connection topologies (Clos, BST, etc.)</a:t>
            </a:r>
          </a:p>
          <a:p>
            <a:pPr marL="217742" indent="-217742" defTabSz="914035">
              <a:buFont typeface="Arial" panose="020B0604020202020204" pitchFamily="34" charset="0"/>
              <a:buChar char="•"/>
              <a:defRPr/>
            </a:pPr>
            <a:r>
              <a:rPr kumimoji="1" lang="en-US" altLang="zh-CN" sz="1199" b="1" kern="0" dirty="0">
                <a:solidFill>
                  <a:srgbClr val="1D1D1A"/>
                </a:solidFill>
                <a:latin typeface="微软雅黑" panose="020B0503020204020204" pitchFamily="34" charset="-122"/>
                <a:ea typeface="微软雅黑" panose="020B0503020204020204" pitchFamily="34" charset="-122"/>
              </a:rPr>
              <a:t>OCS-based variable direct topologies</a:t>
            </a:r>
          </a:p>
          <a:p>
            <a:pPr marL="217742" indent="-217742" defTabSz="914035">
              <a:buFont typeface="Arial" panose="020B0604020202020204" pitchFamily="34" charset="0"/>
              <a:buChar char="•"/>
              <a:defRPr/>
            </a:pPr>
            <a:r>
              <a:rPr kumimoji="1" lang="en-US" altLang="zh-CN" sz="1100" b="1" i="1" kern="0" dirty="0">
                <a:solidFill>
                  <a:srgbClr val="0070C0"/>
                </a:solidFill>
                <a:latin typeface="微软雅黑" panose="020B0503020204020204" pitchFamily="34" charset="-122"/>
                <a:ea typeface="微软雅黑" panose="020B0503020204020204" pitchFamily="34" charset="-122"/>
              </a:rPr>
              <a:t>Provides more accurate performance evaluation and realistic problem identification compared to simulators</a:t>
            </a:r>
            <a:endParaRPr kumimoji="1" lang="en-US" altLang="zh-CN" sz="1599" b="1" i="1" kern="0" dirty="0">
              <a:solidFill>
                <a:srgbClr val="0070C0"/>
              </a:solidFill>
              <a:latin typeface="微软雅黑" panose="020B0503020204020204" pitchFamily="34" charset="-122"/>
              <a:ea typeface="微软雅黑" panose="020B0503020204020204" pitchFamily="34" charset="-122"/>
            </a:endParaRPr>
          </a:p>
        </p:txBody>
      </p:sp>
      <p:sp>
        <p:nvSpPr>
          <p:cNvPr id="44" name="矩形: 圆角 43">
            <a:extLst>
              <a:ext uri="{FF2B5EF4-FFF2-40B4-BE49-F238E27FC236}">
                <a16:creationId xmlns:a16="http://schemas.microsoft.com/office/drawing/2014/main" id="{8C0633CF-29BF-4F15-B476-B42FA940009B}"/>
              </a:ext>
            </a:extLst>
          </p:cNvPr>
          <p:cNvSpPr/>
          <p:nvPr/>
        </p:nvSpPr>
        <p:spPr>
          <a:xfrm>
            <a:off x="794323" y="3998147"/>
            <a:ext cx="4252259" cy="1471882"/>
          </a:xfrm>
          <a:prstGeom prst="roundRect">
            <a:avLst>
              <a:gd name="adj" fmla="val 10317"/>
            </a:avLst>
          </a:prstGeom>
          <a:solidFill>
            <a:schemeClr val="bg2">
              <a:lumMod val="10000"/>
              <a:lumOff val="90000"/>
            </a:schemeClr>
          </a:solidFill>
          <a:ln w="12700" cap="flat" cmpd="sng" algn="ctr">
            <a:solidFill>
              <a:srgbClr val="DDDDDD">
                <a:lumMod val="90000"/>
              </a:srgbClr>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4035">
              <a:defRPr/>
            </a:pPr>
            <a:r>
              <a:rPr kumimoji="1" lang="en-US" altLang="zh-CN" sz="1399" b="1" kern="0" dirty="0">
                <a:solidFill>
                  <a:srgbClr val="C00000"/>
                </a:solidFill>
                <a:latin typeface="微软雅黑" panose="020B0503020204020204" pitchFamily="34" charset="-122"/>
                <a:ea typeface="微软雅黑" panose="020B0503020204020204" pitchFamily="34" charset="-122"/>
              </a:rPr>
              <a:t>Feature 2: Verification of Topology Algorithms</a:t>
            </a:r>
          </a:p>
          <a:p>
            <a:pPr marL="217742" indent="-217742" defTabSz="914035">
              <a:buFont typeface="Arial" panose="020B0604020202020204" pitchFamily="34" charset="0"/>
              <a:buChar char="•"/>
              <a:defRPr/>
            </a:pPr>
            <a:r>
              <a:rPr kumimoji="1" lang="en-US" altLang="zh-CN" sz="1199" kern="0" dirty="0">
                <a:solidFill>
                  <a:srgbClr val="1D1D1A"/>
                </a:solidFill>
                <a:latin typeface="微软雅黑" panose="020B0503020204020204" pitchFamily="34" charset="-122"/>
                <a:ea typeface="微软雅黑" panose="020B0503020204020204" pitchFamily="34" charset="-122"/>
              </a:rPr>
              <a:t>Routing algorithms (shortest path routing, full-path routing), LB algorithms (ECMP, NSLB, etc.), FC algorithms, and collective communication algorithm configurations under various topologies.</a:t>
            </a:r>
          </a:p>
          <a:p>
            <a:pPr marL="217742" indent="-217742" defTabSz="914035">
              <a:buFont typeface="Arial" panose="020B0604020202020204" pitchFamily="34" charset="0"/>
              <a:buChar char="•"/>
              <a:defRPr/>
            </a:pPr>
            <a:r>
              <a:rPr kumimoji="1" lang="en-US" altLang="zh-CN" sz="1100" b="1" i="1" kern="0" dirty="0">
                <a:solidFill>
                  <a:srgbClr val="0070C0"/>
                </a:solidFill>
                <a:latin typeface="微软雅黑" panose="020B0503020204020204" pitchFamily="34" charset="-122"/>
                <a:ea typeface="微软雅黑" panose="020B0503020204020204" pitchFamily="34" charset="-122"/>
              </a:rPr>
              <a:t>Supports Python-based HCCL translation.</a:t>
            </a:r>
          </a:p>
        </p:txBody>
      </p:sp>
      <p:sp>
        <p:nvSpPr>
          <p:cNvPr id="45" name="箭头: 左弧形 44">
            <a:extLst>
              <a:ext uri="{FF2B5EF4-FFF2-40B4-BE49-F238E27FC236}">
                <a16:creationId xmlns:a16="http://schemas.microsoft.com/office/drawing/2014/main" id="{F05B09AD-1431-4A81-BE16-EDC76A86FBB4}"/>
              </a:ext>
            </a:extLst>
          </p:cNvPr>
          <p:cNvSpPr/>
          <p:nvPr/>
        </p:nvSpPr>
        <p:spPr>
          <a:xfrm>
            <a:off x="460407" y="1862651"/>
            <a:ext cx="342758" cy="1357787"/>
          </a:xfrm>
          <a:prstGeom prst="curvedRightArrow">
            <a:avLst/>
          </a:prstGeom>
          <a:solidFill>
            <a:srgbClr val="666666">
              <a:lumMod val="60000"/>
              <a:lumOff val="40000"/>
              <a:alpha val="60000"/>
            </a:srgbClr>
          </a:solidFill>
          <a:ln w="12700" cap="flat" cmpd="sng" algn="ctr">
            <a:no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4035">
              <a:defRPr/>
            </a:pPr>
            <a:endParaRPr lang="zh-CN" altLang="en-US" sz="1799" kern="0">
              <a:solidFill>
                <a:srgbClr val="1D1D1A"/>
              </a:solidFill>
              <a:latin typeface="Calibri" panose="020F0502020204030204"/>
              <a:ea typeface="等线" panose="02010600030101010101" pitchFamily="2" charset="-122"/>
            </a:endParaRPr>
          </a:p>
        </p:txBody>
      </p:sp>
      <p:sp>
        <p:nvSpPr>
          <p:cNvPr id="46" name="箭头: 左弧形 45">
            <a:extLst>
              <a:ext uri="{FF2B5EF4-FFF2-40B4-BE49-F238E27FC236}">
                <a16:creationId xmlns:a16="http://schemas.microsoft.com/office/drawing/2014/main" id="{8A116B0C-7A51-4B6F-80E8-0852EEA24731}"/>
              </a:ext>
            </a:extLst>
          </p:cNvPr>
          <p:cNvSpPr/>
          <p:nvPr/>
        </p:nvSpPr>
        <p:spPr>
          <a:xfrm>
            <a:off x="432860" y="3314220"/>
            <a:ext cx="342758" cy="1556848"/>
          </a:xfrm>
          <a:prstGeom prst="curvedRightArrow">
            <a:avLst/>
          </a:prstGeom>
          <a:solidFill>
            <a:srgbClr val="666666">
              <a:lumMod val="60000"/>
              <a:lumOff val="40000"/>
              <a:alpha val="60000"/>
            </a:srgbClr>
          </a:solidFill>
          <a:ln w="12700" cap="flat" cmpd="sng" algn="ctr">
            <a:no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4035">
              <a:defRPr/>
            </a:pPr>
            <a:endParaRPr lang="zh-CN" altLang="en-US" sz="1799" kern="0">
              <a:solidFill>
                <a:srgbClr val="1D1D1A"/>
              </a:solidFill>
              <a:latin typeface="Calibri" panose="020F0502020204030204"/>
              <a:ea typeface="等线" panose="02010600030101010101" pitchFamily="2" charset="-122"/>
            </a:endParaRPr>
          </a:p>
        </p:txBody>
      </p:sp>
      <p:sp>
        <p:nvSpPr>
          <p:cNvPr id="47" name="文本框 46">
            <a:extLst>
              <a:ext uri="{FF2B5EF4-FFF2-40B4-BE49-F238E27FC236}">
                <a16:creationId xmlns:a16="http://schemas.microsoft.com/office/drawing/2014/main" id="{6327F932-350E-4D93-9DB5-C33EAE8C5C2A}"/>
              </a:ext>
            </a:extLst>
          </p:cNvPr>
          <p:cNvSpPr txBox="1"/>
          <p:nvPr/>
        </p:nvSpPr>
        <p:spPr>
          <a:xfrm>
            <a:off x="431373" y="5588779"/>
            <a:ext cx="4491905" cy="713657"/>
          </a:xfrm>
          <a:prstGeom prst="rect">
            <a:avLst/>
          </a:prstGeom>
          <a:noFill/>
        </p:spPr>
        <p:txBody>
          <a:bodyPr wrap="square">
            <a:spAutoFit/>
          </a:bodyPr>
          <a:lstStyle/>
          <a:p>
            <a:pPr marL="285611" indent="-285611" defTabSz="913591">
              <a:buFont typeface="Wingdings" panose="05000000000000000000" pitchFamily="2" charset="2"/>
              <a:buChar char="n"/>
              <a:defRPr/>
            </a:pPr>
            <a:r>
              <a:rPr kumimoji="1" lang="en-US" altLang="zh-CN" sz="1599" b="1" dirty="0">
                <a:latin typeface="微软雅黑" panose="020B0503020204020204" pitchFamily="34" charset="-122"/>
                <a:ea typeface="微软雅黑" panose="020B0503020204020204" pitchFamily="34" charset="-122"/>
              </a:rPr>
              <a:t>Access: </a:t>
            </a:r>
            <a:r>
              <a:rPr kumimoji="1" lang="en-US" altLang="zh-CN" sz="1219" dirty="0">
                <a:latin typeface="微软雅黑" panose="020B0503020204020204" pitchFamily="34" charset="-122"/>
                <a:ea typeface="微软雅黑" panose="020B0503020204020204" pitchFamily="34" charset="-122"/>
              </a:rPr>
              <a:t>Huawei will assist in configuring and setting up the network, with remote access provided via the Huang </a:t>
            </a:r>
            <a:r>
              <a:rPr kumimoji="1" lang="en-US" altLang="zh-CN" sz="1219" dirty="0" err="1">
                <a:latin typeface="微软雅黑" panose="020B0503020204020204" pitchFamily="34" charset="-122"/>
                <a:ea typeface="微软雅黑" panose="020B0503020204020204" pitchFamily="34" charset="-122"/>
              </a:rPr>
              <a:t>Danian</a:t>
            </a:r>
            <a:r>
              <a:rPr kumimoji="1" lang="en-US" altLang="zh-CN" sz="1219" dirty="0">
                <a:latin typeface="微软雅黑" panose="020B0503020204020204" pitchFamily="34" charset="-122"/>
                <a:ea typeface="微软雅黑" panose="020B0503020204020204" pitchFamily="34" charset="-122"/>
              </a:rPr>
              <a:t> platform and the laboratory.</a:t>
            </a:r>
          </a:p>
        </p:txBody>
      </p:sp>
    </p:spTree>
    <p:extLst>
      <p:ext uri="{BB962C8B-B14F-4D97-AF65-F5344CB8AC3E}">
        <p14:creationId xmlns:p14="http://schemas.microsoft.com/office/powerpoint/2010/main" val="2809900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标题 1">
            <a:extLst>
              <a:ext uri="{FF2B5EF4-FFF2-40B4-BE49-F238E27FC236}">
                <a16:creationId xmlns:a16="http://schemas.microsoft.com/office/drawing/2014/main" id="{2AD3965F-0FB0-45B4-AF0A-8C7BE62857FB}"/>
              </a:ext>
            </a:extLst>
          </p:cNvPr>
          <p:cNvSpPr>
            <a:spLocks noGrp="1"/>
          </p:cNvSpPr>
          <p:nvPr>
            <p:ph type="title"/>
          </p:nvPr>
        </p:nvSpPr>
        <p:spPr>
          <a:xfrm>
            <a:off x="561005" y="275992"/>
            <a:ext cx="11208246" cy="798839"/>
          </a:xfrm>
        </p:spPr>
        <p:txBody>
          <a:bodyPr wrap="square">
            <a:noAutofit/>
          </a:bodyPr>
          <a:lstStyle/>
          <a:p>
            <a:r>
              <a:rPr lang="en-US" altLang="zh-CN" dirty="0">
                <a:cs typeface="Huawei Sans" panose="020C0503030203020204" pitchFamily="34" charset="0"/>
              </a:rPr>
              <a:t>Innovations in UB </a:t>
            </a:r>
            <a:r>
              <a:rPr lang="en-US" altLang="zh-CN" dirty="0" err="1">
                <a:cs typeface="Huawei Sans" panose="020C0503030203020204" pitchFamily="34" charset="0"/>
              </a:rPr>
              <a:t>SuperPod</a:t>
            </a:r>
            <a:r>
              <a:rPr lang="en-US" altLang="zh-CN" dirty="0">
                <a:cs typeface="Huawei Sans" panose="020C0503030203020204" pitchFamily="34" charset="0"/>
              </a:rPr>
              <a:t> Topology Architecture, Routing, and Communication Algorithms</a:t>
            </a:r>
            <a:endParaRPr lang="zh-CN" altLang="en-US" dirty="0">
              <a:cs typeface="Huawei Sans" panose="020C0503030203020204" pitchFamily="34" charset="0"/>
            </a:endParaRPr>
          </a:p>
        </p:txBody>
      </p:sp>
      <p:sp>
        <p:nvSpPr>
          <p:cNvPr id="17" name="文本框 16">
            <a:extLst>
              <a:ext uri="{FF2B5EF4-FFF2-40B4-BE49-F238E27FC236}">
                <a16:creationId xmlns:a16="http://schemas.microsoft.com/office/drawing/2014/main" id="{8D5E4589-7EE6-44C8-BF97-18C9856E8263}"/>
              </a:ext>
            </a:extLst>
          </p:cNvPr>
          <p:cNvSpPr txBox="1"/>
          <p:nvPr/>
        </p:nvSpPr>
        <p:spPr>
          <a:xfrm>
            <a:off x="494817" y="3566969"/>
            <a:ext cx="3692251" cy="375231"/>
          </a:xfrm>
          <a:prstGeom prst="rect">
            <a:avLst/>
          </a:prstGeom>
          <a:noFill/>
        </p:spPr>
        <p:txBody>
          <a:bodyPr wrap="square" lIns="0" tIns="0" rIns="0" bIns="0" rtlCol="0">
            <a:spAutoFit/>
          </a:bodyPr>
          <a:lstStyle/>
          <a:p>
            <a:pPr algn="ctr" defTabSz="913957">
              <a:defRPr/>
            </a:pPr>
            <a:r>
              <a:rPr kumimoji="1" lang="en-US" altLang="zh-CN" sz="1219" b="1" dirty="0">
                <a:latin typeface="Microsoft YaHei" panose="020B0503020204020204" pitchFamily="34" charset="-122"/>
                <a:ea typeface="Microsoft YaHei" panose="020B0503020204020204" pitchFamily="34" charset="-122"/>
              </a:rPr>
              <a:t>Example 1</a:t>
            </a:r>
            <a:r>
              <a:rPr kumimoji="1" lang="zh-CN" altLang="en-US" sz="1219" b="1" dirty="0">
                <a:latin typeface="Microsoft YaHei" panose="020B0503020204020204" pitchFamily="34" charset="-122"/>
                <a:ea typeface="Microsoft YaHei" panose="020B0503020204020204" pitchFamily="34" charset="-122"/>
              </a:rPr>
              <a:t>：</a:t>
            </a:r>
            <a:endParaRPr kumimoji="1" lang="en-US" altLang="zh-CN" sz="1219" b="1" dirty="0">
              <a:latin typeface="Microsoft YaHei" panose="020B0503020204020204" pitchFamily="34" charset="-122"/>
              <a:ea typeface="Microsoft YaHei" panose="020B0503020204020204" pitchFamily="34" charset="-122"/>
            </a:endParaRPr>
          </a:p>
          <a:p>
            <a:pPr algn="ctr" defTabSz="913957">
              <a:defRPr/>
            </a:pPr>
            <a:r>
              <a:rPr kumimoji="1" lang="en-US" altLang="zh-CN" sz="1219" dirty="0">
                <a:latin typeface="Microsoft YaHei" panose="020B0503020204020204" pitchFamily="34" charset="-122"/>
                <a:ea typeface="Microsoft YaHei" panose="020B0503020204020204" pitchFamily="34" charset="-122"/>
              </a:rPr>
              <a:t>UB-mesh Topology</a:t>
            </a:r>
          </a:p>
        </p:txBody>
      </p:sp>
      <p:pic>
        <p:nvPicPr>
          <p:cNvPr id="18" name="图片 17">
            <a:extLst>
              <a:ext uri="{FF2B5EF4-FFF2-40B4-BE49-F238E27FC236}">
                <a16:creationId xmlns:a16="http://schemas.microsoft.com/office/drawing/2014/main" id="{31E0E94B-3F39-467B-9238-3A8BDC38ABA3}"/>
              </a:ext>
            </a:extLst>
          </p:cNvPr>
          <p:cNvPicPr>
            <a:picLocks noChangeAspect="1"/>
          </p:cNvPicPr>
          <p:nvPr/>
        </p:nvPicPr>
        <p:blipFill>
          <a:blip r:embed="rId3"/>
          <a:stretch>
            <a:fillRect/>
          </a:stretch>
        </p:blipFill>
        <p:spPr>
          <a:xfrm>
            <a:off x="1388180" y="2224468"/>
            <a:ext cx="1856038" cy="1307009"/>
          </a:xfrm>
          <a:prstGeom prst="rect">
            <a:avLst/>
          </a:prstGeom>
        </p:spPr>
      </p:pic>
      <p:grpSp>
        <p:nvGrpSpPr>
          <p:cNvPr id="19" name="组合 18">
            <a:extLst>
              <a:ext uri="{FF2B5EF4-FFF2-40B4-BE49-F238E27FC236}">
                <a16:creationId xmlns:a16="http://schemas.microsoft.com/office/drawing/2014/main" id="{2CA2E1AD-F7CF-4119-9EC8-FDBFB7998917}"/>
              </a:ext>
            </a:extLst>
          </p:cNvPr>
          <p:cNvGrpSpPr/>
          <p:nvPr/>
        </p:nvGrpSpPr>
        <p:grpSpPr>
          <a:xfrm>
            <a:off x="754472" y="4044206"/>
            <a:ext cx="3139985" cy="846137"/>
            <a:chOff x="8787181" y="5363891"/>
            <a:chExt cx="3010078" cy="879601"/>
          </a:xfrm>
        </p:grpSpPr>
        <p:sp>
          <p:nvSpPr>
            <p:cNvPr id="20" name="矩形 19">
              <a:extLst>
                <a:ext uri="{FF2B5EF4-FFF2-40B4-BE49-F238E27FC236}">
                  <a16:creationId xmlns:a16="http://schemas.microsoft.com/office/drawing/2014/main" id="{07293494-652D-49A6-BB4E-AF51DD1AF20B}"/>
                </a:ext>
              </a:extLst>
            </p:cNvPr>
            <p:cNvSpPr/>
            <p:nvPr/>
          </p:nvSpPr>
          <p:spPr>
            <a:xfrm>
              <a:off x="9002281" y="5749353"/>
              <a:ext cx="460307" cy="163994"/>
            </a:xfrm>
            <a:prstGeom prst="rect">
              <a:avLst/>
            </a:prstGeom>
            <a:solidFill>
              <a:srgbClr val="30B5C5">
                <a:lumMod val="20000"/>
                <a:lumOff val="80000"/>
              </a:srgbClr>
            </a:solidFill>
            <a:ln w="12700" cap="flat" cmpd="sng" algn="ctr">
              <a:solidFill>
                <a:srgbClr val="1D1D1A">
                  <a:lumMod val="50000"/>
                  <a:lumOff val="50000"/>
                </a:srgbClr>
              </a:solidFill>
              <a:prstDash val="solid"/>
              <a:miter lim="800000"/>
            </a:ln>
            <a:effectLst/>
          </p:spPr>
          <p:txBody>
            <a:bodyPr rot="0" spcFirstLastPara="0" vertOverflow="overflow" horzOverflow="overflow" vert="horz" wrap="square" lIns="91378" tIns="45689" rIns="91378" bIns="45689" numCol="1" spcCol="0" rtlCol="0" fromWordArt="0" anchor="ctr" anchorCtr="0" forceAA="0" compatLnSpc="1">
              <a:prstTxWarp prst="textNoShape">
                <a:avLst/>
              </a:prstTxWarp>
              <a:noAutofit/>
            </a:bodyPr>
            <a:lstStyle/>
            <a:p>
              <a:pPr algn="ctr" defTabSz="913761">
                <a:defRPr/>
              </a:pPr>
              <a:r>
                <a:rPr lang="en-US" altLang="zh-CN" sz="600" kern="0" dirty="0">
                  <a:latin typeface="微软雅黑"/>
                  <a:ea typeface="微软雅黑"/>
                </a:rPr>
                <a:t>Leaf</a:t>
              </a:r>
              <a:endParaRPr lang="zh-CN" altLang="en-US" sz="600" kern="0" dirty="0">
                <a:latin typeface="微软雅黑"/>
                <a:ea typeface="微软雅黑"/>
              </a:endParaRPr>
            </a:p>
          </p:txBody>
        </p:sp>
        <p:sp>
          <p:nvSpPr>
            <p:cNvPr id="21" name="矩形 20">
              <a:extLst>
                <a:ext uri="{FF2B5EF4-FFF2-40B4-BE49-F238E27FC236}">
                  <a16:creationId xmlns:a16="http://schemas.microsoft.com/office/drawing/2014/main" id="{C100B966-C784-47D6-968E-9E01FFD36EAB}"/>
                </a:ext>
              </a:extLst>
            </p:cNvPr>
            <p:cNvSpPr/>
            <p:nvPr/>
          </p:nvSpPr>
          <p:spPr>
            <a:xfrm>
              <a:off x="9658392" y="5749353"/>
              <a:ext cx="460307" cy="163994"/>
            </a:xfrm>
            <a:prstGeom prst="rect">
              <a:avLst/>
            </a:prstGeom>
            <a:solidFill>
              <a:srgbClr val="30B5C5">
                <a:lumMod val="20000"/>
                <a:lumOff val="80000"/>
              </a:srgbClr>
            </a:solidFill>
            <a:ln w="12700" cap="flat" cmpd="sng" algn="ctr">
              <a:solidFill>
                <a:srgbClr val="1D1D1A">
                  <a:lumMod val="50000"/>
                  <a:lumOff val="50000"/>
                </a:srgbClr>
              </a:solidFill>
              <a:prstDash val="solid"/>
              <a:miter lim="800000"/>
            </a:ln>
            <a:effectLst/>
          </p:spPr>
          <p:txBody>
            <a:bodyPr rot="0" spcFirstLastPara="0" vertOverflow="overflow" horzOverflow="overflow" vert="horz" wrap="square" lIns="91378" tIns="45689" rIns="91378" bIns="45689" numCol="1" spcCol="0" rtlCol="0" fromWordArt="0" anchor="ctr" anchorCtr="0" forceAA="0" compatLnSpc="1">
              <a:prstTxWarp prst="textNoShape">
                <a:avLst/>
              </a:prstTxWarp>
              <a:noAutofit/>
            </a:bodyPr>
            <a:lstStyle/>
            <a:p>
              <a:pPr algn="ctr" defTabSz="913761">
                <a:defRPr/>
              </a:pPr>
              <a:r>
                <a:rPr lang="en-US" altLang="zh-CN" sz="600" kern="0" dirty="0">
                  <a:latin typeface="微软雅黑"/>
                  <a:ea typeface="微软雅黑"/>
                </a:rPr>
                <a:t>Leaf</a:t>
              </a:r>
              <a:endParaRPr lang="zh-CN" altLang="en-US" sz="600" kern="0" dirty="0">
                <a:latin typeface="微软雅黑"/>
                <a:ea typeface="微软雅黑"/>
              </a:endParaRPr>
            </a:p>
          </p:txBody>
        </p:sp>
        <p:cxnSp>
          <p:nvCxnSpPr>
            <p:cNvPr id="22" name="直接连接符 21">
              <a:extLst>
                <a:ext uri="{FF2B5EF4-FFF2-40B4-BE49-F238E27FC236}">
                  <a16:creationId xmlns:a16="http://schemas.microsoft.com/office/drawing/2014/main" id="{E7587163-6B4B-442E-9B03-B0FC7C84196F}"/>
                </a:ext>
              </a:extLst>
            </p:cNvPr>
            <p:cNvCxnSpPr>
              <a:stCxn id="67" idx="2"/>
              <a:endCxn id="21" idx="0"/>
            </p:cNvCxnSpPr>
            <p:nvPr/>
          </p:nvCxnSpPr>
          <p:spPr>
            <a:xfrm>
              <a:off x="9017335" y="5530648"/>
              <a:ext cx="871211" cy="218705"/>
            </a:xfrm>
            <a:prstGeom prst="line">
              <a:avLst/>
            </a:prstGeom>
            <a:noFill/>
            <a:ln w="28575" cap="flat" cmpd="sng" algn="ctr">
              <a:solidFill>
                <a:srgbClr val="1D1D1A">
                  <a:lumMod val="50000"/>
                  <a:lumOff val="50000"/>
                </a:srgbClr>
              </a:solidFill>
              <a:prstDash val="solid"/>
              <a:miter lim="800000"/>
            </a:ln>
            <a:effectLst/>
          </p:spPr>
        </p:cxnSp>
        <p:cxnSp>
          <p:nvCxnSpPr>
            <p:cNvPr id="23" name="直接连接符 22">
              <a:extLst>
                <a:ext uri="{FF2B5EF4-FFF2-40B4-BE49-F238E27FC236}">
                  <a16:creationId xmlns:a16="http://schemas.microsoft.com/office/drawing/2014/main" id="{DD8D12AA-08DC-4B53-A914-3DEAB1CFA4B6}"/>
                </a:ext>
              </a:extLst>
            </p:cNvPr>
            <p:cNvCxnSpPr>
              <a:cxnSpLocks/>
              <a:stCxn id="68" idx="2"/>
              <a:endCxn id="20" idx="0"/>
            </p:cNvCxnSpPr>
            <p:nvPr/>
          </p:nvCxnSpPr>
          <p:spPr>
            <a:xfrm flipH="1">
              <a:off x="9232435" y="5530062"/>
              <a:ext cx="298232" cy="219292"/>
            </a:xfrm>
            <a:prstGeom prst="line">
              <a:avLst/>
            </a:prstGeom>
            <a:noFill/>
            <a:ln w="28575" cap="flat" cmpd="sng" algn="ctr">
              <a:solidFill>
                <a:srgbClr val="1D1D1A">
                  <a:lumMod val="50000"/>
                  <a:lumOff val="50000"/>
                </a:srgbClr>
              </a:solidFill>
              <a:prstDash val="solid"/>
              <a:miter lim="800000"/>
            </a:ln>
            <a:effectLst/>
          </p:spPr>
        </p:cxnSp>
        <p:sp>
          <p:nvSpPr>
            <p:cNvPr id="24" name="椭圆 23">
              <a:extLst>
                <a:ext uri="{FF2B5EF4-FFF2-40B4-BE49-F238E27FC236}">
                  <a16:creationId xmlns:a16="http://schemas.microsoft.com/office/drawing/2014/main" id="{BF9CE328-A500-42AF-8503-6E270B32C3FE}"/>
                </a:ext>
              </a:extLst>
            </p:cNvPr>
            <p:cNvSpPr/>
            <p:nvPr/>
          </p:nvSpPr>
          <p:spPr>
            <a:xfrm>
              <a:off x="8992488" y="6079498"/>
              <a:ext cx="192823" cy="163994"/>
            </a:xfrm>
            <a:prstGeom prst="ellipse">
              <a:avLst/>
            </a:prstGeom>
            <a:noFill/>
            <a:ln w="12700" cap="flat" cmpd="sng" algn="ctr">
              <a:solidFill>
                <a:srgbClr val="0070C0"/>
              </a:solidFill>
              <a:prstDash val="solid"/>
              <a:miter lim="800000"/>
            </a:ln>
            <a:effectLst/>
          </p:spPr>
          <p:txBody>
            <a:bodyPr rot="0" spcFirstLastPara="0" vertOverflow="overflow" horzOverflow="overflow" vert="horz" wrap="square" lIns="91378" tIns="45689" rIns="91378" bIns="45689" numCol="1" spcCol="0" rtlCol="0" fromWordArt="0" anchor="ctr" anchorCtr="0" forceAA="0" compatLnSpc="1">
              <a:prstTxWarp prst="textNoShape">
                <a:avLst/>
              </a:prstTxWarp>
              <a:noAutofit/>
            </a:bodyPr>
            <a:lstStyle/>
            <a:p>
              <a:pPr algn="ctr" defTabSz="913761">
                <a:defRPr/>
              </a:pPr>
              <a:endParaRPr lang="zh-CN" altLang="en-US" sz="600" kern="0" dirty="0">
                <a:latin typeface="微软雅黑"/>
                <a:ea typeface="微软雅黑"/>
              </a:endParaRPr>
            </a:p>
          </p:txBody>
        </p:sp>
        <p:sp>
          <p:nvSpPr>
            <p:cNvPr id="25" name="椭圆 24">
              <a:extLst>
                <a:ext uri="{FF2B5EF4-FFF2-40B4-BE49-F238E27FC236}">
                  <a16:creationId xmlns:a16="http://schemas.microsoft.com/office/drawing/2014/main" id="{CBA1A7B6-F65A-463B-AFE5-38D2CCA2D866}"/>
                </a:ext>
              </a:extLst>
            </p:cNvPr>
            <p:cNvSpPr/>
            <p:nvPr/>
          </p:nvSpPr>
          <p:spPr>
            <a:xfrm>
              <a:off x="9314023" y="6079498"/>
              <a:ext cx="192823" cy="163994"/>
            </a:xfrm>
            <a:prstGeom prst="ellipse">
              <a:avLst/>
            </a:prstGeom>
            <a:noFill/>
            <a:ln w="12700" cap="flat" cmpd="sng" algn="ctr">
              <a:solidFill>
                <a:srgbClr val="0070C0"/>
              </a:solidFill>
              <a:prstDash val="solid"/>
              <a:miter lim="800000"/>
            </a:ln>
            <a:effectLst/>
          </p:spPr>
          <p:txBody>
            <a:bodyPr rot="0" spcFirstLastPara="0" vertOverflow="overflow" horzOverflow="overflow" vert="horz" wrap="square" lIns="91378" tIns="45689" rIns="91378" bIns="45689" numCol="1" spcCol="0" rtlCol="0" fromWordArt="0" anchor="ctr" anchorCtr="0" forceAA="0" compatLnSpc="1">
              <a:prstTxWarp prst="textNoShape">
                <a:avLst/>
              </a:prstTxWarp>
              <a:noAutofit/>
            </a:bodyPr>
            <a:lstStyle/>
            <a:p>
              <a:pPr algn="ctr" defTabSz="913761">
                <a:defRPr/>
              </a:pPr>
              <a:endParaRPr lang="zh-CN" altLang="en-US" sz="600" kern="0" dirty="0">
                <a:latin typeface="微软雅黑"/>
                <a:ea typeface="微软雅黑"/>
              </a:endParaRPr>
            </a:p>
          </p:txBody>
        </p:sp>
        <p:sp>
          <p:nvSpPr>
            <p:cNvPr id="26" name="椭圆 25">
              <a:extLst>
                <a:ext uri="{FF2B5EF4-FFF2-40B4-BE49-F238E27FC236}">
                  <a16:creationId xmlns:a16="http://schemas.microsoft.com/office/drawing/2014/main" id="{5ADD71E8-76F0-4A74-9CAC-E9E44A3F7262}"/>
                </a:ext>
              </a:extLst>
            </p:cNvPr>
            <p:cNvSpPr/>
            <p:nvPr/>
          </p:nvSpPr>
          <p:spPr>
            <a:xfrm>
              <a:off x="9635560" y="6079498"/>
              <a:ext cx="192823" cy="163994"/>
            </a:xfrm>
            <a:prstGeom prst="ellipse">
              <a:avLst/>
            </a:prstGeom>
            <a:noFill/>
            <a:ln w="12700" cap="flat" cmpd="sng" algn="ctr">
              <a:solidFill>
                <a:srgbClr val="0070C0"/>
              </a:solidFill>
              <a:prstDash val="solid"/>
              <a:miter lim="800000"/>
            </a:ln>
            <a:effectLst/>
          </p:spPr>
          <p:txBody>
            <a:bodyPr rot="0" spcFirstLastPara="0" vertOverflow="overflow" horzOverflow="overflow" vert="horz" wrap="square" lIns="91378" tIns="45689" rIns="91378" bIns="45689" numCol="1" spcCol="0" rtlCol="0" fromWordArt="0" anchor="ctr" anchorCtr="0" forceAA="0" compatLnSpc="1">
              <a:prstTxWarp prst="textNoShape">
                <a:avLst/>
              </a:prstTxWarp>
              <a:noAutofit/>
            </a:bodyPr>
            <a:lstStyle/>
            <a:p>
              <a:pPr algn="ctr" defTabSz="913761">
                <a:defRPr/>
              </a:pPr>
              <a:endParaRPr lang="zh-CN" altLang="en-US" sz="600" kern="0" dirty="0">
                <a:latin typeface="微软雅黑"/>
                <a:ea typeface="微软雅黑"/>
              </a:endParaRPr>
            </a:p>
          </p:txBody>
        </p:sp>
        <p:sp>
          <p:nvSpPr>
            <p:cNvPr id="27" name="椭圆 26">
              <a:extLst>
                <a:ext uri="{FF2B5EF4-FFF2-40B4-BE49-F238E27FC236}">
                  <a16:creationId xmlns:a16="http://schemas.microsoft.com/office/drawing/2014/main" id="{2392EF62-9966-4B15-A6EA-6F5AAD6052E9}"/>
                </a:ext>
              </a:extLst>
            </p:cNvPr>
            <p:cNvSpPr/>
            <p:nvPr/>
          </p:nvSpPr>
          <p:spPr>
            <a:xfrm>
              <a:off x="9957095" y="6079498"/>
              <a:ext cx="192823" cy="163994"/>
            </a:xfrm>
            <a:prstGeom prst="ellipse">
              <a:avLst/>
            </a:prstGeom>
            <a:noFill/>
            <a:ln w="12700" cap="flat" cmpd="sng" algn="ctr">
              <a:solidFill>
                <a:srgbClr val="0070C0"/>
              </a:solidFill>
              <a:prstDash val="solid"/>
              <a:miter lim="800000"/>
            </a:ln>
            <a:effectLst/>
          </p:spPr>
          <p:txBody>
            <a:bodyPr rot="0" spcFirstLastPara="0" vertOverflow="overflow" horzOverflow="overflow" vert="horz" wrap="square" lIns="91378" tIns="45689" rIns="91378" bIns="45689" numCol="1" spcCol="0" rtlCol="0" fromWordArt="0" anchor="ctr" anchorCtr="0" forceAA="0" compatLnSpc="1">
              <a:prstTxWarp prst="textNoShape">
                <a:avLst/>
              </a:prstTxWarp>
              <a:noAutofit/>
            </a:bodyPr>
            <a:lstStyle/>
            <a:p>
              <a:pPr algn="ctr" defTabSz="913761">
                <a:defRPr/>
              </a:pPr>
              <a:endParaRPr lang="zh-CN" altLang="en-US" sz="600" kern="0" dirty="0">
                <a:latin typeface="微软雅黑"/>
                <a:ea typeface="微软雅黑"/>
              </a:endParaRPr>
            </a:p>
          </p:txBody>
        </p:sp>
        <p:cxnSp>
          <p:nvCxnSpPr>
            <p:cNvPr id="28" name="直接连接符 27">
              <a:extLst>
                <a:ext uri="{FF2B5EF4-FFF2-40B4-BE49-F238E27FC236}">
                  <a16:creationId xmlns:a16="http://schemas.microsoft.com/office/drawing/2014/main" id="{52820B71-85B0-4482-902C-D8D99C552BB3}"/>
                </a:ext>
              </a:extLst>
            </p:cNvPr>
            <p:cNvCxnSpPr>
              <a:stCxn id="20" idx="2"/>
              <a:endCxn id="24" idx="0"/>
            </p:cNvCxnSpPr>
            <p:nvPr/>
          </p:nvCxnSpPr>
          <p:spPr>
            <a:xfrm flipH="1">
              <a:off x="9088899" y="5913348"/>
              <a:ext cx="143535" cy="166150"/>
            </a:xfrm>
            <a:prstGeom prst="line">
              <a:avLst/>
            </a:prstGeom>
            <a:noFill/>
            <a:ln w="28575" cap="flat" cmpd="sng" algn="ctr">
              <a:solidFill>
                <a:srgbClr val="888888"/>
              </a:solidFill>
              <a:prstDash val="solid"/>
              <a:miter lim="800000"/>
            </a:ln>
            <a:effectLst/>
          </p:spPr>
        </p:cxnSp>
        <p:cxnSp>
          <p:nvCxnSpPr>
            <p:cNvPr id="29" name="直接连接符 28">
              <a:extLst>
                <a:ext uri="{FF2B5EF4-FFF2-40B4-BE49-F238E27FC236}">
                  <a16:creationId xmlns:a16="http://schemas.microsoft.com/office/drawing/2014/main" id="{DF7D0443-D886-457E-B878-B5109669A3C1}"/>
                </a:ext>
              </a:extLst>
            </p:cNvPr>
            <p:cNvCxnSpPr>
              <a:stCxn id="20" idx="2"/>
              <a:endCxn id="25" idx="0"/>
            </p:cNvCxnSpPr>
            <p:nvPr/>
          </p:nvCxnSpPr>
          <p:spPr>
            <a:xfrm>
              <a:off x="9232435" y="5913348"/>
              <a:ext cx="178000" cy="166150"/>
            </a:xfrm>
            <a:prstGeom prst="line">
              <a:avLst/>
            </a:prstGeom>
            <a:noFill/>
            <a:ln w="28575" cap="flat" cmpd="sng" algn="ctr">
              <a:solidFill>
                <a:srgbClr val="888888"/>
              </a:solidFill>
              <a:prstDash val="solid"/>
              <a:miter lim="800000"/>
            </a:ln>
            <a:effectLst/>
          </p:spPr>
        </p:cxnSp>
        <p:cxnSp>
          <p:nvCxnSpPr>
            <p:cNvPr id="30" name="直接连接符 29">
              <a:extLst>
                <a:ext uri="{FF2B5EF4-FFF2-40B4-BE49-F238E27FC236}">
                  <a16:creationId xmlns:a16="http://schemas.microsoft.com/office/drawing/2014/main" id="{0780EE02-FD94-4E49-BB20-6C5BF0B7801C}"/>
                </a:ext>
              </a:extLst>
            </p:cNvPr>
            <p:cNvCxnSpPr>
              <a:stCxn id="21" idx="2"/>
              <a:endCxn id="26" idx="0"/>
            </p:cNvCxnSpPr>
            <p:nvPr/>
          </p:nvCxnSpPr>
          <p:spPr>
            <a:xfrm flipH="1">
              <a:off x="9731971" y="5913348"/>
              <a:ext cx="156575" cy="166150"/>
            </a:xfrm>
            <a:prstGeom prst="line">
              <a:avLst/>
            </a:prstGeom>
            <a:noFill/>
            <a:ln w="28575" cap="flat" cmpd="sng" algn="ctr">
              <a:solidFill>
                <a:srgbClr val="888888"/>
              </a:solidFill>
              <a:prstDash val="solid"/>
              <a:miter lim="800000"/>
            </a:ln>
            <a:effectLst/>
          </p:spPr>
        </p:cxnSp>
        <p:cxnSp>
          <p:nvCxnSpPr>
            <p:cNvPr id="31" name="直接连接符 30">
              <a:extLst>
                <a:ext uri="{FF2B5EF4-FFF2-40B4-BE49-F238E27FC236}">
                  <a16:creationId xmlns:a16="http://schemas.microsoft.com/office/drawing/2014/main" id="{419A6141-9154-4881-B504-AE59C0BF1DD7}"/>
                </a:ext>
              </a:extLst>
            </p:cNvPr>
            <p:cNvCxnSpPr>
              <a:stCxn id="21" idx="2"/>
              <a:endCxn id="27" idx="0"/>
            </p:cNvCxnSpPr>
            <p:nvPr/>
          </p:nvCxnSpPr>
          <p:spPr>
            <a:xfrm>
              <a:off x="9888546" y="5913348"/>
              <a:ext cx="164961" cy="166150"/>
            </a:xfrm>
            <a:prstGeom prst="line">
              <a:avLst/>
            </a:prstGeom>
            <a:noFill/>
            <a:ln w="28575" cap="flat" cmpd="sng" algn="ctr">
              <a:solidFill>
                <a:srgbClr val="888888"/>
              </a:solidFill>
              <a:prstDash val="solid"/>
              <a:miter lim="800000"/>
            </a:ln>
            <a:effectLst/>
          </p:spPr>
        </p:cxnSp>
        <p:cxnSp>
          <p:nvCxnSpPr>
            <p:cNvPr id="32" name="直接连接符 31">
              <a:extLst>
                <a:ext uri="{FF2B5EF4-FFF2-40B4-BE49-F238E27FC236}">
                  <a16:creationId xmlns:a16="http://schemas.microsoft.com/office/drawing/2014/main" id="{0434C13C-334C-492E-9DB3-0579AAA3274A}"/>
                </a:ext>
              </a:extLst>
            </p:cNvPr>
            <p:cNvCxnSpPr>
              <a:stCxn id="67" idx="2"/>
              <a:endCxn id="20" idx="0"/>
            </p:cNvCxnSpPr>
            <p:nvPr/>
          </p:nvCxnSpPr>
          <p:spPr>
            <a:xfrm>
              <a:off x="9017335" y="5530648"/>
              <a:ext cx="215100" cy="218705"/>
            </a:xfrm>
            <a:prstGeom prst="line">
              <a:avLst/>
            </a:prstGeom>
            <a:noFill/>
            <a:ln w="28575" cap="flat" cmpd="sng" algn="ctr">
              <a:solidFill>
                <a:srgbClr val="1D1D1A">
                  <a:lumMod val="50000"/>
                  <a:lumOff val="50000"/>
                </a:srgbClr>
              </a:solidFill>
              <a:prstDash val="solid"/>
              <a:miter lim="800000"/>
            </a:ln>
            <a:effectLst/>
          </p:spPr>
        </p:cxnSp>
        <p:sp>
          <p:nvSpPr>
            <p:cNvPr id="33" name="矩形 32">
              <a:extLst>
                <a:ext uri="{FF2B5EF4-FFF2-40B4-BE49-F238E27FC236}">
                  <a16:creationId xmlns:a16="http://schemas.microsoft.com/office/drawing/2014/main" id="{5827A75B-AD80-406B-896D-5A170B6FB62E}"/>
                </a:ext>
              </a:extLst>
            </p:cNvPr>
            <p:cNvSpPr/>
            <p:nvPr/>
          </p:nvSpPr>
          <p:spPr>
            <a:xfrm>
              <a:off x="10299073" y="5749353"/>
              <a:ext cx="460307" cy="163994"/>
            </a:xfrm>
            <a:prstGeom prst="rect">
              <a:avLst/>
            </a:prstGeom>
            <a:solidFill>
              <a:srgbClr val="30B5C5">
                <a:lumMod val="20000"/>
                <a:lumOff val="80000"/>
              </a:srgbClr>
            </a:solidFill>
            <a:ln w="12700" cap="flat" cmpd="sng" algn="ctr">
              <a:solidFill>
                <a:srgbClr val="1D1D1A">
                  <a:lumMod val="50000"/>
                  <a:lumOff val="50000"/>
                </a:srgbClr>
              </a:solidFill>
              <a:prstDash val="solid"/>
              <a:miter lim="800000"/>
            </a:ln>
            <a:effectLst/>
          </p:spPr>
          <p:txBody>
            <a:bodyPr rot="0" spcFirstLastPara="0" vertOverflow="overflow" horzOverflow="overflow" vert="horz" wrap="square" lIns="91378" tIns="45689" rIns="91378" bIns="45689" numCol="1" spcCol="0" rtlCol="0" fromWordArt="0" anchor="ctr" anchorCtr="0" forceAA="0" compatLnSpc="1">
              <a:prstTxWarp prst="textNoShape">
                <a:avLst/>
              </a:prstTxWarp>
              <a:noAutofit/>
            </a:bodyPr>
            <a:lstStyle/>
            <a:p>
              <a:pPr algn="ctr" defTabSz="913761">
                <a:defRPr/>
              </a:pPr>
              <a:r>
                <a:rPr lang="en-US" altLang="zh-CN" sz="600" kern="0" dirty="0">
                  <a:latin typeface="微软雅黑"/>
                  <a:ea typeface="微软雅黑"/>
                </a:rPr>
                <a:t>Leaf</a:t>
              </a:r>
              <a:endParaRPr lang="zh-CN" altLang="en-US" sz="600" kern="0" dirty="0">
                <a:latin typeface="微软雅黑"/>
                <a:ea typeface="微软雅黑"/>
              </a:endParaRPr>
            </a:p>
          </p:txBody>
        </p:sp>
        <p:sp>
          <p:nvSpPr>
            <p:cNvPr id="48" name="矩形 47">
              <a:extLst>
                <a:ext uri="{FF2B5EF4-FFF2-40B4-BE49-F238E27FC236}">
                  <a16:creationId xmlns:a16="http://schemas.microsoft.com/office/drawing/2014/main" id="{5D07F556-8FF9-4802-A618-7A6EBA4502AE}"/>
                </a:ext>
              </a:extLst>
            </p:cNvPr>
            <p:cNvSpPr/>
            <p:nvPr/>
          </p:nvSpPr>
          <p:spPr>
            <a:xfrm>
              <a:off x="10955184" y="5749353"/>
              <a:ext cx="460307" cy="163994"/>
            </a:xfrm>
            <a:prstGeom prst="rect">
              <a:avLst/>
            </a:prstGeom>
            <a:solidFill>
              <a:srgbClr val="30B5C5">
                <a:lumMod val="20000"/>
                <a:lumOff val="80000"/>
              </a:srgbClr>
            </a:solidFill>
            <a:ln w="12700" cap="flat" cmpd="sng" algn="ctr">
              <a:solidFill>
                <a:srgbClr val="1D1D1A">
                  <a:lumMod val="50000"/>
                  <a:lumOff val="50000"/>
                </a:srgbClr>
              </a:solidFill>
              <a:prstDash val="solid"/>
              <a:miter lim="800000"/>
            </a:ln>
            <a:effectLst/>
          </p:spPr>
          <p:txBody>
            <a:bodyPr rot="0" spcFirstLastPara="0" vertOverflow="overflow" horzOverflow="overflow" vert="horz" wrap="square" lIns="91378" tIns="45689" rIns="91378" bIns="45689" numCol="1" spcCol="0" rtlCol="0" fromWordArt="0" anchor="ctr" anchorCtr="0" forceAA="0" compatLnSpc="1">
              <a:prstTxWarp prst="textNoShape">
                <a:avLst/>
              </a:prstTxWarp>
              <a:noAutofit/>
            </a:bodyPr>
            <a:lstStyle/>
            <a:p>
              <a:pPr algn="ctr" defTabSz="913761">
                <a:defRPr/>
              </a:pPr>
              <a:r>
                <a:rPr lang="en-US" altLang="zh-CN" sz="600" kern="0">
                  <a:latin typeface="微软雅黑"/>
                  <a:ea typeface="微软雅黑"/>
                </a:rPr>
                <a:t>Leaf</a:t>
              </a:r>
              <a:endParaRPr lang="zh-CN" altLang="en-US" sz="600" kern="0" dirty="0">
                <a:latin typeface="微软雅黑"/>
                <a:ea typeface="微软雅黑"/>
              </a:endParaRPr>
            </a:p>
          </p:txBody>
        </p:sp>
        <p:cxnSp>
          <p:nvCxnSpPr>
            <p:cNvPr id="49" name="直接连接符 48">
              <a:extLst>
                <a:ext uri="{FF2B5EF4-FFF2-40B4-BE49-F238E27FC236}">
                  <a16:creationId xmlns:a16="http://schemas.microsoft.com/office/drawing/2014/main" id="{A161FD89-6028-4970-802B-400592528769}"/>
                </a:ext>
              </a:extLst>
            </p:cNvPr>
            <p:cNvCxnSpPr>
              <a:cxnSpLocks/>
              <a:stCxn id="21" idx="0"/>
              <a:endCxn id="70" idx="2"/>
            </p:cNvCxnSpPr>
            <p:nvPr/>
          </p:nvCxnSpPr>
          <p:spPr>
            <a:xfrm flipV="1">
              <a:off x="9888546" y="5530062"/>
              <a:ext cx="155452" cy="219292"/>
            </a:xfrm>
            <a:prstGeom prst="line">
              <a:avLst/>
            </a:prstGeom>
            <a:noFill/>
            <a:ln w="28575" cap="flat" cmpd="sng" algn="ctr">
              <a:solidFill>
                <a:srgbClr val="1D1D1A">
                  <a:lumMod val="50000"/>
                  <a:lumOff val="50000"/>
                </a:srgbClr>
              </a:solidFill>
              <a:prstDash val="solid"/>
              <a:miter lim="800000"/>
            </a:ln>
            <a:effectLst/>
          </p:spPr>
        </p:cxnSp>
        <p:cxnSp>
          <p:nvCxnSpPr>
            <p:cNvPr id="50" name="直接连接符 49">
              <a:extLst>
                <a:ext uri="{FF2B5EF4-FFF2-40B4-BE49-F238E27FC236}">
                  <a16:creationId xmlns:a16="http://schemas.microsoft.com/office/drawing/2014/main" id="{8F6B968C-47C6-4008-BD9D-DF2088100A2B}"/>
                </a:ext>
              </a:extLst>
            </p:cNvPr>
            <p:cNvCxnSpPr>
              <a:cxnSpLocks/>
              <a:stCxn id="69" idx="2"/>
              <a:endCxn id="20" idx="0"/>
            </p:cNvCxnSpPr>
            <p:nvPr/>
          </p:nvCxnSpPr>
          <p:spPr>
            <a:xfrm flipH="1">
              <a:off x="9232435" y="5528425"/>
              <a:ext cx="1323184" cy="220928"/>
            </a:xfrm>
            <a:prstGeom prst="line">
              <a:avLst/>
            </a:prstGeom>
            <a:noFill/>
            <a:ln w="28575" cap="flat" cmpd="sng" algn="ctr">
              <a:solidFill>
                <a:srgbClr val="1D1D1A">
                  <a:lumMod val="50000"/>
                  <a:lumOff val="50000"/>
                </a:srgbClr>
              </a:solidFill>
              <a:prstDash val="solid"/>
              <a:miter lim="800000"/>
            </a:ln>
            <a:effectLst/>
          </p:spPr>
        </p:cxnSp>
        <p:sp>
          <p:nvSpPr>
            <p:cNvPr id="51" name="椭圆 50">
              <a:extLst>
                <a:ext uri="{FF2B5EF4-FFF2-40B4-BE49-F238E27FC236}">
                  <a16:creationId xmlns:a16="http://schemas.microsoft.com/office/drawing/2014/main" id="{7E631AD9-5633-469B-977F-45CB6E4E2181}"/>
                </a:ext>
              </a:extLst>
            </p:cNvPr>
            <p:cNvSpPr/>
            <p:nvPr/>
          </p:nvSpPr>
          <p:spPr>
            <a:xfrm>
              <a:off x="10289280" y="6079498"/>
              <a:ext cx="192823" cy="163994"/>
            </a:xfrm>
            <a:prstGeom prst="ellipse">
              <a:avLst/>
            </a:prstGeom>
            <a:noFill/>
            <a:ln w="12700" cap="flat" cmpd="sng" algn="ctr">
              <a:solidFill>
                <a:srgbClr val="0070C0"/>
              </a:solidFill>
              <a:prstDash val="solid"/>
              <a:miter lim="800000"/>
            </a:ln>
            <a:effectLst/>
          </p:spPr>
          <p:txBody>
            <a:bodyPr rot="0" spcFirstLastPara="0" vertOverflow="overflow" horzOverflow="overflow" vert="horz" wrap="square" lIns="91378" tIns="45689" rIns="91378" bIns="45689" numCol="1" spcCol="0" rtlCol="0" fromWordArt="0" anchor="ctr" anchorCtr="0" forceAA="0" compatLnSpc="1">
              <a:prstTxWarp prst="textNoShape">
                <a:avLst/>
              </a:prstTxWarp>
              <a:noAutofit/>
            </a:bodyPr>
            <a:lstStyle/>
            <a:p>
              <a:pPr algn="ctr" defTabSz="913761">
                <a:defRPr/>
              </a:pPr>
              <a:endParaRPr lang="zh-CN" altLang="en-US" sz="600" kern="0" dirty="0">
                <a:latin typeface="微软雅黑"/>
                <a:ea typeface="微软雅黑"/>
              </a:endParaRPr>
            </a:p>
          </p:txBody>
        </p:sp>
        <p:sp>
          <p:nvSpPr>
            <p:cNvPr id="52" name="椭圆 51">
              <a:extLst>
                <a:ext uri="{FF2B5EF4-FFF2-40B4-BE49-F238E27FC236}">
                  <a16:creationId xmlns:a16="http://schemas.microsoft.com/office/drawing/2014/main" id="{4FBDCC8F-D965-4520-8B20-2F5F7D75A68D}"/>
                </a:ext>
              </a:extLst>
            </p:cNvPr>
            <p:cNvSpPr/>
            <p:nvPr/>
          </p:nvSpPr>
          <p:spPr>
            <a:xfrm>
              <a:off x="10610815" y="6079498"/>
              <a:ext cx="192823" cy="163994"/>
            </a:xfrm>
            <a:prstGeom prst="ellipse">
              <a:avLst/>
            </a:prstGeom>
            <a:noFill/>
            <a:ln w="12700" cap="flat" cmpd="sng" algn="ctr">
              <a:solidFill>
                <a:srgbClr val="0070C0"/>
              </a:solidFill>
              <a:prstDash val="solid"/>
              <a:miter lim="800000"/>
            </a:ln>
            <a:effectLst/>
          </p:spPr>
          <p:txBody>
            <a:bodyPr rot="0" spcFirstLastPara="0" vertOverflow="overflow" horzOverflow="overflow" vert="horz" wrap="square" lIns="91378" tIns="45689" rIns="91378" bIns="45689" numCol="1" spcCol="0" rtlCol="0" fromWordArt="0" anchor="ctr" anchorCtr="0" forceAA="0" compatLnSpc="1">
              <a:prstTxWarp prst="textNoShape">
                <a:avLst/>
              </a:prstTxWarp>
              <a:noAutofit/>
            </a:bodyPr>
            <a:lstStyle/>
            <a:p>
              <a:pPr algn="ctr" defTabSz="913761">
                <a:defRPr/>
              </a:pPr>
              <a:endParaRPr lang="zh-CN" altLang="en-US" sz="600" kern="0" dirty="0">
                <a:latin typeface="微软雅黑"/>
                <a:ea typeface="微软雅黑"/>
              </a:endParaRPr>
            </a:p>
          </p:txBody>
        </p:sp>
        <p:sp>
          <p:nvSpPr>
            <p:cNvPr id="53" name="椭圆 52">
              <a:extLst>
                <a:ext uri="{FF2B5EF4-FFF2-40B4-BE49-F238E27FC236}">
                  <a16:creationId xmlns:a16="http://schemas.microsoft.com/office/drawing/2014/main" id="{6819AD5E-80F0-4001-85F0-5E385DF9CC73}"/>
                </a:ext>
              </a:extLst>
            </p:cNvPr>
            <p:cNvSpPr/>
            <p:nvPr/>
          </p:nvSpPr>
          <p:spPr>
            <a:xfrm>
              <a:off x="10932352" y="6079498"/>
              <a:ext cx="192823" cy="163994"/>
            </a:xfrm>
            <a:prstGeom prst="ellipse">
              <a:avLst/>
            </a:prstGeom>
            <a:noFill/>
            <a:ln w="12700" cap="flat" cmpd="sng" algn="ctr">
              <a:solidFill>
                <a:srgbClr val="0070C0"/>
              </a:solidFill>
              <a:prstDash val="solid"/>
              <a:miter lim="800000"/>
            </a:ln>
            <a:effectLst/>
          </p:spPr>
          <p:txBody>
            <a:bodyPr rot="0" spcFirstLastPara="0" vertOverflow="overflow" horzOverflow="overflow" vert="horz" wrap="square" lIns="91378" tIns="45689" rIns="91378" bIns="45689" numCol="1" spcCol="0" rtlCol="0" fromWordArt="0" anchor="ctr" anchorCtr="0" forceAA="0" compatLnSpc="1">
              <a:prstTxWarp prst="textNoShape">
                <a:avLst/>
              </a:prstTxWarp>
              <a:noAutofit/>
            </a:bodyPr>
            <a:lstStyle/>
            <a:p>
              <a:pPr algn="ctr" defTabSz="913761">
                <a:defRPr/>
              </a:pPr>
              <a:endParaRPr lang="zh-CN" altLang="en-US" sz="600" kern="0" dirty="0">
                <a:latin typeface="微软雅黑"/>
                <a:ea typeface="微软雅黑"/>
              </a:endParaRPr>
            </a:p>
          </p:txBody>
        </p:sp>
        <p:sp>
          <p:nvSpPr>
            <p:cNvPr id="54" name="椭圆 53">
              <a:extLst>
                <a:ext uri="{FF2B5EF4-FFF2-40B4-BE49-F238E27FC236}">
                  <a16:creationId xmlns:a16="http://schemas.microsoft.com/office/drawing/2014/main" id="{C412EBCF-D91B-4DA9-8164-423A908C3233}"/>
                </a:ext>
              </a:extLst>
            </p:cNvPr>
            <p:cNvSpPr/>
            <p:nvPr/>
          </p:nvSpPr>
          <p:spPr>
            <a:xfrm>
              <a:off x="11253887" y="6079498"/>
              <a:ext cx="192823" cy="163994"/>
            </a:xfrm>
            <a:prstGeom prst="ellipse">
              <a:avLst/>
            </a:prstGeom>
            <a:noFill/>
            <a:ln w="12700" cap="flat" cmpd="sng" algn="ctr">
              <a:solidFill>
                <a:srgbClr val="0070C0"/>
              </a:solidFill>
              <a:prstDash val="solid"/>
              <a:miter lim="800000"/>
            </a:ln>
            <a:effectLst/>
          </p:spPr>
          <p:txBody>
            <a:bodyPr rot="0" spcFirstLastPara="0" vertOverflow="overflow" horzOverflow="overflow" vert="horz" wrap="square" lIns="91378" tIns="45689" rIns="91378" bIns="45689" numCol="1" spcCol="0" rtlCol="0" fromWordArt="0" anchor="ctr" anchorCtr="0" forceAA="0" compatLnSpc="1">
              <a:prstTxWarp prst="textNoShape">
                <a:avLst/>
              </a:prstTxWarp>
              <a:noAutofit/>
            </a:bodyPr>
            <a:lstStyle/>
            <a:p>
              <a:pPr algn="ctr" defTabSz="913761">
                <a:defRPr/>
              </a:pPr>
              <a:endParaRPr lang="zh-CN" altLang="en-US" sz="600" kern="0" dirty="0">
                <a:latin typeface="微软雅黑"/>
                <a:ea typeface="微软雅黑"/>
              </a:endParaRPr>
            </a:p>
          </p:txBody>
        </p:sp>
        <p:cxnSp>
          <p:nvCxnSpPr>
            <p:cNvPr id="55" name="直接连接符 54">
              <a:extLst>
                <a:ext uri="{FF2B5EF4-FFF2-40B4-BE49-F238E27FC236}">
                  <a16:creationId xmlns:a16="http://schemas.microsoft.com/office/drawing/2014/main" id="{9437A74D-07B6-4FE6-A6E8-77A26EBAB8C2}"/>
                </a:ext>
              </a:extLst>
            </p:cNvPr>
            <p:cNvCxnSpPr>
              <a:stCxn id="33" idx="2"/>
              <a:endCxn id="51" idx="0"/>
            </p:cNvCxnSpPr>
            <p:nvPr/>
          </p:nvCxnSpPr>
          <p:spPr>
            <a:xfrm flipH="1">
              <a:off x="10385691" y="5913348"/>
              <a:ext cx="143535" cy="166150"/>
            </a:xfrm>
            <a:prstGeom prst="line">
              <a:avLst/>
            </a:prstGeom>
            <a:noFill/>
            <a:ln w="28575" cap="flat" cmpd="sng" algn="ctr">
              <a:solidFill>
                <a:srgbClr val="888888"/>
              </a:solidFill>
              <a:prstDash val="solid"/>
              <a:miter lim="800000"/>
            </a:ln>
            <a:effectLst/>
          </p:spPr>
        </p:cxnSp>
        <p:cxnSp>
          <p:nvCxnSpPr>
            <p:cNvPr id="56" name="直接连接符 55">
              <a:extLst>
                <a:ext uri="{FF2B5EF4-FFF2-40B4-BE49-F238E27FC236}">
                  <a16:creationId xmlns:a16="http://schemas.microsoft.com/office/drawing/2014/main" id="{27C9958A-EB29-4E3B-8635-5A2BFCCB4E55}"/>
                </a:ext>
              </a:extLst>
            </p:cNvPr>
            <p:cNvCxnSpPr>
              <a:stCxn id="33" idx="2"/>
              <a:endCxn id="52" idx="0"/>
            </p:cNvCxnSpPr>
            <p:nvPr/>
          </p:nvCxnSpPr>
          <p:spPr>
            <a:xfrm>
              <a:off x="10529227" y="5913348"/>
              <a:ext cx="178000" cy="166150"/>
            </a:xfrm>
            <a:prstGeom prst="line">
              <a:avLst/>
            </a:prstGeom>
            <a:noFill/>
            <a:ln w="28575" cap="flat" cmpd="sng" algn="ctr">
              <a:solidFill>
                <a:srgbClr val="888888"/>
              </a:solidFill>
              <a:prstDash val="solid"/>
              <a:miter lim="800000"/>
            </a:ln>
            <a:effectLst/>
          </p:spPr>
        </p:cxnSp>
        <p:cxnSp>
          <p:nvCxnSpPr>
            <p:cNvPr id="57" name="直接连接符 56">
              <a:extLst>
                <a:ext uri="{FF2B5EF4-FFF2-40B4-BE49-F238E27FC236}">
                  <a16:creationId xmlns:a16="http://schemas.microsoft.com/office/drawing/2014/main" id="{727056BF-A09D-44FE-B432-D3B60B693D39}"/>
                </a:ext>
              </a:extLst>
            </p:cNvPr>
            <p:cNvCxnSpPr>
              <a:stCxn id="48" idx="2"/>
              <a:endCxn id="53" idx="0"/>
            </p:cNvCxnSpPr>
            <p:nvPr/>
          </p:nvCxnSpPr>
          <p:spPr>
            <a:xfrm flipH="1">
              <a:off x="11028763" y="5913348"/>
              <a:ext cx="156575" cy="166150"/>
            </a:xfrm>
            <a:prstGeom prst="line">
              <a:avLst/>
            </a:prstGeom>
            <a:noFill/>
            <a:ln w="28575" cap="flat" cmpd="sng" algn="ctr">
              <a:solidFill>
                <a:srgbClr val="888888"/>
              </a:solidFill>
              <a:prstDash val="solid"/>
              <a:miter lim="800000"/>
            </a:ln>
            <a:effectLst/>
          </p:spPr>
        </p:cxnSp>
        <p:cxnSp>
          <p:nvCxnSpPr>
            <p:cNvPr id="58" name="直接连接符 57">
              <a:extLst>
                <a:ext uri="{FF2B5EF4-FFF2-40B4-BE49-F238E27FC236}">
                  <a16:creationId xmlns:a16="http://schemas.microsoft.com/office/drawing/2014/main" id="{4BCCC3DF-5D01-4FAE-94BD-9100B5C02DAF}"/>
                </a:ext>
              </a:extLst>
            </p:cNvPr>
            <p:cNvCxnSpPr>
              <a:stCxn id="48" idx="2"/>
              <a:endCxn id="54" idx="0"/>
            </p:cNvCxnSpPr>
            <p:nvPr/>
          </p:nvCxnSpPr>
          <p:spPr>
            <a:xfrm>
              <a:off x="11185338" y="5913348"/>
              <a:ext cx="164961" cy="166150"/>
            </a:xfrm>
            <a:prstGeom prst="line">
              <a:avLst/>
            </a:prstGeom>
            <a:noFill/>
            <a:ln w="28575" cap="flat" cmpd="sng" algn="ctr">
              <a:solidFill>
                <a:srgbClr val="888888"/>
              </a:solidFill>
              <a:prstDash val="solid"/>
              <a:miter lim="800000"/>
            </a:ln>
            <a:effectLst/>
          </p:spPr>
        </p:cxnSp>
        <p:cxnSp>
          <p:nvCxnSpPr>
            <p:cNvPr id="59" name="直接连接符 58">
              <a:extLst>
                <a:ext uri="{FF2B5EF4-FFF2-40B4-BE49-F238E27FC236}">
                  <a16:creationId xmlns:a16="http://schemas.microsoft.com/office/drawing/2014/main" id="{A379CBAC-0E60-4856-9C8F-9A842E44F193}"/>
                </a:ext>
              </a:extLst>
            </p:cNvPr>
            <p:cNvCxnSpPr>
              <a:stCxn id="68" idx="2"/>
              <a:endCxn id="33" idx="0"/>
            </p:cNvCxnSpPr>
            <p:nvPr/>
          </p:nvCxnSpPr>
          <p:spPr>
            <a:xfrm>
              <a:off x="9530667" y="5530062"/>
              <a:ext cx="998561" cy="219292"/>
            </a:xfrm>
            <a:prstGeom prst="line">
              <a:avLst/>
            </a:prstGeom>
            <a:noFill/>
            <a:ln w="28575" cap="flat" cmpd="sng" algn="ctr">
              <a:solidFill>
                <a:srgbClr val="1D1D1A">
                  <a:lumMod val="50000"/>
                  <a:lumOff val="50000"/>
                </a:srgbClr>
              </a:solidFill>
              <a:prstDash val="solid"/>
              <a:miter lim="800000"/>
            </a:ln>
            <a:effectLst/>
          </p:spPr>
        </p:cxnSp>
        <p:cxnSp>
          <p:nvCxnSpPr>
            <p:cNvPr id="60" name="直接连接符 59">
              <a:extLst>
                <a:ext uri="{FF2B5EF4-FFF2-40B4-BE49-F238E27FC236}">
                  <a16:creationId xmlns:a16="http://schemas.microsoft.com/office/drawing/2014/main" id="{55CCE4B2-129D-4D3E-96E8-612BF0A1B38E}"/>
                </a:ext>
              </a:extLst>
            </p:cNvPr>
            <p:cNvCxnSpPr>
              <a:stCxn id="69" idx="2"/>
              <a:endCxn id="48" idx="0"/>
            </p:cNvCxnSpPr>
            <p:nvPr/>
          </p:nvCxnSpPr>
          <p:spPr>
            <a:xfrm>
              <a:off x="10555619" y="5528425"/>
              <a:ext cx="629719" cy="220928"/>
            </a:xfrm>
            <a:prstGeom prst="line">
              <a:avLst/>
            </a:prstGeom>
            <a:noFill/>
            <a:ln w="28575" cap="flat" cmpd="sng" algn="ctr">
              <a:solidFill>
                <a:srgbClr val="1D1D1A">
                  <a:lumMod val="50000"/>
                  <a:lumOff val="50000"/>
                </a:srgbClr>
              </a:solidFill>
              <a:prstDash val="solid"/>
              <a:miter lim="800000"/>
            </a:ln>
            <a:effectLst/>
          </p:spPr>
        </p:cxnSp>
        <p:cxnSp>
          <p:nvCxnSpPr>
            <p:cNvPr id="61" name="直接连接符 60">
              <a:extLst>
                <a:ext uri="{FF2B5EF4-FFF2-40B4-BE49-F238E27FC236}">
                  <a16:creationId xmlns:a16="http://schemas.microsoft.com/office/drawing/2014/main" id="{3B2A4CD5-C280-4835-8FB0-46514E2E6322}"/>
                </a:ext>
              </a:extLst>
            </p:cNvPr>
            <p:cNvCxnSpPr>
              <a:cxnSpLocks/>
              <a:stCxn id="33" idx="0"/>
              <a:endCxn id="70" idx="2"/>
            </p:cNvCxnSpPr>
            <p:nvPr/>
          </p:nvCxnSpPr>
          <p:spPr>
            <a:xfrm flipH="1" flipV="1">
              <a:off x="10043998" y="5530062"/>
              <a:ext cx="485229" cy="219292"/>
            </a:xfrm>
            <a:prstGeom prst="line">
              <a:avLst/>
            </a:prstGeom>
            <a:noFill/>
            <a:ln w="28575" cap="flat" cmpd="sng" algn="ctr">
              <a:solidFill>
                <a:srgbClr val="1D1D1A">
                  <a:lumMod val="50000"/>
                  <a:lumOff val="50000"/>
                </a:srgbClr>
              </a:solidFill>
              <a:prstDash val="solid"/>
              <a:miter lim="800000"/>
            </a:ln>
            <a:effectLst/>
          </p:spPr>
        </p:cxnSp>
        <p:grpSp>
          <p:nvGrpSpPr>
            <p:cNvPr id="62" name="组合 61">
              <a:extLst>
                <a:ext uri="{FF2B5EF4-FFF2-40B4-BE49-F238E27FC236}">
                  <a16:creationId xmlns:a16="http://schemas.microsoft.com/office/drawing/2014/main" id="{C8B383BF-354F-40D0-A7A9-6DEB0A5D8A7E}"/>
                </a:ext>
              </a:extLst>
            </p:cNvPr>
            <p:cNvGrpSpPr/>
            <p:nvPr/>
          </p:nvGrpSpPr>
          <p:grpSpPr>
            <a:xfrm>
              <a:off x="8787181" y="5363891"/>
              <a:ext cx="3010078" cy="166757"/>
              <a:chOff x="7965460" y="2905610"/>
              <a:chExt cx="3194432" cy="197074"/>
            </a:xfrm>
            <a:solidFill>
              <a:srgbClr val="30B5C5">
                <a:lumMod val="20000"/>
                <a:lumOff val="80000"/>
              </a:srgbClr>
            </a:solidFill>
          </p:grpSpPr>
          <p:sp>
            <p:nvSpPr>
              <p:cNvPr id="67" name="矩形 66">
                <a:extLst>
                  <a:ext uri="{FF2B5EF4-FFF2-40B4-BE49-F238E27FC236}">
                    <a16:creationId xmlns:a16="http://schemas.microsoft.com/office/drawing/2014/main" id="{AACF3787-B32C-4E8B-B082-110135EC69D9}"/>
                  </a:ext>
                </a:extLst>
              </p:cNvPr>
              <p:cNvSpPr/>
              <p:nvPr/>
            </p:nvSpPr>
            <p:spPr>
              <a:xfrm>
                <a:off x="7965460" y="2908875"/>
                <a:ext cx="488499" cy="193809"/>
              </a:xfrm>
              <a:prstGeom prst="rect">
                <a:avLst/>
              </a:prstGeom>
              <a:grpFill/>
              <a:ln w="12700" cap="flat" cmpd="sng" algn="ctr">
                <a:solidFill>
                  <a:srgbClr val="1D1D1A">
                    <a:lumMod val="50000"/>
                    <a:lumOff val="50000"/>
                  </a:srgbClr>
                </a:solidFill>
                <a:prstDash val="solid"/>
                <a:miter lim="800000"/>
              </a:ln>
              <a:effectLst/>
            </p:spPr>
            <p:txBody>
              <a:bodyPr rot="0" spcFirstLastPara="0" vertOverflow="overflow" horzOverflow="overflow" vert="horz" wrap="square" lIns="91378" tIns="45689" rIns="91378" bIns="45689" numCol="1" spcCol="0" rtlCol="0" fromWordArt="0" anchor="ctr" anchorCtr="0" forceAA="0" compatLnSpc="1">
                <a:prstTxWarp prst="textNoShape">
                  <a:avLst/>
                </a:prstTxWarp>
                <a:noAutofit/>
              </a:bodyPr>
              <a:lstStyle/>
              <a:p>
                <a:pPr algn="ctr" defTabSz="913761">
                  <a:defRPr/>
                </a:pPr>
                <a:r>
                  <a:rPr lang="en-US" altLang="zh-CN" sz="600" kern="0" dirty="0">
                    <a:latin typeface="微软雅黑"/>
                    <a:ea typeface="微软雅黑"/>
                  </a:rPr>
                  <a:t>Spine</a:t>
                </a:r>
                <a:endParaRPr lang="zh-CN" altLang="en-US" sz="600" kern="0" dirty="0">
                  <a:latin typeface="微软雅黑"/>
                  <a:ea typeface="微软雅黑"/>
                </a:endParaRPr>
              </a:p>
            </p:txBody>
          </p:sp>
          <p:sp>
            <p:nvSpPr>
              <p:cNvPr id="68" name="矩形 67">
                <a:extLst>
                  <a:ext uri="{FF2B5EF4-FFF2-40B4-BE49-F238E27FC236}">
                    <a16:creationId xmlns:a16="http://schemas.microsoft.com/office/drawing/2014/main" id="{21014781-9616-4DEA-AF01-CE4E9BD20EBB}"/>
                  </a:ext>
                </a:extLst>
              </p:cNvPr>
              <p:cNvSpPr/>
              <p:nvPr/>
            </p:nvSpPr>
            <p:spPr>
              <a:xfrm>
                <a:off x="8510231" y="2908182"/>
                <a:ext cx="488499" cy="193809"/>
              </a:xfrm>
              <a:prstGeom prst="rect">
                <a:avLst/>
              </a:prstGeom>
              <a:grpFill/>
              <a:ln w="12700" cap="flat" cmpd="sng" algn="ctr">
                <a:solidFill>
                  <a:srgbClr val="1D1D1A">
                    <a:lumMod val="50000"/>
                    <a:lumOff val="50000"/>
                  </a:srgbClr>
                </a:solidFill>
                <a:prstDash val="solid"/>
                <a:miter lim="800000"/>
              </a:ln>
              <a:effectLst/>
            </p:spPr>
            <p:txBody>
              <a:bodyPr rot="0" spcFirstLastPara="0" vertOverflow="overflow" horzOverflow="overflow" vert="horz" wrap="square" lIns="91378" tIns="45689" rIns="91378" bIns="45689" numCol="1" spcCol="0" rtlCol="0" fromWordArt="0" anchor="ctr" anchorCtr="0" forceAA="0" compatLnSpc="1">
                <a:prstTxWarp prst="textNoShape">
                  <a:avLst/>
                </a:prstTxWarp>
                <a:noAutofit/>
              </a:bodyPr>
              <a:lstStyle/>
              <a:p>
                <a:pPr algn="ctr" defTabSz="913761">
                  <a:defRPr/>
                </a:pPr>
                <a:r>
                  <a:rPr lang="en-US" altLang="zh-CN" sz="600" kern="0" dirty="0">
                    <a:latin typeface="微软雅黑"/>
                    <a:ea typeface="微软雅黑"/>
                  </a:rPr>
                  <a:t>Spine</a:t>
                </a:r>
                <a:endParaRPr lang="zh-CN" altLang="en-US" sz="600" kern="0" dirty="0">
                  <a:latin typeface="微软雅黑"/>
                  <a:ea typeface="微软雅黑"/>
                </a:endParaRPr>
              </a:p>
            </p:txBody>
          </p:sp>
          <p:sp>
            <p:nvSpPr>
              <p:cNvPr id="69" name="矩形 68">
                <a:extLst>
                  <a:ext uri="{FF2B5EF4-FFF2-40B4-BE49-F238E27FC236}">
                    <a16:creationId xmlns:a16="http://schemas.microsoft.com/office/drawing/2014/main" id="{EBB33E00-4669-49F9-9E8F-4495530CD71F}"/>
                  </a:ext>
                </a:extLst>
              </p:cNvPr>
              <p:cNvSpPr/>
              <p:nvPr/>
            </p:nvSpPr>
            <p:spPr>
              <a:xfrm>
                <a:off x="9597957" y="2906248"/>
                <a:ext cx="488499" cy="193809"/>
              </a:xfrm>
              <a:prstGeom prst="rect">
                <a:avLst/>
              </a:prstGeom>
              <a:grpFill/>
              <a:ln w="12700" cap="flat" cmpd="sng" algn="ctr">
                <a:solidFill>
                  <a:srgbClr val="1D1D1A">
                    <a:lumMod val="50000"/>
                    <a:lumOff val="50000"/>
                  </a:srgbClr>
                </a:solidFill>
                <a:prstDash val="solid"/>
                <a:miter lim="800000"/>
              </a:ln>
              <a:effectLst/>
            </p:spPr>
            <p:txBody>
              <a:bodyPr rot="0" spcFirstLastPara="0" vertOverflow="overflow" horzOverflow="overflow" vert="horz" wrap="square" lIns="91378" tIns="45689" rIns="91378" bIns="45689" numCol="1" spcCol="0" rtlCol="0" fromWordArt="0" anchor="ctr" anchorCtr="0" forceAA="0" compatLnSpc="1">
                <a:prstTxWarp prst="textNoShape">
                  <a:avLst/>
                </a:prstTxWarp>
                <a:noAutofit/>
              </a:bodyPr>
              <a:lstStyle/>
              <a:p>
                <a:pPr algn="ctr" defTabSz="913761">
                  <a:defRPr/>
                </a:pPr>
                <a:r>
                  <a:rPr lang="en-US" altLang="zh-CN" sz="600" kern="0" dirty="0">
                    <a:latin typeface="微软雅黑"/>
                    <a:ea typeface="微软雅黑"/>
                  </a:rPr>
                  <a:t>Spine</a:t>
                </a:r>
                <a:endParaRPr lang="zh-CN" altLang="en-US" sz="600" kern="0" dirty="0">
                  <a:latin typeface="微软雅黑"/>
                  <a:ea typeface="微软雅黑"/>
                </a:endParaRPr>
              </a:p>
            </p:txBody>
          </p:sp>
          <p:sp>
            <p:nvSpPr>
              <p:cNvPr id="70" name="矩形 69">
                <a:extLst>
                  <a:ext uri="{FF2B5EF4-FFF2-40B4-BE49-F238E27FC236}">
                    <a16:creationId xmlns:a16="http://schemas.microsoft.com/office/drawing/2014/main" id="{6E17FBE8-91E2-4A11-ADC7-75B9579DF527}"/>
                  </a:ext>
                </a:extLst>
              </p:cNvPr>
              <p:cNvSpPr/>
              <p:nvPr/>
            </p:nvSpPr>
            <p:spPr>
              <a:xfrm>
                <a:off x="9055002" y="2908182"/>
                <a:ext cx="488499" cy="193809"/>
              </a:xfrm>
              <a:prstGeom prst="rect">
                <a:avLst/>
              </a:prstGeom>
              <a:grpFill/>
              <a:ln w="12700" cap="flat" cmpd="sng" algn="ctr">
                <a:solidFill>
                  <a:srgbClr val="1D1D1A">
                    <a:lumMod val="50000"/>
                    <a:lumOff val="50000"/>
                  </a:srgbClr>
                </a:solidFill>
                <a:prstDash val="solid"/>
                <a:miter lim="800000"/>
              </a:ln>
              <a:effectLst/>
            </p:spPr>
            <p:txBody>
              <a:bodyPr rot="0" spcFirstLastPara="0" vertOverflow="overflow" horzOverflow="overflow" vert="horz" wrap="square" lIns="91378" tIns="45689" rIns="91378" bIns="45689" numCol="1" spcCol="0" rtlCol="0" fromWordArt="0" anchor="ctr" anchorCtr="0" forceAA="0" compatLnSpc="1">
                <a:prstTxWarp prst="textNoShape">
                  <a:avLst/>
                </a:prstTxWarp>
                <a:noAutofit/>
              </a:bodyPr>
              <a:lstStyle/>
              <a:p>
                <a:pPr algn="ctr" defTabSz="913761">
                  <a:defRPr/>
                </a:pPr>
                <a:r>
                  <a:rPr lang="en-US" altLang="zh-CN" sz="600" kern="0" dirty="0">
                    <a:latin typeface="微软雅黑"/>
                    <a:ea typeface="微软雅黑"/>
                  </a:rPr>
                  <a:t>Spine</a:t>
                </a:r>
                <a:endParaRPr lang="zh-CN" altLang="en-US" sz="600" kern="0" dirty="0">
                  <a:latin typeface="微软雅黑"/>
                  <a:ea typeface="微软雅黑"/>
                </a:endParaRPr>
              </a:p>
            </p:txBody>
          </p:sp>
          <p:sp>
            <p:nvSpPr>
              <p:cNvPr id="71" name="矩形 70">
                <a:extLst>
                  <a:ext uri="{FF2B5EF4-FFF2-40B4-BE49-F238E27FC236}">
                    <a16:creationId xmlns:a16="http://schemas.microsoft.com/office/drawing/2014/main" id="{5CD02C4D-1474-4E46-B0D8-9A4F4B002AFD}"/>
                  </a:ext>
                </a:extLst>
              </p:cNvPr>
              <p:cNvSpPr/>
              <p:nvPr/>
            </p:nvSpPr>
            <p:spPr>
              <a:xfrm>
                <a:off x="10139736" y="2908874"/>
                <a:ext cx="488499" cy="193809"/>
              </a:xfrm>
              <a:prstGeom prst="rect">
                <a:avLst/>
              </a:prstGeom>
              <a:grpFill/>
              <a:ln w="12700" cap="flat" cmpd="sng" algn="ctr">
                <a:solidFill>
                  <a:srgbClr val="1D1D1A">
                    <a:lumMod val="50000"/>
                    <a:lumOff val="50000"/>
                  </a:srgbClr>
                </a:solidFill>
                <a:prstDash val="solid"/>
                <a:miter lim="800000"/>
              </a:ln>
              <a:effectLst/>
            </p:spPr>
            <p:txBody>
              <a:bodyPr rot="0" spcFirstLastPara="0" vertOverflow="overflow" horzOverflow="overflow" vert="horz" wrap="square" lIns="91378" tIns="45689" rIns="91378" bIns="45689" numCol="1" spcCol="0" rtlCol="0" fromWordArt="0" anchor="ctr" anchorCtr="0" forceAA="0" compatLnSpc="1">
                <a:prstTxWarp prst="textNoShape">
                  <a:avLst/>
                </a:prstTxWarp>
                <a:noAutofit/>
              </a:bodyPr>
              <a:lstStyle/>
              <a:p>
                <a:pPr algn="ctr" defTabSz="913761">
                  <a:defRPr/>
                </a:pPr>
                <a:r>
                  <a:rPr lang="en-US" altLang="zh-CN" sz="600" kern="0" dirty="0">
                    <a:latin typeface="微软雅黑"/>
                    <a:ea typeface="微软雅黑"/>
                  </a:rPr>
                  <a:t>Spine</a:t>
                </a:r>
                <a:endParaRPr lang="zh-CN" altLang="en-US" sz="600" kern="0" dirty="0">
                  <a:latin typeface="微软雅黑"/>
                  <a:ea typeface="微软雅黑"/>
                </a:endParaRPr>
              </a:p>
            </p:txBody>
          </p:sp>
          <p:sp>
            <p:nvSpPr>
              <p:cNvPr id="72" name="矩形 71">
                <a:extLst>
                  <a:ext uri="{FF2B5EF4-FFF2-40B4-BE49-F238E27FC236}">
                    <a16:creationId xmlns:a16="http://schemas.microsoft.com/office/drawing/2014/main" id="{B280C154-15AC-47DA-8596-A0D570DF5373}"/>
                  </a:ext>
                </a:extLst>
              </p:cNvPr>
              <p:cNvSpPr/>
              <p:nvPr/>
            </p:nvSpPr>
            <p:spPr>
              <a:xfrm>
                <a:off x="10671393" y="2905610"/>
                <a:ext cx="488499" cy="193809"/>
              </a:xfrm>
              <a:prstGeom prst="rect">
                <a:avLst/>
              </a:prstGeom>
              <a:grpFill/>
              <a:ln w="12700" cap="flat" cmpd="sng" algn="ctr">
                <a:solidFill>
                  <a:srgbClr val="1D1D1A">
                    <a:lumMod val="50000"/>
                    <a:lumOff val="50000"/>
                  </a:srgbClr>
                </a:solidFill>
                <a:prstDash val="solid"/>
                <a:miter lim="800000"/>
              </a:ln>
              <a:effectLst/>
            </p:spPr>
            <p:txBody>
              <a:bodyPr rot="0" spcFirstLastPara="0" vertOverflow="overflow" horzOverflow="overflow" vert="horz" wrap="square" lIns="91378" tIns="45689" rIns="91378" bIns="45689" numCol="1" spcCol="0" rtlCol="0" fromWordArt="0" anchor="ctr" anchorCtr="0" forceAA="0" compatLnSpc="1">
                <a:prstTxWarp prst="textNoShape">
                  <a:avLst/>
                </a:prstTxWarp>
                <a:noAutofit/>
              </a:bodyPr>
              <a:lstStyle/>
              <a:p>
                <a:pPr algn="ctr" defTabSz="913761">
                  <a:defRPr/>
                </a:pPr>
                <a:r>
                  <a:rPr lang="en-US" altLang="zh-CN" sz="600" kern="0" dirty="0">
                    <a:latin typeface="微软雅黑"/>
                    <a:ea typeface="微软雅黑"/>
                  </a:rPr>
                  <a:t>Spine</a:t>
                </a:r>
                <a:endParaRPr lang="zh-CN" altLang="en-US" sz="600" kern="0" dirty="0">
                  <a:latin typeface="微软雅黑"/>
                  <a:ea typeface="微软雅黑"/>
                </a:endParaRPr>
              </a:p>
            </p:txBody>
          </p:sp>
        </p:grpSp>
        <p:cxnSp>
          <p:nvCxnSpPr>
            <p:cNvPr id="63" name="直接连接符 62">
              <a:extLst>
                <a:ext uri="{FF2B5EF4-FFF2-40B4-BE49-F238E27FC236}">
                  <a16:creationId xmlns:a16="http://schemas.microsoft.com/office/drawing/2014/main" id="{62375A76-4762-44E4-A29E-8A25CCB841D5}"/>
                </a:ext>
              </a:extLst>
            </p:cNvPr>
            <p:cNvCxnSpPr>
              <a:cxnSpLocks/>
              <a:stCxn id="71" idx="2"/>
              <a:endCxn id="21" idx="0"/>
            </p:cNvCxnSpPr>
            <p:nvPr/>
          </p:nvCxnSpPr>
          <p:spPr>
            <a:xfrm flipH="1">
              <a:off x="9888546" y="5530647"/>
              <a:ext cx="1177585" cy="218706"/>
            </a:xfrm>
            <a:prstGeom prst="line">
              <a:avLst/>
            </a:prstGeom>
            <a:noFill/>
            <a:ln w="28575" cap="flat" cmpd="sng" algn="ctr">
              <a:solidFill>
                <a:srgbClr val="1D1D1A">
                  <a:lumMod val="50000"/>
                  <a:lumOff val="50000"/>
                </a:srgbClr>
              </a:solidFill>
              <a:prstDash val="solid"/>
              <a:miter lim="800000"/>
            </a:ln>
            <a:effectLst/>
          </p:spPr>
        </p:cxnSp>
        <p:cxnSp>
          <p:nvCxnSpPr>
            <p:cNvPr id="64" name="直接连接符 63">
              <a:extLst>
                <a:ext uri="{FF2B5EF4-FFF2-40B4-BE49-F238E27FC236}">
                  <a16:creationId xmlns:a16="http://schemas.microsoft.com/office/drawing/2014/main" id="{64694924-E341-4E46-BEF1-9196626F6062}"/>
                </a:ext>
              </a:extLst>
            </p:cNvPr>
            <p:cNvCxnSpPr>
              <a:cxnSpLocks/>
              <a:stCxn id="71" idx="2"/>
              <a:endCxn id="48" idx="0"/>
            </p:cNvCxnSpPr>
            <p:nvPr/>
          </p:nvCxnSpPr>
          <p:spPr>
            <a:xfrm>
              <a:off x="11066131" y="5530647"/>
              <a:ext cx="119207" cy="218706"/>
            </a:xfrm>
            <a:prstGeom prst="line">
              <a:avLst/>
            </a:prstGeom>
            <a:noFill/>
            <a:ln w="28575" cap="flat" cmpd="sng" algn="ctr">
              <a:solidFill>
                <a:srgbClr val="1D1D1A">
                  <a:lumMod val="50000"/>
                  <a:lumOff val="50000"/>
                </a:srgbClr>
              </a:solidFill>
              <a:prstDash val="solid"/>
              <a:miter lim="800000"/>
            </a:ln>
            <a:effectLst/>
          </p:spPr>
        </p:cxnSp>
        <p:cxnSp>
          <p:nvCxnSpPr>
            <p:cNvPr id="65" name="直接连接符 64">
              <a:extLst>
                <a:ext uri="{FF2B5EF4-FFF2-40B4-BE49-F238E27FC236}">
                  <a16:creationId xmlns:a16="http://schemas.microsoft.com/office/drawing/2014/main" id="{AD05338F-9CAE-488B-9AEF-3573D9C001DB}"/>
                </a:ext>
              </a:extLst>
            </p:cNvPr>
            <p:cNvCxnSpPr>
              <a:cxnSpLocks/>
              <a:stCxn id="72" idx="2"/>
              <a:endCxn id="33" idx="0"/>
            </p:cNvCxnSpPr>
            <p:nvPr/>
          </p:nvCxnSpPr>
          <p:spPr>
            <a:xfrm flipH="1">
              <a:off x="10529227" y="5527885"/>
              <a:ext cx="1037879" cy="221468"/>
            </a:xfrm>
            <a:prstGeom prst="line">
              <a:avLst/>
            </a:prstGeom>
            <a:noFill/>
            <a:ln w="28575" cap="flat" cmpd="sng" algn="ctr">
              <a:solidFill>
                <a:srgbClr val="1D1D1A">
                  <a:lumMod val="50000"/>
                  <a:lumOff val="50000"/>
                </a:srgbClr>
              </a:solidFill>
              <a:prstDash val="solid"/>
              <a:miter lim="800000"/>
            </a:ln>
            <a:effectLst/>
          </p:spPr>
        </p:cxnSp>
        <p:cxnSp>
          <p:nvCxnSpPr>
            <p:cNvPr id="66" name="直接连接符 65">
              <a:extLst>
                <a:ext uri="{FF2B5EF4-FFF2-40B4-BE49-F238E27FC236}">
                  <a16:creationId xmlns:a16="http://schemas.microsoft.com/office/drawing/2014/main" id="{B06F71EA-D149-4F8C-9488-09B8741E5D83}"/>
                </a:ext>
              </a:extLst>
            </p:cNvPr>
            <p:cNvCxnSpPr>
              <a:cxnSpLocks/>
              <a:stCxn id="72" idx="2"/>
              <a:endCxn id="48" idx="0"/>
            </p:cNvCxnSpPr>
            <p:nvPr/>
          </p:nvCxnSpPr>
          <p:spPr>
            <a:xfrm flipH="1">
              <a:off x="11185338" y="5527885"/>
              <a:ext cx="381767" cy="221468"/>
            </a:xfrm>
            <a:prstGeom prst="line">
              <a:avLst/>
            </a:prstGeom>
            <a:noFill/>
            <a:ln w="28575" cap="flat" cmpd="sng" algn="ctr">
              <a:solidFill>
                <a:srgbClr val="1D1D1A">
                  <a:lumMod val="50000"/>
                  <a:lumOff val="50000"/>
                </a:srgbClr>
              </a:solidFill>
              <a:prstDash val="solid"/>
              <a:miter lim="800000"/>
            </a:ln>
            <a:effectLst/>
          </p:spPr>
        </p:cxnSp>
      </p:grpSp>
      <p:sp>
        <p:nvSpPr>
          <p:cNvPr id="73" name="文本框 72">
            <a:extLst>
              <a:ext uri="{FF2B5EF4-FFF2-40B4-BE49-F238E27FC236}">
                <a16:creationId xmlns:a16="http://schemas.microsoft.com/office/drawing/2014/main" id="{81F47BA0-AA77-4695-9FEF-4BF934E123E2}"/>
              </a:ext>
            </a:extLst>
          </p:cNvPr>
          <p:cNvSpPr txBox="1"/>
          <p:nvPr/>
        </p:nvSpPr>
        <p:spPr>
          <a:xfrm>
            <a:off x="898052" y="4958130"/>
            <a:ext cx="2963234" cy="375231"/>
          </a:xfrm>
          <a:prstGeom prst="rect">
            <a:avLst/>
          </a:prstGeom>
          <a:noFill/>
        </p:spPr>
        <p:txBody>
          <a:bodyPr wrap="square" lIns="0" tIns="0" rIns="0" bIns="0" rtlCol="0">
            <a:spAutoFit/>
          </a:bodyPr>
          <a:lstStyle/>
          <a:p>
            <a:pPr algn="ctr" defTabSz="913957">
              <a:defRPr/>
            </a:pPr>
            <a:r>
              <a:rPr kumimoji="1" lang="en-US" altLang="zh-CN" sz="1219" b="1" dirty="0">
                <a:latin typeface="Microsoft YaHei" panose="020B0503020204020204" pitchFamily="34" charset="-122"/>
                <a:ea typeface="Microsoft YaHei" panose="020B0503020204020204" pitchFamily="34" charset="-122"/>
              </a:rPr>
              <a:t>Example 2:</a:t>
            </a:r>
          </a:p>
          <a:p>
            <a:pPr algn="ctr" defTabSz="913957">
              <a:defRPr/>
            </a:pPr>
            <a:r>
              <a:rPr kumimoji="1" lang="en-US" altLang="zh-CN" sz="1219" dirty="0">
                <a:latin typeface="Microsoft YaHei" panose="020B0503020204020204" pitchFamily="34" charset="-122"/>
                <a:ea typeface="Microsoft YaHei" panose="020B0503020204020204" pitchFamily="34" charset="-122"/>
              </a:rPr>
              <a:t>Balanced Sparse Tree Topology</a:t>
            </a:r>
          </a:p>
        </p:txBody>
      </p:sp>
      <p:sp>
        <p:nvSpPr>
          <p:cNvPr id="74" name="文本框 73">
            <a:extLst>
              <a:ext uri="{FF2B5EF4-FFF2-40B4-BE49-F238E27FC236}">
                <a16:creationId xmlns:a16="http://schemas.microsoft.com/office/drawing/2014/main" id="{ED8BE824-D7F2-4A81-BB11-E4EC76F4E4DA}"/>
              </a:ext>
            </a:extLst>
          </p:cNvPr>
          <p:cNvSpPr txBox="1"/>
          <p:nvPr/>
        </p:nvSpPr>
        <p:spPr>
          <a:xfrm>
            <a:off x="4599721" y="1878982"/>
            <a:ext cx="3580108" cy="527645"/>
          </a:xfrm>
          <a:prstGeom prst="rect">
            <a:avLst/>
          </a:prstGeom>
          <a:noFill/>
        </p:spPr>
        <p:txBody>
          <a:bodyPr wrap="square" lIns="0" tIns="0" rIns="0" bIns="0" rtlCol="0">
            <a:spAutoFit/>
          </a:bodyPr>
          <a:lstStyle/>
          <a:p>
            <a:pPr algn="ctr" defTabSz="913669">
              <a:defRPr/>
            </a:pPr>
            <a:r>
              <a:rPr kumimoji="1" lang="en-US" altLang="zh-CN" sz="1143" dirty="0">
                <a:latin typeface="Microsoft YaHei" panose="020B0503020204020204" pitchFamily="34" charset="-122"/>
                <a:ea typeface="Microsoft YaHei" panose="020B0503020204020204" pitchFamily="34" charset="-122"/>
              </a:rPr>
              <a:t>Supports efficient configuration of source routing and static routing;</a:t>
            </a:r>
          </a:p>
          <a:p>
            <a:pPr algn="ctr" defTabSz="913669">
              <a:defRPr/>
            </a:pPr>
            <a:r>
              <a:rPr kumimoji="1" lang="en-US" altLang="zh-CN" sz="1143" dirty="0">
                <a:latin typeface="Microsoft YaHei" panose="020B0503020204020204" pitchFamily="34" charset="-122"/>
                <a:ea typeface="Microsoft YaHei" panose="020B0503020204020204" pitchFamily="34" charset="-122"/>
              </a:rPr>
              <a:t>Innovative routing algorithms (full-path routing).</a:t>
            </a:r>
          </a:p>
        </p:txBody>
      </p:sp>
      <p:grpSp>
        <p:nvGrpSpPr>
          <p:cNvPr id="75" name="组合 74">
            <a:extLst>
              <a:ext uri="{FF2B5EF4-FFF2-40B4-BE49-F238E27FC236}">
                <a16:creationId xmlns:a16="http://schemas.microsoft.com/office/drawing/2014/main" id="{762A5058-7819-4519-9070-1B7F1DA11F51}"/>
              </a:ext>
            </a:extLst>
          </p:cNvPr>
          <p:cNvGrpSpPr/>
          <p:nvPr/>
        </p:nvGrpSpPr>
        <p:grpSpPr>
          <a:xfrm>
            <a:off x="4388747" y="2768365"/>
            <a:ext cx="1758216" cy="578264"/>
            <a:chOff x="5752731" y="5396270"/>
            <a:chExt cx="1709688" cy="551956"/>
          </a:xfrm>
        </p:grpSpPr>
        <p:grpSp>
          <p:nvGrpSpPr>
            <p:cNvPr id="76" name="组合 75">
              <a:extLst>
                <a:ext uri="{FF2B5EF4-FFF2-40B4-BE49-F238E27FC236}">
                  <a16:creationId xmlns:a16="http://schemas.microsoft.com/office/drawing/2014/main" id="{1E4A770C-E4D1-41F9-A42A-1C4D11568D91}"/>
                </a:ext>
              </a:extLst>
            </p:cNvPr>
            <p:cNvGrpSpPr/>
            <p:nvPr/>
          </p:nvGrpSpPr>
          <p:grpSpPr>
            <a:xfrm>
              <a:off x="5752731" y="5520426"/>
              <a:ext cx="665317" cy="312424"/>
              <a:chOff x="4990621" y="5653280"/>
              <a:chExt cx="381046" cy="186995"/>
            </a:xfrm>
            <a:solidFill>
              <a:srgbClr val="FFFF00"/>
            </a:solidFill>
          </p:grpSpPr>
          <p:sp>
            <p:nvSpPr>
              <p:cNvPr id="81" name="椭圆 80">
                <a:extLst>
                  <a:ext uri="{FF2B5EF4-FFF2-40B4-BE49-F238E27FC236}">
                    <a16:creationId xmlns:a16="http://schemas.microsoft.com/office/drawing/2014/main" id="{08275FA5-1AAD-45FA-9D69-1D05AC97395C}"/>
                  </a:ext>
                </a:extLst>
              </p:cNvPr>
              <p:cNvSpPr/>
              <p:nvPr/>
            </p:nvSpPr>
            <p:spPr>
              <a:xfrm>
                <a:off x="5078100" y="5655082"/>
                <a:ext cx="46156" cy="44770"/>
              </a:xfrm>
              <a:prstGeom prst="ellipse">
                <a:avLst/>
              </a:prstGeom>
              <a:grpFill/>
              <a:ln w="3175" cap="flat" cmpd="sng" algn="ctr">
                <a:solidFill>
                  <a:srgbClr val="1D1D1A"/>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endParaRPr lang="zh-CN" altLang="en-US" sz="1799" kern="0">
                  <a:latin typeface="Calibri" panose="020F0502020204030204"/>
                  <a:ea typeface="等线" panose="02010600030101010101" pitchFamily="2" charset="-122"/>
                </a:endParaRPr>
              </a:p>
            </p:txBody>
          </p:sp>
          <p:sp>
            <p:nvSpPr>
              <p:cNvPr id="82" name="椭圆 81">
                <a:extLst>
                  <a:ext uri="{FF2B5EF4-FFF2-40B4-BE49-F238E27FC236}">
                    <a16:creationId xmlns:a16="http://schemas.microsoft.com/office/drawing/2014/main" id="{F1215B62-EC31-478A-8AA0-E82136F98074}"/>
                  </a:ext>
                </a:extLst>
              </p:cNvPr>
              <p:cNvSpPr/>
              <p:nvPr/>
            </p:nvSpPr>
            <p:spPr>
              <a:xfrm>
                <a:off x="5154215" y="5653280"/>
                <a:ext cx="46156" cy="44770"/>
              </a:xfrm>
              <a:prstGeom prst="ellipse">
                <a:avLst/>
              </a:prstGeom>
              <a:grpFill/>
              <a:ln w="3175" cap="flat" cmpd="sng" algn="ctr">
                <a:solidFill>
                  <a:srgbClr val="1D1D1A"/>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endParaRPr lang="zh-CN" altLang="en-US" sz="1799" kern="0">
                  <a:latin typeface="Calibri" panose="020F0502020204030204"/>
                  <a:ea typeface="等线" panose="02010600030101010101" pitchFamily="2" charset="-122"/>
                </a:endParaRPr>
              </a:p>
            </p:txBody>
          </p:sp>
          <p:sp>
            <p:nvSpPr>
              <p:cNvPr id="83" name="椭圆 82">
                <a:extLst>
                  <a:ext uri="{FF2B5EF4-FFF2-40B4-BE49-F238E27FC236}">
                    <a16:creationId xmlns:a16="http://schemas.microsoft.com/office/drawing/2014/main" id="{5216D72E-432F-4F46-A5BB-3F808880D3D6}"/>
                  </a:ext>
                </a:extLst>
              </p:cNvPr>
              <p:cNvSpPr/>
              <p:nvPr/>
            </p:nvSpPr>
            <p:spPr>
              <a:xfrm>
                <a:off x="5236534" y="5653916"/>
                <a:ext cx="46156" cy="44770"/>
              </a:xfrm>
              <a:prstGeom prst="ellipse">
                <a:avLst/>
              </a:prstGeom>
              <a:grpFill/>
              <a:ln w="3175" cap="flat" cmpd="sng" algn="ctr">
                <a:solidFill>
                  <a:srgbClr val="1D1D1A"/>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endParaRPr lang="zh-CN" altLang="en-US" sz="1799" kern="0">
                  <a:latin typeface="Calibri" panose="020F0502020204030204"/>
                  <a:ea typeface="等线" panose="02010600030101010101" pitchFamily="2" charset="-122"/>
                </a:endParaRPr>
              </a:p>
            </p:txBody>
          </p:sp>
          <p:sp>
            <p:nvSpPr>
              <p:cNvPr id="84" name="椭圆 83">
                <a:extLst>
                  <a:ext uri="{FF2B5EF4-FFF2-40B4-BE49-F238E27FC236}">
                    <a16:creationId xmlns:a16="http://schemas.microsoft.com/office/drawing/2014/main" id="{524BA906-2E8B-4124-9C9A-D2C2C73AB1D2}"/>
                  </a:ext>
                </a:extLst>
              </p:cNvPr>
              <p:cNvSpPr/>
              <p:nvPr/>
            </p:nvSpPr>
            <p:spPr>
              <a:xfrm>
                <a:off x="5001472" y="5790702"/>
                <a:ext cx="32709" cy="38608"/>
              </a:xfrm>
              <a:prstGeom prst="ellipse">
                <a:avLst/>
              </a:prstGeom>
              <a:grpFill/>
              <a:ln w="3175" cap="flat" cmpd="sng" algn="ctr">
                <a:solidFill>
                  <a:srgbClr val="1D1D1A"/>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endParaRPr lang="zh-CN" altLang="en-US" sz="1799" kern="0">
                  <a:latin typeface="Calibri" panose="020F0502020204030204"/>
                  <a:ea typeface="等线" panose="02010600030101010101" pitchFamily="2" charset="-122"/>
                </a:endParaRPr>
              </a:p>
            </p:txBody>
          </p:sp>
          <p:sp>
            <p:nvSpPr>
              <p:cNvPr id="85" name="椭圆 84">
                <a:extLst>
                  <a:ext uri="{FF2B5EF4-FFF2-40B4-BE49-F238E27FC236}">
                    <a16:creationId xmlns:a16="http://schemas.microsoft.com/office/drawing/2014/main" id="{47885281-ECFB-446C-BFC5-1BB0D0117350}"/>
                  </a:ext>
                </a:extLst>
              </p:cNvPr>
              <p:cNvSpPr/>
              <p:nvPr/>
            </p:nvSpPr>
            <p:spPr>
              <a:xfrm>
                <a:off x="5058547" y="5788901"/>
                <a:ext cx="32709" cy="38608"/>
              </a:xfrm>
              <a:prstGeom prst="ellipse">
                <a:avLst/>
              </a:prstGeom>
              <a:grpFill/>
              <a:ln w="3175" cap="flat" cmpd="sng" algn="ctr">
                <a:solidFill>
                  <a:srgbClr val="1D1D1A"/>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endParaRPr lang="zh-CN" altLang="en-US" sz="1799" kern="0">
                  <a:latin typeface="Calibri" panose="020F0502020204030204"/>
                  <a:ea typeface="等线" panose="02010600030101010101" pitchFamily="2" charset="-122"/>
                </a:endParaRPr>
              </a:p>
            </p:txBody>
          </p:sp>
          <p:cxnSp>
            <p:nvCxnSpPr>
              <p:cNvPr id="86" name="直接连接符 85">
                <a:extLst>
                  <a:ext uri="{FF2B5EF4-FFF2-40B4-BE49-F238E27FC236}">
                    <a16:creationId xmlns:a16="http://schemas.microsoft.com/office/drawing/2014/main" id="{91949B0C-8F36-4B07-8DDE-91DE46E7419C}"/>
                  </a:ext>
                </a:extLst>
              </p:cNvPr>
              <p:cNvCxnSpPr>
                <a:stCxn id="84" idx="0"/>
                <a:endCxn id="81" idx="4"/>
              </p:cNvCxnSpPr>
              <p:nvPr/>
            </p:nvCxnSpPr>
            <p:spPr>
              <a:xfrm flipV="1">
                <a:off x="5017827" y="5699852"/>
                <a:ext cx="83351" cy="90850"/>
              </a:xfrm>
              <a:prstGeom prst="line">
                <a:avLst/>
              </a:prstGeom>
              <a:grpFill/>
              <a:ln w="3175" cap="flat" cmpd="sng" algn="ctr">
                <a:solidFill>
                  <a:srgbClr val="1D1D1A"/>
                </a:solidFill>
                <a:prstDash val="solid"/>
                <a:miter lim="800000"/>
              </a:ln>
              <a:effectLst/>
            </p:spPr>
          </p:cxnSp>
          <p:cxnSp>
            <p:nvCxnSpPr>
              <p:cNvPr id="87" name="直接连接符 86">
                <a:extLst>
                  <a:ext uri="{FF2B5EF4-FFF2-40B4-BE49-F238E27FC236}">
                    <a16:creationId xmlns:a16="http://schemas.microsoft.com/office/drawing/2014/main" id="{81496F47-B49F-4D1D-BA83-EFD9DFC1C5F2}"/>
                  </a:ext>
                </a:extLst>
              </p:cNvPr>
              <p:cNvCxnSpPr>
                <a:cxnSpLocks/>
                <a:stCxn id="92" idx="0"/>
                <a:endCxn id="81" idx="4"/>
              </p:cNvCxnSpPr>
              <p:nvPr/>
            </p:nvCxnSpPr>
            <p:spPr>
              <a:xfrm flipH="1" flipV="1">
                <a:off x="5101178" y="5699852"/>
                <a:ext cx="118862" cy="90850"/>
              </a:xfrm>
              <a:prstGeom prst="line">
                <a:avLst/>
              </a:prstGeom>
              <a:grpFill/>
              <a:ln w="3175" cap="flat" cmpd="sng" algn="ctr">
                <a:solidFill>
                  <a:srgbClr val="1D1D1A"/>
                </a:solidFill>
                <a:prstDash val="solid"/>
                <a:miter lim="800000"/>
              </a:ln>
              <a:effectLst/>
            </p:spPr>
          </p:cxnSp>
          <p:cxnSp>
            <p:nvCxnSpPr>
              <p:cNvPr id="88" name="直接连接符 87">
                <a:extLst>
                  <a:ext uri="{FF2B5EF4-FFF2-40B4-BE49-F238E27FC236}">
                    <a16:creationId xmlns:a16="http://schemas.microsoft.com/office/drawing/2014/main" id="{AB78AAE4-B255-4D39-89A5-7FF5C9751099}"/>
                  </a:ext>
                </a:extLst>
              </p:cNvPr>
              <p:cNvCxnSpPr>
                <a:cxnSpLocks/>
                <a:stCxn id="85" idx="0"/>
                <a:endCxn id="82" idx="4"/>
              </p:cNvCxnSpPr>
              <p:nvPr/>
            </p:nvCxnSpPr>
            <p:spPr>
              <a:xfrm flipV="1">
                <a:off x="5074902" y="5698050"/>
                <a:ext cx="102391" cy="90851"/>
              </a:xfrm>
              <a:prstGeom prst="line">
                <a:avLst/>
              </a:prstGeom>
              <a:grpFill/>
              <a:ln w="3175" cap="flat" cmpd="sng" algn="ctr">
                <a:solidFill>
                  <a:srgbClr val="1D1D1A"/>
                </a:solidFill>
                <a:prstDash val="solid"/>
                <a:miter lim="800000"/>
              </a:ln>
              <a:effectLst/>
            </p:spPr>
          </p:cxnSp>
          <p:cxnSp>
            <p:nvCxnSpPr>
              <p:cNvPr id="89" name="直接连接符 88">
                <a:extLst>
                  <a:ext uri="{FF2B5EF4-FFF2-40B4-BE49-F238E27FC236}">
                    <a16:creationId xmlns:a16="http://schemas.microsoft.com/office/drawing/2014/main" id="{89BD420D-CD9A-4837-A453-5C6410FF8688}"/>
                  </a:ext>
                </a:extLst>
              </p:cNvPr>
              <p:cNvCxnSpPr>
                <a:cxnSpLocks/>
                <a:stCxn id="93" idx="0"/>
                <a:endCxn id="82" idx="4"/>
              </p:cNvCxnSpPr>
              <p:nvPr/>
            </p:nvCxnSpPr>
            <p:spPr>
              <a:xfrm flipH="1" flipV="1">
                <a:off x="5177293" y="5698050"/>
                <a:ext cx="99821" cy="90851"/>
              </a:xfrm>
              <a:prstGeom prst="line">
                <a:avLst/>
              </a:prstGeom>
              <a:grpFill/>
              <a:ln w="3175" cap="flat" cmpd="sng" algn="ctr">
                <a:solidFill>
                  <a:srgbClr val="1D1D1A"/>
                </a:solidFill>
                <a:prstDash val="solid"/>
                <a:miter lim="800000"/>
              </a:ln>
              <a:effectLst/>
            </p:spPr>
          </p:cxnSp>
          <p:sp>
            <p:nvSpPr>
              <p:cNvPr id="90" name="椭圆 89">
                <a:extLst>
                  <a:ext uri="{FF2B5EF4-FFF2-40B4-BE49-F238E27FC236}">
                    <a16:creationId xmlns:a16="http://schemas.microsoft.com/office/drawing/2014/main" id="{1FFCBE0F-824E-4C46-B027-B2EEF6F11E30}"/>
                  </a:ext>
                </a:extLst>
              </p:cNvPr>
              <p:cNvSpPr/>
              <p:nvPr/>
            </p:nvSpPr>
            <p:spPr>
              <a:xfrm>
                <a:off x="5114425" y="5788901"/>
                <a:ext cx="32709" cy="38608"/>
              </a:xfrm>
              <a:prstGeom prst="ellipse">
                <a:avLst/>
              </a:prstGeom>
              <a:grpFill/>
              <a:ln w="3175" cap="flat" cmpd="sng" algn="ctr">
                <a:solidFill>
                  <a:srgbClr val="1D1D1A"/>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endParaRPr lang="zh-CN" altLang="en-US" sz="1799" kern="0">
                  <a:latin typeface="Calibri" panose="020F0502020204030204"/>
                  <a:ea typeface="等线" panose="02010600030101010101" pitchFamily="2" charset="-122"/>
                </a:endParaRPr>
              </a:p>
            </p:txBody>
          </p:sp>
          <p:sp>
            <p:nvSpPr>
              <p:cNvPr id="91" name="矩形 90">
                <a:extLst>
                  <a:ext uri="{FF2B5EF4-FFF2-40B4-BE49-F238E27FC236}">
                    <a16:creationId xmlns:a16="http://schemas.microsoft.com/office/drawing/2014/main" id="{D93E13E8-ADD2-43C1-9BBB-771A25C023C2}"/>
                  </a:ext>
                </a:extLst>
              </p:cNvPr>
              <p:cNvSpPr/>
              <p:nvPr/>
            </p:nvSpPr>
            <p:spPr>
              <a:xfrm>
                <a:off x="4990621" y="5779225"/>
                <a:ext cx="178834" cy="61050"/>
              </a:xfrm>
              <a:prstGeom prst="rect">
                <a:avLst/>
              </a:prstGeom>
              <a:noFill/>
              <a:ln w="3175" cap="flat" cmpd="sng" algn="ctr">
                <a:solidFill>
                  <a:srgbClr val="1D1D1A"/>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endParaRPr lang="zh-CN" altLang="en-US" sz="1799" kern="0">
                  <a:latin typeface="Calibri" panose="020F0502020204030204"/>
                  <a:ea typeface="等线" panose="02010600030101010101" pitchFamily="2" charset="-122"/>
                </a:endParaRPr>
              </a:p>
            </p:txBody>
          </p:sp>
          <p:sp>
            <p:nvSpPr>
              <p:cNvPr id="92" name="椭圆 91">
                <a:extLst>
                  <a:ext uri="{FF2B5EF4-FFF2-40B4-BE49-F238E27FC236}">
                    <a16:creationId xmlns:a16="http://schemas.microsoft.com/office/drawing/2014/main" id="{62E9A3D0-A9D5-4A6E-BC1F-8A387B8A23C9}"/>
                  </a:ext>
                </a:extLst>
              </p:cNvPr>
              <p:cNvSpPr/>
              <p:nvPr/>
            </p:nvSpPr>
            <p:spPr>
              <a:xfrm>
                <a:off x="5203685" y="5790702"/>
                <a:ext cx="32709" cy="38608"/>
              </a:xfrm>
              <a:prstGeom prst="ellipse">
                <a:avLst/>
              </a:prstGeom>
              <a:grpFill/>
              <a:ln w="3175" cap="flat" cmpd="sng" algn="ctr">
                <a:solidFill>
                  <a:srgbClr val="1D1D1A"/>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endParaRPr lang="zh-CN" altLang="en-US" sz="1799" kern="0">
                  <a:latin typeface="Calibri" panose="020F0502020204030204"/>
                  <a:ea typeface="等线" panose="02010600030101010101" pitchFamily="2" charset="-122"/>
                </a:endParaRPr>
              </a:p>
            </p:txBody>
          </p:sp>
          <p:sp>
            <p:nvSpPr>
              <p:cNvPr id="93" name="椭圆 92">
                <a:extLst>
                  <a:ext uri="{FF2B5EF4-FFF2-40B4-BE49-F238E27FC236}">
                    <a16:creationId xmlns:a16="http://schemas.microsoft.com/office/drawing/2014/main" id="{9CF40A58-24B9-45B2-AB2F-825E4761AFFF}"/>
                  </a:ext>
                </a:extLst>
              </p:cNvPr>
              <p:cNvSpPr/>
              <p:nvPr/>
            </p:nvSpPr>
            <p:spPr>
              <a:xfrm>
                <a:off x="5260759" y="5788901"/>
                <a:ext cx="32709" cy="38608"/>
              </a:xfrm>
              <a:prstGeom prst="ellipse">
                <a:avLst/>
              </a:prstGeom>
              <a:grpFill/>
              <a:ln w="3175" cap="flat" cmpd="sng" algn="ctr">
                <a:solidFill>
                  <a:srgbClr val="1D1D1A"/>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endParaRPr lang="zh-CN" altLang="en-US" sz="1799" kern="0">
                  <a:latin typeface="Calibri" panose="020F0502020204030204"/>
                  <a:ea typeface="等线" panose="02010600030101010101" pitchFamily="2" charset="-122"/>
                </a:endParaRPr>
              </a:p>
            </p:txBody>
          </p:sp>
          <p:sp>
            <p:nvSpPr>
              <p:cNvPr id="94" name="椭圆 93">
                <a:extLst>
                  <a:ext uri="{FF2B5EF4-FFF2-40B4-BE49-F238E27FC236}">
                    <a16:creationId xmlns:a16="http://schemas.microsoft.com/office/drawing/2014/main" id="{AB9D5B6A-97D9-4F1E-B92E-4A7118611A5E}"/>
                  </a:ext>
                </a:extLst>
              </p:cNvPr>
              <p:cNvSpPr/>
              <p:nvPr/>
            </p:nvSpPr>
            <p:spPr>
              <a:xfrm>
                <a:off x="5316637" y="5788901"/>
                <a:ext cx="32709" cy="38608"/>
              </a:xfrm>
              <a:prstGeom prst="ellipse">
                <a:avLst/>
              </a:prstGeom>
              <a:grpFill/>
              <a:ln w="3175" cap="flat" cmpd="sng" algn="ctr">
                <a:solidFill>
                  <a:srgbClr val="1D1D1A"/>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endParaRPr lang="zh-CN" altLang="en-US" sz="1799" kern="0">
                  <a:latin typeface="Calibri" panose="020F0502020204030204"/>
                  <a:ea typeface="等线" panose="02010600030101010101" pitchFamily="2" charset="-122"/>
                </a:endParaRPr>
              </a:p>
            </p:txBody>
          </p:sp>
          <p:sp>
            <p:nvSpPr>
              <p:cNvPr id="95" name="矩形 94">
                <a:extLst>
                  <a:ext uri="{FF2B5EF4-FFF2-40B4-BE49-F238E27FC236}">
                    <a16:creationId xmlns:a16="http://schemas.microsoft.com/office/drawing/2014/main" id="{B6AD8AC7-99A2-46A8-9180-239B750EFAA0}"/>
                  </a:ext>
                </a:extLst>
              </p:cNvPr>
              <p:cNvSpPr/>
              <p:nvPr/>
            </p:nvSpPr>
            <p:spPr>
              <a:xfrm>
                <a:off x="5192833" y="5779225"/>
                <a:ext cx="178834" cy="61050"/>
              </a:xfrm>
              <a:prstGeom prst="rect">
                <a:avLst/>
              </a:prstGeom>
              <a:noFill/>
              <a:ln w="3175" cap="flat" cmpd="sng" algn="ctr">
                <a:solidFill>
                  <a:srgbClr val="1D1D1A"/>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endParaRPr lang="zh-CN" altLang="en-US" sz="1799" kern="0" dirty="0">
                  <a:latin typeface="Calibri" panose="020F0502020204030204"/>
                  <a:ea typeface="等线" panose="02010600030101010101" pitchFamily="2" charset="-122"/>
                </a:endParaRPr>
              </a:p>
            </p:txBody>
          </p:sp>
          <p:cxnSp>
            <p:nvCxnSpPr>
              <p:cNvPr id="96" name="直接连接符 95">
                <a:extLst>
                  <a:ext uri="{FF2B5EF4-FFF2-40B4-BE49-F238E27FC236}">
                    <a16:creationId xmlns:a16="http://schemas.microsoft.com/office/drawing/2014/main" id="{5020023C-7BE6-411D-9832-70192DBBB197}"/>
                  </a:ext>
                </a:extLst>
              </p:cNvPr>
              <p:cNvCxnSpPr>
                <a:cxnSpLocks/>
                <a:stCxn id="94" idx="0"/>
                <a:endCxn id="83" idx="4"/>
              </p:cNvCxnSpPr>
              <p:nvPr/>
            </p:nvCxnSpPr>
            <p:spPr>
              <a:xfrm flipH="1" flipV="1">
                <a:off x="5259612" y="5698686"/>
                <a:ext cx="73380" cy="90215"/>
              </a:xfrm>
              <a:prstGeom prst="line">
                <a:avLst/>
              </a:prstGeom>
              <a:grpFill/>
              <a:ln w="3175" cap="flat" cmpd="sng" algn="ctr">
                <a:solidFill>
                  <a:srgbClr val="1D1D1A"/>
                </a:solidFill>
                <a:prstDash val="solid"/>
                <a:miter lim="800000"/>
              </a:ln>
              <a:effectLst/>
            </p:spPr>
          </p:cxnSp>
          <p:cxnSp>
            <p:nvCxnSpPr>
              <p:cNvPr id="97" name="直接连接符 96">
                <a:extLst>
                  <a:ext uri="{FF2B5EF4-FFF2-40B4-BE49-F238E27FC236}">
                    <a16:creationId xmlns:a16="http://schemas.microsoft.com/office/drawing/2014/main" id="{B407DDA9-7CE9-4602-9959-3FDF353E6C30}"/>
                  </a:ext>
                </a:extLst>
              </p:cNvPr>
              <p:cNvCxnSpPr>
                <a:cxnSpLocks/>
                <a:stCxn id="90" idx="0"/>
                <a:endCxn id="83" idx="4"/>
              </p:cNvCxnSpPr>
              <p:nvPr/>
            </p:nvCxnSpPr>
            <p:spPr>
              <a:xfrm flipV="1">
                <a:off x="5130780" y="5698686"/>
                <a:ext cx="128832" cy="90215"/>
              </a:xfrm>
              <a:prstGeom prst="line">
                <a:avLst/>
              </a:prstGeom>
              <a:grpFill/>
              <a:ln w="3175" cap="flat" cmpd="sng" algn="ctr">
                <a:solidFill>
                  <a:srgbClr val="1D1D1A"/>
                </a:solidFill>
                <a:prstDash val="solid"/>
                <a:miter lim="800000"/>
              </a:ln>
              <a:effectLst/>
            </p:spPr>
          </p:cxnSp>
        </p:grpSp>
        <p:sp>
          <p:nvSpPr>
            <p:cNvPr id="77" name="箭头: 右 294">
              <a:extLst>
                <a:ext uri="{FF2B5EF4-FFF2-40B4-BE49-F238E27FC236}">
                  <a16:creationId xmlns:a16="http://schemas.microsoft.com/office/drawing/2014/main" id="{7086FB92-5AFD-44CB-9EC1-E550CD579C02}"/>
                </a:ext>
              </a:extLst>
            </p:cNvPr>
            <p:cNvSpPr/>
            <p:nvPr/>
          </p:nvSpPr>
          <p:spPr>
            <a:xfrm>
              <a:off x="6487384" y="5612467"/>
              <a:ext cx="162600" cy="145440"/>
            </a:xfrm>
            <a:prstGeom prst="rightArrow">
              <a:avLst/>
            </a:prstGeom>
            <a:solidFill>
              <a:srgbClr val="61B230"/>
            </a:solidFill>
            <a:ln>
              <a:noFill/>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endParaRPr lang="zh-CN" altLang="en-US" sz="1799" kern="0">
                <a:latin typeface="Calibri" panose="020F0502020204030204"/>
                <a:ea typeface="等线" panose="02010600030101010101" pitchFamily="2" charset="-122"/>
              </a:endParaRPr>
            </a:p>
          </p:txBody>
        </p:sp>
        <p:sp>
          <p:nvSpPr>
            <p:cNvPr id="78" name="文本框 77">
              <a:extLst>
                <a:ext uri="{FF2B5EF4-FFF2-40B4-BE49-F238E27FC236}">
                  <a16:creationId xmlns:a16="http://schemas.microsoft.com/office/drawing/2014/main" id="{1257548A-419C-470A-9B4C-0877BFC8A44F}"/>
                </a:ext>
              </a:extLst>
            </p:cNvPr>
            <p:cNvSpPr txBox="1"/>
            <p:nvPr/>
          </p:nvSpPr>
          <p:spPr>
            <a:xfrm>
              <a:off x="6725942" y="5396270"/>
              <a:ext cx="703001" cy="117387"/>
            </a:xfrm>
            <a:prstGeom prst="rect">
              <a:avLst/>
            </a:prstGeom>
            <a:noFill/>
          </p:spPr>
          <p:txBody>
            <a:bodyPr wrap="square" lIns="0" tIns="0" rIns="0" bIns="0" rtlCol="0">
              <a:spAutoFit/>
            </a:bodyPr>
            <a:lstStyle/>
            <a:p>
              <a:pPr algn="ctr" defTabSz="913957">
                <a:defRPr/>
              </a:pPr>
              <a:r>
                <a:rPr kumimoji="1" lang="en-US" altLang="zh-CN" sz="799" kern="0" dirty="0">
                  <a:latin typeface="Microsoft YaHei" panose="020B0503020204020204" pitchFamily="34" charset="-122"/>
                  <a:ea typeface="Microsoft YaHei" panose="020B0503020204020204" pitchFamily="34" charset="-122"/>
                </a:rPr>
                <a:t>Addressing</a:t>
              </a:r>
              <a:endParaRPr kumimoji="1" lang="zh-CN" altLang="en-US" sz="799" kern="0" dirty="0">
                <a:latin typeface="Microsoft YaHei" panose="020B0503020204020204" pitchFamily="34" charset="-122"/>
                <a:ea typeface="Microsoft YaHei" panose="020B0503020204020204" pitchFamily="34" charset="-122"/>
              </a:endParaRPr>
            </a:p>
          </p:txBody>
        </p:sp>
        <p:sp>
          <p:nvSpPr>
            <p:cNvPr id="79" name="矩形 78">
              <a:extLst>
                <a:ext uri="{FF2B5EF4-FFF2-40B4-BE49-F238E27FC236}">
                  <a16:creationId xmlns:a16="http://schemas.microsoft.com/office/drawing/2014/main" id="{1610EE68-952B-4579-8A3F-3139BCFA8299}"/>
                </a:ext>
              </a:extLst>
            </p:cNvPr>
            <p:cNvSpPr/>
            <p:nvPr/>
          </p:nvSpPr>
          <p:spPr>
            <a:xfrm>
              <a:off x="6668279" y="5551043"/>
              <a:ext cx="794140" cy="397183"/>
            </a:xfrm>
            <a:prstGeom prst="rect">
              <a:avLst/>
            </a:prstGeom>
            <a:solidFill>
              <a:srgbClr val="FFFFFF"/>
            </a:solidFill>
            <a:ln w="6350" cap="flat" cmpd="sng" algn="ctr">
              <a:solidFill>
                <a:srgbClr val="1D1D1A"/>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endParaRPr lang="zh-CN" altLang="en-US" sz="1799" kern="0" dirty="0">
                <a:latin typeface="Calibri" panose="020F0502020204030204"/>
                <a:ea typeface="等线" panose="02010600030101010101" pitchFamily="2" charset="-122"/>
              </a:endParaRPr>
            </a:p>
          </p:txBody>
        </p:sp>
        <p:sp>
          <p:nvSpPr>
            <p:cNvPr id="80" name="文本框 79">
              <a:extLst>
                <a:ext uri="{FF2B5EF4-FFF2-40B4-BE49-F238E27FC236}">
                  <a16:creationId xmlns:a16="http://schemas.microsoft.com/office/drawing/2014/main" id="{518E02B3-B14D-4EE7-8F3B-8989D7218754}"/>
                </a:ext>
              </a:extLst>
            </p:cNvPr>
            <p:cNvSpPr txBox="1"/>
            <p:nvPr/>
          </p:nvSpPr>
          <p:spPr>
            <a:xfrm>
              <a:off x="6695133" y="5573517"/>
              <a:ext cx="729499" cy="352529"/>
            </a:xfrm>
            <a:prstGeom prst="rect">
              <a:avLst/>
            </a:prstGeom>
            <a:noFill/>
          </p:spPr>
          <p:txBody>
            <a:bodyPr wrap="none" lIns="0" tIns="0" rIns="0" bIns="0" rtlCol="0">
              <a:spAutoFit/>
            </a:bodyPr>
            <a:lstStyle/>
            <a:p>
              <a:pPr defTabSz="913957">
                <a:defRPr/>
              </a:pPr>
              <a:r>
                <a:rPr kumimoji="1" lang="en-US" altLang="zh-CN" sz="600" kern="0" dirty="0" err="1">
                  <a:latin typeface="Microsoft YaHei" panose="020B0503020204020204" pitchFamily="34" charset="-122"/>
                  <a:ea typeface="Microsoft YaHei" panose="020B0503020204020204" pitchFamily="34" charset="-122"/>
                </a:rPr>
                <a:t>Addr</a:t>
              </a:r>
              <a:r>
                <a:rPr kumimoji="1" lang="en-US" altLang="zh-CN" sz="600" kern="0" dirty="0">
                  <a:latin typeface="Microsoft YaHei" panose="020B0503020204020204" pitchFamily="34" charset="-122"/>
                  <a:ea typeface="Microsoft YaHei" panose="020B0503020204020204" pitchFamily="34" charset="-122"/>
                </a:rPr>
                <a:t> A</a:t>
              </a:r>
              <a:r>
                <a:rPr kumimoji="1" lang="zh-CN" altLang="en-US" sz="600" kern="0" dirty="0">
                  <a:latin typeface="Microsoft YaHei" panose="020B0503020204020204" pitchFamily="34" charset="-122"/>
                  <a:ea typeface="Microsoft YaHei" panose="020B0503020204020204" pitchFamily="34" charset="-122"/>
                </a:rPr>
                <a:t>：</a:t>
              </a:r>
              <a:r>
                <a:rPr kumimoji="1" lang="en-US" altLang="zh-CN" sz="600" kern="0" dirty="0">
                  <a:latin typeface="Microsoft YaHei" panose="020B0503020204020204" pitchFamily="34" charset="-122"/>
                  <a:ea typeface="Microsoft YaHei" panose="020B0503020204020204" pitchFamily="34" charset="-122"/>
                </a:rPr>
                <a:t>EID1</a:t>
              </a:r>
              <a:r>
                <a:rPr kumimoji="1" lang="zh-CN" altLang="en-US" sz="600" kern="0" dirty="0">
                  <a:latin typeface="Microsoft YaHei" panose="020B0503020204020204" pitchFamily="34" charset="-122"/>
                  <a:ea typeface="Microsoft YaHei" panose="020B0503020204020204" pitchFamily="34" charset="-122"/>
                </a:rPr>
                <a:t>，</a:t>
              </a:r>
              <a:r>
                <a:rPr kumimoji="1" lang="en-US" altLang="zh-CN" sz="600" kern="0" dirty="0">
                  <a:latin typeface="Microsoft YaHei" panose="020B0503020204020204" pitchFamily="34" charset="-122"/>
                  <a:ea typeface="Microsoft YaHei" panose="020B0503020204020204" pitchFamily="34" charset="-122"/>
                </a:rPr>
                <a:t>EID2</a:t>
              </a:r>
            </a:p>
            <a:p>
              <a:pPr defTabSz="913957">
                <a:defRPr/>
              </a:pPr>
              <a:r>
                <a:rPr kumimoji="1" lang="en-US" altLang="zh-CN" sz="600" kern="0" dirty="0" err="1">
                  <a:latin typeface="Microsoft YaHei" panose="020B0503020204020204" pitchFamily="34" charset="-122"/>
                  <a:ea typeface="Microsoft YaHei" panose="020B0503020204020204" pitchFamily="34" charset="-122"/>
                </a:rPr>
                <a:t>Addr</a:t>
              </a:r>
              <a:r>
                <a:rPr kumimoji="1" lang="en-US" altLang="zh-CN" sz="600" kern="0" dirty="0">
                  <a:latin typeface="Microsoft YaHei" panose="020B0503020204020204" pitchFamily="34" charset="-122"/>
                  <a:ea typeface="Microsoft YaHei" panose="020B0503020204020204" pitchFamily="34" charset="-122"/>
                </a:rPr>
                <a:t> B</a:t>
              </a:r>
              <a:r>
                <a:rPr kumimoji="1" lang="zh-CN" altLang="en-US" sz="600" kern="0" dirty="0">
                  <a:latin typeface="Microsoft YaHei" panose="020B0503020204020204" pitchFamily="34" charset="-122"/>
                  <a:ea typeface="Microsoft YaHei" panose="020B0503020204020204" pitchFamily="34" charset="-122"/>
                </a:rPr>
                <a:t>：</a:t>
              </a:r>
              <a:r>
                <a:rPr kumimoji="1" lang="en-US" altLang="zh-CN" sz="600" kern="0" dirty="0">
                  <a:latin typeface="Microsoft YaHei" panose="020B0503020204020204" pitchFamily="34" charset="-122"/>
                  <a:ea typeface="Microsoft YaHei" panose="020B0503020204020204" pitchFamily="34" charset="-122"/>
                </a:rPr>
                <a:t>EID3</a:t>
              </a:r>
            </a:p>
            <a:p>
              <a:pPr defTabSz="913957">
                <a:defRPr/>
              </a:pPr>
              <a:r>
                <a:rPr kumimoji="1" lang="en-US" altLang="zh-CN" sz="600" kern="0" dirty="0" err="1">
                  <a:latin typeface="Microsoft YaHei" panose="020B0503020204020204" pitchFamily="34" charset="-122"/>
                  <a:ea typeface="Microsoft YaHei" panose="020B0503020204020204" pitchFamily="34" charset="-122"/>
                </a:rPr>
                <a:t>Addr</a:t>
              </a:r>
              <a:r>
                <a:rPr kumimoji="1" lang="en-US" altLang="zh-CN" sz="600" kern="0" dirty="0">
                  <a:latin typeface="Microsoft YaHei" panose="020B0503020204020204" pitchFamily="34" charset="-122"/>
                  <a:ea typeface="Microsoft YaHei" panose="020B0503020204020204" pitchFamily="34" charset="-122"/>
                </a:rPr>
                <a:t> C</a:t>
              </a:r>
              <a:r>
                <a:rPr kumimoji="1" lang="zh-CN" altLang="en-US" sz="600" kern="0" dirty="0">
                  <a:latin typeface="Microsoft YaHei" panose="020B0503020204020204" pitchFamily="34" charset="-122"/>
                  <a:ea typeface="Microsoft YaHei" panose="020B0503020204020204" pitchFamily="34" charset="-122"/>
                </a:rPr>
                <a:t>：</a:t>
              </a:r>
              <a:r>
                <a:rPr kumimoji="1" lang="en-US" altLang="zh-CN" sz="600" kern="0" dirty="0">
                  <a:latin typeface="Microsoft YaHei" panose="020B0503020204020204" pitchFamily="34" charset="-122"/>
                  <a:ea typeface="Microsoft YaHei" panose="020B0503020204020204" pitchFamily="34" charset="-122"/>
                </a:rPr>
                <a:t>EID4</a:t>
              </a:r>
              <a:r>
                <a:rPr kumimoji="1" lang="zh-CN" altLang="en-US" sz="600" kern="0" dirty="0">
                  <a:latin typeface="Microsoft YaHei" panose="020B0503020204020204" pitchFamily="34" charset="-122"/>
                  <a:ea typeface="Microsoft YaHei" panose="020B0503020204020204" pitchFamily="34" charset="-122"/>
                </a:rPr>
                <a:t>，</a:t>
              </a:r>
              <a:r>
                <a:rPr kumimoji="1" lang="en-US" altLang="zh-CN" sz="600" kern="0" dirty="0">
                  <a:latin typeface="Microsoft YaHei" panose="020B0503020204020204" pitchFamily="34" charset="-122"/>
                  <a:ea typeface="Microsoft YaHei" panose="020B0503020204020204" pitchFamily="34" charset="-122"/>
                </a:rPr>
                <a:t>EID5</a:t>
              </a:r>
            </a:p>
            <a:p>
              <a:pPr algn="ctr" defTabSz="913957">
                <a:defRPr/>
              </a:pPr>
              <a:r>
                <a:rPr kumimoji="1" lang="en-US" altLang="zh-CN" sz="600" kern="0" dirty="0">
                  <a:latin typeface="Microsoft YaHei" panose="020B0503020204020204" pitchFamily="34" charset="-122"/>
                  <a:ea typeface="Microsoft YaHei" panose="020B0503020204020204" pitchFamily="34" charset="-122"/>
                </a:rPr>
                <a:t>…</a:t>
              </a:r>
            </a:p>
          </p:txBody>
        </p:sp>
      </p:grpSp>
      <p:grpSp>
        <p:nvGrpSpPr>
          <p:cNvPr id="98" name="组合 97">
            <a:extLst>
              <a:ext uri="{FF2B5EF4-FFF2-40B4-BE49-F238E27FC236}">
                <a16:creationId xmlns:a16="http://schemas.microsoft.com/office/drawing/2014/main" id="{7830DB91-F25D-4264-A854-46979DE2C381}"/>
              </a:ext>
            </a:extLst>
          </p:cNvPr>
          <p:cNvGrpSpPr/>
          <p:nvPr/>
        </p:nvGrpSpPr>
        <p:grpSpPr>
          <a:xfrm>
            <a:off x="6258082" y="2682540"/>
            <a:ext cx="2096574" cy="902340"/>
            <a:chOff x="7684128" y="5394477"/>
            <a:chExt cx="1836222" cy="1239028"/>
          </a:xfrm>
        </p:grpSpPr>
        <p:grpSp>
          <p:nvGrpSpPr>
            <p:cNvPr id="99" name="组合 98">
              <a:extLst>
                <a:ext uri="{FF2B5EF4-FFF2-40B4-BE49-F238E27FC236}">
                  <a16:creationId xmlns:a16="http://schemas.microsoft.com/office/drawing/2014/main" id="{02781DDD-94C4-4C2C-BD6F-E670169AC36A}"/>
                </a:ext>
              </a:extLst>
            </p:cNvPr>
            <p:cNvGrpSpPr/>
            <p:nvPr/>
          </p:nvGrpSpPr>
          <p:grpSpPr>
            <a:xfrm>
              <a:off x="7684128" y="5394477"/>
              <a:ext cx="1836222" cy="216202"/>
              <a:chOff x="6257790" y="6371217"/>
              <a:chExt cx="1836222" cy="216202"/>
            </a:xfrm>
          </p:grpSpPr>
          <p:sp>
            <p:nvSpPr>
              <p:cNvPr id="110" name="矩形 109">
                <a:extLst>
                  <a:ext uri="{FF2B5EF4-FFF2-40B4-BE49-F238E27FC236}">
                    <a16:creationId xmlns:a16="http://schemas.microsoft.com/office/drawing/2014/main" id="{44A115B2-61B7-4184-8B46-4FF4F7915FEB}"/>
                  </a:ext>
                </a:extLst>
              </p:cNvPr>
              <p:cNvSpPr/>
              <p:nvPr/>
            </p:nvSpPr>
            <p:spPr>
              <a:xfrm>
                <a:off x="7904461" y="6371217"/>
                <a:ext cx="189551" cy="201166"/>
              </a:xfrm>
              <a:prstGeom prst="rect">
                <a:avLst/>
              </a:prstGeom>
              <a:noFill/>
              <a:ln w="12700" cap="flat" cmpd="sng" algn="ctr">
                <a:no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endParaRPr lang="zh-CN" altLang="en-US" sz="1799" kern="0" dirty="0">
                  <a:latin typeface="Calibri" panose="020F0502020204030204"/>
                  <a:ea typeface="等线" panose="02010600030101010101" pitchFamily="2" charset="-122"/>
                </a:endParaRPr>
              </a:p>
            </p:txBody>
          </p:sp>
          <p:sp>
            <p:nvSpPr>
              <p:cNvPr id="111" name="矩形 110">
                <a:extLst>
                  <a:ext uri="{FF2B5EF4-FFF2-40B4-BE49-F238E27FC236}">
                    <a16:creationId xmlns:a16="http://schemas.microsoft.com/office/drawing/2014/main" id="{449B1FA1-B994-4A07-B463-04DF411207DA}"/>
                  </a:ext>
                </a:extLst>
              </p:cNvPr>
              <p:cNvSpPr/>
              <p:nvPr/>
            </p:nvSpPr>
            <p:spPr>
              <a:xfrm>
                <a:off x="6778981" y="6379453"/>
                <a:ext cx="476067" cy="201166"/>
              </a:xfrm>
              <a:prstGeom prst="rect">
                <a:avLst/>
              </a:prstGeom>
              <a:noFill/>
              <a:ln w="6350" cap="flat" cmpd="sng" algn="ctr">
                <a:solidFill>
                  <a:schemeClr val="tx1"/>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endParaRPr lang="zh-CN" altLang="en-US" sz="1799" kern="0" dirty="0">
                  <a:latin typeface="Calibri" panose="020F0502020204030204"/>
                  <a:ea typeface="等线" panose="02010600030101010101" pitchFamily="2" charset="-122"/>
                </a:endParaRPr>
              </a:p>
            </p:txBody>
          </p:sp>
          <p:sp>
            <p:nvSpPr>
              <p:cNvPr id="112" name="矩形 111">
                <a:extLst>
                  <a:ext uri="{FF2B5EF4-FFF2-40B4-BE49-F238E27FC236}">
                    <a16:creationId xmlns:a16="http://schemas.microsoft.com/office/drawing/2014/main" id="{1D61617F-81B9-4CCC-A999-7E1DDB23E53B}"/>
                  </a:ext>
                </a:extLst>
              </p:cNvPr>
              <p:cNvSpPr/>
              <p:nvPr/>
            </p:nvSpPr>
            <p:spPr>
              <a:xfrm>
                <a:off x="6257790" y="6378293"/>
                <a:ext cx="468159" cy="205272"/>
              </a:xfrm>
              <a:prstGeom prst="rect">
                <a:avLst/>
              </a:prstGeom>
              <a:solidFill>
                <a:srgbClr val="FCC800">
                  <a:lumMod val="60000"/>
                  <a:lumOff val="40000"/>
                </a:srgbClr>
              </a:solidFill>
              <a:ln w="12700" cap="flat" cmpd="sng" algn="ctr">
                <a:no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endParaRPr lang="zh-CN" altLang="en-US" sz="1049" kern="0" dirty="0">
                  <a:latin typeface="微软雅黑" panose="020B0503020204020204" pitchFamily="34" charset="-122"/>
                  <a:ea typeface="微软雅黑" panose="020B0503020204020204" pitchFamily="34" charset="-122"/>
                </a:endParaRPr>
              </a:p>
            </p:txBody>
          </p:sp>
          <p:sp>
            <p:nvSpPr>
              <p:cNvPr id="113" name="文本框 112">
                <a:extLst>
                  <a:ext uri="{FF2B5EF4-FFF2-40B4-BE49-F238E27FC236}">
                    <a16:creationId xmlns:a16="http://schemas.microsoft.com/office/drawing/2014/main" id="{68DE27FC-D243-434D-8FD0-F79D7FBFAEF4}"/>
                  </a:ext>
                </a:extLst>
              </p:cNvPr>
              <p:cNvSpPr txBox="1"/>
              <p:nvPr/>
            </p:nvSpPr>
            <p:spPr>
              <a:xfrm>
                <a:off x="6343329" y="6409555"/>
                <a:ext cx="341158" cy="168870"/>
              </a:xfrm>
              <a:prstGeom prst="rect">
                <a:avLst/>
              </a:prstGeom>
              <a:noFill/>
            </p:spPr>
            <p:txBody>
              <a:bodyPr wrap="none" lIns="0" tIns="0" rIns="0" bIns="0" rtlCol="0">
                <a:spAutoFit/>
              </a:bodyPr>
              <a:lstStyle/>
              <a:p>
                <a:pPr defTabSz="913957">
                  <a:defRPr/>
                </a:pPr>
                <a:r>
                  <a:rPr kumimoji="1" lang="en-US" altLang="zh-CN" sz="799" kern="0" dirty="0">
                    <a:latin typeface="Microsoft YaHei" panose="020B0503020204020204" pitchFamily="34" charset="-122"/>
                    <a:ea typeface="Microsoft YaHei" panose="020B0503020204020204" pitchFamily="34" charset="-122"/>
                  </a:rPr>
                  <a:t>Routing</a:t>
                </a:r>
                <a:endParaRPr kumimoji="1" lang="zh-CN" altLang="en-US" sz="799" kern="0" dirty="0">
                  <a:latin typeface="Microsoft YaHei" panose="020B0503020204020204" pitchFamily="34" charset="-122"/>
                  <a:ea typeface="Microsoft YaHei" panose="020B0503020204020204" pitchFamily="34" charset="-122"/>
                </a:endParaRPr>
              </a:p>
            </p:txBody>
          </p:sp>
          <p:sp>
            <p:nvSpPr>
              <p:cNvPr id="114" name="矩形 113">
                <a:extLst>
                  <a:ext uri="{FF2B5EF4-FFF2-40B4-BE49-F238E27FC236}">
                    <a16:creationId xmlns:a16="http://schemas.microsoft.com/office/drawing/2014/main" id="{C9D725F8-9078-4072-810F-3FED80BC54C3}"/>
                  </a:ext>
                </a:extLst>
              </p:cNvPr>
              <p:cNvSpPr/>
              <p:nvPr/>
            </p:nvSpPr>
            <p:spPr>
              <a:xfrm>
                <a:off x="7291281" y="6386253"/>
                <a:ext cx="457307" cy="201166"/>
              </a:xfrm>
              <a:prstGeom prst="rect">
                <a:avLst/>
              </a:prstGeom>
              <a:noFill/>
              <a:ln w="6350" cap="flat" cmpd="sng" algn="ctr">
                <a:solidFill>
                  <a:schemeClr val="tx1"/>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endParaRPr lang="zh-CN" altLang="en-US" sz="1799" kern="0" dirty="0">
                  <a:latin typeface="Calibri" panose="020F0502020204030204"/>
                  <a:ea typeface="等线" panose="02010600030101010101" pitchFamily="2" charset="-122"/>
                </a:endParaRPr>
              </a:p>
            </p:txBody>
          </p:sp>
          <p:sp>
            <p:nvSpPr>
              <p:cNvPr id="115" name="文本框 114">
                <a:extLst>
                  <a:ext uri="{FF2B5EF4-FFF2-40B4-BE49-F238E27FC236}">
                    <a16:creationId xmlns:a16="http://schemas.microsoft.com/office/drawing/2014/main" id="{40F80A23-A87A-41BB-A015-FE3AFDD601A7}"/>
                  </a:ext>
                </a:extLst>
              </p:cNvPr>
              <p:cNvSpPr txBox="1"/>
              <p:nvPr/>
            </p:nvSpPr>
            <p:spPr>
              <a:xfrm>
                <a:off x="6925275" y="6408539"/>
                <a:ext cx="207783" cy="147916"/>
              </a:xfrm>
              <a:prstGeom prst="rect">
                <a:avLst/>
              </a:prstGeom>
              <a:noFill/>
            </p:spPr>
            <p:txBody>
              <a:bodyPr wrap="none" lIns="0" tIns="0" rIns="0" bIns="0" rtlCol="0">
                <a:spAutoFit/>
              </a:bodyPr>
              <a:lstStyle/>
              <a:p>
                <a:pPr defTabSz="913957">
                  <a:defRPr/>
                </a:pPr>
                <a:r>
                  <a:rPr kumimoji="1" lang="en-US" altLang="zh-CN" sz="700" kern="0" dirty="0">
                    <a:latin typeface="Microsoft YaHei" panose="020B0503020204020204" pitchFamily="34" charset="-122"/>
                    <a:ea typeface="Microsoft YaHei" panose="020B0503020204020204" pitchFamily="34" charset="-122"/>
                  </a:rPr>
                  <a:t>Static</a:t>
                </a:r>
                <a:endParaRPr kumimoji="1" lang="zh-CN" altLang="en-US" sz="700" kern="0" dirty="0">
                  <a:latin typeface="Microsoft YaHei" panose="020B0503020204020204" pitchFamily="34" charset="-122"/>
                  <a:ea typeface="Microsoft YaHei" panose="020B0503020204020204" pitchFamily="34" charset="-122"/>
                </a:endParaRPr>
              </a:p>
            </p:txBody>
          </p:sp>
          <p:sp>
            <p:nvSpPr>
              <p:cNvPr id="116" name="文本框 115">
                <a:extLst>
                  <a:ext uri="{FF2B5EF4-FFF2-40B4-BE49-F238E27FC236}">
                    <a16:creationId xmlns:a16="http://schemas.microsoft.com/office/drawing/2014/main" id="{F5CC83F6-B2FD-4802-AEDA-27C253899433}"/>
                  </a:ext>
                </a:extLst>
              </p:cNvPr>
              <p:cNvSpPr txBox="1"/>
              <p:nvPr/>
            </p:nvSpPr>
            <p:spPr>
              <a:xfrm>
                <a:off x="7361154" y="6418549"/>
                <a:ext cx="335543" cy="147916"/>
              </a:xfrm>
              <a:prstGeom prst="rect">
                <a:avLst/>
              </a:prstGeom>
              <a:noFill/>
            </p:spPr>
            <p:txBody>
              <a:bodyPr wrap="none" lIns="0" tIns="0" rIns="0" bIns="0" rtlCol="0">
                <a:spAutoFit/>
              </a:bodyPr>
              <a:lstStyle/>
              <a:p>
                <a:pPr defTabSz="913957">
                  <a:defRPr/>
                </a:pPr>
                <a:r>
                  <a:rPr kumimoji="1" lang="en-US" altLang="zh-CN" sz="700" kern="0" dirty="0">
                    <a:latin typeface="Microsoft YaHei" panose="020B0503020204020204" pitchFamily="34" charset="-122"/>
                    <a:ea typeface="Microsoft YaHei" panose="020B0503020204020204" pitchFamily="34" charset="-122"/>
                  </a:rPr>
                  <a:t>Adaptive</a:t>
                </a:r>
                <a:endParaRPr kumimoji="1" lang="zh-CN" altLang="en-US" sz="700" kern="0" dirty="0">
                  <a:latin typeface="Microsoft YaHei" panose="020B0503020204020204" pitchFamily="34" charset="-122"/>
                  <a:ea typeface="Microsoft YaHei" panose="020B0503020204020204" pitchFamily="34" charset="-122"/>
                </a:endParaRPr>
              </a:p>
            </p:txBody>
          </p:sp>
          <p:sp>
            <p:nvSpPr>
              <p:cNvPr id="117" name="文本框 116">
                <a:extLst>
                  <a:ext uri="{FF2B5EF4-FFF2-40B4-BE49-F238E27FC236}">
                    <a16:creationId xmlns:a16="http://schemas.microsoft.com/office/drawing/2014/main" id="{46D879FF-CDF2-4A32-9C44-F7DC8997DF7B}"/>
                  </a:ext>
                </a:extLst>
              </p:cNvPr>
              <p:cNvSpPr txBox="1"/>
              <p:nvPr/>
            </p:nvSpPr>
            <p:spPr>
              <a:xfrm>
                <a:off x="7797416" y="6393151"/>
                <a:ext cx="66369" cy="168870"/>
              </a:xfrm>
              <a:prstGeom prst="rect">
                <a:avLst/>
              </a:prstGeom>
              <a:noFill/>
            </p:spPr>
            <p:txBody>
              <a:bodyPr wrap="square" lIns="0" tIns="0" rIns="0" bIns="0" rtlCol="0">
                <a:spAutoFit/>
              </a:bodyPr>
              <a:lstStyle/>
              <a:p>
                <a:pPr defTabSz="913957">
                  <a:defRPr/>
                </a:pPr>
                <a:r>
                  <a:rPr kumimoji="1" lang="en-US" altLang="zh-CN" sz="799" kern="0" dirty="0">
                    <a:latin typeface="Microsoft YaHei" panose="020B0503020204020204" pitchFamily="34" charset="-122"/>
                    <a:ea typeface="Microsoft YaHei" panose="020B0503020204020204" pitchFamily="34" charset="-122"/>
                  </a:rPr>
                  <a:t>…</a:t>
                </a:r>
                <a:endParaRPr kumimoji="1" lang="zh-CN" altLang="en-US" sz="799" kern="0" dirty="0">
                  <a:latin typeface="Microsoft YaHei" panose="020B0503020204020204" pitchFamily="34" charset="-122"/>
                  <a:ea typeface="Microsoft YaHei" panose="020B0503020204020204" pitchFamily="34" charset="-122"/>
                </a:endParaRPr>
              </a:p>
            </p:txBody>
          </p:sp>
        </p:grpSp>
        <p:sp>
          <p:nvSpPr>
            <p:cNvPr id="100" name="矩形 99">
              <a:extLst>
                <a:ext uri="{FF2B5EF4-FFF2-40B4-BE49-F238E27FC236}">
                  <a16:creationId xmlns:a16="http://schemas.microsoft.com/office/drawing/2014/main" id="{0F8773DA-C385-4BD4-9FCE-403448C6B08F}"/>
                </a:ext>
              </a:extLst>
            </p:cNvPr>
            <p:cNvSpPr/>
            <p:nvPr/>
          </p:nvSpPr>
          <p:spPr>
            <a:xfrm>
              <a:off x="8204811" y="5668632"/>
              <a:ext cx="476575" cy="182645"/>
            </a:xfrm>
            <a:prstGeom prst="rect">
              <a:avLst/>
            </a:prstGeom>
            <a:noFill/>
            <a:ln w="6350" cap="flat" cmpd="sng" algn="ctr">
              <a:solidFill>
                <a:schemeClr val="tx1"/>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r>
                <a:rPr lang="en-US" altLang="zh-CN" sz="700" kern="0" dirty="0">
                  <a:latin typeface="微软雅黑" panose="020B0503020204020204" pitchFamily="34" charset="-122"/>
                  <a:ea typeface="微软雅黑" panose="020B0503020204020204" pitchFamily="34" charset="-122"/>
                </a:rPr>
                <a:t>ECMP</a:t>
              </a:r>
              <a:endParaRPr lang="zh-CN" altLang="en-US" sz="700" kern="0" dirty="0">
                <a:latin typeface="微软雅黑" panose="020B0503020204020204" pitchFamily="34" charset="-122"/>
                <a:ea typeface="微软雅黑" panose="020B0503020204020204" pitchFamily="34" charset="-122"/>
              </a:endParaRPr>
            </a:p>
          </p:txBody>
        </p:sp>
        <p:sp>
          <p:nvSpPr>
            <p:cNvPr id="101" name="矩形 100">
              <a:extLst>
                <a:ext uri="{FF2B5EF4-FFF2-40B4-BE49-F238E27FC236}">
                  <a16:creationId xmlns:a16="http://schemas.microsoft.com/office/drawing/2014/main" id="{AA8F57BF-9609-429D-8E1C-380417D7D9F0}"/>
                </a:ext>
              </a:extLst>
            </p:cNvPr>
            <p:cNvSpPr/>
            <p:nvPr/>
          </p:nvSpPr>
          <p:spPr>
            <a:xfrm>
              <a:off x="7687079" y="5638355"/>
              <a:ext cx="465208" cy="228163"/>
            </a:xfrm>
            <a:prstGeom prst="rect">
              <a:avLst/>
            </a:prstGeom>
            <a:solidFill>
              <a:srgbClr val="FCC800">
                <a:lumMod val="60000"/>
                <a:lumOff val="40000"/>
              </a:srgbClr>
            </a:solidFill>
            <a:ln w="12700" cap="flat" cmpd="sng" algn="ctr">
              <a:no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r>
                <a:rPr lang="en-US" altLang="zh-CN" sz="799" kern="0" dirty="0">
                  <a:latin typeface="微软雅黑" panose="020B0503020204020204" pitchFamily="34" charset="-122"/>
                  <a:ea typeface="微软雅黑" panose="020B0503020204020204" pitchFamily="34" charset="-122"/>
                </a:rPr>
                <a:t>LB</a:t>
              </a:r>
              <a:endParaRPr lang="zh-CN" altLang="en-US" sz="799" kern="0" dirty="0">
                <a:latin typeface="微软雅黑" panose="020B0503020204020204" pitchFamily="34" charset="-122"/>
                <a:ea typeface="微软雅黑" panose="020B0503020204020204" pitchFamily="34" charset="-122"/>
              </a:endParaRPr>
            </a:p>
          </p:txBody>
        </p:sp>
        <p:sp>
          <p:nvSpPr>
            <p:cNvPr id="102" name="矩形 101">
              <a:extLst>
                <a:ext uri="{FF2B5EF4-FFF2-40B4-BE49-F238E27FC236}">
                  <a16:creationId xmlns:a16="http://schemas.microsoft.com/office/drawing/2014/main" id="{CEBC481C-83E6-411B-A33B-C848DE765BD3}"/>
                </a:ext>
              </a:extLst>
            </p:cNvPr>
            <p:cNvSpPr/>
            <p:nvPr/>
          </p:nvSpPr>
          <p:spPr>
            <a:xfrm>
              <a:off x="8204811" y="5928454"/>
              <a:ext cx="476575" cy="178948"/>
            </a:xfrm>
            <a:prstGeom prst="rect">
              <a:avLst/>
            </a:prstGeom>
            <a:noFill/>
            <a:ln w="6350" cap="flat" cmpd="sng" algn="ctr">
              <a:solidFill>
                <a:schemeClr val="tx1"/>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r>
                <a:rPr lang="en-US" altLang="zh-CN" sz="700" kern="0" dirty="0">
                  <a:latin typeface="微软雅黑" panose="020B0503020204020204" pitchFamily="34" charset="-122"/>
                  <a:ea typeface="微软雅黑" panose="020B0503020204020204" pitchFamily="34" charset="-122"/>
                </a:rPr>
                <a:t>PFC</a:t>
              </a:r>
              <a:endParaRPr lang="zh-CN" altLang="en-US" sz="700" kern="0" dirty="0">
                <a:latin typeface="微软雅黑" panose="020B0503020204020204" pitchFamily="34" charset="-122"/>
                <a:ea typeface="微软雅黑" panose="020B0503020204020204" pitchFamily="34" charset="-122"/>
              </a:endParaRPr>
            </a:p>
          </p:txBody>
        </p:sp>
        <p:sp>
          <p:nvSpPr>
            <p:cNvPr id="104" name="矩形 103">
              <a:extLst>
                <a:ext uri="{FF2B5EF4-FFF2-40B4-BE49-F238E27FC236}">
                  <a16:creationId xmlns:a16="http://schemas.microsoft.com/office/drawing/2014/main" id="{7D15ECC8-25D0-4412-9C21-8ED913AF42B9}"/>
                </a:ext>
              </a:extLst>
            </p:cNvPr>
            <p:cNvSpPr/>
            <p:nvPr/>
          </p:nvSpPr>
          <p:spPr>
            <a:xfrm>
              <a:off x="7687298" y="5900564"/>
              <a:ext cx="464989" cy="213459"/>
            </a:xfrm>
            <a:prstGeom prst="rect">
              <a:avLst/>
            </a:prstGeom>
            <a:solidFill>
              <a:srgbClr val="FCC800">
                <a:lumMod val="60000"/>
                <a:lumOff val="40000"/>
              </a:srgbClr>
            </a:solidFill>
            <a:ln w="12700" cap="flat" cmpd="sng" algn="ctr">
              <a:no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r>
                <a:rPr lang="en-US" altLang="zh-CN" sz="799" kern="0" dirty="0">
                  <a:latin typeface="微软雅黑" panose="020B0503020204020204" pitchFamily="34" charset="-122"/>
                  <a:ea typeface="微软雅黑" panose="020B0503020204020204" pitchFamily="34" charset="-122"/>
                </a:rPr>
                <a:t>FC</a:t>
              </a:r>
              <a:endParaRPr lang="zh-CN" altLang="en-US" sz="799" kern="0" dirty="0">
                <a:latin typeface="微软雅黑" panose="020B0503020204020204" pitchFamily="34" charset="-122"/>
                <a:ea typeface="微软雅黑" panose="020B0503020204020204" pitchFamily="34" charset="-122"/>
              </a:endParaRPr>
            </a:p>
          </p:txBody>
        </p:sp>
        <p:sp>
          <p:nvSpPr>
            <p:cNvPr id="105" name="矩形 104">
              <a:extLst>
                <a:ext uri="{FF2B5EF4-FFF2-40B4-BE49-F238E27FC236}">
                  <a16:creationId xmlns:a16="http://schemas.microsoft.com/office/drawing/2014/main" id="{CA12E904-9112-4C72-B257-1D6C06CE1247}"/>
                </a:ext>
              </a:extLst>
            </p:cNvPr>
            <p:cNvSpPr/>
            <p:nvPr/>
          </p:nvSpPr>
          <p:spPr>
            <a:xfrm>
              <a:off x="8718893" y="5668633"/>
              <a:ext cx="456198" cy="190138"/>
            </a:xfrm>
            <a:prstGeom prst="rect">
              <a:avLst/>
            </a:prstGeom>
            <a:noFill/>
            <a:ln w="6350" cap="flat" cmpd="sng" algn="ctr">
              <a:solidFill>
                <a:schemeClr val="tx1"/>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r>
                <a:rPr lang="en-US" altLang="zh-CN" sz="700" kern="0" dirty="0">
                  <a:latin typeface="微软雅黑" panose="020B0503020204020204" pitchFamily="34" charset="-122"/>
                  <a:ea typeface="微软雅黑" panose="020B0503020204020204" pitchFamily="34" charset="-122"/>
                </a:rPr>
                <a:t>PS</a:t>
              </a:r>
              <a:endParaRPr lang="zh-CN" altLang="en-US" sz="700" kern="0" dirty="0">
                <a:latin typeface="微软雅黑" panose="020B0503020204020204" pitchFamily="34" charset="-122"/>
                <a:ea typeface="微软雅黑" panose="020B0503020204020204" pitchFamily="34" charset="-122"/>
              </a:endParaRPr>
            </a:p>
          </p:txBody>
        </p:sp>
        <p:sp>
          <p:nvSpPr>
            <p:cNvPr id="106" name="矩形 105">
              <a:extLst>
                <a:ext uri="{FF2B5EF4-FFF2-40B4-BE49-F238E27FC236}">
                  <a16:creationId xmlns:a16="http://schemas.microsoft.com/office/drawing/2014/main" id="{DFF56EED-B134-4566-8E9B-71AC9863EB64}"/>
                </a:ext>
              </a:extLst>
            </p:cNvPr>
            <p:cNvSpPr/>
            <p:nvPr/>
          </p:nvSpPr>
          <p:spPr>
            <a:xfrm>
              <a:off x="8717619" y="5926333"/>
              <a:ext cx="457471" cy="178948"/>
            </a:xfrm>
            <a:prstGeom prst="rect">
              <a:avLst/>
            </a:prstGeom>
            <a:noFill/>
            <a:ln w="6350" cap="flat" cmpd="sng" algn="ctr">
              <a:solidFill>
                <a:schemeClr val="tx1"/>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r>
                <a:rPr lang="en-US" altLang="zh-CN" sz="700" kern="0" dirty="0">
                  <a:latin typeface="微软雅黑" panose="020B0503020204020204" pitchFamily="34" charset="-122"/>
                  <a:ea typeface="微软雅黑" panose="020B0503020204020204" pitchFamily="34" charset="-122"/>
                </a:rPr>
                <a:t>CBC</a:t>
              </a:r>
              <a:endParaRPr lang="zh-CN" altLang="en-US" sz="700" kern="0" dirty="0">
                <a:latin typeface="微软雅黑" panose="020B0503020204020204" pitchFamily="34" charset="-122"/>
                <a:ea typeface="微软雅黑" panose="020B0503020204020204" pitchFamily="34" charset="-122"/>
              </a:endParaRPr>
            </a:p>
          </p:txBody>
        </p:sp>
        <p:sp>
          <p:nvSpPr>
            <p:cNvPr id="107" name="矩形 106">
              <a:extLst>
                <a:ext uri="{FF2B5EF4-FFF2-40B4-BE49-F238E27FC236}">
                  <a16:creationId xmlns:a16="http://schemas.microsoft.com/office/drawing/2014/main" id="{5C2E4967-B6FC-465F-875A-9EBBBB6F7130}"/>
                </a:ext>
              </a:extLst>
            </p:cNvPr>
            <p:cNvSpPr/>
            <p:nvPr/>
          </p:nvSpPr>
          <p:spPr>
            <a:xfrm>
              <a:off x="7684128" y="6176042"/>
              <a:ext cx="464988" cy="457463"/>
            </a:xfrm>
            <a:prstGeom prst="rect">
              <a:avLst/>
            </a:prstGeom>
            <a:solidFill>
              <a:srgbClr val="FCC800">
                <a:lumMod val="60000"/>
                <a:lumOff val="40000"/>
              </a:srgbClr>
            </a:solidFill>
            <a:ln w="12700" cap="flat" cmpd="sng" algn="ctr">
              <a:no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r>
                <a:rPr lang="en-US" altLang="zh-CN" sz="686" kern="0" dirty="0">
                  <a:latin typeface="微软雅黑" panose="020B0503020204020204" pitchFamily="34" charset="-122"/>
                  <a:ea typeface="微软雅黑" panose="020B0503020204020204" pitchFamily="34" charset="-122"/>
                </a:rPr>
                <a:t>Routing</a:t>
              </a:r>
            </a:p>
            <a:p>
              <a:pPr algn="ctr" defTabSz="913957">
                <a:defRPr/>
              </a:pPr>
              <a:r>
                <a:rPr lang="en-US" altLang="zh-CN" sz="686" kern="0" dirty="0">
                  <a:latin typeface="微软雅黑" panose="020B0503020204020204" pitchFamily="34" charset="-122"/>
                  <a:ea typeface="微软雅黑" panose="020B0503020204020204" pitchFamily="34" charset="-122"/>
                </a:rPr>
                <a:t>Validation</a:t>
              </a:r>
            </a:p>
          </p:txBody>
        </p:sp>
        <p:sp>
          <p:nvSpPr>
            <p:cNvPr id="108" name="矩形 107">
              <a:extLst>
                <a:ext uri="{FF2B5EF4-FFF2-40B4-BE49-F238E27FC236}">
                  <a16:creationId xmlns:a16="http://schemas.microsoft.com/office/drawing/2014/main" id="{AC8E8454-CBAF-4519-B9C9-602F9B4CBC63}"/>
                </a:ext>
              </a:extLst>
            </p:cNvPr>
            <p:cNvSpPr/>
            <p:nvPr/>
          </p:nvSpPr>
          <p:spPr>
            <a:xfrm>
              <a:off x="8200023" y="6180267"/>
              <a:ext cx="974903" cy="197266"/>
            </a:xfrm>
            <a:prstGeom prst="rect">
              <a:avLst/>
            </a:prstGeom>
            <a:noFill/>
            <a:ln w="6350" cap="flat" cmpd="sng" algn="ctr">
              <a:solidFill>
                <a:schemeClr val="tx1"/>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r>
                <a:rPr lang="en-US" altLang="zh-CN" sz="700" kern="0" dirty="0" err="1">
                  <a:latin typeface="微软雅黑" panose="020B0503020204020204" pitchFamily="34" charset="-122"/>
                  <a:ea typeface="微软雅黑" panose="020B0503020204020204" pitchFamily="34" charset="-122"/>
                </a:rPr>
                <a:t>hccn</a:t>
              </a:r>
              <a:r>
                <a:rPr lang="en-US" altLang="zh-CN" sz="700" kern="0" dirty="0">
                  <a:latin typeface="微软雅黑" panose="020B0503020204020204" pitchFamily="34" charset="-122"/>
                  <a:ea typeface="微软雅黑" panose="020B0503020204020204" pitchFamily="34" charset="-122"/>
                </a:rPr>
                <a:t> tool -ping</a:t>
              </a:r>
              <a:endParaRPr lang="zh-CN" altLang="en-US" sz="700" kern="0" dirty="0">
                <a:latin typeface="微软雅黑" panose="020B0503020204020204" pitchFamily="34" charset="-122"/>
                <a:ea typeface="微软雅黑" panose="020B0503020204020204" pitchFamily="34" charset="-122"/>
              </a:endParaRPr>
            </a:p>
          </p:txBody>
        </p:sp>
        <p:sp>
          <p:nvSpPr>
            <p:cNvPr id="109" name="矩形 108">
              <a:extLst>
                <a:ext uri="{FF2B5EF4-FFF2-40B4-BE49-F238E27FC236}">
                  <a16:creationId xmlns:a16="http://schemas.microsoft.com/office/drawing/2014/main" id="{32867744-FEF2-4EA5-A232-6B97A47C4810}"/>
                </a:ext>
              </a:extLst>
            </p:cNvPr>
            <p:cNvSpPr/>
            <p:nvPr/>
          </p:nvSpPr>
          <p:spPr>
            <a:xfrm>
              <a:off x="8204811" y="6422845"/>
              <a:ext cx="970598" cy="205197"/>
            </a:xfrm>
            <a:prstGeom prst="rect">
              <a:avLst/>
            </a:prstGeom>
            <a:noFill/>
            <a:ln w="6350" cap="flat" cmpd="sng" algn="ctr">
              <a:solidFill>
                <a:schemeClr val="tx1"/>
              </a:solid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3957">
                <a:defRPr/>
              </a:pPr>
              <a:r>
                <a:rPr lang="en-US" altLang="zh-CN" sz="700" kern="0" dirty="0">
                  <a:latin typeface="微软雅黑" panose="020B0503020204020204" pitchFamily="34" charset="-122"/>
                  <a:ea typeface="微软雅黑" panose="020B0503020204020204" pitchFamily="34" charset="-122"/>
                </a:rPr>
                <a:t>BW measurement</a:t>
              </a:r>
            </a:p>
          </p:txBody>
        </p:sp>
      </p:grpSp>
      <p:sp>
        <p:nvSpPr>
          <p:cNvPr id="118" name="矩形 117">
            <a:extLst>
              <a:ext uri="{FF2B5EF4-FFF2-40B4-BE49-F238E27FC236}">
                <a16:creationId xmlns:a16="http://schemas.microsoft.com/office/drawing/2014/main" id="{27AF90C4-ED1F-4B93-9E89-BCE78EB9FD88}"/>
              </a:ext>
            </a:extLst>
          </p:cNvPr>
          <p:cNvSpPr/>
          <p:nvPr/>
        </p:nvSpPr>
        <p:spPr>
          <a:xfrm>
            <a:off x="5185258" y="4648776"/>
            <a:ext cx="1733317" cy="366461"/>
          </a:xfrm>
          <a:prstGeom prst="rect">
            <a:avLst/>
          </a:prstGeom>
          <a:noFill/>
          <a:ln w="12700" cap="flat" cmpd="sng" algn="ctr">
            <a:noFill/>
            <a:prstDash val="solid"/>
            <a:miter lim="800000"/>
          </a:ln>
          <a:effectLst/>
        </p:spPr>
        <p:txBody>
          <a:bodyPr rtlCol="0" anchor="ctr"/>
          <a:lstStyle/>
          <a:p>
            <a:pPr algn="ctr" defTabSz="912165">
              <a:defRPr/>
            </a:pPr>
            <a:r>
              <a:rPr lang="en-US" altLang="zh-CN" sz="900" b="1" kern="0" dirty="0">
                <a:latin typeface="微软雅黑" panose="020B0503020204020204" pitchFamily="34" charset="-122"/>
                <a:ea typeface="微软雅黑" panose="020B0503020204020204" pitchFamily="34" charset="-122"/>
              </a:rPr>
              <a:t>Python </a:t>
            </a:r>
            <a:r>
              <a:rPr lang="zh-CN" altLang="en-US" sz="900" b="1" kern="0" dirty="0">
                <a:latin typeface="微软雅黑" panose="020B0503020204020204" pitchFamily="34" charset="-122"/>
                <a:ea typeface="微软雅黑" panose="020B0503020204020204" pitchFamily="34" charset="-122"/>
              </a:rPr>
              <a:t>→ </a:t>
            </a:r>
            <a:r>
              <a:rPr lang="en-US" altLang="zh-CN" sz="900" b="1" kern="0" dirty="0">
                <a:latin typeface="微软雅黑" panose="020B0503020204020204" pitchFamily="34" charset="-122"/>
                <a:ea typeface="微软雅黑" panose="020B0503020204020204" pitchFamily="34" charset="-122"/>
              </a:rPr>
              <a:t>HCCL</a:t>
            </a:r>
            <a:endParaRPr lang="zh-CN" altLang="en-US" sz="900" b="1" kern="0" dirty="0">
              <a:latin typeface="微软雅黑" panose="020B0503020204020204" pitchFamily="34" charset="-122"/>
              <a:ea typeface="微软雅黑" panose="020B0503020204020204" pitchFamily="34" charset="-122"/>
            </a:endParaRPr>
          </a:p>
        </p:txBody>
      </p:sp>
      <p:pic>
        <p:nvPicPr>
          <p:cNvPr id="119" name="Picture 2" descr="File:Python.svg - 維基學院，自由的研習社群">
            <a:extLst>
              <a:ext uri="{FF2B5EF4-FFF2-40B4-BE49-F238E27FC236}">
                <a16:creationId xmlns:a16="http://schemas.microsoft.com/office/drawing/2014/main" id="{DABB358E-E607-4288-92E3-19F3A4BF919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3434" y="4651334"/>
            <a:ext cx="445673" cy="410008"/>
          </a:xfrm>
          <a:prstGeom prst="rect">
            <a:avLst/>
          </a:prstGeom>
          <a:noFill/>
          <a:extLst>
            <a:ext uri="{909E8E84-426E-40DD-AFC4-6F175D3DCCD1}">
              <a14:hiddenFill xmlns:a14="http://schemas.microsoft.com/office/drawing/2010/main">
                <a:solidFill>
                  <a:srgbClr val="FFFFFF"/>
                </a:solidFill>
              </a14:hiddenFill>
            </a:ext>
          </a:extLst>
        </p:spPr>
      </p:pic>
      <p:pic>
        <p:nvPicPr>
          <p:cNvPr id="120" name="图片 119">
            <a:extLst>
              <a:ext uri="{FF2B5EF4-FFF2-40B4-BE49-F238E27FC236}">
                <a16:creationId xmlns:a16="http://schemas.microsoft.com/office/drawing/2014/main" id="{95C230AB-C9C7-45F9-8B81-79AA16449C8F}"/>
              </a:ext>
            </a:extLst>
          </p:cNvPr>
          <p:cNvPicPr>
            <a:picLocks noChangeAspect="1"/>
          </p:cNvPicPr>
          <p:nvPr/>
        </p:nvPicPr>
        <p:blipFill>
          <a:blip r:embed="rId5"/>
          <a:stretch>
            <a:fillRect/>
          </a:stretch>
        </p:blipFill>
        <p:spPr>
          <a:xfrm>
            <a:off x="6623097" y="4671343"/>
            <a:ext cx="871538" cy="338435"/>
          </a:xfrm>
          <a:prstGeom prst="rect">
            <a:avLst/>
          </a:prstGeom>
        </p:spPr>
      </p:pic>
      <p:sp>
        <p:nvSpPr>
          <p:cNvPr id="121" name="文本框 120">
            <a:extLst>
              <a:ext uri="{FF2B5EF4-FFF2-40B4-BE49-F238E27FC236}">
                <a16:creationId xmlns:a16="http://schemas.microsoft.com/office/drawing/2014/main" id="{D870E059-C355-4776-8234-64DB2B624195}"/>
              </a:ext>
            </a:extLst>
          </p:cNvPr>
          <p:cNvSpPr txBox="1"/>
          <p:nvPr/>
        </p:nvSpPr>
        <p:spPr>
          <a:xfrm>
            <a:off x="4503290" y="3784654"/>
            <a:ext cx="3567815" cy="703526"/>
          </a:xfrm>
          <a:prstGeom prst="rect">
            <a:avLst/>
          </a:prstGeom>
          <a:noFill/>
        </p:spPr>
        <p:txBody>
          <a:bodyPr wrap="square" lIns="0" tIns="0" rIns="0" bIns="0" rtlCol="0">
            <a:spAutoFit/>
          </a:bodyPr>
          <a:lstStyle/>
          <a:p>
            <a:pPr algn="ctr" defTabSz="913669">
              <a:defRPr/>
            </a:pPr>
            <a:r>
              <a:rPr kumimoji="1" lang="en-US" altLang="zh-CN" sz="1143" dirty="0">
                <a:latin typeface="Microsoft YaHei" panose="020B0503020204020204" pitchFamily="34" charset="-122"/>
                <a:ea typeface="Microsoft YaHei" panose="020B0503020204020204" pitchFamily="34" charset="-122"/>
              </a:rPr>
              <a:t>Translating Python algorithm code to HCCL collective communication library supports efficient and agile innovation and development of communication algorithms.</a:t>
            </a:r>
          </a:p>
        </p:txBody>
      </p:sp>
      <p:sp>
        <p:nvSpPr>
          <p:cNvPr id="122" name="矩形: 圆角 121">
            <a:extLst>
              <a:ext uri="{FF2B5EF4-FFF2-40B4-BE49-F238E27FC236}">
                <a16:creationId xmlns:a16="http://schemas.microsoft.com/office/drawing/2014/main" id="{C7F6AA38-E098-4D41-80BA-893AC2ADA810}"/>
              </a:ext>
            </a:extLst>
          </p:cNvPr>
          <p:cNvSpPr/>
          <p:nvPr/>
        </p:nvSpPr>
        <p:spPr>
          <a:xfrm>
            <a:off x="506487" y="1353449"/>
            <a:ext cx="3616705" cy="4256720"/>
          </a:xfrm>
          <a:prstGeom prst="roundRect">
            <a:avLst>
              <a:gd name="adj" fmla="val 2641"/>
            </a:avLst>
          </a:prstGeom>
          <a:noFill/>
          <a:ln w="25400" cap="flat" cmpd="sng" algn="ctr">
            <a:solidFill>
              <a:schemeClr val="tx1"/>
            </a:solidFill>
            <a:prstDash val="solid"/>
            <a:round/>
            <a:headEnd type="none" w="med" len="med"/>
            <a:tailEnd type="none" w="med" len="med"/>
          </a:ln>
          <a:effectLst/>
        </p:spPr>
        <p:txBody>
          <a:bodyPr rot="0" spcFirstLastPara="0" vertOverflow="overflow" horzOverflow="overflow" vert="horz" wrap="none" lIns="69681" tIns="109734" rIns="69681" bIns="34840" numCol="1" spcCol="0" rtlCol="0" fromWordArt="0" anchor="t" anchorCtr="0" forceAA="0" compatLnSpc="1">
            <a:prstTxWarp prst="textNoShape">
              <a:avLst/>
            </a:prstTxWarp>
            <a:noAutofit/>
          </a:bodyPr>
          <a:lstStyle/>
          <a:p>
            <a:pPr algn="ctr" defTabSz="696832">
              <a:defRPr/>
            </a:pPr>
            <a:endParaRPr kumimoji="1" lang="zh-CN" altLang="en-US" sz="1067" b="1" kern="0" dirty="0">
              <a:latin typeface="微软雅黑" panose="020B0503020204020204" pitchFamily="34" charset="-122"/>
              <a:ea typeface="微软雅黑" panose="020B0503020204020204" pitchFamily="34" charset="-122"/>
            </a:endParaRPr>
          </a:p>
        </p:txBody>
      </p:sp>
      <p:sp>
        <p:nvSpPr>
          <p:cNvPr id="123" name="文本框 122">
            <a:extLst>
              <a:ext uri="{FF2B5EF4-FFF2-40B4-BE49-F238E27FC236}">
                <a16:creationId xmlns:a16="http://schemas.microsoft.com/office/drawing/2014/main" id="{29524FA1-CD87-498D-A852-7D9595DAAC0B}"/>
              </a:ext>
            </a:extLst>
          </p:cNvPr>
          <p:cNvSpPr txBox="1"/>
          <p:nvPr/>
        </p:nvSpPr>
        <p:spPr>
          <a:xfrm>
            <a:off x="901387" y="1262725"/>
            <a:ext cx="2978774" cy="211148"/>
          </a:xfrm>
          <a:prstGeom prst="rect">
            <a:avLst/>
          </a:prstGeom>
          <a:solidFill>
            <a:schemeClr val="bg1"/>
          </a:solidFill>
        </p:spPr>
        <p:txBody>
          <a:bodyPr wrap="square" lIns="0" tIns="0" rIns="0" bIns="0" rtlCol="0">
            <a:spAutoFit/>
          </a:bodyPr>
          <a:lstStyle>
            <a:defPPr>
              <a:defRPr lang="en-US"/>
            </a:defPPr>
            <a:lvl1pPr algn="ctr" defTabSz="914112">
              <a:defRPr kumimoji="1" sz="2000" b="1">
                <a:solidFill>
                  <a:srgbClr val="000000"/>
                </a:solidFill>
                <a:latin typeface="Microsoft YaHei" panose="020B0503020204020204" pitchFamily="34" charset="-122"/>
                <a:ea typeface="Microsoft YaHei" panose="020B0503020204020204" pitchFamily="34" charset="-122"/>
              </a:defRPr>
            </a:lvl1pPr>
          </a:lstStyle>
          <a:p>
            <a:pPr defTabSz="913669">
              <a:defRPr/>
            </a:pPr>
            <a:r>
              <a:rPr lang="en-US" altLang="zh-CN" sz="1372" kern="0" dirty="0" err="1">
                <a:solidFill>
                  <a:schemeClr val="tx1"/>
                </a:solidFill>
              </a:rPr>
              <a:t>SuperPod</a:t>
            </a:r>
            <a:r>
              <a:rPr lang="en-US" altLang="zh-CN" sz="1372" kern="0" dirty="0">
                <a:solidFill>
                  <a:schemeClr val="tx1"/>
                </a:solidFill>
              </a:rPr>
              <a:t> topology innovation</a:t>
            </a:r>
            <a:endParaRPr lang="zh-CN" altLang="en-US" sz="1372" kern="0" dirty="0">
              <a:solidFill>
                <a:schemeClr val="tx1"/>
              </a:solidFill>
            </a:endParaRPr>
          </a:p>
        </p:txBody>
      </p:sp>
      <p:sp>
        <p:nvSpPr>
          <p:cNvPr id="124" name="矩形: 圆角 123">
            <a:extLst>
              <a:ext uri="{FF2B5EF4-FFF2-40B4-BE49-F238E27FC236}">
                <a16:creationId xmlns:a16="http://schemas.microsoft.com/office/drawing/2014/main" id="{F0EC4782-8321-44B6-AC85-F0FED4A17055}"/>
              </a:ext>
            </a:extLst>
          </p:cNvPr>
          <p:cNvSpPr/>
          <p:nvPr/>
        </p:nvSpPr>
        <p:spPr>
          <a:xfrm>
            <a:off x="4232022" y="1347596"/>
            <a:ext cx="4098583" cy="4254279"/>
          </a:xfrm>
          <a:prstGeom prst="roundRect">
            <a:avLst>
              <a:gd name="adj" fmla="val 2559"/>
            </a:avLst>
          </a:prstGeom>
          <a:noFill/>
          <a:ln w="25400" cap="flat" cmpd="sng" algn="ctr">
            <a:solidFill>
              <a:schemeClr val="tx1"/>
            </a:solidFill>
            <a:prstDash val="solid"/>
            <a:round/>
            <a:headEnd type="none" w="med" len="med"/>
            <a:tailEnd type="none" w="med" len="med"/>
          </a:ln>
          <a:effectLst/>
        </p:spPr>
        <p:txBody>
          <a:bodyPr rot="0" spcFirstLastPara="0" vertOverflow="overflow" horzOverflow="overflow" vert="horz" wrap="none" lIns="69681" tIns="109734" rIns="69681" bIns="34840" numCol="1" spcCol="0" rtlCol="0" fromWordArt="0" anchor="t" anchorCtr="0" forceAA="0" compatLnSpc="1">
            <a:prstTxWarp prst="textNoShape">
              <a:avLst/>
            </a:prstTxWarp>
            <a:noAutofit/>
          </a:bodyPr>
          <a:lstStyle/>
          <a:p>
            <a:pPr algn="ctr" defTabSz="696832"/>
            <a:endParaRPr kumimoji="1" lang="zh-CN" altLang="en-US" sz="1067" b="1" kern="0" dirty="0">
              <a:latin typeface="微软雅黑" panose="020B0503020204020204" pitchFamily="34" charset="-122"/>
              <a:ea typeface="微软雅黑" panose="020B0503020204020204" pitchFamily="34" charset="-122"/>
            </a:endParaRPr>
          </a:p>
        </p:txBody>
      </p:sp>
      <p:sp>
        <p:nvSpPr>
          <p:cNvPr id="125" name="文本框 124">
            <a:extLst>
              <a:ext uri="{FF2B5EF4-FFF2-40B4-BE49-F238E27FC236}">
                <a16:creationId xmlns:a16="http://schemas.microsoft.com/office/drawing/2014/main" id="{AAF92107-90F8-4749-ACAF-C79A8DF37A34}"/>
              </a:ext>
            </a:extLst>
          </p:cNvPr>
          <p:cNvSpPr txBox="1"/>
          <p:nvPr/>
        </p:nvSpPr>
        <p:spPr>
          <a:xfrm>
            <a:off x="4599119" y="1222501"/>
            <a:ext cx="3376159" cy="422295"/>
          </a:xfrm>
          <a:prstGeom prst="rect">
            <a:avLst/>
          </a:prstGeom>
          <a:solidFill>
            <a:schemeClr val="bg1"/>
          </a:solidFill>
        </p:spPr>
        <p:txBody>
          <a:bodyPr wrap="square" lIns="0" tIns="0" rIns="0" bIns="0" rtlCol="0">
            <a:spAutoFit/>
          </a:bodyPr>
          <a:lstStyle>
            <a:defPPr>
              <a:defRPr lang="en-US"/>
            </a:defPPr>
            <a:lvl1pPr algn="ctr" defTabSz="913669">
              <a:defRPr kumimoji="1" sz="1372" b="1" kern="0">
                <a:latin typeface="Microsoft YaHei" panose="020B0503020204020204" pitchFamily="34" charset="-122"/>
                <a:ea typeface="Microsoft YaHei" panose="020B0503020204020204" pitchFamily="34" charset="-122"/>
              </a:defRPr>
            </a:lvl1pPr>
          </a:lstStyle>
          <a:p>
            <a:r>
              <a:rPr lang="en-US" altLang="zh-CN" dirty="0"/>
              <a:t>Innovations in Routing and Collective Communication Algorithms</a:t>
            </a:r>
            <a:endParaRPr lang="zh-CN" altLang="en-US" dirty="0"/>
          </a:p>
        </p:txBody>
      </p:sp>
      <p:sp>
        <p:nvSpPr>
          <p:cNvPr id="126" name="文本框 125">
            <a:extLst>
              <a:ext uri="{FF2B5EF4-FFF2-40B4-BE49-F238E27FC236}">
                <a16:creationId xmlns:a16="http://schemas.microsoft.com/office/drawing/2014/main" id="{4C8A31D2-711B-4DE4-B9BE-DFB25E523DDF}"/>
              </a:ext>
            </a:extLst>
          </p:cNvPr>
          <p:cNvSpPr txBox="1"/>
          <p:nvPr/>
        </p:nvSpPr>
        <p:spPr>
          <a:xfrm>
            <a:off x="726088" y="1565386"/>
            <a:ext cx="3133326" cy="553613"/>
          </a:xfrm>
          <a:prstGeom prst="rect">
            <a:avLst/>
          </a:prstGeom>
          <a:noFill/>
        </p:spPr>
        <p:txBody>
          <a:bodyPr wrap="square" lIns="0" tIns="0" rIns="0" bIns="0" rtlCol="0">
            <a:spAutoFit/>
          </a:bodyPr>
          <a:lstStyle/>
          <a:p>
            <a:pPr algn="ctr" defTabSz="914035">
              <a:defRPr/>
            </a:pPr>
            <a:r>
              <a:rPr kumimoji="1" lang="en-US" altLang="zh-CN" sz="1199" dirty="0">
                <a:latin typeface="Microsoft YaHei" panose="020B0503020204020204" pitchFamily="34" charset="-122"/>
                <a:ea typeface="Microsoft YaHei" panose="020B0503020204020204" pitchFamily="34" charset="-122"/>
              </a:rPr>
              <a:t>Supporting UB-mesh topology (Example 1) and innovative switching topology (Example 2) prototype development.</a:t>
            </a:r>
            <a:endParaRPr kumimoji="1" lang="zh-CN" altLang="en-US" sz="1199" dirty="0">
              <a:latin typeface="Microsoft YaHei" panose="020B0503020204020204" pitchFamily="34" charset="-122"/>
              <a:ea typeface="Microsoft YaHei" panose="020B0503020204020204" pitchFamily="34" charset="-122"/>
            </a:endParaRPr>
          </a:p>
        </p:txBody>
      </p:sp>
      <p:sp>
        <p:nvSpPr>
          <p:cNvPr id="127" name="矩形: 圆角 126">
            <a:extLst>
              <a:ext uri="{FF2B5EF4-FFF2-40B4-BE49-F238E27FC236}">
                <a16:creationId xmlns:a16="http://schemas.microsoft.com/office/drawing/2014/main" id="{BE0D679F-D536-446D-B092-61738050D54E}"/>
              </a:ext>
            </a:extLst>
          </p:cNvPr>
          <p:cNvSpPr/>
          <p:nvPr/>
        </p:nvSpPr>
        <p:spPr>
          <a:xfrm>
            <a:off x="8489615" y="1353449"/>
            <a:ext cx="3554800" cy="4254279"/>
          </a:xfrm>
          <a:prstGeom prst="roundRect">
            <a:avLst>
              <a:gd name="adj" fmla="val 2353"/>
            </a:avLst>
          </a:prstGeom>
          <a:noFill/>
          <a:ln w="25400" cap="flat" cmpd="sng" algn="ctr">
            <a:solidFill>
              <a:schemeClr val="tx1"/>
            </a:solidFill>
            <a:prstDash val="solid"/>
            <a:round/>
            <a:headEnd type="none" w="med" len="med"/>
            <a:tailEnd type="none" w="med" len="med"/>
          </a:ln>
          <a:effectLst/>
        </p:spPr>
        <p:txBody>
          <a:bodyPr rot="0" spcFirstLastPara="0" vertOverflow="overflow" horzOverflow="overflow" vert="horz" wrap="none" lIns="69681" tIns="109734" rIns="69681" bIns="34840" numCol="1" spcCol="0" rtlCol="0" fromWordArt="0" anchor="t" anchorCtr="0" forceAA="0" compatLnSpc="1">
            <a:prstTxWarp prst="textNoShape">
              <a:avLst/>
            </a:prstTxWarp>
            <a:noAutofit/>
          </a:bodyPr>
          <a:lstStyle/>
          <a:p>
            <a:pPr algn="ctr" defTabSz="696832"/>
            <a:endParaRPr kumimoji="1" lang="zh-CN" altLang="en-US" sz="1067" b="1" kern="0" dirty="0">
              <a:latin typeface="微软雅黑" panose="020B0503020204020204" pitchFamily="34" charset="-122"/>
              <a:ea typeface="微软雅黑" panose="020B0503020204020204" pitchFamily="34" charset="-122"/>
            </a:endParaRPr>
          </a:p>
        </p:txBody>
      </p:sp>
      <p:sp>
        <p:nvSpPr>
          <p:cNvPr id="128" name="文本框 127">
            <a:extLst>
              <a:ext uri="{FF2B5EF4-FFF2-40B4-BE49-F238E27FC236}">
                <a16:creationId xmlns:a16="http://schemas.microsoft.com/office/drawing/2014/main" id="{C17E7F24-60BA-46B8-9ECE-A30D59760D11}"/>
              </a:ext>
            </a:extLst>
          </p:cNvPr>
          <p:cNvSpPr txBox="1"/>
          <p:nvPr/>
        </p:nvSpPr>
        <p:spPr>
          <a:xfrm>
            <a:off x="8815989" y="1231411"/>
            <a:ext cx="2976990" cy="422295"/>
          </a:xfrm>
          <a:prstGeom prst="rect">
            <a:avLst/>
          </a:prstGeom>
          <a:solidFill>
            <a:schemeClr val="bg1"/>
          </a:solidFill>
        </p:spPr>
        <p:txBody>
          <a:bodyPr wrap="square" lIns="0" tIns="0" rIns="0" bIns="0" rtlCol="0">
            <a:spAutoFit/>
          </a:bodyPr>
          <a:lstStyle>
            <a:defPPr>
              <a:defRPr lang="en-US"/>
            </a:defPPr>
            <a:lvl1pPr algn="ctr" defTabSz="913669">
              <a:defRPr kumimoji="1" sz="1372" b="1" kern="0">
                <a:latin typeface="Microsoft YaHei" panose="020B0503020204020204" pitchFamily="34" charset="-122"/>
                <a:ea typeface="Microsoft YaHei" panose="020B0503020204020204" pitchFamily="34" charset="-122"/>
              </a:defRPr>
            </a:lvl1pPr>
          </a:lstStyle>
          <a:p>
            <a:r>
              <a:rPr lang="en-US" altLang="zh-CN" dirty="0"/>
              <a:t>Network data monitoring, platform data visualization</a:t>
            </a:r>
            <a:endParaRPr lang="zh-CN" altLang="en-US" dirty="0"/>
          </a:p>
        </p:txBody>
      </p:sp>
      <p:sp>
        <p:nvSpPr>
          <p:cNvPr id="129" name="文本框 128">
            <a:extLst>
              <a:ext uri="{FF2B5EF4-FFF2-40B4-BE49-F238E27FC236}">
                <a16:creationId xmlns:a16="http://schemas.microsoft.com/office/drawing/2014/main" id="{87C1691B-C703-42BB-A00F-5003FC2C4154}"/>
              </a:ext>
            </a:extLst>
          </p:cNvPr>
          <p:cNvSpPr txBox="1"/>
          <p:nvPr/>
        </p:nvSpPr>
        <p:spPr>
          <a:xfrm>
            <a:off x="9221416" y="1814832"/>
            <a:ext cx="2334803" cy="553613"/>
          </a:xfrm>
          <a:prstGeom prst="rect">
            <a:avLst/>
          </a:prstGeom>
          <a:noFill/>
        </p:spPr>
        <p:txBody>
          <a:bodyPr wrap="square" lIns="0" tIns="0" rIns="0" bIns="0" rtlCol="0">
            <a:spAutoFit/>
          </a:bodyPr>
          <a:lstStyle/>
          <a:p>
            <a:pPr algn="ctr" defTabSz="913669">
              <a:defRPr/>
            </a:pPr>
            <a:r>
              <a:rPr kumimoji="1" lang="en-US" altLang="zh-CN" sz="1199" dirty="0">
                <a:latin typeface="Microsoft YaHei" panose="020B0503020204020204" pitchFamily="34" charset="-122"/>
                <a:ea typeface="Microsoft YaHei" panose="020B0503020204020204" pitchFamily="34" charset="-122"/>
              </a:rPr>
              <a:t>HCCL Operator Behavior Data Collection and Visualization on Device-Side (Ascend NPU)</a:t>
            </a:r>
          </a:p>
        </p:txBody>
      </p:sp>
      <p:pic>
        <p:nvPicPr>
          <p:cNvPr id="130" name="Picture 4">
            <a:extLst>
              <a:ext uri="{FF2B5EF4-FFF2-40B4-BE49-F238E27FC236}">
                <a16:creationId xmlns:a16="http://schemas.microsoft.com/office/drawing/2014/main" id="{FEF4C086-769F-4A36-BE0B-9E560C450EB5}"/>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b="52438"/>
          <a:stretch/>
        </p:blipFill>
        <p:spPr bwMode="auto">
          <a:xfrm>
            <a:off x="9725243" y="2584033"/>
            <a:ext cx="2116164" cy="587880"/>
          </a:xfrm>
          <a:prstGeom prst="rect">
            <a:avLst/>
          </a:prstGeom>
          <a:noFill/>
          <a:extLst>
            <a:ext uri="{909E8E84-426E-40DD-AFC4-6F175D3DCCD1}">
              <a14:hiddenFill xmlns:a14="http://schemas.microsoft.com/office/drawing/2010/main">
                <a:solidFill>
                  <a:srgbClr val="FFFFFF"/>
                </a:solidFill>
              </a14:hiddenFill>
            </a:ext>
          </a:extLst>
        </p:spPr>
      </p:pic>
      <p:pic>
        <p:nvPicPr>
          <p:cNvPr id="131" name="图片 130">
            <a:extLst>
              <a:ext uri="{FF2B5EF4-FFF2-40B4-BE49-F238E27FC236}">
                <a16:creationId xmlns:a16="http://schemas.microsoft.com/office/drawing/2014/main" id="{2ED0075B-650C-410B-83F6-E360BFEFF4EE}"/>
              </a:ext>
            </a:extLst>
          </p:cNvPr>
          <p:cNvPicPr>
            <a:picLocks noChangeAspect="1"/>
          </p:cNvPicPr>
          <p:nvPr/>
        </p:nvPicPr>
        <p:blipFill>
          <a:blip r:embed="rId7"/>
          <a:stretch>
            <a:fillRect/>
          </a:stretch>
        </p:blipFill>
        <p:spPr>
          <a:xfrm>
            <a:off x="9125341" y="2575960"/>
            <a:ext cx="492155" cy="576839"/>
          </a:xfrm>
          <a:prstGeom prst="rect">
            <a:avLst/>
          </a:prstGeom>
        </p:spPr>
      </p:pic>
      <p:sp>
        <p:nvSpPr>
          <p:cNvPr id="132" name="文本框 131">
            <a:extLst>
              <a:ext uri="{FF2B5EF4-FFF2-40B4-BE49-F238E27FC236}">
                <a16:creationId xmlns:a16="http://schemas.microsoft.com/office/drawing/2014/main" id="{0582B4E7-4CC9-4540-96A4-1EE6FDA198A6}"/>
              </a:ext>
            </a:extLst>
          </p:cNvPr>
          <p:cNvSpPr txBox="1"/>
          <p:nvPr/>
        </p:nvSpPr>
        <p:spPr>
          <a:xfrm>
            <a:off x="8944088" y="3505372"/>
            <a:ext cx="2699890" cy="553613"/>
          </a:xfrm>
          <a:prstGeom prst="rect">
            <a:avLst/>
          </a:prstGeom>
          <a:noFill/>
        </p:spPr>
        <p:txBody>
          <a:bodyPr wrap="square" lIns="0" tIns="0" rIns="0" bIns="0" rtlCol="0">
            <a:spAutoFit/>
          </a:bodyPr>
          <a:lstStyle/>
          <a:p>
            <a:pPr algn="ctr" defTabSz="913669">
              <a:defRPr/>
            </a:pPr>
            <a:r>
              <a:rPr kumimoji="1" lang="en-US" altLang="zh-CN" sz="1199" dirty="0">
                <a:latin typeface="Microsoft YaHei" panose="020B0503020204020204" pitchFamily="34" charset="-122"/>
                <a:ea typeface="Microsoft YaHei" panose="020B0503020204020204" pitchFamily="34" charset="-122"/>
              </a:rPr>
              <a:t>Network-side port mirroring, "flow-level/packet-level" traffic behavior observation strategy</a:t>
            </a:r>
          </a:p>
        </p:txBody>
      </p:sp>
      <p:grpSp>
        <p:nvGrpSpPr>
          <p:cNvPr id="133" name="组合 132">
            <a:extLst>
              <a:ext uri="{FF2B5EF4-FFF2-40B4-BE49-F238E27FC236}">
                <a16:creationId xmlns:a16="http://schemas.microsoft.com/office/drawing/2014/main" id="{4F45135F-20F7-4B0B-A46C-C09B54E66FE1}"/>
              </a:ext>
            </a:extLst>
          </p:cNvPr>
          <p:cNvGrpSpPr/>
          <p:nvPr/>
        </p:nvGrpSpPr>
        <p:grpSpPr>
          <a:xfrm>
            <a:off x="9290433" y="4232774"/>
            <a:ext cx="2040605" cy="1038405"/>
            <a:chOff x="8575530" y="6029263"/>
            <a:chExt cx="1676171" cy="630580"/>
          </a:xfrm>
        </p:grpSpPr>
        <p:sp>
          <p:nvSpPr>
            <p:cNvPr id="134" name="矩形 133">
              <a:extLst>
                <a:ext uri="{FF2B5EF4-FFF2-40B4-BE49-F238E27FC236}">
                  <a16:creationId xmlns:a16="http://schemas.microsoft.com/office/drawing/2014/main" id="{FD09ADCD-F4F8-491B-B441-B86F34AB6BF8}"/>
                </a:ext>
              </a:extLst>
            </p:cNvPr>
            <p:cNvSpPr/>
            <p:nvPr/>
          </p:nvSpPr>
          <p:spPr>
            <a:xfrm>
              <a:off x="8575530" y="6076723"/>
              <a:ext cx="856018" cy="228600"/>
            </a:xfrm>
            <a:prstGeom prst="rect">
              <a:avLst/>
            </a:prstGeom>
            <a:solidFill>
              <a:srgbClr val="0070C0"/>
            </a:solidFill>
            <a:ln w="12700" cap="flat" cmpd="sng" algn="ctr">
              <a:no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4035">
                <a:defRPr/>
              </a:pPr>
              <a:r>
                <a:rPr lang="en-US" altLang="zh-CN" sz="1100" b="1" kern="0" dirty="0">
                  <a:latin typeface="Calibri" panose="020F0502020204030204"/>
                  <a:ea typeface="等线" panose="02010600030101010101" pitchFamily="2" charset="-122"/>
                </a:rPr>
                <a:t>Switch</a:t>
              </a:r>
              <a:endParaRPr lang="zh-CN" altLang="en-US" sz="1100" b="1" kern="0" dirty="0">
                <a:latin typeface="Calibri" panose="020F0502020204030204"/>
                <a:ea typeface="等线" panose="02010600030101010101" pitchFamily="2" charset="-122"/>
              </a:endParaRPr>
            </a:p>
          </p:txBody>
        </p:sp>
        <p:sp>
          <p:nvSpPr>
            <p:cNvPr id="135" name="椭圆 134">
              <a:extLst>
                <a:ext uri="{FF2B5EF4-FFF2-40B4-BE49-F238E27FC236}">
                  <a16:creationId xmlns:a16="http://schemas.microsoft.com/office/drawing/2014/main" id="{49128FF5-1D73-4147-8A97-361A20C37713}"/>
                </a:ext>
              </a:extLst>
            </p:cNvPr>
            <p:cNvSpPr/>
            <p:nvPr/>
          </p:nvSpPr>
          <p:spPr>
            <a:xfrm>
              <a:off x="9399896" y="6162688"/>
              <a:ext cx="77858" cy="56669"/>
            </a:xfrm>
            <a:prstGeom prst="ellipse">
              <a:avLst/>
            </a:prstGeom>
            <a:solidFill>
              <a:srgbClr val="ED6D00"/>
            </a:solidFill>
            <a:ln w="12700" cap="flat" cmpd="sng" algn="ctr">
              <a:no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4035">
                <a:defRPr/>
              </a:pPr>
              <a:endParaRPr lang="zh-CN" altLang="en-US" sz="1799" kern="0">
                <a:latin typeface="Calibri" panose="020F0502020204030204"/>
                <a:ea typeface="等线" panose="02010600030101010101" pitchFamily="2" charset="-122"/>
              </a:endParaRPr>
            </a:p>
          </p:txBody>
        </p:sp>
        <p:sp>
          <p:nvSpPr>
            <p:cNvPr id="136" name="椭圆 135">
              <a:extLst>
                <a:ext uri="{FF2B5EF4-FFF2-40B4-BE49-F238E27FC236}">
                  <a16:creationId xmlns:a16="http://schemas.microsoft.com/office/drawing/2014/main" id="{AF925F94-CA1C-4779-A0A7-421BCFF02BB3}"/>
                </a:ext>
              </a:extLst>
            </p:cNvPr>
            <p:cNvSpPr/>
            <p:nvPr/>
          </p:nvSpPr>
          <p:spPr>
            <a:xfrm>
              <a:off x="8858262" y="6276988"/>
              <a:ext cx="77858" cy="56669"/>
            </a:xfrm>
            <a:prstGeom prst="ellipse">
              <a:avLst/>
            </a:prstGeom>
            <a:solidFill>
              <a:srgbClr val="61B230"/>
            </a:solidFill>
            <a:ln w="12700" cap="flat" cmpd="sng" algn="ctr">
              <a:no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4035">
                <a:defRPr/>
              </a:pPr>
              <a:endParaRPr lang="zh-CN" altLang="en-US" sz="1799" kern="0">
                <a:latin typeface="Calibri" panose="020F0502020204030204"/>
                <a:ea typeface="等线" panose="02010600030101010101" pitchFamily="2" charset="-122"/>
              </a:endParaRPr>
            </a:p>
          </p:txBody>
        </p:sp>
        <p:cxnSp>
          <p:nvCxnSpPr>
            <p:cNvPr id="137" name="直接连接符 136">
              <a:extLst>
                <a:ext uri="{FF2B5EF4-FFF2-40B4-BE49-F238E27FC236}">
                  <a16:creationId xmlns:a16="http://schemas.microsoft.com/office/drawing/2014/main" id="{A26CF471-646B-4C38-BCFE-286C99C0BF34}"/>
                </a:ext>
              </a:extLst>
            </p:cNvPr>
            <p:cNvCxnSpPr>
              <a:cxnSpLocks/>
              <a:stCxn id="136" idx="4"/>
            </p:cNvCxnSpPr>
            <p:nvPr/>
          </p:nvCxnSpPr>
          <p:spPr>
            <a:xfrm flipH="1">
              <a:off x="8787125" y="6333657"/>
              <a:ext cx="110066" cy="106437"/>
            </a:xfrm>
            <a:prstGeom prst="line">
              <a:avLst/>
            </a:prstGeom>
            <a:noFill/>
            <a:ln w="6350" cap="flat" cmpd="sng" algn="ctr">
              <a:solidFill>
                <a:srgbClr val="E9002F"/>
              </a:solidFill>
              <a:prstDash val="solid"/>
              <a:miter lim="800000"/>
            </a:ln>
            <a:effectLst/>
          </p:spPr>
        </p:cxnSp>
        <p:pic>
          <p:nvPicPr>
            <p:cNvPr id="138" name="pic">
              <a:extLst>
                <a:ext uri="{FF2B5EF4-FFF2-40B4-BE49-F238E27FC236}">
                  <a16:creationId xmlns:a16="http://schemas.microsoft.com/office/drawing/2014/main" id="{9999807E-D7F5-466C-8EDA-4E5818DAA3DB}"/>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8658981" y="6440094"/>
              <a:ext cx="238210" cy="219749"/>
            </a:xfrm>
            <a:prstGeom prst="rect">
              <a:avLst/>
            </a:prstGeom>
          </p:spPr>
        </p:pic>
        <p:pic>
          <p:nvPicPr>
            <p:cNvPr id="139" name="pic">
              <a:extLst>
                <a:ext uri="{FF2B5EF4-FFF2-40B4-BE49-F238E27FC236}">
                  <a16:creationId xmlns:a16="http://schemas.microsoft.com/office/drawing/2014/main" id="{9DE959C8-EE8D-485E-A676-9F0E1A068F59}"/>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084637" y="6440093"/>
              <a:ext cx="238210" cy="219749"/>
            </a:xfrm>
            <a:prstGeom prst="rect">
              <a:avLst/>
            </a:prstGeom>
          </p:spPr>
        </p:pic>
        <p:cxnSp>
          <p:nvCxnSpPr>
            <p:cNvPr id="140" name="直接连接符 139">
              <a:extLst>
                <a:ext uri="{FF2B5EF4-FFF2-40B4-BE49-F238E27FC236}">
                  <a16:creationId xmlns:a16="http://schemas.microsoft.com/office/drawing/2014/main" id="{0D44C8DC-7333-4080-A83B-6CEFF7821B36}"/>
                </a:ext>
              </a:extLst>
            </p:cNvPr>
            <p:cNvCxnSpPr>
              <a:cxnSpLocks/>
              <a:stCxn id="141" idx="4"/>
              <a:endCxn id="139" idx="0"/>
            </p:cNvCxnSpPr>
            <p:nvPr/>
          </p:nvCxnSpPr>
          <p:spPr>
            <a:xfrm>
              <a:off x="9096135" y="6333657"/>
              <a:ext cx="107607" cy="106436"/>
            </a:xfrm>
            <a:prstGeom prst="line">
              <a:avLst/>
            </a:prstGeom>
            <a:noFill/>
            <a:ln w="6350" cap="flat" cmpd="sng" algn="ctr">
              <a:solidFill>
                <a:srgbClr val="E9002F"/>
              </a:solidFill>
              <a:prstDash val="solid"/>
              <a:miter lim="800000"/>
            </a:ln>
            <a:effectLst/>
          </p:spPr>
        </p:cxnSp>
        <p:sp>
          <p:nvSpPr>
            <p:cNvPr id="141" name="椭圆 140">
              <a:extLst>
                <a:ext uri="{FF2B5EF4-FFF2-40B4-BE49-F238E27FC236}">
                  <a16:creationId xmlns:a16="http://schemas.microsoft.com/office/drawing/2014/main" id="{47986280-AA58-4299-AF75-B46A0B7379C8}"/>
                </a:ext>
              </a:extLst>
            </p:cNvPr>
            <p:cNvSpPr/>
            <p:nvPr/>
          </p:nvSpPr>
          <p:spPr>
            <a:xfrm>
              <a:off x="9057206" y="6276988"/>
              <a:ext cx="77858" cy="56669"/>
            </a:xfrm>
            <a:prstGeom prst="ellipse">
              <a:avLst/>
            </a:prstGeom>
            <a:solidFill>
              <a:srgbClr val="61B230"/>
            </a:solidFill>
            <a:ln w="12700" cap="flat" cmpd="sng" algn="ctr">
              <a:noFill/>
              <a:prstDash val="solid"/>
              <a:miter lim="800000"/>
            </a:ln>
            <a:effectLst/>
          </p:spPr>
          <p:txBody>
            <a:bodyPr rot="0" spcFirstLastPara="0" vertOverflow="overflow" horzOverflow="overflow" vert="horz" wrap="square" lIns="91402" tIns="45701" rIns="91402" bIns="45701" numCol="1" spcCol="0" rtlCol="0" fromWordArt="0" anchor="ctr" anchorCtr="0" forceAA="0" compatLnSpc="1">
              <a:prstTxWarp prst="textNoShape">
                <a:avLst/>
              </a:prstTxWarp>
              <a:noAutofit/>
            </a:bodyPr>
            <a:lstStyle/>
            <a:p>
              <a:pPr algn="ctr" defTabSz="914035">
                <a:defRPr/>
              </a:pPr>
              <a:endParaRPr lang="zh-CN" altLang="en-US" sz="1799" kern="0">
                <a:latin typeface="Calibri" panose="020F0502020204030204"/>
                <a:ea typeface="等线" panose="02010600030101010101" pitchFamily="2" charset="-122"/>
              </a:endParaRPr>
            </a:p>
          </p:txBody>
        </p:sp>
        <p:pic>
          <p:nvPicPr>
            <p:cNvPr id="142" name="pic">
              <a:extLst>
                <a:ext uri="{FF2B5EF4-FFF2-40B4-BE49-F238E27FC236}">
                  <a16:creationId xmlns:a16="http://schemas.microsoft.com/office/drawing/2014/main" id="{62226580-7D27-4F03-AE41-D058ED59831D}"/>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a:xfrm>
              <a:off x="9901893" y="6029263"/>
              <a:ext cx="349808" cy="323518"/>
            </a:xfrm>
            <a:prstGeom prst="rect">
              <a:avLst/>
            </a:prstGeom>
          </p:spPr>
        </p:pic>
        <p:cxnSp>
          <p:nvCxnSpPr>
            <p:cNvPr id="143" name="直接连接符 142">
              <a:extLst>
                <a:ext uri="{FF2B5EF4-FFF2-40B4-BE49-F238E27FC236}">
                  <a16:creationId xmlns:a16="http://schemas.microsoft.com/office/drawing/2014/main" id="{4104D839-A8ED-42B9-90DF-C2E8F5D33F5F}"/>
                </a:ext>
              </a:extLst>
            </p:cNvPr>
            <p:cNvCxnSpPr>
              <a:stCxn id="135" idx="6"/>
              <a:endCxn id="142" idx="1"/>
            </p:cNvCxnSpPr>
            <p:nvPr/>
          </p:nvCxnSpPr>
          <p:spPr>
            <a:xfrm flipV="1">
              <a:off x="9477754" y="6191022"/>
              <a:ext cx="424139" cy="1"/>
            </a:xfrm>
            <a:prstGeom prst="line">
              <a:avLst/>
            </a:prstGeom>
            <a:noFill/>
            <a:ln w="6350" cap="flat" cmpd="sng" algn="ctr">
              <a:solidFill>
                <a:srgbClr val="E9002F"/>
              </a:solidFill>
              <a:prstDash val="solid"/>
              <a:miter lim="800000"/>
            </a:ln>
            <a:effectLst/>
          </p:spPr>
        </p:cxnSp>
        <p:cxnSp>
          <p:nvCxnSpPr>
            <p:cNvPr id="144" name="直接箭头连接符 143">
              <a:extLst>
                <a:ext uri="{FF2B5EF4-FFF2-40B4-BE49-F238E27FC236}">
                  <a16:creationId xmlns:a16="http://schemas.microsoft.com/office/drawing/2014/main" id="{7A7CA0E2-82EE-46BF-909B-B6AA8E2B6D6F}"/>
                </a:ext>
              </a:extLst>
            </p:cNvPr>
            <p:cNvCxnSpPr>
              <a:cxnSpLocks/>
            </p:cNvCxnSpPr>
            <p:nvPr/>
          </p:nvCxnSpPr>
          <p:spPr>
            <a:xfrm flipV="1">
              <a:off x="9496803" y="6240552"/>
              <a:ext cx="351749" cy="1"/>
            </a:xfrm>
            <a:prstGeom prst="straightConnector1">
              <a:avLst/>
            </a:prstGeom>
            <a:noFill/>
            <a:ln w="6350" cap="flat" cmpd="sng" algn="ctr">
              <a:solidFill>
                <a:srgbClr val="666666">
                  <a:lumMod val="60000"/>
                  <a:lumOff val="40000"/>
                </a:srgbClr>
              </a:solidFill>
              <a:prstDash val="sysDash"/>
              <a:miter lim="800000"/>
              <a:headEnd type="none" w="sm" len="med"/>
              <a:tailEnd type="triangle" w="sm" len="sm"/>
            </a:ln>
            <a:effectLst/>
          </p:spPr>
        </p:cxnSp>
        <p:cxnSp>
          <p:nvCxnSpPr>
            <p:cNvPr id="145" name="直接箭头连接符 144">
              <a:extLst>
                <a:ext uri="{FF2B5EF4-FFF2-40B4-BE49-F238E27FC236}">
                  <a16:creationId xmlns:a16="http://schemas.microsoft.com/office/drawing/2014/main" id="{0A20C22B-C91C-4A22-AAD5-89E50583AB0F}"/>
                </a:ext>
              </a:extLst>
            </p:cNvPr>
            <p:cNvCxnSpPr>
              <a:cxnSpLocks/>
            </p:cNvCxnSpPr>
            <p:nvPr/>
          </p:nvCxnSpPr>
          <p:spPr>
            <a:xfrm flipH="1" flipV="1">
              <a:off x="9146935" y="6326037"/>
              <a:ext cx="107607" cy="106436"/>
            </a:xfrm>
            <a:prstGeom prst="straightConnector1">
              <a:avLst/>
            </a:prstGeom>
            <a:noFill/>
            <a:ln w="6350" cap="flat" cmpd="sng" algn="ctr">
              <a:solidFill>
                <a:srgbClr val="666666">
                  <a:lumMod val="60000"/>
                  <a:lumOff val="40000"/>
                </a:srgbClr>
              </a:solidFill>
              <a:prstDash val="sysDash"/>
              <a:miter lim="800000"/>
              <a:headEnd type="none" w="sm" len="med"/>
              <a:tailEnd type="triangle" w="sm" len="sm"/>
            </a:ln>
            <a:effectLst/>
          </p:spPr>
        </p:cxnSp>
        <p:cxnSp>
          <p:nvCxnSpPr>
            <p:cNvPr id="146" name="直接箭头连接符 145">
              <a:extLst>
                <a:ext uri="{FF2B5EF4-FFF2-40B4-BE49-F238E27FC236}">
                  <a16:creationId xmlns:a16="http://schemas.microsoft.com/office/drawing/2014/main" id="{E126C74B-5A2D-4C93-97A0-D09914E40B23}"/>
                </a:ext>
              </a:extLst>
            </p:cNvPr>
            <p:cNvCxnSpPr>
              <a:cxnSpLocks/>
            </p:cNvCxnSpPr>
            <p:nvPr/>
          </p:nvCxnSpPr>
          <p:spPr>
            <a:xfrm flipV="1">
              <a:off x="8742526" y="6328577"/>
              <a:ext cx="119105" cy="106437"/>
            </a:xfrm>
            <a:prstGeom prst="straightConnector1">
              <a:avLst/>
            </a:prstGeom>
            <a:noFill/>
            <a:ln w="6350" cap="flat" cmpd="sng" algn="ctr">
              <a:solidFill>
                <a:srgbClr val="666666">
                  <a:lumMod val="60000"/>
                  <a:lumOff val="40000"/>
                </a:srgbClr>
              </a:solidFill>
              <a:prstDash val="sysDash"/>
              <a:miter lim="800000"/>
              <a:headEnd type="none" w="sm" len="med"/>
              <a:tailEnd type="triangle" w="sm" len="sm"/>
            </a:ln>
            <a:effectLst/>
          </p:spPr>
        </p:cxnSp>
      </p:grpSp>
      <p:sp>
        <p:nvSpPr>
          <p:cNvPr id="147" name="文本框 146">
            <a:extLst>
              <a:ext uri="{FF2B5EF4-FFF2-40B4-BE49-F238E27FC236}">
                <a16:creationId xmlns:a16="http://schemas.microsoft.com/office/drawing/2014/main" id="{65058221-0A86-4264-8862-40014190D117}"/>
              </a:ext>
            </a:extLst>
          </p:cNvPr>
          <p:cNvSpPr txBox="1"/>
          <p:nvPr/>
        </p:nvSpPr>
        <p:spPr>
          <a:xfrm>
            <a:off x="1189468" y="5745742"/>
            <a:ext cx="2606447" cy="430631"/>
          </a:xfrm>
          <a:prstGeom prst="rect">
            <a:avLst/>
          </a:prstGeom>
          <a:noFill/>
        </p:spPr>
        <p:txBody>
          <a:bodyPr wrap="square" lIns="0" tIns="0" rIns="0" bIns="0" rtlCol="0">
            <a:spAutoFit/>
          </a:bodyPr>
          <a:lstStyle/>
          <a:p>
            <a:pPr defTabSz="914035">
              <a:defRPr/>
            </a:pPr>
            <a:r>
              <a:rPr kumimoji="1" lang="en-US" altLang="zh-CN" sz="1399" b="1" i="1" dirty="0">
                <a:latin typeface="Microsoft YaHei" panose="020B0503020204020204" pitchFamily="34" charset="-122"/>
                <a:ea typeface="Microsoft YaHei" panose="020B0503020204020204" pitchFamily="34" charset="-122"/>
              </a:rPr>
              <a:t>Flexible and customized definition of  Topology</a:t>
            </a:r>
            <a:endParaRPr kumimoji="1" lang="zh-CN" altLang="en-US" sz="1399" b="1" i="1" dirty="0">
              <a:latin typeface="Microsoft YaHei" panose="020B0503020204020204" pitchFamily="34" charset="-122"/>
              <a:ea typeface="Microsoft YaHei" panose="020B0503020204020204" pitchFamily="34" charset="-122"/>
            </a:endParaRPr>
          </a:p>
        </p:txBody>
      </p:sp>
      <p:sp>
        <p:nvSpPr>
          <p:cNvPr id="148" name="文本框 147">
            <a:extLst>
              <a:ext uri="{FF2B5EF4-FFF2-40B4-BE49-F238E27FC236}">
                <a16:creationId xmlns:a16="http://schemas.microsoft.com/office/drawing/2014/main" id="{78333610-C92E-49C7-9B84-143974F8FFBD}"/>
              </a:ext>
            </a:extLst>
          </p:cNvPr>
          <p:cNvSpPr txBox="1"/>
          <p:nvPr/>
        </p:nvSpPr>
        <p:spPr>
          <a:xfrm>
            <a:off x="5144253" y="5752611"/>
            <a:ext cx="1977729" cy="430631"/>
          </a:xfrm>
          <a:prstGeom prst="rect">
            <a:avLst/>
          </a:prstGeom>
          <a:noFill/>
        </p:spPr>
        <p:txBody>
          <a:bodyPr wrap="square" lIns="0" tIns="0" rIns="0" bIns="0" rtlCol="0">
            <a:spAutoFit/>
          </a:bodyPr>
          <a:lstStyle/>
          <a:p>
            <a:pPr defTabSz="914035">
              <a:defRPr/>
            </a:pPr>
            <a:r>
              <a:rPr kumimoji="1" lang="en-US" altLang="zh-CN" sz="1399" b="1" i="1" dirty="0">
                <a:latin typeface="Microsoft YaHei" panose="020B0503020204020204" pitchFamily="34" charset="-122"/>
                <a:ea typeface="Microsoft YaHei" panose="020B0503020204020204" pitchFamily="34" charset="-122"/>
              </a:rPr>
              <a:t>Agile Development of Innovative Algorithm </a:t>
            </a:r>
            <a:endParaRPr kumimoji="1" lang="zh-CN" altLang="en-US" sz="1399" b="1" i="1" dirty="0">
              <a:latin typeface="Microsoft YaHei" panose="020B0503020204020204" pitchFamily="34" charset="-122"/>
              <a:ea typeface="Microsoft YaHei" panose="020B0503020204020204" pitchFamily="34" charset="-122"/>
            </a:endParaRPr>
          </a:p>
        </p:txBody>
      </p:sp>
      <p:sp>
        <p:nvSpPr>
          <p:cNvPr id="149" name="文本框 148">
            <a:extLst>
              <a:ext uri="{FF2B5EF4-FFF2-40B4-BE49-F238E27FC236}">
                <a16:creationId xmlns:a16="http://schemas.microsoft.com/office/drawing/2014/main" id="{8A43FCE2-5FE2-4427-8555-1A976674CB0D}"/>
              </a:ext>
            </a:extLst>
          </p:cNvPr>
          <p:cNvSpPr txBox="1"/>
          <p:nvPr/>
        </p:nvSpPr>
        <p:spPr>
          <a:xfrm>
            <a:off x="8898270" y="5714724"/>
            <a:ext cx="3027479" cy="430631"/>
          </a:xfrm>
          <a:prstGeom prst="rect">
            <a:avLst/>
          </a:prstGeom>
          <a:noFill/>
        </p:spPr>
        <p:txBody>
          <a:bodyPr wrap="square" lIns="0" tIns="0" rIns="0" bIns="0" rtlCol="0">
            <a:spAutoFit/>
          </a:bodyPr>
          <a:lstStyle/>
          <a:p>
            <a:pPr defTabSz="914035">
              <a:defRPr/>
            </a:pPr>
            <a:r>
              <a:rPr kumimoji="1" lang="en-US" altLang="zh-CN" sz="1399" b="1" i="1" dirty="0">
                <a:latin typeface="Microsoft YaHei" panose="020B0503020204020204" pitchFamily="34" charset="-122"/>
                <a:ea typeface="Microsoft YaHei" panose="020B0503020204020204" pitchFamily="34" charset="-122"/>
              </a:rPr>
              <a:t>Data transparency, facilitates academic and industry research.</a:t>
            </a:r>
            <a:endParaRPr kumimoji="1" lang="zh-CN" altLang="en-US" sz="1399" b="1" i="1" dirty="0">
              <a:latin typeface="Microsoft YaHei" panose="020B0503020204020204" pitchFamily="34" charset="-122"/>
              <a:ea typeface="Microsoft YaHei" panose="020B0503020204020204" pitchFamily="34" charset="-122"/>
            </a:endParaRPr>
          </a:p>
        </p:txBody>
      </p:sp>
      <p:sp>
        <p:nvSpPr>
          <p:cNvPr id="150" name="文本框 149">
            <a:extLst>
              <a:ext uri="{FF2B5EF4-FFF2-40B4-BE49-F238E27FC236}">
                <a16:creationId xmlns:a16="http://schemas.microsoft.com/office/drawing/2014/main" id="{C708046E-1CD2-4CF3-9C22-A42CB76164C6}"/>
              </a:ext>
            </a:extLst>
          </p:cNvPr>
          <p:cNvSpPr txBox="1"/>
          <p:nvPr/>
        </p:nvSpPr>
        <p:spPr>
          <a:xfrm>
            <a:off x="8573638" y="2775139"/>
            <a:ext cx="519451" cy="122982"/>
          </a:xfrm>
          <a:prstGeom prst="rect">
            <a:avLst/>
          </a:prstGeom>
          <a:noFill/>
        </p:spPr>
        <p:txBody>
          <a:bodyPr wrap="square" lIns="0" tIns="0" rIns="0" bIns="0" rtlCol="0">
            <a:spAutoFit/>
          </a:bodyPr>
          <a:lstStyle/>
          <a:p>
            <a:pPr algn="ctr" defTabSz="913957">
              <a:defRPr/>
            </a:pPr>
            <a:r>
              <a:rPr kumimoji="1" lang="en-US" altLang="zh-CN" sz="799" b="1" i="1" dirty="0">
                <a:latin typeface="Microsoft YaHei" panose="020B0503020204020204" pitchFamily="34" charset="-122"/>
                <a:ea typeface="Microsoft YaHei" panose="020B0503020204020204" pitchFamily="34" charset="-122"/>
              </a:rPr>
              <a:t>msprof </a:t>
            </a:r>
            <a:r>
              <a:rPr kumimoji="1" lang="en-US" altLang="zh-CN" sz="799" b="1" dirty="0">
                <a:latin typeface="Microsoft YaHei" panose="020B0503020204020204" pitchFamily="34" charset="-122"/>
                <a:ea typeface="Microsoft YaHei" panose="020B0503020204020204" pitchFamily="34" charset="-122"/>
              </a:rPr>
              <a:t>+</a:t>
            </a:r>
            <a:endParaRPr kumimoji="1" lang="zh-CN" altLang="en-US" sz="799" b="1" dirty="0">
              <a:latin typeface="Microsoft YaHei" panose="020B0503020204020204" pitchFamily="34" charset="-122"/>
              <a:ea typeface="Microsoft YaHei" panose="020B0503020204020204" pitchFamily="34" charset="-122"/>
            </a:endParaRPr>
          </a:p>
        </p:txBody>
      </p:sp>
      <p:sp>
        <p:nvSpPr>
          <p:cNvPr id="151" name="矩形 150">
            <a:extLst>
              <a:ext uri="{FF2B5EF4-FFF2-40B4-BE49-F238E27FC236}">
                <a16:creationId xmlns:a16="http://schemas.microsoft.com/office/drawing/2014/main" id="{BE9E886C-36B5-42D4-8DA4-33F2475FFD7E}"/>
              </a:ext>
            </a:extLst>
          </p:cNvPr>
          <p:cNvSpPr/>
          <p:nvPr/>
        </p:nvSpPr>
        <p:spPr>
          <a:xfrm>
            <a:off x="4558372" y="5296735"/>
            <a:ext cx="3435556" cy="256545"/>
          </a:xfrm>
          <a:prstGeom prst="rect">
            <a:avLst/>
          </a:prstGeom>
        </p:spPr>
        <p:txBody>
          <a:bodyPr wrap="none">
            <a:spAutoFit/>
          </a:bodyPr>
          <a:lstStyle/>
          <a:p>
            <a:pPr defTabSz="348386">
              <a:defRPr/>
            </a:pPr>
            <a:r>
              <a:rPr lang="en-US" altLang="zh-CN" sz="1067" dirty="0">
                <a:latin typeface="微软雅黑" panose="020B0503020204020204" pitchFamily="34" charset="-122"/>
                <a:ea typeface="微软雅黑" panose="020B0503020204020204" pitchFamily="34" charset="-122"/>
              </a:rPr>
              <a:t>https://gitcode.com/HCCLang/HCCLang-ub-tools</a:t>
            </a:r>
            <a:endParaRPr lang="zh-CN" altLang="en-US" sz="1067"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15822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标题 1">
            <a:extLst>
              <a:ext uri="{FF2B5EF4-FFF2-40B4-BE49-F238E27FC236}">
                <a16:creationId xmlns:a16="http://schemas.microsoft.com/office/drawing/2014/main" id="{2AD3965F-0FB0-45B4-AF0A-8C7BE62857FB}"/>
              </a:ext>
            </a:extLst>
          </p:cNvPr>
          <p:cNvSpPr>
            <a:spLocks noGrp="1"/>
          </p:cNvSpPr>
          <p:nvPr>
            <p:ph type="title"/>
          </p:nvPr>
        </p:nvSpPr>
        <p:spPr>
          <a:xfrm>
            <a:off x="561005" y="275992"/>
            <a:ext cx="11208246" cy="798839"/>
          </a:xfrm>
        </p:spPr>
        <p:txBody>
          <a:bodyPr wrap="square">
            <a:noAutofit/>
          </a:bodyPr>
          <a:lstStyle/>
          <a:p>
            <a:r>
              <a:rPr lang="en-US" altLang="zh-CN" dirty="0"/>
              <a:t>Scale-Up Prototype Platform: Open HW/SW Co-Design Capabilities to Support Innovation in UnifiedBus Interconnect Architecture</a:t>
            </a:r>
            <a:endParaRPr lang="zh-CN" altLang="en-US" dirty="0">
              <a:cs typeface="Huawei Sans" panose="020C0503030203020204" pitchFamily="34" charset="0"/>
            </a:endParaRPr>
          </a:p>
        </p:txBody>
      </p:sp>
      <p:sp>
        <p:nvSpPr>
          <p:cNvPr id="152" name="矩形: 圆角 151">
            <a:extLst>
              <a:ext uri="{FF2B5EF4-FFF2-40B4-BE49-F238E27FC236}">
                <a16:creationId xmlns:a16="http://schemas.microsoft.com/office/drawing/2014/main" id="{55408099-94B6-44D9-9B4F-990386BB8BBB}"/>
              </a:ext>
            </a:extLst>
          </p:cNvPr>
          <p:cNvSpPr/>
          <p:nvPr/>
        </p:nvSpPr>
        <p:spPr>
          <a:xfrm>
            <a:off x="823608" y="4333521"/>
            <a:ext cx="10663088" cy="2081969"/>
          </a:xfrm>
          <a:prstGeom prst="roundRect">
            <a:avLst>
              <a:gd name="adj" fmla="val 3990"/>
            </a:avLst>
          </a:prstGeom>
          <a:solidFill>
            <a:schemeClr val="bg2">
              <a:lumMod val="10000"/>
              <a:lumOff val="90000"/>
            </a:schemeClr>
          </a:solidFill>
          <a:ln w="12700" cap="flat" cmpd="sng" algn="ctr">
            <a:no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noAutofit/>
          </a:bodyPr>
          <a:lstStyle/>
          <a:p>
            <a:pPr algn="ctr" defTabSz="696832">
              <a:defRPr/>
            </a:pPr>
            <a:endParaRPr lang="zh-CN" altLang="en-US" sz="1524" kern="0" dirty="0">
              <a:latin typeface="微软雅黑" panose="020B0503020204020204" pitchFamily="34" charset="-122"/>
              <a:ea typeface="微软雅黑" panose="020B0503020204020204" pitchFamily="34" charset="-122"/>
            </a:endParaRPr>
          </a:p>
        </p:txBody>
      </p:sp>
      <p:sp>
        <p:nvSpPr>
          <p:cNvPr id="153" name="矩形 152">
            <a:extLst>
              <a:ext uri="{FF2B5EF4-FFF2-40B4-BE49-F238E27FC236}">
                <a16:creationId xmlns:a16="http://schemas.microsoft.com/office/drawing/2014/main" id="{5B519DDB-202F-4F37-8E89-8D69239C956D}"/>
              </a:ext>
            </a:extLst>
          </p:cNvPr>
          <p:cNvSpPr/>
          <p:nvPr/>
        </p:nvSpPr>
        <p:spPr>
          <a:xfrm>
            <a:off x="579873" y="1195787"/>
            <a:ext cx="6606998" cy="2714974"/>
          </a:xfrm>
          <a:prstGeom prst="rect">
            <a:avLst/>
          </a:prstGeom>
          <a:ln>
            <a:noFill/>
          </a:ln>
        </p:spPr>
        <p:txBody>
          <a:bodyPr wrap="square">
            <a:spAutoFit/>
          </a:bodyPr>
          <a:lstStyle/>
          <a:p>
            <a:pPr marL="217742" indent="-217742" defTabSz="696494">
              <a:lnSpc>
                <a:spcPct val="150000"/>
              </a:lnSpc>
              <a:buFont typeface="Wingdings" panose="05000000000000000000" pitchFamily="2" charset="2"/>
              <a:buChar char="n"/>
              <a:defRPr/>
            </a:pPr>
            <a:r>
              <a:rPr kumimoji="1" lang="en-US" altLang="en-US" sz="1400" b="1" dirty="0">
                <a:latin typeface="Microsoft YaHei" panose="020B0503020204020204" pitchFamily="34" charset="-122"/>
                <a:ea typeface="Microsoft YaHei" panose="020B0503020204020204" pitchFamily="34" charset="-122"/>
              </a:rPr>
              <a:t>Features supported by the platform include: </a:t>
            </a:r>
            <a:r>
              <a:rPr kumimoji="1" lang="en-US" altLang="zh-CN" sz="1400" dirty="0">
                <a:latin typeface="Microsoft YaHei" panose="020B0503020204020204" pitchFamily="34" charset="-122"/>
                <a:ea typeface="Microsoft YaHei" panose="020B0503020204020204" pitchFamily="34" charset="-122"/>
              </a:rPr>
              <a:t>UB-Next basic memory semantic protocol, short-path migration engine, composite semantic processing engine, low-latency switching, and other innovative functions.</a:t>
            </a:r>
          </a:p>
          <a:p>
            <a:pPr marL="566072" lvl="1" indent="-217655" defTabSz="696494">
              <a:lnSpc>
                <a:spcPct val="130000"/>
              </a:lnSpc>
              <a:buFont typeface="Wingdings" panose="05000000000000000000" pitchFamily="2" charset="2"/>
              <a:buChar char="Ø"/>
              <a:defRPr/>
            </a:pPr>
            <a:r>
              <a:rPr kumimoji="1" lang="en-US" altLang="zh-CN" sz="1400" b="1" dirty="0" err="1">
                <a:latin typeface="Microsoft YaHei" panose="020B0503020204020204" pitchFamily="34" charset="-122"/>
                <a:ea typeface="Microsoft YaHei" panose="020B0503020204020204" pitchFamily="34" charset="-122"/>
              </a:rPr>
              <a:t>UB.mem</a:t>
            </a:r>
            <a:r>
              <a:rPr kumimoji="1" lang="en-US" altLang="en-US" sz="1400" dirty="0">
                <a:latin typeface="Microsoft YaHei" panose="020B0503020204020204" pitchFamily="34" charset="-122"/>
                <a:ea typeface="Microsoft YaHei" panose="020B0503020204020204" pitchFamily="34" charset="-122"/>
              </a:rPr>
              <a:t>: Supports native memory semantic read/write operations, on-path/off-path acceleration logic, etc.</a:t>
            </a:r>
          </a:p>
          <a:p>
            <a:pPr marL="566072" lvl="1" indent="-217655" defTabSz="696494">
              <a:lnSpc>
                <a:spcPct val="130000"/>
              </a:lnSpc>
              <a:buFont typeface="Wingdings" panose="05000000000000000000" pitchFamily="2" charset="2"/>
              <a:buChar char="Ø"/>
              <a:defRPr/>
            </a:pPr>
            <a:r>
              <a:rPr kumimoji="1" lang="en-US" altLang="zh-CN" sz="1400" b="1" dirty="0">
                <a:latin typeface="Microsoft YaHei" panose="020B0503020204020204" pitchFamily="34" charset="-122"/>
                <a:ea typeface="Microsoft YaHei" panose="020B0503020204020204" pitchFamily="34" charset="-122"/>
              </a:rPr>
              <a:t>UB-SSD</a:t>
            </a:r>
            <a:r>
              <a:rPr kumimoji="1" lang="en-US" altLang="en-US" sz="1400" dirty="0">
                <a:latin typeface="Microsoft YaHei" panose="020B0503020204020204" pitchFamily="34" charset="-122"/>
                <a:ea typeface="Microsoft YaHei" panose="020B0503020204020204" pitchFamily="34" charset="-122"/>
              </a:rPr>
              <a:t>: FPGA-based SSD with memory semantic capabilities, near-data computing, etc.</a:t>
            </a:r>
            <a:endParaRPr kumimoji="1" lang="en-US" altLang="zh-CN" sz="1400" dirty="0">
              <a:latin typeface="Microsoft YaHei" panose="020B0503020204020204" pitchFamily="34" charset="-122"/>
              <a:ea typeface="Microsoft YaHei" panose="020B0503020204020204" pitchFamily="34" charset="-122"/>
            </a:endParaRPr>
          </a:p>
          <a:p>
            <a:pPr marL="566072" lvl="1" indent="-217655" defTabSz="696494">
              <a:lnSpc>
                <a:spcPct val="130000"/>
              </a:lnSpc>
              <a:buFont typeface="Wingdings" panose="05000000000000000000" pitchFamily="2" charset="2"/>
              <a:buChar char="Ø"/>
              <a:defRPr/>
            </a:pPr>
            <a:r>
              <a:rPr kumimoji="1" lang="en-US" altLang="en-US" sz="1400" b="1" dirty="0">
                <a:latin typeface="Microsoft YaHei" panose="020B0503020204020204" pitchFamily="34" charset="-122"/>
                <a:ea typeface="Microsoft YaHei" panose="020B0503020204020204" pitchFamily="34" charset="-122"/>
              </a:rPr>
              <a:t>Low-latency Switching: </a:t>
            </a:r>
            <a:r>
              <a:rPr kumimoji="1" lang="en-US" altLang="en-US" sz="1400" dirty="0">
                <a:latin typeface="Microsoft YaHei" panose="020B0503020204020204" pitchFamily="34" charset="-122"/>
                <a:ea typeface="Microsoft YaHei" panose="020B0503020204020204" pitchFamily="34" charset="-122"/>
              </a:rPr>
              <a:t>Packet-Cell Converged Switching Based on FPGA</a:t>
            </a:r>
          </a:p>
        </p:txBody>
      </p:sp>
      <p:grpSp>
        <p:nvGrpSpPr>
          <p:cNvPr id="154" name="组合 153">
            <a:extLst>
              <a:ext uri="{FF2B5EF4-FFF2-40B4-BE49-F238E27FC236}">
                <a16:creationId xmlns:a16="http://schemas.microsoft.com/office/drawing/2014/main" id="{F50CC2E2-3347-4C60-9E38-449C399CE7D5}"/>
              </a:ext>
            </a:extLst>
          </p:cNvPr>
          <p:cNvGrpSpPr/>
          <p:nvPr/>
        </p:nvGrpSpPr>
        <p:grpSpPr>
          <a:xfrm>
            <a:off x="7234613" y="1306175"/>
            <a:ext cx="4194753" cy="2886173"/>
            <a:chOff x="7610489" y="1889761"/>
            <a:chExt cx="5562929" cy="3827538"/>
          </a:xfrm>
        </p:grpSpPr>
        <p:grpSp>
          <p:nvGrpSpPr>
            <p:cNvPr id="155" name="组合 154">
              <a:extLst>
                <a:ext uri="{FF2B5EF4-FFF2-40B4-BE49-F238E27FC236}">
                  <a16:creationId xmlns:a16="http://schemas.microsoft.com/office/drawing/2014/main" id="{D05B0097-A895-4306-BE66-2B0D5BE4DC7B}"/>
                </a:ext>
              </a:extLst>
            </p:cNvPr>
            <p:cNvGrpSpPr/>
            <p:nvPr/>
          </p:nvGrpSpPr>
          <p:grpSpPr>
            <a:xfrm>
              <a:off x="7610489" y="3631786"/>
              <a:ext cx="5562929" cy="2085513"/>
              <a:chOff x="1815426" y="665565"/>
              <a:chExt cx="8996069" cy="3029811"/>
            </a:xfrm>
          </p:grpSpPr>
          <p:sp>
            <p:nvSpPr>
              <p:cNvPr id="159" name="矩形 158">
                <a:extLst>
                  <a:ext uri="{FF2B5EF4-FFF2-40B4-BE49-F238E27FC236}">
                    <a16:creationId xmlns:a16="http://schemas.microsoft.com/office/drawing/2014/main" id="{38F6097A-C11C-429B-946D-C448046C6825}"/>
                  </a:ext>
                </a:extLst>
              </p:cNvPr>
              <p:cNvSpPr/>
              <p:nvPr/>
            </p:nvSpPr>
            <p:spPr>
              <a:xfrm>
                <a:off x="8573326" y="1522339"/>
                <a:ext cx="1848131" cy="1030120"/>
              </a:xfrm>
              <a:prstGeom prst="rect">
                <a:avLst/>
              </a:prstGeom>
              <a:solidFill>
                <a:srgbClr val="ED6D0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1219" b="1" kern="0" dirty="0">
                    <a:latin typeface="Calibri" panose="020F0502020204030204"/>
                    <a:ea typeface="等线" panose="02010600030101010101" pitchFamily="2" charset="-122"/>
                  </a:rPr>
                  <a:t>UB-SW</a:t>
                </a:r>
                <a:endParaRPr lang="zh-CN" altLang="en-US" sz="1219" b="1" kern="0" dirty="0">
                  <a:latin typeface="Calibri" panose="020F0502020204030204"/>
                  <a:ea typeface="等线" panose="02010600030101010101" pitchFamily="2" charset="-122"/>
                </a:endParaRPr>
              </a:p>
            </p:txBody>
          </p:sp>
          <p:grpSp>
            <p:nvGrpSpPr>
              <p:cNvPr id="160" name="组合 159">
                <a:extLst>
                  <a:ext uri="{FF2B5EF4-FFF2-40B4-BE49-F238E27FC236}">
                    <a16:creationId xmlns:a16="http://schemas.microsoft.com/office/drawing/2014/main" id="{143D2048-0CEE-44F8-A9D1-9D8B648B0554}"/>
                  </a:ext>
                </a:extLst>
              </p:cNvPr>
              <p:cNvGrpSpPr/>
              <p:nvPr/>
            </p:nvGrpSpPr>
            <p:grpSpPr>
              <a:xfrm>
                <a:off x="1815426" y="665565"/>
                <a:ext cx="6009603" cy="3029811"/>
                <a:chOff x="624987" y="767922"/>
                <a:chExt cx="8391326" cy="5830834"/>
              </a:xfrm>
            </p:grpSpPr>
            <p:grpSp>
              <p:nvGrpSpPr>
                <p:cNvPr id="173" name="组合 172">
                  <a:extLst>
                    <a:ext uri="{FF2B5EF4-FFF2-40B4-BE49-F238E27FC236}">
                      <a16:creationId xmlns:a16="http://schemas.microsoft.com/office/drawing/2014/main" id="{5305490C-4C76-48E4-9211-FA5EAAFE9E08}"/>
                    </a:ext>
                  </a:extLst>
                </p:cNvPr>
                <p:cNvGrpSpPr/>
                <p:nvPr/>
              </p:nvGrpSpPr>
              <p:grpSpPr>
                <a:xfrm>
                  <a:off x="624987" y="767922"/>
                  <a:ext cx="8056880" cy="5557520"/>
                  <a:chOff x="111760" y="802640"/>
                  <a:chExt cx="8056880" cy="5557520"/>
                </a:xfrm>
              </p:grpSpPr>
              <p:sp>
                <p:nvSpPr>
                  <p:cNvPr id="181" name="矩形 180">
                    <a:extLst>
                      <a:ext uri="{FF2B5EF4-FFF2-40B4-BE49-F238E27FC236}">
                        <a16:creationId xmlns:a16="http://schemas.microsoft.com/office/drawing/2014/main" id="{99186FBE-1869-49E8-8DFF-3469A8EA9EBF}"/>
                      </a:ext>
                    </a:extLst>
                  </p:cNvPr>
                  <p:cNvSpPr/>
                  <p:nvPr/>
                </p:nvSpPr>
                <p:spPr>
                  <a:xfrm>
                    <a:off x="111760" y="802640"/>
                    <a:ext cx="8056880" cy="5557520"/>
                  </a:xfrm>
                  <a:prstGeom prst="rect">
                    <a:avLst/>
                  </a:prstGeom>
                  <a:solidFill>
                    <a:srgbClr val="FFFFFF"/>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endParaRPr lang="zh-CN" altLang="en-US" sz="914" kern="0" dirty="0">
                      <a:latin typeface="Calibri" panose="020F0502020204030204"/>
                      <a:ea typeface="等线" panose="02010600030101010101" pitchFamily="2" charset="-122"/>
                    </a:endParaRPr>
                  </a:p>
                </p:txBody>
              </p:sp>
              <p:sp>
                <p:nvSpPr>
                  <p:cNvPr id="182" name="矩形 181">
                    <a:extLst>
                      <a:ext uri="{FF2B5EF4-FFF2-40B4-BE49-F238E27FC236}">
                        <a16:creationId xmlns:a16="http://schemas.microsoft.com/office/drawing/2014/main" id="{A4B06D48-D37F-4936-B193-D096522B6157}"/>
                      </a:ext>
                    </a:extLst>
                  </p:cNvPr>
                  <p:cNvSpPr/>
                  <p:nvPr/>
                </p:nvSpPr>
                <p:spPr>
                  <a:xfrm>
                    <a:off x="4474648" y="1063132"/>
                    <a:ext cx="3247465" cy="1476353"/>
                  </a:xfrm>
                  <a:prstGeom prst="rect">
                    <a:avLst/>
                  </a:prstGeom>
                  <a:solidFill>
                    <a:srgbClr val="61B23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1219" b="1" kern="0" dirty="0" err="1">
                        <a:latin typeface="Calibri" panose="020F0502020204030204"/>
                        <a:ea typeface="等线" panose="02010600030101010101" pitchFamily="2" charset="-122"/>
                      </a:rPr>
                      <a:t>UB.mem FPGA</a:t>
                    </a:r>
                    <a:endParaRPr lang="zh-CN" altLang="en-US" sz="1219" b="1" kern="0" dirty="0">
                      <a:latin typeface="Calibri" panose="020F0502020204030204"/>
                      <a:ea typeface="等线" panose="02010600030101010101" pitchFamily="2" charset="-122"/>
                    </a:endParaRPr>
                  </a:p>
                </p:txBody>
              </p:sp>
              <p:sp>
                <p:nvSpPr>
                  <p:cNvPr id="183" name="矩形 182">
                    <a:extLst>
                      <a:ext uri="{FF2B5EF4-FFF2-40B4-BE49-F238E27FC236}">
                        <a16:creationId xmlns:a16="http://schemas.microsoft.com/office/drawing/2014/main" id="{AC88AB8D-03BB-4C0A-8431-24EE516E930D}"/>
                      </a:ext>
                    </a:extLst>
                  </p:cNvPr>
                  <p:cNvSpPr/>
                  <p:nvPr/>
                </p:nvSpPr>
                <p:spPr>
                  <a:xfrm>
                    <a:off x="4474648" y="2760161"/>
                    <a:ext cx="3247465" cy="1476353"/>
                  </a:xfrm>
                  <a:prstGeom prst="rect">
                    <a:avLst/>
                  </a:prstGeom>
                  <a:solidFill>
                    <a:srgbClr val="61B23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1219" b="1" kern="0" dirty="0" err="1">
                        <a:latin typeface="Calibri" panose="020F0502020204030204"/>
                        <a:ea typeface="等线" panose="02010600030101010101" pitchFamily="2" charset="-122"/>
                      </a:rPr>
                      <a:t>UBoE FPGA</a:t>
                    </a:r>
                  </a:p>
                  <a:p>
                    <a:pPr algn="ctr" defTabSz="696832">
                      <a:defRPr/>
                    </a:pPr>
                    <a:r>
                      <a:rPr lang="en-US" altLang="zh-CN" sz="1219" b="1" kern="0" dirty="0">
                        <a:latin typeface="Calibri" panose="020F0502020204030204"/>
                        <a:ea typeface="等线" panose="02010600030101010101" pitchFamily="2" charset="-122"/>
                      </a:rPr>
                      <a:t>(DPU)</a:t>
                    </a:r>
                    <a:endParaRPr lang="zh-CN" altLang="en-US" sz="1219" b="1" kern="0" dirty="0">
                      <a:latin typeface="Calibri" panose="020F0502020204030204"/>
                      <a:ea typeface="等线" panose="02010600030101010101" pitchFamily="2" charset="-122"/>
                    </a:endParaRPr>
                  </a:p>
                </p:txBody>
              </p:sp>
              <p:sp>
                <p:nvSpPr>
                  <p:cNvPr id="184" name="矩形 183">
                    <a:extLst>
                      <a:ext uri="{FF2B5EF4-FFF2-40B4-BE49-F238E27FC236}">
                        <a16:creationId xmlns:a16="http://schemas.microsoft.com/office/drawing/2014/main" id="{6C03F2D9-1E54-4C3D-826F-861F052C1F59}"/>
                      </a:ext>
                    </a:extLst>
                  </p:cNvPr>
                  <p:cNvSpPr/>
                  <p:nvPr/>
                </p:nvSpPr>
                <p:spPr>
                  <a:xfrm>
                    <a:off x="553783" y="2467873"/>
                    <a:ext cx="1176617" cy="2429312"/>
                  </a:xfrm>
                  <a:prstGeom prst="rect">
                    <a:avLst/>
                  </a:prstGeom>
                  <a:solidFill>
                    <a:srgbClr val="30B5C5"/>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1372" b="1" kern="0" dirty="0">
                        <a:latin typeface="Calibri" panose="020F0502020204030204"/>
                        <a:ea typeface="等线" panose="02010600030101010101" pitchFamily="2" charset="-122"/>
                      </a:rPr>
                      <a:t>CPU  NPU</a:t>
                    </a:r>
                    <a:endParaRPr lang="zh-CN" altLang="en-US" sz="1372" b="1" kern="0" dirty="0">
                      <a:latin typeface="Calibri" panose="020F0502020204030204"/>
                      <a:ea typeface="等线" panose="02010600030101010101" pitchFamily="2" charset="-122"/>
                    </a:endParaRPr>
                  </a:p>
                </p:txBody>
              </p:sp>
              <p:sp>
                <p:nvSpPr>
                  <p:cNvPr id="185" name="矩形 184">
                    <a:extLst>
                      <a:ext uri="{FF2B5EF4-FFF2-40B4-BE49-F238E27FC236}">
                        <a16:creationId xmlns:a16="http://schemas.microsoft.com/office/drawing/2014/main" id="{41DDC290-9534-4AE7-A2EF-78E9FB0D5345}"/>
                      </a:ext>
                    </a:extLst>
                  </p:cNvPr>
                  <p:cNvSpPr/>
                  <p:nvPr/>
                </p:nvSpPr>
                <p:spPr>
                  <a:xfrm>
                    <a:off x="4474647" y="4473334"/>
                    <a:ext cx="3247465" cy="1476353"/>
                  </a:xfrm>
                  <a:prstGeom prst="rect">
                    <a:avLst/>
                  </a:prstGeom>
                  <a:solidFill>
                    <a:srgbClr val="61B23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1219" b="1" kern="0" dirty="0">
                        <a:latin typeface="Calibri" panose="020F0502020204030204"/>
                        <a:ea typeface="等线" panose="02010600030101010101" pitchFamily="2" charset="-122"/>
                      </a:rPr>
                      <a:t>UB-SSD FPGA</a:t>
                    </a:r>
                    <a:endParaRPr lang="zh-CN" altLang="en-US" sz="1219" b="1" kern="0" dirty="0">
                      <a:latin typeface="Calibri" panose="020F0502020204030204"/>
                      <a:ea typeface="等线" panose="02010600030101010101" pitchFamily="2" charset="-122"/>
                    </a:endParaRPr>
                  </a:p>
                </p:txBody>
              </p:sp>
              <p:sp>
                <p:nvSpPr>
                  <p:cNvPr id="186" name="箭头: 左右 185">
                    <a:extLst>
                      <a:ext uri="{FF2B5EF4-FFF2-40B4-BE49-F238E27FC236}">
                        <a16:creationId xmlns:a16="http://schemas.microsoft.com/office/drawing/2014/main" id="{74F73FEF-A827-4B75-BB2D-A4DA3687A274}"/>
                      </a:ext>
                    </a:extLst>
                  </p:cNvPr>
                  <p:cNvSpPr/>
                  <p:nvPr/>
                </p:nvSpPr>
                <p:spPr>
                  <a:xfrm rot="5400000">
                    <a:off x="858020" y="3408209"/>
                    <a:ext cx="4102782" cy="548640"/>
                  </a:xfrm>
                  <a:prstGeom prst="leftRightArrow">
                    <a:avLst/>
                  </a:prstGeom>
                  <a:solidFill>
                    <a:srgbClr val="FCC800"/>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endParaRPr lang="zh-CN" altLang="en-US" sz="914" kern="0">
                      <a:latin typeface="Calibri" panose="020F0502020204030204"/>
                      <a:ea typeface="等线" panose="02010600030101010101" pitchFamily="2" charset="-122"/>
                    </a:endParaRPr>
                  </a:p>
                </p:txBody>
              </p:sp>
              <p:sp>
                <p:nvSpPr>
                  <p:cNvPr id="187" name="箭头: 左右 186">
                    <a:extLst>
                      <a:ext uri="{FF2B5EF4-FFF2-40B4-BE49-F238E27FC236}">
                        <a16:creationId xmlns:a16="http://schemas.microsoft.com/office/drawing/2014/main" id="{6049E9FA-124A-444B-813F-9EC939F5E96F}"/>
                      </a:ext>
                    </a:extLst>
                  </p:cNvPr>
                  <p:cNvSpPr/>
                  <p:nvPr/>
                </p:nvSpPr>
                <p:spPr>
                  <a:xfrm rot="10800000">
                    <a:off x="1730400" y="3588465"/>
                    <a:ext cx="1026160" cy="368384"/>
                  </a:xfrm>
                  <a:prstGeom prst="leftRightArrow">
                    <a:avLst/>
                  </a:prstGeom>
                  <a:solidFill>
                    <a:srgbClr val="FCC800"/>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endParaRPr lang="zh-CN" altLang="en-US" sz="914" kern="0">
                      <a:latin typeface="Calibri" panose="020F0502020204030204"/>
                      <a:ea typeface="等线" panose="02010600030101010101" pitchFamily="2" charset="-122"/>
                    </a:endParaRPr>
                  </a:p>
                </p:txBody>
              </p:sp>
              <p:sp>
                <p:nvSpPr>
                  <p:cNvPr id="188" name="箭头: 左右 187">
                    <a:extLst>
                      <a:ext uri="{FF2B5EF4-FFF2-40B4-BE49-F238E27FC236}">
                        <a16:creationId xmlns:a16="http://schemas.microsoft.com/office/drawing/2014/main" id="{74EE7527-E0BE-436C-AF2F-4E9E6079C8F1}"/>
                      </a:ext>
                    </a:extLst>
                  </p:cNvPr>
                  <p:cNvSpPr/>
                  <p:nvPr/>
                </p:nvSpPr>
                <p:spPr>
                  <a:xfrm rot="10800000">
                    <a:off x="3062263" y="1932360"/>
                    <a:ext cx="1412384" cy="368384"/>
                  </a:xfrm>
                  <a:prstGeom prst="leftRightArrow">
                    <a:avLst/>
                  </a:prstGeom>
                  <a:solidFill>
                    <a:srgbClr val="FCC800"/>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endParaRPr lang="zh-CN" altLang="en-US" sz="914" kern="0">
                      <a:latin typeface="Calibri" panose="020F0502020204030204"/>
                      <a:ea typeface="等线" panose="02010600030101010101" pitchFamily="2" charset="-122"/>
                    </a:endParaRPr>
                  </a:p>
                </p:txBody>
              </p:sp>
              <p:sp>
                <p:nvSpPr>
                  <p:cNvPr id="189" name="箭头: 左右 188">
                    <a:extLst>
                      <a:ext uri="{FF2B5EF4-FFF2-40B4-BE49-F238E27FC236}">
                        <a16:creationId xmlns:a16="http://schemas.microsoft.com/office/drawing/2014/main" id="{E26F63DD-E094-4845-9ED9-A7BF4C06F6A9}"/>
                      </a:ext>
                    </a:extLst>
                  </p:cNvPr>
                  <p:cNvSpPr/>
                  <p:nvPr/>
                </p:nvSpPr>
                <p:spPr>
                  <a:xfrm rot="10800000">
                    <a:off x="3062264" y="3423377"/>
                    <a:ext cx="1412384" cy="368384"/>
                  </a:xfrm>
                  <a:prstGeom prst="leftRightArrow">
                    <a:avLst/>
                  </a:prstGeom>
                  <a:solidFill>
                    <a:srgbClr val="FCC800"/>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endParaRPr lang="zh-CN" altLang="en-US" sz="914" kern="0">
                      <a:latin typeface="Calibri" panose="020F0502020204030204"/>
                      <a:ea typeface="等线" panose="02010600030101010101" pitchFamily="2" charset="-122"/>
                    </a:endParaRPr>
                  </a:p>
                </p:txBody>
              </p:sp>
              <p:sp>
                <p:nvSpPr>
                  <p:cNvPr id="190" name="箭头: 左右 189">
                    <a:extLst>
                      <a:ext uri="{FF2B5EF4-FFF2-40B4-BE49-F238E27FC236}">
                        <a16:creationId xmlns:a16="http://schemas.microsoft.com/office/drawing/2014/main" id="{D1F4DB79-033F-4836-9CBC-A547909D5A71}"/>
                      </a:ext>
                    </a:extLst>
                  </p:cNvPr>
                  <p:cNvSpPr/>
                  <p:nvPr/>
                </p:nvSpPr>
                <p:spPr>
                  <a:xfrm rot="10800000">
                    <a:off x="3062262" y="4897185"/>
                    <a:ext cx="1412384" cy="368384"/>
                  </a:xfrm>
                  <a:prstGeom prst="leftRightArrow">
                    <a:avLst/>
                  </a:prstGeom>
                  <a:solidFill>
                    <a:srgbClr val="FCC800"/>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endParaRPr lang="zh-CN" altLang="en-US" sz="914" kern="0">
                      <a:latin typeface="Calibri" panose="020F0502020204030204"/>
                      <a:ea typeface="等线" panose="02010600030101010101" pitchFamily="2" charset="-122"/>
                    </a:endParaRPr>
                  </a:p>
                </p:txBody>
              </p:sp>
            </p:grpSp>
            <p:grpSp>
              <p:nvGrpSpPr>
                <p:cNvPr id="174" name="组合 173">
                  <a:extLst>
                    <a:ext uri="{FF2B5EF4-FFF2-40B4-BE49-F238E27FC236}">
                      <a16:creationId xmlns:a16="http://schemas.microsoft.com/office/drawing/2014/main" id="{70890CD0-BD4A-49FD-98E5-AAF2CCA71621}"/>
                    </a:ext>
                  </a:extLst>
                </p:cNvPr>
                <p:cNvGrpSpPr/>
                <p:nvPr/>
              </p:nvGrpSpPr>
              <p:grpSpPr>
                <a:xfrm>
                  <a:off x="959433" y="1041237"/>
                  <a:ext cx="8056880" cy="5557519"/>
                  <a:chOff x="730173" y="765233"/>
                  <a:chExt cx="8056880" cy="5557519"/>
                </a:xfrm>
              </p:grpSpPr>
              <p:sp>
                <p:nvSpPr>
                  <p:cNvPr id="175" name="矩形 174">
                    <a:extLst>
                      <a:ext uri="{FF2B5EF4-FFF2-40B4-BE49-F238E27FC236}">
                        <a16:creationId xmlns:a16="http://schemas.microsoft.com/office/drawing/2014/main" id="{54B88C84-8A07-494F-8728-3A79DD35EA45}"/>
                      </a:ext>
                    </a:extLst>
                  </p:cNvPr>
                  <p:cNvSpPr/>
                  <p:nvPr/>
                </p:nvSpPr>
                <p:spPr>
                  <a:xfrm>
                    <a:off x="730173" y="765233"/>
                    <a:ext cx="8056880" cy="5557519"/>
                  </a:xfrm>
                  <a:prstGeom prst="rect">
                    <a:avLst/>
                  </a:prstGeom>
                  <a:solidFill>
                    <a:srgbClr val="FFFFFF"/>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endParaRPr lang="zh-CN" altLang="en-US" sz="914" kern="0" dirty="0">
                      <a:latin typeface="Calibri" panose="020F0502020204030204"/>
                      <a:ea typeface="等线" panose="02010600030101010101" pitchFamily="2" charset="-122"/>
                    </a:endParaRPr>
                  </a:p>
                </p:txBody>
              </p:sp>
              <p:sp>
                <p:nvSpPr>
                  <p:cNvPr id="176" name="矩形 175">
                    <a:extLst>
                      <a:ext uri="{FF2B5EF4-FFF2-40B4-BE49-F238E27FC236}">
                        <a16:creationId xmlns:a16="http://schemas.microsoft.com/office/drawing/2014/main" id="{C3542A1F-5CF9-41C8-B6CF-060505EDAFB4}"/>
                      </a:ext>
                    </a:extLst>
                  </p:cNvPr>
                  <p:cNvSpPr/>
                  <p:nvPr/>
                </p:nvSpPr>
                <p:spPr>
                  <a:xfrm>
                    <a:off x="4474648" y="1063132"/>
                    <a:ext cx="3247465" cy="1476353"/>
                  </a:xfrm>
                  <a:prstGeom prst="rect">
                    <a:avLst/>
                  </a:prstGeom>
                  <a:solidFill>
                    <a:srgbClr val="61B23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1219" b="1" kern="0" dirty="0" err="1">
                        <a:latin typeface="Calibri" panose="020F0502020204030204"/>
                        <a:ea typeface="等线" panose="02010600030101010101" pitchFamily="2" charset="-122"/>
                      </a:rPr>
                      <a:t>UB.mem FPGA</a:t>
                    </a:r>
                    <a:endParaRPr lang="zh-CN" altLang="en-US" sz="1219" b="1" kern="0" dirty="0">
                      <a:latin typeface="Calibri" panose="020F0502020204030204"/>
                      <a:ea typeface="等线" panose="02010600030101010101" pitchFamily="2" charset="-122"/>
                    </a:endParaRPr>
                  </a:p>
                </p:txBody>
              </p:sp>
              <p:sp>
                <p:nvSpPr>
                  <p:cNvPr id="177" name="矩形 176">
                    <a:extLst>
                      <a:ext uri="{FF2B5EF4-FFF2-40B4-BE49-F238E27FC236}">
                        <a16:creationId xmlns:a16="http://schemas.microsoft.com/office/drawing/2014/main" id="{134008F7-75D8-444D-9F74-3A329C6F9117}"/>
                      </a:ext>
                    </a:extLst>
                  </p:cNvPr>
                  <p:cNvSpPr/>
                  <p:nvPr/>
                </p:nvSpPr>
                <p:spPr>
                  <a:xfrm>
                    <a:off x="4474648" y="2920522"/>
                    <a:ext cx="3247465" cy="1476354"/>
                  </a:xfrm>
                  <a:prstGeom prst="rect">
                    <a:avLst/>
                  </a:prstGeom>
                  <a:solidFill>
                    <a:srgbClr val="61B23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1219" b="1" kern="0" dirty="0" err="1">
                        <a:latin typeface="Calibri" panose="020F0502020204030204"/>
                        <a:ea typeface="等线" panose="02010600030101010101" pitchFamily="2" charset="-122"/>
                      </a:rPr>
                      <a:t>UBoE FPGA</a:t>
                    </a:r>
                  </a:p>
                  <a:p>
                    <a:pPr algn="ctr" defTabSz="696832">
                      <a:defRPr/>
                    </a:pPr>
                    <a:r>
                      <a:rPr lang="en-US" altLang="zh-CN" sz="1219" b="1" kern="0" dirty="0">
                        <a:latin typeface="Calibri" panose="020F0502020204030204"/>
                        <a:ea typeface="等线" panose="02010600030101010101" pitchFamily="2" charset="-122"/>
                      </a:rPr>
                      <a:t>( DPU )</a:t>
                    </a:r>
                    <a:endParaRPr lang="zh-CN" altLang="en-US" sz="1219" b="1" kern="0" dirty="0">
                      <a:latin typeface="Calibri" panose="020F0502020204030204"/>
                      <a:ea typeface="等线" panose="02010600030101010101" pitchFamily="2" charset="-122"/>
                    </a:endParaRPr>
                  </a:p>
                </p:txBody>
              </p:sp>
              <p:sp>
                <p:nvSpPr>
                  <p:cNvPr id="178" name="矩形 177">
                    <a:extLst>
                      <a:ext uri="{FF2B5EF4-FFF2-40B4-BE49-F238E27FC236}">
                        <a16:creationId xmlns:a16="http://schemas.microsoft.com/office/drawing/2014/main" id="{13B37C6A-8011-4BA3-B453-EC01D31397B5}"/>
                      </a:ext>
                    </a:extLst>
                  </p:cNvPr>
                  <p:cNvSpPr/>
                  <p:nvPr/>
                </p:nvSpPr>
                <p:spPr>
                  <a:xfrm>
                    <a:off x="1131449" y="1801306"/>
                    <a:ext cx="1492707" cy="4008807"/>
                  </a:xfrm>
                  <a:prstGeom prst="rect">
                    <a:avLst/>
                  </a:prstGeom>
                  <a:solidFill>
                    <a:srgbClr val="30B5C5"/>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1372" b="1" kern="0" dirty="0">
                        <a:latin typeface="Calibri" panose="020F0502020204030204"/>
                        <a:ea typeface="等线" panose="02010600030101010101" pitchFamily="2" charset="-122"/>
                      </a:rPr>
                      <a:t>CPU NPU</a:t>
                    </a:r>
                    <a:endParaRPr lang="zh-CN" altLang="en-US" sz="1372" b="1" kern="0" dirty="0">
                      <a:latin typeface="Calibri" panose="020F0502020204030204"/>
                      <a:ea typeface="等线" panose="02010600030101010101" pitchFamily="2" charset="-122"/>
                    </a:endParaRPr>
                  </a:p>
                </p:txBody>
              </p:sp>
              <p:sp>
                <p:nvSpPr>
                  <p:cNvPr id="179" name="矩形 178">
                    <a:extLst>
                      <a:ext uri="{FF2B5EF4-FFF2-40B4-BE49-F238E27FC236}">
                        <a16:creationId xmlns:a16="http://schemas.microsoft.com/office/drawing/2014/main" id="{EE4716FB-6552-4ACF-8EB9-59F54CE79E9D}"/>
                      </a:ext>
                    </a:extLst>
                  </p:cNvPr>
                  <p:cNvSpPr/>
                  <p:nvPr/>
                </p:nvSpPr>
                <p:spPr>
                  <a:xfrm>
                    <a:off x="4474646" y="4663973"/>
                    <a:ext cx="3247465" cy="1476354"/>
                  </a:xfrm>
                  <a:prstGeom prst="rect">
                    <a:avLst/>
                  </a:prstGeom>
                  <a:solidFill>
                    <a:srgbClr val="61B23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1219" b="1" kern="0" dirty="0">
                        <a:latin typeface="Calibri" panose="020F0502020204030204"/>
                        <a:ea typeface="等线" panose="02010600030101010101" pitchFamily="2" charset="-122"/>
                      </a:rPr>
                      <a:t>UB-SSD FPGA</a:t>
                    </a:r>
                    <a:endParaRPr lang="zh-CN" altLang="en-US" sz="1219" b="1" kern="0" dirty="0">
                      <a:latin typeface="Calibri" panose="020F0502020204030204"/>
                      <a:ea typeface="等线" panose="02010600030101010101" pitchFamily="2" charset="-122"/>
                    </a:endParaRPr>
                  </a:p>
                </p:txBody>
              </p:sp>
              <p:sp>
                <p:nvSpPr>
                  <p:cNvPr id="180" name="文本框 179">
                    <a:extLst>
                      <a:ext uri="{FF2B5EF4-FFF2-40B4-BE49-F238E27FC236}">
                        <a16:creationId xmlns:a16="http://schemas.microsoft.com/office/drawing/2014/main" id="{60C3EC47-5007-4924-880B-22E868A44157}"/>
                      </a:ext>
                    </a:extLst>
                  </p:cNvPr>
                  <p:cNvSpPr txBox="1"/>
                  <p:nvPr/>
                </p:nvSpPr>
                <p:spPr>
                  <a:xfrm>
                    <a:off x="946778" y="820038"/>
                    <a:ext cx="3329122" cy="1043220"/>
                  </a:xfrm>
                  <a:prstGeom prst="rect">
                    <a:avLst/>
                  </a:prstGeom>
                  <a:noFill/>
                </p:spPr>
                <p:txBody>
                  <a:bodyPr wrap="square" lIns="0" tIns="0" rIns="0" bIns="0" rtlCol="0">
                    <a:spAutoFit/>
                  </a:bodyPr>
                  <a:lstStyle/>
                  <a:p>
                    <a:pPr defTabSz="696832">
                      <a:defRPr/>
                    </a:pPr>
                    <a:r>
                      <a:rPr kumimoji="1" lang="en-US" altLang="en-US" sz="914" b="1" kern="0" dirty="0">
                        <a:latin typeface="Microsoft YaHei" panose="020B0503020204020204" pitchFamily="34" charset="-122"/>
                        <a:ea typeface="Microsoft YaHei" panose="020B0503020204020204" pitchFamily="34" charset="-122"/>
                      </a:rPr>
                      <a:t>Memory Semantic Interconnect</a:t>
                    </a:r>
                  </a:p>
                </p:txBody>
              </p:sp>
            </p:grpSp>
          </p:grpSp>
          <p:cxnSp>
            <p:nvCxnSpPr>
              <p:cNvPr id="161" name="连接符: 肘形 160">
                <a:extLst>
                  <a:ext uri="{FF2B5EF4-FFF2-40B4-BE49-F238E27FC236}">
                    <a16:creationId xmlns:a16="http://schemas.microsoft.com/office/drawing/2014/main" id="{4936FB03-4B0A-4E4D-9DA1-5D009225A852}"/>
                  </a:ext>
                </a:extLst>
              </p:cNvPr>
              <p:cNvCxnSpPr>
                <a:cxnSpLocks/>
              </p:cNvCxnSpPr>
              <p:nvPr/>
            </p:nvCxnSpPr>
            <p:spPr>
              <a:xfrm>
                <a:off x="7062352" y="1224030"/>
                <a:ext cx="10084" cy="965134"/>
              </a:xfrm>
              <a:prstGeom prst="bentConnector3">
                <a:avLst>
                  <a:gd name="adj1" fmla="val 1800000"/>
                </a:avLst>
              </a:prstGeom>
              <a:noFill/>
              <a:ln w="28575" cap="flat" cmpd="sng" algn="ctr">
                <a:solidFill>
                  <a:srgbClr val="E9002F"/>
                </a:solidFill>
                <a:prstDash val="solid"/>
                <a:miter lim="800000"/>
                <a:headEnd type="triangle"/>
                <a:tailEnd type="triangle"/>
              </a:ln>
              <a:effectLst/>
            </p:spPr>
          </p:cxnSp>
          <p:cxnSp>
            <p:nvCxnSpPr>
              <p:cNvPr id="162" name="连接符: 肘形 161">
                <a:extLst>
                  <a:ext uri="{FF2B5EF4-FFF2-40B4-BE49-F238E27FC236}">
                    <a16:creationId xmlns:a16="http://schemas.microsoft.com/office/drawing/2014/main" id="{654D3B6C-93FB-48DC-BA4E-78B50CDA6793}"/>
                  </a:ext>
                </a:extLst>
              </p:cNvPr>
              <p:cNvCxnSpPr>
                <a:cxnSpLocks/>
              </p:cNvCxnSpPr>
              <p:nvPr/>
            </p:nvCxnSpPr>
            <p:spPr>
              <a:xfrm flipH="1">
                <a:off x="7054731" y="1539497"/>
                <a:ext cx="1" cy="1772005"/>
              </a:xfrm>
              <a:prstGeom prst="bentConnector3">
                <a:avLst>
                  <a:gd name="adj1" fmla="val -22860000000"/>
                </a:avLst>
              </a:prstGeom>
              <a:noFill/>
              <a:ln w="28575" cap="flat" cmpd="sng" algn="ctr">
                <a:solidFill>
                  <a:srgbClr val="E9002F"/>
                </a:solidFill>
                <a:prstDash val="solid"/>
                <a:miter lim="800000"/>
                <a:headEnd type="triangle"/>
                <a:tailEnd type="triangle"/>
              </a:ln>
              <a:effectLst/>
            </p:spPr>
          </p:cxnSp>
          <p:sp>
            <p:nvSpPr>
              <p:cNvPr id="163" name="箭头: 左右 162">
                <a:extLst>
                  <a:ext uri="{FF2B5EF4-FFF2-40B4-BE49-F238E27FC236}">
                    <a16:creationId xmlns:a16="http://schemas.microsoft.com/office/drawing/2014/main" id="{BA1F2CCB-F3FB-4616-9343-165284E6E99B}"/>
                  </a:ext>
                </a:extLst>
              </p:cNvPr>
              <p:cNvSpPr/>
              <p:nvPr/>
            </p:nvSpPr>
            <p:spPr>
              <a:xfrm rot="10800000">
                <a:off x="3527899" y="1437128"/>
                <a:ext cx="1116864" cy="269032"/>
              </a:xfrm>
              <a:prstGeom prst="leftRightArrow">
                <a:avLst/>
              </a:prstGeom>
              <a:solidFill>
                <a:srgbClr val="FCC80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endParaRPr lang="zh-CN" altLang="en-US" sz="1067" kern="0">
                  <a:latin typeface="Calibri" panose="020F0502020204030204"/>
                  <a:ea typeface="等线" panose="02010600030101010101" pitchFamily="2" charset="-122"/>
                </a:endParaRPr>
              </a:p>
            </p:txBody>
          </p:sp>
          <p:sp>
            <p:nvSpPr>
              <p:cNvPr id="164" name="箭头: 左右 163">
                <a:extLst>
                  <a:ext uri="{FF2B5EF4-FFF2-40B4-BE49-F238E27FC236}">
                    <a16:creationId xmlns:a16="http://schemas.microsoft.com/office/drawing/2014/main" id="{BB6709B7-34C5-473C-AE10-27E2A76A4A6D}"/>
                  </a:ext>
                </a:extLst>
              </p:cNvPr>
              <p:cNvSpPr/>
              <p:nvPr/>
            </p:nvSpPr>
            <p:spPr>
              <a:xfrm rot="10800000">
                <a:off x="3518795" y="2162009"/>
                <a:ext cx="1115884" cy="269032"/>
              </a:xfrm>
              <a:prstGeom prst="leftRightArrow">
                <a:avLst/>
              </a:prstGeom>
              <a:no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endParaRPr lang="zh-CN" altLang="en-US" sz="1067" kern="0">
                  <a:latin typeface="Calibri" panose="020F0502020204030204"/>
                  <a:ea typeface="等线" panose="02010600030101010101" pitchFamily="2" charset="-122"/>
                </a:endParaRPr>
              </a:p>
            </p:txBody>
          </p:sp>
          <p:sp>
            <p:nvSpPr>
              <p:cNvPr id="165" name="箭头: 左右 164">
                <a:extLst>
                  <a:ext uri="{FF2B5EF4-FFF2-40B4-BE49-F238E27FC236}">
                    <a16:creationId xmlns:a16="http://schemas.microsoft.com/office/drawing/2014/main" id="{3484DC23-6122-4650-9426-EA274AD39143}"/>
                  </a:ext>
                </a:extLst>
              </p:cNvPr>
              <p:cNvSpPr/>
              <p:nvPr/>
            </p:nvSpPr>
            <p:spPr>
              <a:xfrm rot="10800000">
                <a:off x="3502796" y="2959181"/>
                <a:ext cx="1141967" cy="269032"/>
              </a:xfrm>
              <a:prstGeom prst="leftRightArrow">
                <a:avLst/>
              </a:prstGeom>
              <a:no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endParaRPr lang="zh-CN" altLang="en-US" sz="1067" kern="0">
                  <a:latin typeface="Calibri" panose="020F0502020204030204"/>
                  <a:ea typeface="等线" panose="02010600030101010101" pitchFamily="2" charset="-122"/>
                </a:endParaRPr>
              </a:p>
            </p:txBody>
          </p:sp>
          <p:sp>
            <p:nvSpPr>
              <p:cNvPr id="166" name="文本框 165">
                <a:extLst>
                  <a:ext uri="{FF2B5EF4-FFF2-40B4-BE49-F238E27FC236}">
                    <a16:creationId xmlns:a16="http://schemas.microsoft.com/office/drawing/2014/main" id="{22D57746-D628-4954-9AA6-BB6FB5348E25}"/>
                  </a:ext>
                </a:extLst>
              </p:cNvPr>
              <p:cNvSpPr txBox="1"/>
              <p:nvPr/>
            </p:nvSpPr>
            <p:spPr>
              <a:xfrm>
                <a:off x="2874262" y="2607283"/>
                <a:ext cx="2384210" cy="271039"/>
              </a:xfrm>
              <a:prstGeom prst="rect">
                <a:avLst/>
              </a:prstGeom>
              <a:noFill/>
            </p:spPr>
            <p:txBody>
              <a:bodyPr wrap="square" lIns="0" tIns="0" rIns="0" bIns="0" rtlCol="0">
                <a:spAutoFit/>
              </a:bodyPr>
              <a:lstStyle/>
              <a:p>
                <a:pPr algn="ctr" defTabSz="696832">
                  <a:defRPr/>
                </a:pPr>
                <a:r>
                  <a:rPr kumimoji="1" lang="en-US" altLang="zh-CN" sz="914" b="1" kern="0" dirty="0">
                    <a:latin typeface="Microsoft YaHei" panose="020B0503020204020204" pitchFamily="34" charset="-122"/>
                    <a:ea typeface="Microsoft YaHei" panose="020B0503020204020204" pitchFamily="34" charset="-122"/>
                  </a:rPr>
                  <a:t>PCIe</a:t>
                </a:r>
                <a:endParaRPr kumimoji="1" lang="zh-CN" altLang="en-US" sz="914" b="1" kern="0" dirty="0">
                  <a:latin typeface="Microsoft YaHei" panose="020B0503020204020204" pitchFamily="34" charset="-122"/>
                  <a:ea typeface="Microsoft YaHei" panose="020B0503020204020204" pitchFamily="34" charset="-122"/>
                </a:endParaRPr>
              </a:p>
            </p:txBody>
          </p:sp>
          <p:sp>
            <p:nvSpPr>
              <p:cNvPr id="167" name="文本框 166">
                <a:extLst>
                  <a:ext uri="{FF2B5EF4-FFF2-40B4-BE49-F238E27FC236}">
                    <a16:creationId xmlns:a16="http://schemas.microsoft.com/office/drawing/2014/main" id="{309CD02A-D210-4291-9503-CF194A0C6908}"/>
                  </a:ext>
                </a:extLst>
              </p:cNvPr>
              <p:cNvSpPr txBox="1"/>
              <p:nvPr/>
            </p:nvSpPr>
            <p:spPr>
              <a:xfrm rot="5400000">
                <a:off x="7090348" y="2029905"/>
                <a:ext cx="976362" cy="301702"/>
              </a:xfrm>
              <a:prstGeom prst="rect">
                <a:avLst/>
              </a:prstGeom>
              <a:noFill/>
            </p:spPr>
            <p:txBody>
              <a:bodyPr wrap="square" lIns="0" tIns="0" rIns="0" bIns="0" rtlCol="0">
                <a:spAutoFit/>
              </a:bodyPr>
              <a:lstStyle/>
              <a:p>
                <a:pPr defTabSz="696832">
                  <a:defRPr/>
                </a:pPr>
                <a:r>
                  <a:rPr kumimoji="1" lang="en-US" altLang="zh-CN" sz="914" b="1" kern="0" dirty="0">
                    <a:latin typeface="Microsoft YaHei" panose="020B0503020204020204" pitchFamily="34" charset="-122"/>
                    <a:ea typeface="Microsoft YaHei" panose="020B0503020204020204" pitchFamily="34" charset="-122"/>
                  </a:rPr>
                  <a:t>UB-Next</a:t>
                </a:r>
                <a:endParaRPr kumimoji="1" lang="zh-CN" altLang="en-US" sz="914" b="1" kern="0" dirty="0">
                  <a:latin typeface="Microsoft YaHei" panose="020B0503020204020204" pitchFamily="34" charset="-122"/>
                  <a:ea typeface="Microsoft YaHei" panose="020B0503020204020204" pitchFamily="34" charset="-122"/>
                </a:endParaRPr>
              </a:p>
            </p:txBody>
          </p:sp>
          <p:sp>
            <p:nvSpPr>
              <p:cNvPr id="168" name="矩形 167">
                <a:extLst>
                  <a:ext uri="{FF2B5EF4-FFF2-40B4-BE49-F238E27FC236}">
                    <a16:creationId xmlns:a16="http://schemas.microsoft.com/office/drawing/2014/main" id="{DC7FE27F-1E0B-4E63-B901-4783A517570F}"/>
                  </a:ext>
                </a:extLst>
              </p:cNvPr>
              <p:cNvSpPr/>
              <p:nvPr/>
            </p:nvSpPr>
            <p:spPr>
              <a:xfrm>
                <a:off x="8776185" y="1663298"/>
                <a:ext cx="1848131" cy="1030120"/>
              </a:xfrm>
              <a:prstGeom prst="rect">
                <a:avLst/>
              </a:prstGeom>
              <a:solidFill>
                <a:srgbClr val="ED6D0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1219" b="1" kern="0" dirty="0">
                    <a:latin typeface="Calibri" panose="020F0502020204030204"/>
                    <a:ea typeface="等线" panose="02010600030101010101" pitchFamily="2" charset="-122"/>
                  </a:rPr>
                  <a:t>UB-SW</a:t>
                </a:r>
                <a:endParaRPr lang="zh-CN" altLang="en-US" sz="1219" b="1" kern="0" dirty="0">
                  <a:latin typeface="Calibri" panose="020F0502020204030204"/>
                  <a:ea typeface="等线" panose="02010600030101010101" pitchFamily="2" charset="-122"/>
                </a:endParaRPr>
              </a:p>
            </p:txBody>
          </p:sp>
          <p:sp>
            <p:nvSpPr>
              <p:cNvPr id="169" name="矩形 168">
                <a:extLst>
                  <a:ext uri="{FF2B5EF4-FFF2-40B4-BE49-F238E27FC236}">
                    <a16:creationId xmlns:a16="http://schemas.microsoft.com/office/drawing/2014/main" id="{0A7B727D-F34D-4FCC-A9B1-F1CC0C564C39}"/>
                  </a:ext>
                </a:extLst>
              </p:cNvPr>
              <p:cNvSpPr/>
              <p:nvPr/>
            </p:nvSpPr>
            <p:spPr>
              <a:xfrm>
                <a:off x="8963364" y="1804257"/>
                <a:ext cx="1848131" cy="1030120"/>
              </a:xfrm>
              <a:prstGeom prst="rect">
                <a:avLst/>
              </a:prstGeom>
              <a:solidFill>
                <a:srgbClr val="ED6D0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1219" b="1" kern="0" dirty="0">
                    <a:latin typeface="Calibri" panose="020F0502020204030204"/>
                    <a:ea typeface="等线" panose="02010600030101010101" pitchFamily="2" charset="-122"/>
                  </a:rPr>
                  <a:t>UB-SW</a:t>
                </a:r>
                <a:endParaRPr lang="zh-CN" altLang="en-US" sz="1219" b="1" kern="0" dirty="0">
                  <a:latin typeface="Calibri" panose="020F0502020204030204"/>
                  <a:ea typeface="等线" panose="02010600030101010101" pitchFamily="2" charset="-122"/>
                </a:endParaRPr>
              </a:p>
            </p:txBody>
          </p:sp>
          <p:cxnSp>
            <p:nvCxnSpPr>
              <p:cNvPr id="170" name="连接符: 曲线 169">
                <a:extLst>
                  <a:ext uri="{FF2B5EF4-FFF2-40B4-BE49-F238E27FC236}">
                    <a16:creationId xmlns:a16="http://schemas.microsoft.com/office/drawing/2014/main" id="{38D3F932-6C7C-48D5-8A56-617D63762A44}"/>
                  </a:ext>
                </a:extLst>
              </p:cNvPr>
              <p:cNvCxnSpPr>
                <a:stCxn id="176" idx="3"/>
                <a:endCxn id="159" idx="1"/>
              </p:cNvCxnSpPr>
              <p:nvPr/>
            </p:nvCxnSpPr>
            <p:spPr>
              <a:xfrm>
                <a:off x="7062353" y="1345950"/>
                <a:ext cx="1510973" cy="691449"/>
              </a:xfrm>
              <a:prstGeom prst="curvedConnector3">
                <a:avLst/>
              </a:prstGeom>
              <a:noFill/>
              <a:ln w="19050" cap="flat" cmpd="sng" algn="ctr">
                <a:solidFill>
                  <a:srgbClr val="E9002F"/>
                </a:solidFill>
                <a:prstDash val="solid"/>
                <a:miter lim="800000"/>
                <a:headEnd type="triangle"/>
                <a:tailEnd type="triangle"/>
              </a:ln>
              <a:effectLst/>
            </p:spPr>
          </p:cxnSp>
          <p:cxnSp>
            <p:nvCxnSpPr>
              <p:cNvPr id="171" name="连接符: 曲线 170">
                <a:extLst>
                  <a:ext uri="{FF2B5EF4-FFF2-40B4-BE49-F238E27FC236}">
                    <a16:creationId xmlns:a16="http://schemas.microsoft.com/office/drawing/2014/main" id="{9875F089-2224-4049-BA94-D0169480C72D}"/>
                  </a:ext>
                </a:extLst>
              </p:cNvPr>
              <p:cNvCxnSpPr>
                <a:cxnSpLocks/>
                <a:stCxn id="177" idx="3"/>
                <a:endCxn id="159" idx="1"/>
              </p:cNvCxnSpPr>
              <p:nvPr/>
            </p:nvCxnSpPr>
            <p:spPr>
              <a:xfrm flipV="1">
                <a:off x="7062353" y="2037399"/>
                <a:ext cx="1510973" cy="273686"/>
              </a:xfrm>
              <a:prstGeom prst="curvedConnector3">
                <a:avLst/>
              </a:prstGeom>
              <a:noFill/>
              <a:ln w="19050" cap="flat" cmpd="sng" algn="ctr">
                <a:solidFill>
                  <a:srgbClr val="E9002F"/>
                </a:solidFill>
                <a:prstDash val="solid"/>
                <a:miter lim="800000"/>
                <a:headEnd type="triangle"/>
                <a:tailEnd type="triangle"/>
              </a:ln>
              <a:effectLst/>
            </p:spPr>
          </p:cxnSp>
          <p:cxnSp>
            <p:nvCxnSpPr>
              <p:cNvPr id="172" name="连接符: 曲线 171">
                <a:extLst>
                  <a:ext uri="{FF2B5EF4-FFF2-40B4-BE49-F238E27FC236}">
                    <a16:creationId xmlns:a16="http://schemas.microsoft.com/office/drawing/2014/main" id="{965A6314-9D48-4409-A0F5-0FA13F02C3C8}"/>
                  </a:ext>
                </a:extLst>
              </p:cNvPr>
              <p:cNvCxnSpPr>
                <a:cxnSpLocks/>
                <a:stCxn id="179" idx="3"/>
                <a:endCxn id="159" idx="1"/>
              </p:cNvCxnSpPr>
              <p:nvPr/>
            </p:nvCxnSpPr>
            <p:spPr>
              <a:xfrm flipV="1">
                <a:off x="7062351" y="2037399"/>
                <a:ext cx="1510975" cy="1179615"/>
              </a:xfrm>
              <a:prstGeom prst="curvedConnector3">
                <a:avLst/>
              </a:prstGeom>
              <a:noFill/>
              <a:ln w="19050" cap="flat" cmpd="sng" algn="ctr">
                <a:solidFill>
                  <a:srgbClr val="E9002F"/>
                </a:solidFill>
                <a:prstDash val="solid"/>
                <a:miter lim="800000"/>
                <a:headEnd type="triangle"/>
                <a:tailEnd type="triangle"/>
              </a:ln>
              <a:effectLst/>
            </p:spPr>
          </p:cxnSp>
        </p:grpSp>
        <p:pic>
          <p:nvPicPr>
            <p:cNvPr id="156" name="图片 155">
              <a:extLst>
                <a:ext uri="{FF2B5EF4-FFF2-40B4-BE49-F238E27FC236}">
                  <a16:creationId xmlns:a16="http://schemas.microsoft.com/office/drawing/2014/main" id="{0B3B7920-0D1B-4029-A6ED-79E2FB83EC20}"/>
                </a:ext>
              </a:extLst>
            </p:cNvPr>
            <p:cNvPicPr>
              <a:picLocks noChangeAspect="1"/>
            </p:cNvPicPr>
            <p:nvPr/>
          </p:nvPicPr>
          <p:blipFill>
            <a:blip r:embed="rId3"/>
            <a:stretch>
              <a:fillRect/>
            </a:stretch>
          </p:blipFill>
          <p:spPr>
            <a:xfrm>
              <a:off x="8987363" y="1889761"/>
              <a:ext cx="2378786" cy="1691678"/>
            </a:xfrm>
            <a:prstGeom prst="rect">
              <a:avLst/>
            </a:prstGeom>
          </p:spPr>
        </p:pic>
        <p:cxnSp>
          <p:nvCxnSpPr>
            <p:cNvPr id="157" name="直接连接符 156">
              <a:extLst>
                <a:ext uri="{FF2B5EF4-FFF2-40B4-BE49-F238E27FC236}">
                  <a16:creationId xmlns:a16="http://schemas.microsoft.com/office/drawing/2014/main" id="{E0CA9CFC-4C11-4109-A538-CB485EF87613}"/>
                </a:ext>
              </a:extLst>
            </p:cNvPr>
            <p:cNvCxnSpPr>
              <a:cxnSpLocks/>
            </p:cNvCxnSpPr>
            <p:nvPr/>
          </p:nvCxnSpPr>
          <p:spPr>
            <a:xfrm flipH="1" flipV="1">
              <a:off x="9008823" y="3508777"/>
              <a:ext cx="408055" cy="330550"/>
            </a:xfrm>
            <a:prstGeom prst="line">
              <a:avLst/>
            </a:prstGeom>
            <a:noFill/>
            <a:ln w="6350" cap="flat" cmpd="sng" algn="ctr">
              <a:solidFill>
                <a:srgbClr val="E9002F"/>
              </a:solidFill>
              <a:prstDash val="solid"/>
              <a:miter lim="800000"/>
            </a:ln>
            <a:effectLst/>
          </p:spPr>
        </p:cxnSp>
        <p:cxnSp>
          <p:nvCxnSpPr>
            <p:cNvPr id="158" name="直接连接符 157">
              <a:extLst>
                <a:ext uri="{FF2B5EF4-FFF2-40B4-BE49-F238E27FC236}">
                  <a16:creationId xmlns:a16="http://schemas.microsoft.com/office/drawing/2014/main" id="{74F5296C-8EC6-4C6B-9A73-81556B0F94D2}"/>
                </a:ext>
              </a:extLst>
            </p:cNvPr>
            <p:cNvCxnSpPr>
              <a:cxnSpLocks/>
            </p:cNvCxnSpPr>
            <p:nvPr/>
          </p:nvCxnSpPr>
          <p:spPr>
            <a:xfrm flipV="1">
              <a:off x="10830632" y="3520976"/>
              <a:ext cx="491588" cy="324488"/>
            </a:xfrm>
            <a:prstGeom prst="line">
              <a:avLst/>
            </a:prstGeom>
            <a:noFill/>
            <a:ln w="6350" cap="flat" cmpd="sng" algn="ctr">
              <a:solidFill>
                <a:srgbClr val="E9002F"/>
              </a:solidFill>
              <a:prstDash val="solid"/>
              <a:miter lim="800000"/>
            </a:ln>
            <a:effectLst/>
          </p:spPr>
        </p:cxnSp>
      </p:grpSp>
      <p:sp>
        <p:nvSpPr>
          <p:cNvPr id="194" name="文本框 193">
            <a:extLst>
              <a:ext uri="{FF2B5EF4-FFF2-40B4-BE49-F238E27FC236}">
                <a16:creationId xmlns:a16="http://schemas.microsoft.com/office/drawing/2014/main" id="{1B20119F-37C6-4AFA-B82A-C8EEBC5B8B41}"/>
              </a:ext>
            </a:extLst>
          </p:cNvPr>
          <p:cNvSpPr txBox="1"/>
          <p:nvPr/>
        </p:nvSpPr>
        <p:spPr>
          <a:xfrm>
            <a:off x="771798" y="4452904"/>
            <a:ext cx="3184302" cy="169277"/>
          </a:xfrm>
          <a:prstGeom prst="rect">
            <a:avLst/>
          </a:prstGeom>
          <a:noFill/>
        </p:spPr>
        <p:txBody>
          <a:bodyPr wrap="square" lIns="0" tIns="0" rIns="0" bIns="0" rtlCol="0">
            <a:spAutoFit/>
          </a:bodyPr>
          <a:lstStyle/>
          <a:p>
            <a:pPr algn="ctr" defTabSz="348386"/>
            <a:r>
              <a:rPr kumimoji="1" lang="en-US" altLang="en-US" sz="1100" b="1" dirty="0">
                <a:solidFill>
                  <a:srgbClr val="C00000"/>
                </a:solidFill>
                <a:latin typeface="Microsoft YaHei" panose="020B0503020204020204" pitchFamily="34" charset="-122"/>
                <a:ea typeface="Microsoft YaHei" panose="020B0503020204020204" pitchFamily="34" charset="-122"/>
              </a:rPr>
              <a:t>Multi-head Memory Pool Architecture</a:t>
            </a:r>
          </a:p>
        </p:txBody>
      </p:sp>
      <p:sp>
        <p:nvSpPr>
          <p:cNvPr id="195" name="文本框 194">
            <a:extLst>
              <a:ext uri="{FF2B5EF4-FFF2-40B4-BE49-F238E27FC236}">
                <a16:creationId xmlns:a16="http://schemas.microsoft.com/office/drawing/2014/main" id="{32251519-0AC6-4138-84D2-F594846D51DD}"/>
              </a:ext>
            </a:extLst>
          </p:cNvPr>
          <p:cNvSpPr txBox="1"/>
          <p:nvPr/>
        </p:nvSpPr>
        <p:spPr>
          <a:xfrm>
            <a:off x="4501087" y="4452904"/>
            <a:ext cx="3483804" cy="169277"/>
          </a:xfrm>
          <a:prstGeom prst="rect">
            <a:avLst/>
          </a:prstGeom>
          <a:noFill/>
        </p:spPr>
        <p:txBody>
          <a:bodyPr wrap="square" lIns="0" tIns="0" rIns="0" bIns="0" rtlCol="0">
            <a:spAutoFit/>
          </a:bodyPr>
          <a:lstStyle/>
          <a:p>
            <a:pPr algn="ctr" defTabSz="348386"/>
            <a:r>
              <a:rPr kumimoji="1" lang="en-US" altLang="en-US" sz="1100" b="1" dirty="0">
                <a:solidFill>
                  <a:srgbClr val="C00000"/>
                </a:solidFill>
                <a:latin typeface="Microsoft YaHei" panose="020B0503020204020204" pitchFamily="34" charset="-122"/>
                <a:ea typeface="Microsoft YaHei" panose="020B0503020204020204" pitchFamily="34" charset="-122"/>
              </a:rPr>
              <a:t>Direct Borrowing Topology Architecture</a:t>
            </a:r>
          </a:p>
        </p:txBody>
      </p:sp>
      <p:sp>
        <p:nvSpPr>
          <p:cNvPr id="196" name="文本框 195">
            <a:extLst>
              <a:ext uri="{FF2B5EF4-FFF2-40B4-BE49-F238E27FC236}">
                <a16:creationId xmlns:a16="http://schemas.microsoft.com/office/drawing/2014/main" id="{C3F68553-813F-42C2-85D2-7096D37FE176}"/>
              </a:ext>
            </a:extLst>
          </p:cNvPr>
          <p:cNvSpPr txBox="1"/>
          <p:nvPr/>
        </p:nvSpPr>
        <p:spPr>
          <a:xfrm>
            <a:off x="8078494" y="4440511"/>
            <a:ext cx="3483804" cy="169277"/>
          </a:xfrm>
          <a:prstGeom prst="rect">
            <a:avLst/>
          </a:prstGeom>
          <a:noFill/>
        </p:spPr>
        <p:txBody>
          <a:bodyPr wrap="square" lIns="0" tIns="0" rIns="0" bIns="0" rtlCol="0">
            <a:spAutoFit/>
          </a:bodyPr>
          <a:lstStyle/>
          <a:p>
            <a:pPr algn="ctr" defTabSz="348386"/>
            <a:r>
              <a:rPr kumimoji="1" lang="en-US" altLang="en-US" sz="1100" b="1" dirty="0">
                <a:solidFill>
                  <a:srgbClr val="C00000"/>
                </a:solidFill>
                <a:latin typeface="Microsoft YaHei" panose="020B0503020204020204" pitchFamily="34" charset="-122"/>
                <a:ea typeface="Microsoft YaHei" panose="020B0503020204020204" pitchFamily="34" charset="-122"/>
              </a:rPr>
              <a:t>Switch-based Interconnect Architecture</a:t>
            </a:r>
          </a:p>
        </p:txBody>
      </p:sp>
      <p:grpSp>
        <p:nvGrpSpPr>
          <p:cNvPr id="3" name="组合 2">
            <a:extLst>
              <a:ext uri="{FF2B5EF4-FFF2-40B4-BE49-F238E27FC236}">
                <a16:creationId xmlns:a16="http://schemas.microsoft.com/office/drawing/2014/main" id="{B473B771-722D-4599-8509-B9C830FF7B0C}"/>
              </a:ext>
            </a:extLst>
          </p:cNvPr>
          <p:cNvGrpSpPr/>
          <p:nvPr/>
        </p:nvGrpSpPr>
        <p:grpSpPr>
          <a:xfrm>
            <a:off x="1249796" y="4725156"/>
            <a:ext cx="2354046" cy="1503736"/>
            <a:chOff x="1174194" y="4651983"/>
            <a:chExt cx="2354046" cy="1503736"/>
          </a:xfrm>
        </p:grpSpPr>
        <p:pic>
          <p:nvPicPr>
            <p:cNvPr id="193" name="图片 192">
              <a:extLst>
                <a:ext uri="{FF2B5EF4-FFF2-40B4-BE49-F238E27FC236}">
                  <a16:creationId xmlns:a16="http://schemas.microsoft.com/office/drawing/2014/main" id="{F9F3FB10-39E7-4286-8032-3ADD47D84098}"/>
                </a:ext>
              </a:extLst>
            </p:cNvPr>
            <p:cNvPicPr>
              <a:picLocks noChangeAspect="1"/>
            </p:cNvPicPr>
            <p:nvPr/>
          </p:nvPicPr>
          <p:blipFill>
            <a:blip r:embed="rId4"/>
            <a:stretch>
              <a:fillRect/>
            </a:stretch>
          </p:blipFill>
          <p:spPr>
            <a:xfrm>
              <a:off x="1174194" y="4651983"/>
              <a:ext cx="2354046" cy="1503736"/>
            </a:xfrm>
            <a:prstGeom prst="rect">
              <a:avLst/>
            </a:prstGeom>
          </p:spPr>
        </p:pic>
        <p:sp>
          <p:nvSpPr>
            <p:cNvPr id="2" name="流程图: 过程 1">
              <a:extLst>
                <a:ext uri="{FF2B5EF4-FFF2-40B4-BE49-F238E27FC236}">
                  <a16:creationId xmlns:a16="http://schemas.microsoft.com/office/drawing/2014/main" id="{36205915-C4C0-423C-962B-31C72328331F}"/>
                </a:ext>
              </a:extLst>
            </p:cNvPr>
            <p:cNvSpPr/>
            <p:nvPr/>
          </p:nvSpPr>
          <p:spPr>
            <a:xfrm>
              <a:off x="1238250" y="5681663"/>
              <a:ext cx="323850" cy="276225"/>
            </a:xfrm>
            <a:prstGeom prst="flowChartProcess">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900" dirty="0">
                  <a:solidFill>
                    <a:schemeClr val="tx1"/>
                  </a:solidFill>
                  <a:latin typeface="+mn-ea"/>
                </a:rPr>
                <a:t>Comp.</a:t>
              </a:r>
            </a:p>
            <a:p>
              <a:pPr algn="ctr"/>
              <a:r>
                <a:rPr lang="en-US" altLang="zh-CN" sz="900" dirty="0">
                  <a:solidFill>
                    <a:schemeClr val="tx1"/>
                  </a:solidFill>
                  <a:latin typeface="+mn-ea"/>
                </a:rPr>
                <a:t>Node</a:t>
              </a:r>
              <a:endParaRPr lang="zh-CN" altLang="en-US" sz="900" dirty="0">
                <a:solidFill>
                  <a:schemeClr val="tx1"/>
                </a:solidFill>
                <a:latin typeface="+mn-ea"/>
              </a:endParaRPr>
            </a:p>
          </p:txBody>
        </p:sp>
        <p:sp>
          <p:nvSpPr>
            <p:cNvPr id="197" name="流程图: 过程 196">
              <a:extLst>
                <a:ext uri="{FF2B5EF4-FFF2-40B4-BE49-F238E27FC236}">
                  <a16:creationId xmlns:a16="http://schemas.microsoft.com/office/drawing/2014/main" id="{FD7167E0-A973-445C-9B7A-86853B906A45}"/>
                </a:ext>
              </a:extLst>
            </p:cNvPr>
            <p:cNvSpPr/>
            <p:nvPr/>
          </p:nvSpPr>
          <p:spPr>
            <a:xfrm>
              <a:off x="1876425" y="5681663"/>
              <a:ext cx="323850" cy="276225"/>
            </a:xfrm>
            <a:prstGeom prst="flowChartProcess">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900" dirty="0">
                  <a:solidFill>
                    <a:schemeClr val="tx1"/>
                  </a:solidFill>
                  <a:latin typeface="+mn-ea"/>
                </a:rPr>
                <a:t>Comp.</a:t>
              </a:r>
            </a:p>
            <a:p>
              <a:pPr algn="ctr"/>
              <a:r>
                <a:rPr lang="en-US" altLang="zh-CN" sz="900" dirty="0">
                  <a:solidFill>
                    <a:schemeClr val="tx1"/>
                  </a:solidFill>
                  <a:latin typeface="+mn-ea"/>
                </a:rPr>
                <a:t>Node</a:t>
              </a:r>
              <a:endParaRPr lang="zh-CN" altLang="en-US" sz="900" dirty="0">
                <a:solidFill>
                  <a:schemeClr val="tx1"/>
                </a:solidFill>
                <a:latin typeface="+mn-ea"/>
              </a:endParaRPr>
            </a:p>
          </p:txBody>
        </p:sp>
        <p:sp>
          <p:nvSpPr>
            <p:cNvPr id="198" name="流程图: 过程 197">
              <a:extLst>
                <a:ext uri="{FF2B5EF4-FFF2-40B4-BE49-F238E27FC236}">
                  <a16:creationId xmlns:a16="http://schemas.microsoft.com/office/drawing/2014/main" id="{F1010683-2829-425E-B566-02F77EC415FF}"/>
                </a:ext>
              </a:extLst>
            </p:cNvPr>
            <p:cNvSpPr/>
            <p:nvPr/>
          </p:nvSpPr>
          <p:spPr>
            <a:xfrm>
              <a:off x="2514600" y="5681663"/>
              <a:ext cx="323850" cy="276225"/>
            </a:xfrm>
            <a:prstGeom prst="flowChartProcess">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900" dirty="0">
                  <a:solidFill>
                    <a:schemeClr val="tx1"/>
                  </a:solidFill>
                  <a:latin typeface="+mn-ea"/>
                </a:rPr>
                <a:t>Comp.</a:t>
              </a:r>
            </a:p>
            <a:p>
              <a:pPr algn="ctr"/>
              <a:r>
                <a:rPr lang="en-US" altLang="zh-CN" sz="900" dirty="0">
                  <a:solidFill>
                    <a:schemeClr val="tx1"/>
                  </a:solidFill>
                  <a:latin typeface="+mn-ea"/>
                </a:rPr>
                <a:t>Node</a:t>
              </a:r>
              <a:endParaRPr lang="zh-CN" altLang="en-US" sz="900" dirty="0">
                <a:solidFill>
                  <a:schemeClr val="tx1"/>
                </a:solidFill>
                <a:latin typeface="+mn-ea"/>
              </a:endParaRPr>
            </a:p>
          </p:txBody>
        </p:sp>
        <p:sp>
          <p:nvSpPr>
            <p:cNvPr id="199" name="流程图: 过程 198">
              <a:extLst>
                <a:ext uri="{FF2B5EF4-FFF2-40B4-BE49-F238E27FC236}">
                  <a16:creationId xmlns:a16="http://schemas.microsoft.com/office/drawing/2014/main" id="{3370B443-BD1B-4DC1-8ECD-891725EC5F21}"/>
                </a:ext>
              </a:extLst>
            </p:cNvPr>
            <p:cNvSpPr/>
            <p:nvPr/>
          </p:nvSpPr>
          <p:spPr>
            <a:xfrm>
              <a:off x="3152775" y="5681663"/>
              <a:ext cx="323850" cy="276225"/>
            </a:xfrm>
            <a:prstGeom prst="flowChartProcess">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900" dirty="0">
                  <a:solidFill>
                    <a:schemeClr val="tx1"/>
                  </a:solidFill>
                  <a:latin typeface="+mn-ea"/>
                </a:rPr>
                <a:t>Comp.</a:t>
              </a:r>
            </a:p>
            <a:p>
              <a:pPr algn="ctr"/>
              <a:r>
                <a:rPr lang="en-US" altLang="zh-CN" sz="900" dirty="0">
                  <a:solidFill>
                    <a:schemeClr val="tx1"/>
                  </a:solidFill>
                  <a:latin typeface="+mn-ea"/>
                </a:rPr>
                <a:t>Node</a:t>
              </a:r>
              <a:endParaRPr lang="zh-CN" altLang="en-US" sz="900" dirty="0">
                <a:solidFill>
                  <a:schemeClr val="tx1"/>
                </a:solidFill>
                <a:latin typeface="+mn-ea"/>
              </a:endParaRPr>
            </a:p>
          </p:txBody>
        </p:sp>
        <p:sp>
          <p:nvSpPr>
            <p:cNvPr id="200" name="流程图: 过程 199">
              <a:extLst>
                <a:ext uri="{FF2B5EF4-FFF2-40B4-BE49-F238E27FC236}">
                  <a16:creationId xmlns:a16="http://schemas.microsoft.com/office/drawing/2014/main" id="{0532F7B1-180E-4F5A-BF6D-01D38DE8CD1F}"/>
                </a:ext>
              </a:extLst>
            </p:cNvPr>
            <p:cNvSpPr/>
            <p:nvPr/>
          </p:nvSpPr>
          <p:spPr>
            <a:xfrm>
              <a:off x="1980915" y="4693895"/>
              <a:ext cx="740603" cy="140265"/>
            </a:xfrm>
            <a:prstGeom prst="flowChartProcess">
              <a:avLst/>
            </a:prstGeom>
            <a:solidFill>
              <a:srgbClr val="DFF3D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000" dirty="0">
                  <a:solidFill>
                    <a:schemeClr val="tx1"/>
                  </a:solidFill>
                  <a:latin typeface="+mn-ea"/>
                </a:rPr>
                <a:t>Mem Pool</a:t>
              </a:r>
              <a:endParaRPr lang="zh-CN" altLang="en-US" sz="1000" dirty="0">
                <a:solidFill>
                  <a:schemeClr val="tx1"/>
                </a:solidFill>
                <a:latin typeface="+mn-ea"/>
              </a:endParaRPr>
            </a:p>
          </p:txBody>
        </p:sp>
      </p:grpSp>
      <p:grpSp>
        <p:nvGrpSpPr>
          <p:cNvPr id="4" name="组合 3">
            <a:extLst>
              <a:ext uri="{FF2B5EF4-FFF2-40B4-BE49-F238E27FC236}">
                <a16:creationId xmlns:a16="http://schemas.microsoft.com/office/drawing/2014/main" id="{6F9AC295-0C59-479A-89DB-26ED1F6DBB46}"/>
              </a:ext>
            </a:extLst>
          </p:cNvPr>
          <p:cNvGrpSpPr/>
          <p:nvPr/>
        </p:nvGrpSpPr>
        <p:grpSpPr>
          <a:xfrm>
            <a:off x="4374951" y="5025031"/>
            <a:ext cx="3883883" cy="1147511"/>
            <a:chOff x="4299349" y="4951858"/>
            <a:chExt cx="3883883" cy="1147511"/>
          </a:xfrm>
        </p:grpSpPr>
        <p:pic>
          <p:nvPicPr>
            <p:cNvPr id="191" name="图片 190">
              <a:extLst>
                <a:ext uri="{FF2B5EF4-FFF2-40B4-BE49-F238E27FC236}">
                  <a16:creationId xmlns:a16="http://schemas.microsoft.com/office/drawing/2014/main" id="{0D21340B-BF2E-46C3-BE09-877886890BF9}"/>
                </a:ext>
              </a:extLst>
            </p:cNvPr>
            <p:cNvPicPr>
              <a:picLocks noChangeAspect="1"/>
            </p:cNvPicPr>
            <p:nvPr/>
          </p:nvPicPr>
          <p:blipFill>
            <a:blip r:embed="rId5"/>
            <a:stretch>
              <a:fillRect/>
            </a:stretch>
          </p:blipFill>
          <p:spPr>
            <a:xfrm>
              <a:off x="4299349" y="4951858"/>
              <a:ext cx="3883883" cy="1147511"/>
            </a:xfrm>
            <a:prstGeom prst="rect">
              <a:avLst/>
            </a:prstGeom>
          </p:spPr>
        </p:pic>
        <p:sp>
          <p:nvSpPr>
            <p:cNvPr id="203" name="流程图: 过程 202">
              <a:extLst>
                <a:ext uri="{FF2B5EF4-FFF2-40B4-BE49-F238E27FC236}">
                  <a16:creationId xmlns:a16="http://schemas.microsoft.com/office/drawing/2014/main" id="{320F46FA-53B1-4255-8C14-BD286FF478C2}"/>
                </a:ext>
              </a:extLst>
            </p:cNvPr>
            <p:cNvSpPr/>
            <p:nvPr/>
          </p:nvSpPr>
          <p:spPr>
            <a:xfrm>
              <a:off x="4444535" y="5405438"/>
              <a:ext cx="413215" cy="423862"/>
            </a:xfrm>
            <a:prstGeom prst="flowChartProcess">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050" dirty="0">
                  <a:solidFill>
                    <a:schemeClr val="tx1"/>
                  </a:solidFill>
                  <a:latin typeface="+mn-ea"/>
                </a:rPr>
                <a:t>Comp.</a:t>
              </a:r>
            </a:p>
            <a:p>
              <a:pPr algn="ctr"/>
              <a:r>
                <a:rPr lang="en-US" altLang="zh-CN" sz="1050" dirty="0">
                  <a:solidFill>
                    <a:schemeClr val="tx1"/>
                  </a:solidFill>
                  <a:latin typeface="+mn-ea"/>
                </a:rPr>
                <a:t>Node</a:t>
              </a:r>
              <a:endParaRPr lang="zh-CN" altLang="en-US" sz="1050" dirty="0">
                <a:solidFill>
                  <a:schemeClr val="tx1"/>
                </a:solidFill>
                <a:latin typeface="+mn-ea"/>
              </a:endParaRPr>
            </a:p>
          </p:txBody>
        </p:sp>
        <p:sp>
          <p:nvSpPr>
            <p:cNvPr id="204" name="流程图: 过程 203">
              <a:extLst>
                <a:ext uri="{FF2B5EF4-FFF2-40B4-BE49-F238E27FC236}">
                  <a16:creationId xmlns:a16="http://schemas.microsoft.com/office/drawing/2014/main" id="{DE72E0FC-B235-4E01-9601-0C7799509D6C}"/>
                </a:ext>
              </a:extLst>
            </p:cNvPr>
            <p:cNvSpPr/>
            <p:nvPr/>
          </p:nvSpPr>
          <p:spPr>
            <a:xfrm>
              <a:off x="5520860" y="5405438"/>
              <a:ext cx="413215" cy="423862"/>
            </a:xfrm>
            <a:prstGeom prst="flowChartProcess">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050" dirty="0">
                  <a:solidFill>
                    <a:schemeClr val="tx1"/>
                  </a:solidFill>
                  <a:latin typeface="+mn-ea"/>
                </a:rPr>
                <a:t>Comp.</a:t>
              </a:r>
            </a:p>
            <a:p>
              <a:pPr algn="ctr"/>
              <a:r>
                <a:rPr lang="en-US" altLang="zh-CN" sz="1050" dirty="0">
                  <a:solidFill>
                    <a:schemeClr val="tx1"/>
                  </a:solidFill>
                  <a:latin typeface="+mn-ea"/>
                </a:rPr>
                <a:t>Node</a:t>
              </a:r>
              <a:endParaRPr lang="zh-CN" altLang="en-US" sz="1050" dirty="0">
                <a:solidFill>
                  <a:schemeClr val="tx1"/>
                </a:solidFill>
                <a:latin typeface="+mn-ea"/>
              </a:endParaRPr>
            </a:p>
          </p:txBody>
        </p:sp>
        <p:sp>
          <p:nvSpPr>
            <p:cNvPr id="205" name="流程图: 过程 204">
              <a:extLst>
                <a:ext uri="{FF2B5EF4-FFF2-40B4-BE49-F238E27FC236}">
                  <a16:creationId xmlns:a16="http://schemas.microsoft.com/office/drawing/2014/main" id="{95725C76-6B7D-461D-BBDA-7D0DC5E940A5}"/>
                </a:ext>
              </a:extLst>
            </p:cNvPr>
            <p:cNvSpPr/>
            <p:nvPr/>
          </p:nvSpPr>
          <p:spPr>
            <a:xfrm>
              <a:off x="6552204" y="5405438"/>
              <a:ext cx="413215" cy="423862"/>
            </a:xfrm>
            <a:prstGeom prst="flowChartProcess">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050" dirty="0">
                  <a:solidFill>
                    <a:schemeClr val="tx1"/>
                  </a:solidFill>
                  <a:latin typeface="+mn-ea"/>
                </a:rPr>
                <a:t>Comp.</a:t>
              </a:r>
            </a:p>
            <a:p>
              <a:pPr algn="ctr"/>
              <a:r>
                <a:rPr lang="en-US" altLang="zh-CN" sz="1050" dirty="0">
                  <a:solidFill>
                    <a:schemeClr val="tx1"/>
                  </a:solidFill>
                  <a:latin typeface="+mn-ea"/>
                </a:rPr>
                <a:t>Node</a:t>
              </a:r>
              <a:endParaRPr lang="zh-CN" altLang="en-US" sz="1050" dirty="0">
                <a:solidFill>
                  <a:schemeClr val="tx1"/>
                </a:solidFill>
                <a:latin typeface="+mn-ea"/>
              </a:endParaRPr>
            </a:p>
          </p:txBody>
        </p:sp>
        <p:sp>
          <p:nvSpPr>
            <p:cNvPr id="206" name="流程图: 过程 205">
              <a:extLst>
                <a:ext uri="{FF2B5EF4-FFF2-40B4-BE49-F238E27FC236}">
                  <a16:creationId xmlns:a16="http://schemas.microsoft.com/office/drawing/2014/main" id="{382FEEB7-9A37-40F7-ABF0-747C269E35D4}"/>
                </a:ext>
              </a:extLst>
            </p:cNvPr>
            <p:cNvSpPr/>
            <p:nvPr/>
          </p:nvSpPr>
          <p:spPr>
            <a:xfrm>
              <a:off x="7619902" y="5405438"/>
              <a:ext cx="413215" cy="423862"/>
            </a:xfrm>
            <a:prstGeom prst="flowChartProcess">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050" dirty="0">
                  <a:solidFill>
                    <a:schemeClr val="tx1"/>
                  </a:solidFill>
                  <a:latin typeface="+mn-ea"/>
                </a:rPr>
                <a:t>Comp.</a:t>
              </a:r>
            </a:p>
            <a:p>
              <a:pPr algn="ctr"/>
              <a:r>
                <a:rPr lang="en-US" altLang="zh-CN" sz="1050" dirty="0">
                  <a:solidFill>
                    <a:schemeClr val="tx1"/>
                  </a:solidFill>
                  <a:latin typeface="+mn-ea"/>
                </a:rPr>
                <a:t>Node</a:t>
              </a:r>
              <a:endParaRPr lang="zh-CN" altLang="en-US" sz="1050" dirty="0">
                <a:solidFill>
                  <a:schemeClr val="tx1"/>
                </a:solidFill>
                <a:latin typeface="+mn-ea"/>
              </a:endParaRPr>
            </a:p>
          </p:txBody>
        </p:sp>
      </p:grpSp>
      <p:grpSp>
        <p:nvGrpSpPr>
          <p:cNvPr id="5" name="组合 4">
            <a:extLst>
              <a:ext uri="{FF2B5EF4-FFF2-40B4-BE49-F238E27FC236}">
                <a16:creationId xmlns:a16="http://schemas.microsoft.com/office/drawing/2014/main" id="{14135C91-1268-4195-8EE8-33D86D209BEB}"/>
              </a:ext>
            </a:extLst>
          </p:cNvPr>
          <p:cNvGrpSpPr/>
          <p:nvPr/>
        </p:nvGrpSpPr>
        <p:grpSpPr>
          <a:xfrm>
            <a:off x="8670779" y="4725156"/>
            <a:ext cx="2527415" cy="1640228"/>
            <a:chOff x="8595177" y="4651983"/>
            <a:chExt cx="2527415" cy="1640228"/>
          </a:xfrm>
        </p:grpSpPr>
        <p:pic>
          <p:nvPicPr>
            <p:cNvPr id="192" name="图片 191">
              <a:extLst>
                <a:ext uri="{FF2B5EF4-FFF2-40B4-BE49-F238E27FC236}">
                  <a16:creationId xmlns:a16="http://schemas.microsoft.com/office/drawing/2014/main" id="{F6E8B193-3AA3-4A1E-9B30-258A189EDBDA}"/>
                </a:ext>
              </a:extLst>
            </p:cNvPr>
            <p:cNvPicPr>
              <a:picLocks noChangeAspect="1"/>
            </p:cNvPicPr>
            <p:nvPr/>
          </p:nvPicPr>
          <p:blipFill>
            <a:blip r:embed="rId6"/>
            <a:stretch>
              <a:fillRect/>
            </a:stretch>
          </p:blipFill>
          <p:spPr>
            <a:xfrm>
              <a:off x="8595177" y="4651983"/>
              <a:ext cx="2527415" cy="1640228"/>
            </a:xfrm>
            <a:prstGeom prst="rect">
              <a:avLst/>
            </a:prstGeom>
          </p:spPr>
        </p:pic>
        <p:sp>
          <p:nvSpPr>
            <p:cNvPr id="207" name="流程图: 过程 206">
              <a:extLst>
                <a:ext uri="{FF2B5EF4-FFF2-40B4-BE49-F238E27FC236}">
                  <a16:creationId xmlns:a16="http://schemas.microsoft.com/office/drawing/2014/main" id="{CF0C65B5-B965-42DD-A618-B9826DB2E98C}"/>
                </a:ext>
              </a:extLst>
            </p:cNvPr>
            <p:cNvSpPr/>
            <p:nvPr/>
          </p:nvSpPr>
          <p:spPr>
            <a:xfrm>
              <a:off x="8677555" y="4681195"/>
              <a:ext cx="310012" cy="260343"/>
            </a:xfrm>
            <a:prstGeom prst="flowChartProcess">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800" dirty="0">
                  <a:solidFill>
                    <a:schemeClr val="tx1"/>
                  </a:solidFill>
                  <a:latin typeface="+mn-ea"/>
                </a:rPr>
                <a:t>Comp.</a:t>
              </a:r>
            </a:p>
            <a:p>
              <a:pPr algn="ctr"/>
              <a:r>
                <a:rPr lang="en-US" altLang="zh-CN" sz="800" dirty="0">
                  <a:solidFill>
                    <a:schemeClr val="tx1"/>
                  </a:solidFill>
                  <a:latin typeface="+mn-ea"/>
                </a:rPr>
                <a:t>Node</a:t>
              </a:r>
              <a:endParaRPr lang="zh-CN" altLang="en-US" sz="800" dirty="0">
                <a:solidFill>
                  <a:schemeClr val="tx1"/>
                </a:solidFill>
                <a:latin typeface="+mn-ea"/>
              </a:endParaRPr>
            </a:p>
          </p:txBody>
        </p:sp>
        <p:sp>
          <p:nvSpPr>
            <p:cNvPr id="208" name="流程图: 过程 207">
              <a:extLst>
                <a:ext uri="{FF2B5EF4-FFF2-40B4-BE49-F238E27FC236}">
                  <a16:creationId xmlns:a16="http://schemas.microsoft.com/office/drawing/2014/main" id="{E4786935-C90E-4F21-98CD-EAEAAA27839C}"/>
                </a:ext>
              </a:extLst>
            </p:cNvPr>
            <p:cNvSpPr/>
            <p:nvPr/>
          </p:nvSpPr>
          <p:spPr>
            <a:xfrm>
              <a:off x="9367338" y="4681195"/>
              <a:ext cx="310012" cy="260343"/>
            </a:xfrm>
            <a:prstGeom prst="flowChartProcess">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800" dirty="0">
                  <a:solidFill>
                    <a:schemeClr val="tx1"/>
                  </a:solidFill>
                  <a:latin typeface="+mn-ea"/>
                </a:rPr>
                <a:t>Comp.</a:t>
              </a:r>
            </a:p>
            <a:p>
              <a:pPr algn="ctr"/>
              <a:r>
                <a:rPr lang="en-US" altLang="zh-CN" sz="800" dirty="0">
                  <a:solidFill>
                    <a:schemeClr val="tx1"/>
                  </a:solidFill>
                  <a:latin typeface="+mn-ea"/>
                </a:rPr>
                <a:t>Node</a:t>
              </a:r>
              <a:endParaRPr lang="zh-CN" altLang="en-US" sz="800" dirty="0">
                <a:solidFill>
                  <a:schemeClr val="tx1"/>
                </a:solidFill>
                <a:latin typeface="+mn-ea"/>
              </a:endParaRPr>
            </a:p>
          </p:txBody>
        </p:sp>
        <p:sp>
          <p:nvSpPr>
            <p:cNvPr id="209" name="流程图: 过程 208">
              <a:extLst>
                <a:ext uri="{FF2B5EF4-FFF2-40B4-BE49-F238E27FC236}">
                  <a16:creationId xmlns:a16="http://schemas.microsoft.com/office/drawing/2014/main" id="{AE9D64CD-4E56-4D19-865B-17E7BE6BE4FE}"/>
                </a:ext>
              </a:extLst>
            </p:cNvPr>
            <p:cNvSpPr/>
            <p:nvPr/>
          </p:nvSpPr>
          <p:spPr>
            <a:xfrm>
              <a:off x="10060051" y="4681195"/>
              <a:ext cx="310012" cy="260343"/>
            </a:xfrm>
            <a:prstGeom prst="flowChartProcess">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800" dirty="0">
                  <a:solidFill>
                    <a:schemeClr val="tx1"/>
                  </a:solidFill>
                  <a:latin typeface="+mn-ea"/>
                </a:rPr>
                <a:t>Comp.</a:t>
              </a:r>
            </a:p>
            <a:p>
              <a:pPr algn="ctr"/>
              <a:r>
                <a:rPr lang="en-US" altLang="zh-CN" sz="800" dirty="0">
                  <a:solidFill>
                    <a:schemeClr val="tx1"/>
                  </a:solidFill>
                  <a:latin typeface="+mn-ea"/>
                </a:rPr>
                <a:t>Node</a:t>
              </a:r>
              <a:endParaRPr lang="zh-CN" altLang="en-US" sz="800" dirty="0">
                <a:solidFill>
                  <a:schemeClr val="tx1"/>
                </a:solidFill>
                <a:latin typeface="+mn-ea"/>
              </a:endParaRPr>
            </a:p>
          </p:txBody>
        </p:sp>
        <p:sp>
          <p:nvSpPr>
            <p:cNvPr id="210" name="流程图: 过程 209">
              <a:extLst>
                <a:ext uri="{FF2B5EF4-FFF2-40B4-BE49-F238E27FC236}">
                  <a16:creationId xmlns:a16="http://schemas.microsoft.com/office/drawing/2014/main" id="{4D50620A-8EF2-4D25-81DA-83DE9D2C71F5}"/>
                </a:ext>
              </a:extLst>
            </p:cNvPr>
            <p:cNvSpPr/>
            <p:nvPr/>
          </p:nvSpPr>
          <p:spPr>
            <a:xfrm>
              <a:off x="10728207" y="4681195"/>
              <a:ext cx="310012" cy="260343"/>
            </a:xfrm>
            <a:prstGeom prst="flowChartProcess">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800" dirty="0">
                  <a:solidFill>
                    <a:schemeClr val="tx1"/>
                  </a:solidFill>
                  <a:latin typeface="+mn-ea"/>
                </a:rPr>
                <a:t>Comp.</a:t>
              </a:r>
            </a:p>
            <a:p>
              <a:pPr algn="ctr"/>
              <a:r>
                <a:rPr lang="en-US" altLang="zh-CN" sz="800" dirty="0">
                  <a:solidFill>
                    <a:schemeClr val="tx1"/>
                  </a:solidFill>
                  <a:latin typeface="+mn-ea"/>
                </a:rPr>
                <a:t>Node</a:t>
              </a:r>
              <a:endParaRPr lang="zh-CN" altLang="en-US" sz="800" dirty="0">
                <a:solidFill>
                  <a:schemeClr val="tx1"/>
                </a:solidFill>
                <a:latin typeface="+mn-ea"/>
              </a:endParaRPr>
            </a:p>
          </p:txBody>
        </p:sp>
        <p:sp>
          <p:nvSpPr>
            <p:cNvPr id="211" name="流程图: 过程 210">
              <a:extLst>
                <a:ext uri="{FF2B5EF4-FFF2-40B4-BE49-F238E27FC236}">
                  <a16:creationId xmlns:a16="http://schemas.microsoft.com/office/drawing/2014/main" id="{2358E0BD-5DF5-4A1C-91AE-C48FC213A30D}"/>
                </a:ext>
              </a:extLst>
            </p:cNvPr>
            <p:cNvSpPr/>
            <p:nvPr/>
          </p:nvSpPr>
          <p:spPr>
            <a:xfrm>
              <a:off x="8677555" y="5847917"/>
              <a:ext cx="310012" cy="260343"/>
            </a:xfrm>
            <a:prstGeom prst="flowChartProcess">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800" dirty="0">
                  <a:solidFill>
                    <a:schemeClr val="tx1"/>
                  </a:solidFill>
                  <a:latin typeface="+mn-ea"/>
                </a:rPr>
                <a:t>Comp.</a:t>
              </a:r>
            </a:p>
            <a:p>
              <a:pPr algn="ctr"/>
              <a:r>
                <a:rPr lang="en-US" altLang="zh-CN" sz="800" dirty="0">
                  <a:solidFill>
                    <a:schemeClr val="tx1"/>
                  </a:solidFill>
                  <a:latin typeface="+mn-ea"/>
                </a:rPr>
                <a:t>Node</a:t>
              </a:r>
              <a:endParaRPr lang="zh-CN" altLang="en-US" sz="800" dirty="0">
                <a:solidFill>
                  <a:schemeClr val="tx1"/>
                </a:solidFill>
                <a:latin typeface="+mn-ea"/>
              </a:endParaRPr>
            </a:p>
          </p:txBody>
        </p:sp>
        <p:sp>
          <p:nvSpPr>
            <p:cNvPr id="212" name="流程图: 过程 211">
              <a:extLst>
                <a:ext uri="{FF2B5EF4-FFF2-40B4-BE49-F238E27FC236}">
                  <a16:creationId xmlns:a16="http://schemas.microsoft.com/office/drawing/2014/main" id="{09150BED-6B73-4E55-8654-30410854AB32}"/>
                </a:ext>
              </a:extLst>
            </p:cNvPr>
            <p:cNvSpPr/>
            <p:nvPr/>
          </p:nvSpPr>
          <p:spPr>
            <a:xfrm>
              <a:off x="9367338" y="5847917"/>
              <a:ext cx="310012" cy="260343"/>
            </a:xfrm>
            <a:prstGeom prst="flowChartProcess">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800" dirty="0">
                  <a:solidFill>
                    <a:schemeClr val="tx1"/>
                  </a:solidFill>
                  <a:latin typeface="+mn-ea"/>
                </a:rPr>
                <a:t>Comp.</a:t>
              </a:r>
            </a:p>
            <a:p>
              <a:pPr algn="ctr"/>
              <a:r>
                <a:rPr lang="en-US" altLang="zh-CN" sz="800" dirty="0">
                  <a:solidFill>
                    <a:schemeClr val="tx1"/>
                  </a:solidFill>
                  <a:latin typeface="+mn-ea"/>
                </a:rPr>
                <a:t>Node</a:t>
              </a:r>
              <a:endParaRPr lang="zh-CN" altLang="en-US" sz="800" dirty="0">
                <a:solidFill>
                  <a:schemeClr val="tx1"/>
                </a:solidFill>
                <a:latin typeface="+mn-ea"/>
              </a:endParaRPr>
            </a:p>
          </p:txBody>
        </p:sp>
        <p:sp>
          <p:nvSpPr>
            <p:cNvPr id="213" name="流程图: 过程 212">
              <a:extLst>
                <a:ext uri="{FF2B5EF4-FFF2-40B4-BE49-F238E27FC236}">
                  <a16:creationId xmlns:a16="http://schemas.microsoft.com/office/drawing/2014/main" id="{671A02FC-A51E-4452-9F75-F6169FC3F509}"/>
                </a:ext>
              </a:extLst>
            </p:cNvPr>
            <p:cNvSpPr/>
            <p:nvPr/>
          </p:nvSpPr>
          <p:spPr>
            <a:xfrm>
              <a:off x="10060051" y="5847917"/>
              <a:ext cx="310012" cy="260343"/>
            </a:xfrm>
            <a:prstGeom prst="flowChartProcess">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800" dirty="0">
                  <a:solidFill>
                    <a:schemeClr val="tx1"/>
                  </a:solidFill>
                  <a:latin typeface="+mn-ea"/>
                </a:rPr>
                <a:t>Comp.</a:t>
              </a:r>
            </a:p>
            <a:p>
              <a:pPr algn="ctr"/>
              <a:r>
                <a:rPr lang="en-US" altLang="zh-CN" sz="800" dirty="0">
                  <a:solidFill>
                    <a:schemeClr val="tx1"/>
                  </a:solidFill>
                  <a:latin typeface="+mn-ea"/>
                </a:rPr>
                <a:t>Node</a:t>
              </a:r>
              <a:endParaRPr lang="zh-CN" altLang="en-US" sz="800" dirty="0">
                <a:solidFill>
                  <a:schemeClr val="tx1"/>
                </a:solidFill>
                <a:latin typeface="+mn-ea"/>
              </a:endParaRPr>
            </a:p>
          </p:txBody>
        </p:sp>
        <p:sp>
          <p:nvSpPr>
            <p:cNvPr id="214" name="流程图: 过程 213">
              <a:extLst>
                <a:ext uri="{FF2B5EF4-FFF2-40B4-BE49-F238E27FC236}">
                  <a16:creationId xmlns:a16="http://schemas.microsoft.com/office/drawing/2014/main" id="{FC081AA7-A38E-41F5-95C4-B94B20717962}"/>
                </a:ext>
              </a:extLst>
            </p:cNvPr>
            <p:cNvSpPr/>
            <p:nvPr/>
          </p:nvSpPr>
          <p:spPr>
            <a:xfrm>
              <a:off x="10728207" y="5847917"/>
              <a:ext cx="310012" cy="260343"/>
            </a:xfrm>
            <a:prstGeom prst="flowChartProcess">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800" dirty="0">
                  <a:solidFill>
                    <a:schemeClr val="tx1"/>
                  </a:solidFill>
                  <a:latin typeface="+mn-ea"/>
                </a:rPr>
                <a:t>Comp.</a:t>
              </a:r>
            </a:p>
            <a:p>
              <a:pPr algn="ctr"/>
              <a:r>
                <a:rPr lang="en-US" altLang="zh-CN" sz="800" dirty="0">
                  <a:solidFill>
                    <a:schemeClr val="tx1"/>
                  </a:solidFill>
                  <a:latin typeface="+mn-ea"/>
                </a:rPr>
                <a:t>Node</a:t>
              </a:r>
              <a:endParaRPr lang="zh-CN" altLang="en-US" sz="800" dirty="0">
                <a:solidFill>
                  <a:schemeClr val="tx1"/>
                </a:solidFill>
                <a:latin typeface="+mn-ea"/>
              </a:endParaRPr>
            </a:p>
          </p:txBody>
        </p:sp>
        <p:sp>
          <p:nvSpPr>
            <p:cNvPr id="215" name="流程图: 过程 214">
              <a:extLst>
                <a:ext uri="{FF2B5EF4-FFF2-40B4-BE49-F238E27FC236}">
                  <a16:creationId xmlns:a16="http://schemas.microsoft.com/office/drawing/2014/main" id="{59298DB8-2C2F-47F8-A715-FE21722670EB}"/>
                </a:ext>
              </a:extLst>
            </p:cNvPr>
            <p:cNvSpPr/>
            <p:nvPr/>
          </p:nvSpPr>
          <p:spPr>
            <a:xfrm>
              <a:off x="9406854" y="5393152"/>
              <a:ext cx="904059" cy="124155"/>
            </a:xfrm>
            <a:prstGeom prst="flowChartProcess">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800" dirty="0">
                  <a:solidFill>
                    <a:schemeClr val="tx1"/>
                  </a:solidFill>
                  <a:latin typeface="+mn-ea"/>
                </a:rPr>
                <a:t>Low-Latency Switching</a:t>
              </a:r>
              <a:endParaRPr lang="zh-CN" altLang="en-US" sz="800" dirty="0">
                <a:solidFill>
                  <a:schemeClr val="tx1"/>
                </a:solidFill>
                <a:latin typeface="+mn-ea"/>
              </a:endParaRPr>
            </a:p>
          </p:txBody>
        </p:sp>
      </p:grpSp>
      <p:sp>
        <p:nvSpPr>
          <p:cNvPr id="216" name="文本框 215">
            <a:extLst>
              <a:ext uri="{FF2B5EF4-FFF2-40B4-BE49-F238E27FC236}">
                <a16:creationId xmlns:a16="http://schemas.microsoft.com/office/drawing/2014/main" id="{9EEA29AC-F3C9-4600-BEC0-933C861B54BD}"/>
              </a:ext>
            </a:extLst>
          </p:cNvPr>
          <p:cNvSpPr txBox="1"/>
          <p:nvPr/>
        </p:nvSpPr>
        <p:spPr>
          <a:xfrm>
            <a:off x="678820" y="3820097"/>
            <a:ext cx="6397587" cy="523220"/>
          </a:xfrm>
          <a:prstGeom prst="rect">
            <a:avLst/>
          </a:prstGeom>
          <a:noFill/>
        </p:spPr>
        <p:txBody>
          <a:bodyPr wrap="square">
            <a:spAutoFit/>
          </a:bodyPr>
          <a:lstStyle/>
          <a:p>
            <a:pPr marL="285611" indent="-285611" defTabSz="913591">
              <a:buFont typeface="Wingdings" panose="05000000000000000000" pitchFamily="2" charset="2"/>
              <a:buChar char="n"/>
              <a:defRPr/>
            </a:pPr>
            <a:r>
              <a:rPr kumimoji="1" lang="en-US" altLang="zh-CN" sz="1400" b="1" dirty="0">
                <a:latin typeface="微软雅黑" panose="020B0503020204020204" pitchFamily="34" charset="-122"/>
                <a:ea typeface="微软雅黑" panose="020B0503020204020204" pitchFamily="34" charset="-122"/>
              </a:rPr>
              <a:t>Access: </a:t>
            </a:r>
            <a:r>
              <a:rPr kumimoji="1" lang="en-US" altLang="zh-CN" sz="1400" dirty="0">
                <a:latin typeface="微软雅黑" panose="020B0503020204020204" pitchFamily="34" charset="-122"/>
                <a:ea typeface="微软雅黑" panose="020B0503020204020204" pitchFamily="34" charset="-122"/>
              </a:rPr>
              <a:t>Remote access provided via the Huang </a:t>
            </a:r>
            <a:r>
              <a:rPr kumimoji="1" lang="en-US" altLang="zh-CN" sz="1400" dirty="0" err="1">
                <a:latin typeface="微软雅黑" panose="020B0503020204020204" pitchFamily="34" charset="-122"/>
                <a:ea typeface="微软雅黑" panose="020B0503020204020204" pitchFamily="34" charset="-122"/>
              </a:rPr>
              <a:t>Danian</a:t>
            </a:r>
            <a:r>
              <a:rPr kumimoji="1" lang="en-US" altLang="zh-CN" sz="1400" dirty="0">
                <a:latin typeface="微软雅黑" panose="020B0503020204020204" pitchFamily="34" charset="-122"/>
                <a:ea typeface="微软雅黑" panose="020B0503020204020204" pitchFamily="34" charset="-122"/>
              </a:rPr>
              <a:t> platform and the laboratory.</a:t>
            </a:r>
          </a:p>
        </p:txBody>
      </p:sp>
    </p:spTree>
    <p:extLst>
      <p:ext uri="{BB962C8B-B14F-4D97-AF65-F5344CB8AC3E}">
        <p14:creationId xmlns:p14="http://schemas.microsoft.com/office/powerpoint/2010/main" val="378969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标题 1">
            <a:extLst>
              <a:ext uri="{FF2B5EF4-FFF2-40B4-BE49-F238E27FC236}">
                <a16:creationId xmlns:a16="http://schemas.microsoft.com/office/drawing/2014/main" id="{2AD3965F-0FB0-45B4-AF0A-8C7BE62857FB}"/>
              </a:ext>
            </a:extLst>
          </p:cNvPr>
          <p:cNvSpPr>
            <a:spLocks noGrp="1"/>
          </p:cNvSpPr>
          <p:nvPr>
            <p:ph type="title"/>
          </p:nvPr>
        </p:nvSpPr>
        <p:spPr>
          <a:xfrm>
            <a:off x="561005" y="275992"/>
            <a:ext cx="11208246" cy="798839"/>
          </a:xfrm>
        </p:spPr>
        <p:txBody>
          <a:bodyPr wrap="square">
            <a:noAutofit/>
          </a:bodyPr>
          <a:lstStyle/>
          <a:p>
            <a:r>
              <a:rPr lang="en-US" altLang="en-US" dirty="0">
                <a:latin typeface="微软雅黑" panose="020B0503020204020204" pitchFamily="34" charset="-122"/>
                <a:ea typeface="微软雅黑" panose="020B0503020204020204" pitchFamily="34" charset="-122"/>
              </a:rPr>
              <a:t>Exploration of Hardware-Software Co-Design Innovation Based on Scale-Up Prototype Platform</a:t>
            </a:r>
            <a:endParaRPr lang="zh-CN" altLang="en-US" dirty="0">
              <a:cs typeface="Huawei Sans" panose="020C0503030203020204" pitchFamily="34" charset="0"/>
            </a:endParaRPr>
          </a:p>
        </p:txBody>
      </p:sp>
      <p:grpSp>
        <p:nvGrpSpPr>
          <p:cNvPr id="48" name="组合 47">
            <a:extLst>
              <a:ext uri="{FF2B5EF4-FFF2-40B4-BE49-F238E27FC236}">
                <a16:creationId xmlns:a16="http://schemas.microsoft.com/office/drawing/2014/main" id="{1AF0CB0A-C534-4401-B699-E192DE45E75B}"/>
              </a:ext>
            </a:extLst>
          </p:cNvPr>
          <p:cNvGrpSpPr/>
          <p:nvPr/>
        </p:nvGrpSpPr>
        <p:grpSpPr>
          <a:xfrm>
            <a:off x="873315" y="1710493"/>
            <a:ext cx="3069662" cy="1968994"/>
            <a:chOff x="666660" y="1380689"/>
            <a:chExt cx="5431721" cy="3484105"/>
          </a:xfrm>
        </p:grpSpPr>
        <p:grpSp>
          <p:nvGrpSpPr>
            <p:cNvPr id="49" name="组合 48">
              <a:extLst>
                <a:ext uri="{FF2B5EF4-FFF2-40B4-BE49-F238E27FC236}">
                  <a16:creationId xmlns:a16="http://schemas.microsoft.com/office/drawing/2014/main" id="{742D5405-DE20-48B9-AD6C-D741827A31BA}"/>
                </a:ext>
              </a:extLst>
            </p:cNvPr>
            <p:cNvGrpSpPr/>
            <p:nvPr/>
          </p:nvGrpSpPr>
          <p:grpSpPr>
            <a:xfrm>
              <a:off x="666660" y="1380689"/>
              <a:ext cx="5431721" cy="3484105"/>
              <a:chOff x="488012" y="2979092"/>
              <a:chExt cx="5431721" cy="3484105"/>
            </a:xfrm>
          </p:grpSpPr>
          <p:grpSp>
            <p:nvGrpSpPr>
              <p:cNvPr id="52" name="组合 51">
                <a:extLst>
                  <a:ext uri="{FF2B5EF4-FFF2-40B4-BE49-F238E27FC236}">
                    <a16:creationId xmlns:a16="http://schemas.microsoft.com/office/drawing/2014/main" id="{2BC44C0C-975C-467A-A0C7-C03A26999D4A}"/>
                  </a:ext>
                </a:extLst>
              </p:cNvPr>
              <p:cNvGrpSpPr/>
              <p:nvPr/>
            </p:nvGrpSpPr>
            <p:grpSpPr>
              <a:xfrm>
                <a:off x="536659" y="2979092"/>
                <a:ext cx="4562049" cy="2978645"/>
                <a:chOff x="350331" y="2746477"/>
                <a:chExt cx="4562049" cy="2978645"/>
              </a:xfrm>
            </p:grpSpPr>
            <p:grpSp>
              <p:nvGrpSpPr>
                <p:cNvPr id="56" name="组合 55">
                  <a:extLst>
                    <a:ext uri="{FF2B5EF4-FFF2-40B4-BE49-F238E27FC236}">
                      <a16:creationId xmlns:a16="http://schemas.microsoft.com/office/drawing/2014/main" id="{B08A8E7A-8814-45ED-A5C9-E93B33FE121C}"/>
                    </a:ext>
                  </a:extLst>
                </p:cNvPr>
                <p:cNvGrpSpPr/>
                <p:nvPr/>
              </p:nvGrpSpPr>
              <p:grpSpPr>
                <a:xfrm>
                  <a:off x="350331" y="2746477"/>
                  <a:ext cx="4502803" cy="2978645"/>
                  <a:chOff x="515743" y="3125326"/>
                  <a:chExt cx="4502803" cy="2978645"/>
                </a:xfrm>
              </p:grpSpPr>
              <p:sp>
                <p:nvSpPr>
                  <p:cNvPr id="61" name="矩形 60">
                    <a:extLst>
                      <a:ext uri="{FF2B5EF4-FFF2-40B4-BE49-F238E27FC236}">
                        <a16:creationId xmlns:a16="http://schemas.microsoft.com/office/drawing/2014/main" id="{42604BEE-FD4B-459A-B675-C57ED2775D3F}"/>
                      </a:ext>
                    </a:extLst>
                  </p:cNvPr>
                  <p:cNvSpPr/>
                  <p:nvPr/>
                </p:nvSpPr>
                <p:spPr>
                  <a:xfrm>
                    <a:off x="568112" y="4816513"/>
                    <a:ext cx="1840264" cy="368755"/>
                  </a:xfrm>
                  <a:prstGeom prst="rect">
                    <a:avLst/>
                  </a:prstGeom>
                  <a:solidFill>
                    <a:srgbClr val="ED6D00">
                      <a:lumMod val="40000"/>
                      <a:lumOff val="6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Control Memory</a:t>
                    </a:r>
                  </a:p>
                </p:txBody>
              </p:sp>
              <p:grpSp>
                <p:nvGrpSpPr>
                  <p:cNvPr id="62" name="组合 61">
                    <a:extLst>
                      <a:ext uri="{FF2B5EF4-FFF2-40B4-BE49-F238E27FC236}">
                        <a16:creationId xmlns:a16="http://schemas.microsoft.com/office/drawing/2014/main" id="{8F30E0CC-2D53-4FBD-95C8-33B739768F23}"/>
                      </a:ext>
                    </a:extLst>
                  </p:cNvPr>
                  <p:cNvGrpSpPr/>
                  <p:nvPr/>
                </p:nvGrpSpPr>
                <p:grpSpPr>
                  <a:xfrm>
                    <a:off x="515743" y="3125326"/>
                    <a:ext cx="2676260" cy="1353160"/>
                    <a:chOff x="995495" y="3451212"/>
                    <a:chExt cx="2676260" cy="1353160"/>
                  </a:xfrm>
                </p:grpSpPr>
                <p:grpSp>
                  <p:nvGrpSpPr>
                    <p:cNvPr id="72" name="组合 71">
                      <a:extLst>
                        <a:ext uri="{FF2B5EF4-FFF2-40B4-BE49-F238E27FC236}">
                          <a16:creationId xmlns:a16="http://schemas.microsoft.com/office/drawing/2014/main" id="{EEA6F394-2F9B-4091-AF21-9231135B36DA}"/>
                        </a:ext>
                      </a:extLst>
                    </p:cNvPr>
                    <p:cNvGrpSpPr/>
                    <p:nvPr/>
                  </p:nvGrpSpPr>
                  <p:grpSpPr>
                    <a:xfrm>
                      <a:off x="1054545" y="3490186"/>
                      <a:ext cx="2277238" cy="882314"/>
                      <a:chOff x="1054545" y="3490186"/>
                      <a:chExt cx="2277238" cy="882314"/>
                    </a:xfrm>
                  </p:grpSpPr>
                  <p:sp>
                    <p:nvSpPr>
                      <p:cNvPr id="110" name="矩形 109">
                        <a:extLst>
                          <a:ext uri="{FF2B5EF4-FFF2-40B4-BE49-F238E27FC236}">
                            <a16:creationId xmlns:a16="http://schemas.microsoft.com/office/drawing/2014/main" id="{CE8611A1-6285-4BB0-8D68-059CB7649A8D}"/>
                          </a:ext>
                        </a:extLst>
                      </p:cNvPr>
                      <p:cNvSpPr/>
                      <p:nvPr/>
                    </p:nvSpPr>
                    <p:spPr>
                      <a:xfrm>
                        <a:off x="1054545" y="3627736"/>
                        <a:ext cx="997528" cy="680112"/>
                      </a:xfrm>
                      <a:prstGeom prst="rect">
                        <a:avLst/>
                      </a:prstGeom>
                      <a:solidFill>
                        <a:srgbClr val="DDDDDD"/>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RISCV Core</a:t>
                        </a:r>
                      </a:p>
                    </p:txBody>
                  </p:sp>
                  <p:sp>
                    <p:nvSpPr>
                      <p:cNvPr id="111" name="矩形 110">
                        <a:extLst>
                          <a:ext uri="{FF2B5EF4-FFF2-40B4-BE49-F238E27FC236}">
                            <a16:creationId xmlns:a16="http://schemas.microsoft.com/office/drawing/2014/main" id="{92C787DD-E619-452F-90D9-009753FCFBC6}"/>
                          </a:ext>
                        </a:extLst>
                      </p:cNvPr>
                      <p:cNvSpPr/>
                      <p:nvPr/>
                    </p:nvSpPr>
                    <p:spPr>
                      <a:xfrm>
                        <a:off x="2389206" y="3490186"/>
                        <a:ext cx="745131" cy="680112"/>
                      </a:xfrm>
                      <a:prstGeom prst="rect">
                        <a:avLst/>
                      </a:prstGeom>
                      <a:solidFill>
                        <a:srgbClr val="FCC80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CCU</a:t>
                        </a:r>
                      </a:p>
                      <a:p>
                        <a:pPr algn="ctr" defTabSz="696832">
                          <a:defRPr/>
                        </a:pPr>
                        <a:r>
                          <a:rPr lang="en-US" altLang="zh-CN" sz="914" b="1" kern="0" dirty="0">
                            <a:latin typeface="Calibri" panose="020F0502020204030204"/>
                            <a:ea typeface="等线" panose="02010600030101010101" pitchFamily="2" charset="-122"/>
                          </a:rPr>
                          <a:t>PE</a:t>
                        </a:r>
                      </a:p>
                    </p:txBody>
                  </p:sp>
                  <p:sp>
                    <p:nvSpPr>
                      <p:cNvPr id="112" name="矩形 111">
                        <a:extLst>
                          <a:ext uri="{FF2B5EF4-FFF2-40B4-BE49-F238E27FC236}">
                            <a16:creationId xmlns:a16="http://schemas.microsoft.com/office/drawing/2014/main" id="{91768224-FA74-4949-ACD2-E9AECB7D3EA3}"/>
                          </a:ext>
                        </a:extLst>
                      </p:cNvPr>
                      <p:cNvSpPr/>
                      <p:nvPr/>
                    </p:nvSpPr>
                    <p:spPr>
                      <a:xfrm>
                        <a:off x="2447168" y="3546131"/>
                        <a:ext cx="745131" cy="680112"/>
                      </a:xfrm>
                      <a:prstGeom prst="rect">
                        <a:avLst/>
                      </a:prstGeom>
                      <a:solidFill>
                        <a:srgbClr val="FCC80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CCU</a:t>
                        </a:r>
                      </a:p>
                      <a:p>
                        <a:pPr algn="ctr" defTabSz="696832">
                          <a:defRPr/>
                        </a:pPr>
                        <a:r>
                          <a:rPr lang="en-US" altLang="zh-CN" sz="914" b="1" kern="0" dirty="0">
                            <a:latin typeface="Calibri" panose="020F0502020204030204"/>
                            <a:ea typeface="等线" panose="02010600030101010101" pitchFamily="2" charset="-122"/>
                          </a:rPr>
                          <a:t>PE</a:t>
                        </a:r>
                      </a:p>
                    </p:txBody>
                  </p:sp>
                  <p:sp>
                    <p:nvSpPr>
                      <p:cNvPr id="113" name="矩形 112">
                        <a:extLst>
                          <a:ext uri="{FF2B5EF4-FFF2-40B4-BE49-F238E27FC236}">
                            <a16:creationId xmlns:a16="http://schemas.microsoft.com/office/drawing/2014/main" id="{881CF39C-56BE-4303-B594-A75B477E6620}"/>
                          </a:ext>
                        </a:extLst>
                      </p:cNvPr>
                      <p:cNvSpPr/>
                      <p:nvPr/>
                    </p:nvSpPr>
                    <p:spPr>
                      <a:xfrm>
                        <a:off x="2516910" y="3623931"/>
                        <a:ext cx="745131" cy="680112"/>
                      </a:xfrm>
                      <a:prstGeom prst="rect">
                        <a:avLst/>
                      </a:prstGeom>
                      <a:solidFill>
                        <a:srgbClr val="FCC80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CCU</a:t>
                        </a:r>
                      </a:p>
                      <a:p>
                        <a:pPr algn="ctr" defTabSz="696832">
                          <a:defRPr/>
                        </a:pPr>
                        <a:r>
                          <a:rPr lang="en-US" altLang="zh-CN" sz="914" b="1" kern="0" dirty="0">
                            <a:latin typeface="Calibri" panose="020F0502020204030204"/>
                            <a:ea typeface="等线" panose="02010600030101010101" pitchFamily="2" charset="-122"/>
                          </a:rPr>
                          <a:t>PE</a:t>
                        </a:r>
                      </a:p>
                    </p:txBody>
                  </p:sp>
                  <p:sp>
                    <p:nvSpPr>
                      <p:cNvPr id="114" name="矩形 113">
                        <a:extLst>
                          <a:ext uri="{FF2B5EF4-FFF2-40B4-BE49-F238E27FC236}">
                            <a16:creationId xmlns:a16="http://schemas.microsoft.com/office/drawing/2014/main" id="{07C776C3-78EB-4895-96D5-49C1CFCC175D}"/>
                          </a:ext>
                        </a:extLst>
                      </p:cNvPr>
                      <p:cNvSpPr/>
                      <p:nvPr/>
                    </p:nvSpPr>
                    <p:spPr>
                      <a:xfrm>
                        <a:off x="2586652" y="3692388"/>
                        <a:ext cx="745131" cy="680112"/>
                      </a:xfrm>
                      <a:prstGeom prst="rect">
                        <a:avLst/>
                      </a:prstGeom>
                      <a:solidFill>
                        <a:srgbClr val="FCC80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CCU</a:t>
                        </a:r>
                      </a:p>
                      <a:p>
                        <a:pPr algn="ctr" defTabSz="696832">
                          <a:defRPr/>
                        </a:pPr>
                        <a:r>
                          <a:rPr lang="en-US" altLang="zh-CN" sz="914" b="1" kern="0" dirty="0">
                            <a:latin typeface="Calibri" panose="020F0502020204030204"/>
                            <a:ea typeface="等线" panose="02010600030101010101" pitchFamily="2" charset="-122"/>
                          </a:rPr>
                          <a:t>PE</a:t>
                        </a:r>
                      </a:p>
                    </p:txBody>
                  </p:sp>
                  <p:cxnSp>
                    <p:nvCxnSpPr>
                      <p:cNvPr id="115" name="直接连接符 114">
                        <a:extLst>
                          <a:ext uri="{FF2B5EF4-FFF2-40B4-BE49-F238E27FC236}">
                            <a16:creationId xmlns:a16="http://schemas.microsoft.com/office/drawing/2014/main" id="{EC6CD281-283B-4C05-A345-777E4451F868}"/>
                          </a:ext>
                        </a:extLst>
                      </p:cNvPr>
                      <p:cNvCxnSpPr>
                        <a:stCxn id="110" idx="3"/>
                        <a:endCxn id="111" idx="1"/>
                      </p:cNvCxnSpPr>
                      <p:nvPr/>
                    </p:nvCxnSpPr>
                    <p:spPr>
                      <a:xfrm flipV="1">
                        <a:off x="2052073" y="3830242"/>
                        <a:ext cx="337133" cy="137550"/>
                      </a:xfrm>
                      <a:prstGeom prst="line">
                        <a:avLst/>
                      </a:prstGeom>
                      <a:noFill/>
                      <a:ln w="12700" cap="flat" cmpd="sng" algn="ctr">
                        <a:solidFill>
                          <a:srgbClr val="1D1D1A"/>
                        </a:solidFill>
                        <a:prstDash val="solid"/>
                        <a:miter lim="800000"/>
                      </a:ln>
                      <a:effectLst/>
                    </p:spPr>
                  </p:cxnSp>
                  <p:cxnSp>
                    <p:nvCxnSpPr>
                      <p:cNvPr id="116" name="直接连接符 115">
                        <a:extLst>
                          <a:ext uri="{FF2B5EF4-FFF2-40B4-BE49-F238E27FC236}">
                            <a16:creationId xmlns:a16="http://schemas.microsoft.com/office/drawing/2014/main" id="{A95E0474-93F0-45C3-8AC4-DA59754D8DC2}"/>
                          </a:ext>
                        </a:extLst>
                      </p:cNvPr>
                      <p:cNvCxnSpPr>
                        <a:stCxn id="110" idx="3"/>
                        <a:endCxn id="113" idx="1"/>
                      </p:cNvCxnSpPr>
                      <p:nvPr/>
                    </p:nvCxnSpPr>
                    <p:spPr>
                      <a:xfrm flipV="1">
                        <a:off x="2052073" y="3963987"/>
                        <a:ext cx="464837" cy="3805"/>
                      </a:xfrm>
                      <a:prstGeom prst="line">
                        <a:avLst/>
                      </a:prstGeom>
                      <a:noFill/>
                      <a:ln w="12700" cap="flat" cmpd="sng" algn="ctr">
                        <a:solidFill>
                          <a:srgbClr val="1D1D1A"/>
                        </a:solidFill>
                        <a:prstDash val="solid"/>
                        <a:miter lim="800000"/>
                      </a:ln>
                      <a:effectLst/>
                    </p:spPr>
                  </p:cxnSp>
                  <p:cxnSp>
                    <p:nvCxnSpPr>
                      <p:cNvPr id="117" name="直接连接符 116">
                        <a:extLst>
                          <a:ext uri="{FF2B5EF4-FFF2-40B4-BE49-F238E27FC236}">
                            <a16:creationId xmlns:a16="http://schemas.microsoft.com/office/drawing/2014/main" id="{42F7D727-95D9-43C1-80AA-2FFFAA75C4F4}"/>
                          </a:ext>
                        </a:extLst>
                      </p:cNvPr>
                      <p:cNvCxnSpPr>
                        <a:stCxn id="110" idx="3"/>
                        <a:endCxn id="112" idx="1"/>
                      </p:cNvCxnSpPr>
                      <p:nvPr/>
                    </p:nvCxnSpPr>
                    <p:spPr>
                      <a:xfrm flipV="1">
                        <a:off x="2052073" y="3886187"/>
                        <a:ext cx="395095" cy="81605"/>
                      </a:xfrm>
                      <a:prstGeom prst="line">
                        <a:avLst/>
                      </a:prstGeom>
                      <a:noFill/>
                      <a:ln w="12700" cap="flat" cmpd="sng" algn="ctr">
                        <a:solidFill>
                          <a:srgbClr val="1D1D1A"/>
                        </a:solidFill>
                        <a:prstDash val="solid"/>
                        <a:miter lim="800000"/>
                      </a:ln>
                      <a:effectLst/>
                    </p:spPr>
                  </p:cxnSp>
                  <p:cxnSp>
                    <p:nvCxnSpPr>
                      <p:cNvPr id="118" name="直接连接符 117">
                        <a:extLst>
                          <a:ext uri="{FF2B5EF4-FFF2-40B4-BE49-F238E27FC236}">
                            <a16:creationId xmlns:a16="http://schemas.microsoft.com/office/drawing/2014/main" id="{D4E6F70C-BD9D-4F18-9D74-A6C95141DE7F}"/>
                          </a:ext>
                        </a:extLst>
                      </p:cNvPr>
                      <p:cNvCxnSpPr>
                        <a:stCxn id="110" idx="3"/>
                        <a:endCxn id="114" idx="1"/>
                      </p:cNvCxnSpPr>
                      <p:nvPr/>
                    </p:nvCxnSpPr>
                    <p:spPr>
                      <a:xfrm>
                        <a:off x="2052073" y="3967792"/>
                        <a:ext cx="534579" cy="64652"/>
                      </a:xfrm>
                      <a:prstGeom prst="line">
                        <a:avLst/>
                      </a:prstGeom>
                      <a:noFill/>
                      <a:ln w="12700" cap="flat" cmpd="sng" algn="ctr">
                        <a:solidFill>
                          <a:srgbClr val="1D1D1A"/>
                        </a:solidFill>
                        <a:prstDash val="solid"/>
                        <a:miter lim="800000"/>
                      </a:ln>
                      <a:effectLst/>
                    </p:spPr>
                  </p:cxnSp>
                </p:grpSp>
                <p:grpSp>
                  <p:nvGrpSpPr>
                    <p:cNvPr id="73" name="组合 72">
                      <a:extLst>
                        <a:ext uri="{FF2B5EF4-FFF2-40B4-BE49-F238E27FC236}">
                          <a16:creationId xmlns:a16="http://schemas.microsoft.com/office/drawing/2014/main" id="{1E0DEBAC-113B-4630-8E0D-E4854BC35FFD}"/>
                        </a:ext>
                      </a:extLst>
                    </p:cNvPr>
                    <p:cNvGrpSpPr/>
                    <p:nvPr/>
                  </p:nvGrpSpPr>
                  <p:grpSpPr>
                    <a:xfrm>
                      <a:off x="995495" y="3451212"/>
                      <a:ext cx="2508250" cy="1174750"/>
                      <a:chOff x="927100" y="3378200"/>
                      <a:chExt cx="2508250" cy="1174750"/>
                    </a:xfrm>
                  </p:grpSpPr>
                  <p:sp>
                    <p:nvSpPr>
                      <p:cNvPr id="98" name="矩形 97">
                        <a:extLst>
                          <a:ext uri="{FF2B5EF4-FFF2-40B4-BE49-F238E27FC236}">
                            <a16:creationId xmlns:a16="http://schemas.microsoft.com/office/drawing/2014/main" id="{A3DC30DE-731B-4B60-84B1-E8BBB1F25A36}"/>
                          </a:ext>
                        </a:extLst>
                      </p:cNvPr>
                      <p:cNvSpPr/>
                      <p:nvPr/>
                    </p:nvSpPr>
                    <p:spPr>
                      <a:xfrm>
                        <a:off x="927100" y="3378200"/>
                        <a:ext cx="2508250" cy="1174750"/>
                      </a:xfrm>
                      <a:prstGeom prst="rect">
                        <a:avLst/>
                      </a:prstGeom>
                      <a:solidFill>
                        <a:srgbClr val="30B5C5">
                          <a:lumMod val="20000"/>
                          <a:lumOff val="80000"/>
                        </a:srgbClr>
                      </a:solidFill>
                      <a:ln w="1905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endParaRPr lang="zh-CN" altLang="en-US" sz="914" kern="0">
                          <a:latin typeface="Calibri" panose="020F0502020204030204"/>
                          <a:ea typeface="等线" panose="02010600030101010101" pitchFamily="2" charset="-122"/>
                        </a:endParaRPr>
                      </a:p>
                    </p:txBody>
                  </p:sp>
                  <p:grpSp>
                    <p:nvGrpSpPr>
                      <p:cNvPr id="99" name="组合 98">
                        <a:extLst>
                          <a:ext uri="{FF2B5EF4-FFF2-40B4-BE49-F238E27FC236}">
                            <a16:creationId xmlns:a16="http://schemas.microsoft.com/office/drawing/2014/main" id="{3F16A9A3-676B-413B-B35C-17268E8127D7}"/>
                          </a:ext>
                        </a:extLst>
                      </p:cNvPr>
                      <p:cNvGrpSpPr/>
                      <p:nvPr/>
                    </p:nvGrpSpPr>
                    <p:grpSpPr>
                      <a:xfrm>
                        <a:off x="1054545" y="3490186"/>
                        <a:ext cx="2277238" cy="882314"/>
                        <a:chOff x="1054545" y="3490186"/>
                        <a:chExt cx="2277238" cy="882314"/>
                      </a:xfrm>
                    </p:grpSpPr>
                    <p:sp>
                      <p:nvSpPr>
                        <p:cNvPr id="100" name="矩形 99">
                          <a:extLst>
                            <a:ext uri="{FF2B5EF4-FFF2-40B4-BE49-F238E27FC236}">
                              <a16:creationId xmlns:a16="http://schemas.microsoft.com/office/drawing/2014/main" id="{462E5CB9-FE08-4B1B-B367-50AF2C07730D}"/>
                            </a:ext>
                          </a:extLst>
                        </p:cNvPr>
                        <p:cNvSpPr/>
                        <p:nvPr/>
                      </p:nvSpPr>
                      <p:spPr>
                        <a:xfrm>
                          <a:off x="1054545" y="3627736"/>
                          <a:ext cx="997528" cy="680112"/>
                        </a:xfrm>
                        <a:prstGeom prst="rect">
                          <a:avLst/>
                        </a:prstGeom>
                        <a:solidFill>
                          <a:srgbClr val="DDDDDD"/>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RISCV Core</a:t>
                          </a:r>
                        </a:p>
                      </p:txBody>
                    </p:sp>
                    <p:sp>
                      <p:nvSpPr>
                        <p:cNvPr id="101" name="矩形 100">
                          <a:extLst>
                            <a:ext uri="{FF2B5EF4-FFF2-40B4-BE49-F238E27FC236}">
                              <a16:creationId xmlns:a16="http://schemas.microsoft.com/office/drawing/2014/main" id="{A1155A41-FDDA-476D-AD8A-4CC7FAE2082D}"/>
                            </a:ext>
                          </a:extLst>
                        </p:cNvPr>
                        <p:cNvSpPr/>
                        <p:nvPr/>
                      </p:nvSpPr>
                      <p:spPr>
                        <a:xfrm>
                          <a:off x="2389206" y="3490186"/>
                          <a:ext cx="745131" cy="680112"/>
                        </a:xfrm>
                        <a:prstGeom prst="rect">
                          <a:avLst/>
                        </a:prstGeom>
                        <a:solidFill>
                          <a:srgbClr val="FCC80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CCU</a:t>
                          </a:r>
                        </a:p>
                        <a:p>
                          <a:pPr algn="ctr" defTabSz="696832">
                            <a:defRPr/>
                          </a:pPr>
                          <a:r>
                            <a:rPr lang="en-US" altLang="zh-CN" sz="914" b="1" kern="0" dirty="0">
                              <a:latin typeface="Calibri" panose="020F0502020204030204"/>
                              <a:ea typeface="等线" panose="02010600030101010101" pitchFamily="2" charset="-122"/>
                            </a:rPr>
                            <a:t>PE</a:t>
                          </a:r>
                        </a:p>
                      </p:txBody>
                    </p:sp>
                    <p:sp>
                      <p:nvSpPr>
                        <p:cNvPr id="102" name="矩形 101">
                          <a:extLst>
                            <a:ext uri="{FF2B5EF4-FFF2-40B4-BE49-F238E27FC236}">
                              <a16:creationId xmlns:a16="http://schemas.microsoft.com/office/drawing/2014/main" id="{5FD63761-CBEC-4031-A627-0FBAD8101C5B}"/>
                            </a:ext>
                          </a:extLst>
                        </p:cNvPr>
                        <p:cNvSpPr/>
                        <p:nvPr/>
                      </p:nvSpPr>
                      <p:spPr>
                        <a:xfrm>
                          <a:off x="2447168" y="3546131"/>
                          <a:ext cx="745131" cy="680112"/>
                        </a:xfrm>
                        <a:prstGeom prst="rect">
                          <a:avLst/>
                        </a:prstGeom>
                        <a:solidFill>
                          <a:srgbClr val="FCC80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CCU</a:t>
                          </a:r>
                        </a:p>
                        <a:p>
                          <a:pPr algn="ctr" defTabSz="696832">
                            <a:defRPr/>
                          </a:pPr>
                          <a:r>
                            <a:rPr lang="en-US" altLang="zh-CN" sz="914" b="1" kern="0" dirty="0">
                              <a:latin typeface="Calibri" panose="020F0502020204030204"/>
                              <a:ea typeface="等线" panose="02010600030101010101" pitchFamily="2" charset="-122"/>
                            </a:rPr>
                            <a:t>PE</a:t>
                          </a:r>
                        </a:p>
                      </p:txBody>
                    </p:sp>
                    <p:sp>
                      <p:nvSpPr>
                        <p:cNvPr id="104" name="矩形 103">
                          <a:extLst>
                            <a:ext uri="{FF2B5EF4-FFF2-40B4-BE49-F238E27FC236}">
                              <a16:creationId xmlns:a16="http://schemas.microsoft.com/office/drawing/2014/main" id="{B3BDB240-0F0E-4908-BFFB-60E691AA3A29}"/>
                            </a:ext>
                          </a:extLst>
                        </p:cNvPr>
                        <p:cNvSpPr/>
                        <p:nvPr/>
                      </p:nvSpPr>
                      <p:spPr>
                        <a:xfrm>
                          <a:off x="2516910" y="3623931"/>
                          <a:ext cx="745131" cy="680112"/>
                        </a:xfrm>
                        <a:prstGeom prst="rect">
                          <a:avLst/>
                        </a:prstGeom>
                        <a:solidFill>
                          <a:srgbClr val="FCC80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CCU</a:t>
                          </a:r>
                        </a:p>
                        <a:p>
                          <a:pPr algn="ctr" defTabSz="696832">
                            <a:defRPr/>
                          </a:pPr>
                          <a:r>
                            <a:rPr lang="en-US" altLang="zh-CN" sz="914" b="1" kern="0" dirty="0">
                              <a:latin typeface="Calibri" panose="020F0502020204030204"/>
                              <a:ea typeface="等线" panose="02010600030101010101" pitchFamily="2" charset="-122"/>
                            </a:rPr>
                            <a:t>PE</a:t>
                          </a:r>
                        </a:p>
                      </p:txBody>
                    </p:sp>
                    <p:sp>
                      <p:nvSpPr>
                        <p:cNvPr id="105" name="矩形 104">
                          <a:extLst>
                            <a:ext uri="{FF2B5EF4-FFF2-40B4-BE49-F238E27FC236}">
                              <a16:creationId xmlns:a16="http://schemas.microsoft.com/office/drawing/2014/main" id="{D62049F2-AA0C-4480-8341-70309EF8F4F4}"/>
                            </a:ext>
                          </a:extLst>
                        </p:cNvPr>
                        <p:cNvSpPr/>
                        <p:nvPr/>
                      </p:nvSpPr>
                      <p:spPr>
                        <a:xfrm>
                          <a:off x="2586652" y="3692388"/>
                          <a:ext cx="745131" cy="680112"/>
                        </a:xfrm>
                        <a:prstGeom prst="rect">
                          <a:avLst/>
                        </a:prstGeom>
                        <a:solidFill>
                          <a:srgbClr val="FCC80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CCU</a:t>
                          </a:r>
                        </a:p>
                        <a:p>
                          <a:pPr algn="ctr" defTabSz="696832">
                            <a:defRPr/>
                          </a:pPr>
                          <a:r>
                            <a:rPr lang="en-US" altLang="zh-CN" sz="914" b="1" kern="0" dirty="0">
                              <a:latin typeface="Calibri" panose="020F0502020204030204"/>
                              <a:ea typeface="等线" panose="02010600030101010101" pitchFamily="2" charset="-122"/>
                            </a:rPr>
                            <a:t>PE</a:t>
                          </a:r>
                        </a:p>
                      </p:txBody>
                    </p:sp>
                    <p:cxnSp>
                      <p:nvCxnSpPr>
                        <p:cNvPr id="106" name="直接连接符 105">
                          <a:extLst>
                            <a:ext uri="{FF2B5EF4-FFF2-40B4-BE49-F238E27FC236}">
                              <a16:creationId xmlns:a16="http://schemas.microsoft.com/office/drawing/2014/main" id="{5DDED361-49B9-42B5-80D6-5C4FABA5FA32}"/>
                            </a:ext>
                          </a:extLst>
                        </p:cNvPr>
                        <p:cNvCxnSpPr>
                          <a:stCxn id="100" idx="3"/>
                          <a:endCxn id="101" idx="1"/>
                        </p:cNvCxnSpPr>
                        <p:nvPr/>
                      </p:nvCxnSpPr>
                      <p:spPr>
                        <a:xfrm flipV="1">
                          <a:off x="2052073" y="3830242"/>
                          <a:ext cx="337133" cy="137550"/>
                        </a:xfrm>
                        <a:prstGeom prst="line">
                          <a:avLst/>
                        </a:prstGeom>
                        <a:noFill/>
                        <a:ln w="12700" cap="flat" cmpd="sng" algn="ctr">
                          <a:solidFill>
                            <a:srgbClr val="1D1D1A"/>
                          </a:solidFill>
                          <a:prstDash val="solid"/>
                          <a:miter lim="800000"/>
                        </a:ln>
                        <a:effectLst/>
                      </p:spPr>
                    </p:cxnSp>
                    <p:cxnSp>
                      <p:nvCxnSpPr>
                        <p:cNvPr id="107" name="直接连接符 106">
                          <a:extLst>
                            <a:ext uri="{FF2B5EF4-FFF2-40B4-BE49-F238E27FC236}">
                              <a16:creationId xmlns:a16="http://schemas.microsoft.com/office/drawing/2014/main" id="{66B97EEC-49BB-48A8-8706-5900E84DE379}"/>
                            </a:ext>
                          </a:extLst>
                        </p:cNvPr>
                        <p:cNvCxnSpPr>
                          <a:stCxn id="100" idx="3"/>
                          <a:endCxn id="104" idx="1"/>
                        </p:cNvCxnSpPr>
                        <p:nvPr/>
                      </p:nvCxnSpPr>
                      <p:spPr>
                        <a:xfrm flipV="1">
                          <a:off x="2052073" y="3963987"/>
                          <a:ext cx="464837" cy="3805"/>
                        </a:xfrm>
                        <a:prstGeom prst="line">
                          <a:avLst/>
                        </a:prstGeom>
                        <a:noFill/>
                        <a:ln w="12700" cap="flat" cmpd="sng" algn="ctr">
                          <a:solidFill>
                            <a:srgbClr val="1D1D1A"/>
                          </a:solidFill>
                          <a:prstDash val="solid"/>
                          <a:miter lim="800000"/>
                        </a:ln>
                        <a:effectLst/>
                      </p:spPr>
                    </p:cxnSp>
                    <p:cxnSp>
                      <p:nvCxnSpPr>
                        <p:cNvPr id="108" name="直接连接符 107">
                          <a:extLst>
                            <a:ext uri="{FF2B5EF4-FFF2-40B4-BE49-F238E27FC236}">
                              <a16:creationId xmlns:a16="http://schemas.microsoft.com/office/drawing/2014/main" id="{B6D9EC12-C6EC-479E-B9A3-44AE0DA823BF}"/>
                            </a:ext>
                          </a:extLst>
                        </p:cNvPr>
                        <p:cNvCxnSpPr>
                          <a:stCxn id="100" idx="3"/>
                          <a:endCxn id="102" idx="1"/>
                        </p:cNvCxnSpPr>
                        <p:nvPr/>
                      </p:nvCxnSpPr>
                      <p:spPr>
                        <a:xfrm flipV="1">
                          <a:off x="2052073" y="3886187"/>
                          <a:ext cx="395095" cy="81605"/>
                        </a:xfrm>
                        <a:prstGeom prst="line">
                          <a:avLst/>
                        </a:prstGeom>
                        <a:noFill/>
                        <a:ln w="12700" cap="flat" cmpd="sng" algn="ctr">
                          <a:solidFill>
                            <a:srgbClr val="1D1D1A"/>
                          </a:solidFill>
                          <a:prstDash val="solid"/>
                          <a:miter lim="800000"/>
                        </a:ln>
                        <a:effectLst/>
                      </p:spPr>
                    </p:cxnSp>
                    <p:cxnSp>
                      <p:nvCxnSpPr>
                        <p:cNvPr id="109" name="直接连接符 108">
                          <a:extLst>
                            <a:ext uri="{FF2B5EF4-FFF2-40B4-BE49-F238E27FC236}">
                              <a16:creationId xmlns:a16="http://schemas.microsoft.com/office/drawing/2014/main" id="{F7B3B331-1D8A-411F-BEB7-E3EEDDF6B91A}"/>
                            </a:ext>
                          </a:extLst>
                        </p:cNvPr>
                        <p:cNvCxnSpPr>
                          <a:stCxn id="100" idx="3"/>
                          <a:endCxn id="105" idx="1"/>
                        </p:cNvCxnSpPr>
                        <p:nvPr/>
                      </p:nvCxnSpPr>
                      <p:spPr>
                        <a:xfrm>
                          <a:off x="2052073" y="3967792"/>
                          <a:ext cx="534579" cy="64652"/>
                        </a:xfrm>
                        <a:prstGeom prst="line">
                          <a:avLst/>
                        </a:prstGeom>
                        <a:noFill/>
                        <a:ln w="12700" cap="flat" cmpd="sng" algn="ctr">
                          <a:solidFill>
                            <a:srgbClr val="1D1D1A"/>
                          </a:solidFill>
                          <a:prstDash val="solid"/>
                          <a:miter lim="800000"/>
                        </a:ln>
                        <a:effectLst/>
                      </p:spPr>
                    </p:cxnSp>
                  </p:grpSp>
                </p:grpSp>
                <p:grpSp>
                  <p:nvGrpSpPr>
                    <p:cNvPr id="74" name="组合 73">
                      <a:extLst>
                        <a:ext uri="{FF2B5EF4-FFF2-40B4-BE49-F238E27FC236}">
                          <a16:creationId xmlns:a16="http://schemas.microsoft.com/office/drawing/2014/main" id="{509B224D-0B26-42F4-9C63-0C652DB7F839}"/>
                        </a:ext>
                      </a:extLst>
                    </p:cNvPr>
                    <p:cNvGrpSpPr/>
                    <p:nvPr/>
                  </p:nvGrpSpPr>
                  <p:grpSpPr>
                    <a:xfrm>
                      <a:off x="1079500" y="3530600"/>
                      <a:ext cx="2508250" cy="1174750"/>
                      <a:chOff x="927100" y="3378200"/>
                      <a:chExt cx="2508250" cy="1174750"/>
                    </a:xfrm>
                  </p:grpSpPr>
                  <p:sp>
                    <p:nvSpPr>
                      <p:cNvPr id="87" name="矩形 86">
                        <a:extLst>
                          <a:ext uri="{FF2B5EF4-FFF2-40B4-BE49-F238E27FC236}">
                            <a16:creationId xmlns:a16="http://schemas.microsoft.com/office/drawing/2014/main" id="{5DEDE8B0-20D2-4A3E-9D53-DEA84BCFEF7E}"/>
                          </a:ext>
                        </a:extLst>
                      </p:cNvPr>
                      <p:cNvSpPr/>
                      <p:nvPr/>
                    </p:nvSpPr>
                    <p:spPr>
                      <a:xfrm>
                        <a:off x="927100" y="3378200"/>
                        <a:ext cx="2508250" cy="1174750"/>
                      </a:xfrm>
                      <a:prstGeom prst="rect">
                        <a:avLst/>
                      </a:prstGeom>
                      <a:solidFill>
                        <a:srgbClr val="30B5C5">
                          <a:lumMod val="20000"/>
                          <a:lumOff val="80000"/>
                        </a:srgbClr>
                      </a:solidFill>
                      <a:ln w="1905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endParaRPr lang="zh-CN" altLang="en-US" sz="914" kern="0">
                          <a:latin typeface="Calibri" panose="020F0502020204030204"/>
                          <a:ea typeface="等线" panose="02010600030101010101" pitchFamily="2" charset="-122"/>
                        </a:endParaRPr>
                      </a:p>
                    </p:txBody>
                  </p:sp>
                  <p:grpSp>
                    <p:nvGrpSpPr>
                      <p:cNvPr id="88" name="组合 87">
                        <a:extLst>
                          <a:ext uri="{FF2B5EF4-FFF2-40B4-BE49-F238E27FC236}">
                            <a16:creationId xmlns:a16="http://schemas.microsoft.com/office/drawing/2014/main" id="{1835337D-E7E7-474C-910D-D8D97F943CBE}"/>
                          </a:ext>
                        </a:extLst>
                      </p:cNvPr>
                      <p:cNvGrpSpPr/>
                      <p:nvPr/>
                    </p:nvGrpSpPr>
                    <p:grpSpPr>
                      <a:xfrm>
                        <a:off x="1054545" y="3490186"/>
                        <a:ext cx="2277238" cy="882314"/>
                        <a:chOff x="1054545" y="3490186"/>
                        <a:chExt cx="2277238" cy="882314"/>
                      </a:xfrm>
                    </p:grpSpPr>
                    <p:sp>
                      <p:nvSpPr>
                        <p:cNvPr id="89" name="矩形 88">
                          <a:extLst>
                            <a:ext uri="{FF2B5EF4-FFF2-40B4-BE49-F238E27FC236}">
                              <a16:creationId xmlns:a16="http://schemas.microsoft.com/office/drawing/2014/main" id="{7A5F6350-FFC7-4553-A26E-313D19ACE3B9}"/>
                            </a:ext>
                          </a:extLst>
                        </p:cNvPr>
                        <p:cNvSpPr/>
                        <p:nvPr/>
                      </p:nvSpPr>
                      <p:spPr>
                        <a:xfrm>
                          <a:off x="1054545" y="3627736"/>
                          <a:ext cx="997528" cy="680112"/>
                        </a:xfrm>
                        <a:prstGeom prst="rect">
                          <a:avLst/>
                        </a:prstGeom>
                        <a:solidFill>
                          <a:srgbClr val="DDDDDD"/>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RISCV Core</a:t>
                          </a:r>
                        </a:p>
                      </p:txBody>
                    </p:sp>
                    <p:sp>
                      <p:nvSpPr>
                        <p:cNvPr id="90" name="矩形 89">
                          <a:extLst>
                            <a:ext uri="{FF2B5EF4-FFF2-40B4-BE49-F238E27FC236}">
                              <a16:creationId xmlns:a16="http://schemas.microsoft.com/office/drawing/2014/main" id="{12C11BED-05B8-443E-B717-D3981116967C}"/>
                            </a:ext>
                          </a:extLst>
                        </p:cNvPr>
                        <p:cNvSpPr/>
                        <p:nvPr/>
                      </p:nvSpPr>
                      <p:spPr>
                        <a:xfrm>
                          <a:off x="2389206" y="3490186"/>
                          <a:ext cx="745131" cy="680112"/>
                        </a:xfrm>
                        <a:prstGeom prst="rect">
                          <a:avLst/>
                        </a:prstGeom>
                        <a:solidFill>
                          <a:srgbClr val="FCC80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CCU</a:t>
                          </a:r>
                        </a:p>
                        <a:p>
                          <a:pPr algn="ctr" defTabSz="696832">
                            <a:defRPr/>
                          </a:pPr>
                          <a:r>
                            <a:rPr lang="en-US" altLang="zh-CN" sz="914" b="1" kern="0" dirty="0">
                              <a:latin typeface="Calibri" panose="020F0502020204030204"/>
                              <a:ea typeface="等线" panose="02010600030101010101" pitchFamily="2" charset="-122"/>
                            </a:rPr>
                            <a:t>PE</a:t>
                          </a:r>
                        </a:p>
                      </p:txBody>
                    </p:sp>
                    <p:sp>
                      <p:nvSpPr>
                        <p:cNvPr id="91" name="矩形 90">
                          <a:extLst>
                            <a:ext uri="{FF2B5EF4-FFF2-40B4-BE49-F238E27FC236}">
                              <a16:creationId xmlns:a16="http://schemas.microsoft.com/office/drawing/2014/main" id="{C71F1139-C66E-4D54-AF4B-416DF6533C4C}"/>
                            </a:ext>
                          </a:extLst>
                        </p:cNvPr>
                        <p:cNvSpPr/>
                        <p:nvPr/>
                      </p:nvSpPr>
                      <p:spPr>
                        <a:xfrm>
                          <a:off x="2447168" y="3546131"/>
                          <a:ext cx="745131" cy="680112"/>
                        </a:xfrm>
                        <a:prstGeom prst="rect">
                          <a:avLst/>
                        </a:prstGeom>
                        <a:solidFill>
                          <a:srgbClr val="FCC80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CCU</a:t>
                          </a:r>
                        </a:p>
                        <a:p>
                          <a:pPr algn="ctr" defTabSz="696832">
                            <a:defRPr/>
                          </a:pPr>
                          <a:r>
                            <a:rPr lang="en-US" altLang="zh-CN" sz="914" b="1" kern="0" dirty="0">
                              <a:latin typeface="Calibri" panose="020F0502020204030204"/>
                              <a:ea typeface="等线" panose="02010600030101010101" pitchFamily="2" charset="-122"/>
                            </a:rPr>
                            <a:t>PE</a:t>
                          </a:r>
                        </a:p>
                      </p:txBody>
                    </p:sp>
                    <p:sp>
                      <p:nvSpPr>
                        <p:cNvPr id="92" name="矩形 91">
                          <a:extLst>
                            <a:ext uri="{FF2B5EF4-FFF2-40B4-BE49-F238E27FC236}">
                              <a16:creationId xmlns:a16="http://schemas.microsoft.com/office/drawing/2014/main" id="{D71B7812-9A00-4B7E-A903-C2F99A777EE7}"/>
                            </a:ext>
                          </a:extLst>
                        </p:cNvPr>
                        <p:cNvSpPr/>
                        <p:nvPr/>
                      </p:nvSpPr>
                      <p:spPr>
                        <a:xfrm>
                          <a:off x="2516910" y="3623931"/>
                          <a:ext cx="745131" cy="680112"/>
                        </a:xfrm>
                        <a:prstGeom prst="rect">
                          <a:avLst/>
                        </a:prstGeom>
                        <a:solidFill>
                          <a:srgbClr val="FCC80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CCU</a:t>
                          </a:r>
                        </a:p>
                        <a:p>
                          <a:pPr algn="ctr" defTabSz="696832">
                            <a:defRPr/>
                          </a:pPr>
                          <a:r>
                            <a:rPr lang="en-US" altLang="zh-CN" sz="914" b="1" kern="0" dirty="0">
                              <a:latin typeface="Calibri" panose="020F0502020204030204"/>
                              <a:ea typeface="等线" panose="02010600030101010101" pitchFamily="2" charset="-122"/>
                            </a:rPr>
                            <a:t>PE</a:t>
                          </a:r>
                        </a:p>
                      </p:txBody>
                    </p:sp>
                    <p:sp>
                      <p:nvSpPr>
                        <p:cNvPr id="93" name="矩形 92">
                          <a:extLst>
                            <a:ext uri="{FF2B5EF4-FFF2-40B4-BE49-F238E27FC236}">
                              <a16:creationId xmlns:a16="http://schemas.microsoft.com/office/drawing/2014/main" id="{5CDCB256-4AAA-48EE-9657-2C6EBA0D9623}"/>
                            </a:ext>
                          </a:extLst>
                        </p:cNvPr>
                        <p:cNvSpPr/>
                        <p:nvPr/>
                      </p:nvSpPr>
                      <p:spPr>
                        <a:xfrm>
                          <a:off x="2586652" y="3692388"/>
                          <a:ext cx="745131" cy="680112"/>
                        </a:xfrm>
                        <a:prstGeom prst="rect">
                          <a:avLst/>
                        </a:prstGeom>
                        <a:solidFill>
                          <a:srgbClr val="FCC80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CCU</a:t>
                          </a:r>
                        </a:p>
                        <a:p>
                          <a:pPr algn="ctr" defTabSz="696832">
                            <a:defRPr/>
                          </a:pPr>
                          <a:r>
                            <a:rPr lang="en-US" altLang="zh-CN" sz="914" b="1" kern="0" dirty="0">
                              <a:latin typeface="Calibri" panose="020F0502020204030204"/>
                              <a:ea typeface="等线" panose="02010600030101010101" pitchFamily="2" charset="-122"/>
                            </a:rPr>
                            <a:t>PE</a:t>
                          </a:r>
                        </a:p>
                      </p:txBody>
                    </p:sp>
                    <p:cxnSp>
                      <p:nvCxnSpPr>
                        <p:cNvPr id="94" name="直接连接符 93">
                          <a:extLst>
                            <a:ext uri="{FF2B5EF4-FFF2-40B4-BE49-F238E27FC236}">
                              <a16:creationId xmlns:a16="http://schemas.microsoft.com/office/drawing/2014/main" id="{141EAD62-A97B-4009-8553-C60F3ED6DF96}"/>
                            </a:ext>
                          </a:extLst>
                        </p:cNvPr>
                        <p:cNvCxnSpPr>
                          <a:stCxn id="89" idx="3"/>
                          <a:endCxn id="90" idx="1"/>
                        </p:cNvCxnSpPr>
                        <p:nvPr/>
                      </p:nvCxnSpPr>
                      <p:spPr>
                        <a:xfrm flipV="1">
                          <a:off x="2052073" y="3830242"/>
                          <a:ext cx="337133" cy="137550"/>
                        </a:xfrm>
                        <a:prstGeom prst="line">
                          <a:avLst/>
                        </a:prstGeom>
                        <a:noFill/>
                        <a:ln w="12700" cap="flat" cmpd="sng" algn="ctr">
                          <a:solidFill>
                            <a:srgbClr val="1D1D1A"/>
                          </a:solidFill>
                          <a:prstDash val="solid"/>
                          <a:miter lim="800000"/>
                        </a:ln>
                        <a:effectLst/>
                      </p:spPr>
                    </p:cxnSp>
                    <p:cxnSp>
                      <p:nvCxnSpPr>
                        <p:cNvPr id="95" name="直接连接符 94">
                          <a:extLst>
                            <a:ext uri="{FF2B5EF4-FFF2-40B4-BE49-F238E27FC236}">
                              <a16:creationId xmlns:a16="http://schemas.microsoft.com/office/drawing/2014/main" id="{55CF72CA-52C1-49F6-A42B-98A82D4EDF77}"/>
                            </a:ext>
                          </a:extLst>
                        </p:cNvPr>
                        <p:cNvCxnSpPr>
                          <a:stCxn id="89" idx="3"/>
                          <a:endCxn id="92" idx="1"/>
                        </p:cNvCxnSpPr>
                        <p:nvPr/>
                      </p:nvCxnSpPr>
                      <p:spPr>
                        <a:xfrm flipV="1">
                          <a:off x="2052073" y="3963987"/>
                          <a:ext cx="464837" cy="3805"/>
                        </a:xfrm>
                        <a:prstGeom prst="line">
                          <a:avLst/>
                        </a:prstGeom>
                        <a:noFill/>
                        <a:ln w="12700" cap="flat" cmpd="sng" algn="ctr">
                          <a:solidFill>
                            <a:srgbClr val="1D1D1A"/>
                          </a:solidFill>
                          <a:prstDash val="solid"/>
                          <a:miter lim="800000"/>
                        </a:ln>
                        <a:effectLst/>
                      </p:spPr>
                    </p:cxnSp>
                    <p:cxnSp>
                      <p:nvCxnSpPr>
                        <p:cNvPr id="96" name="直接连接符 95">
                          <a:extLst>
                            <a:ext uri="{FF2B5EF4-FFF2-40B4-BE49-F238E27FC236}">
                              <a16:creationId xmlns:a16="http://schemas.microsoft.com/office/drawing/2014/main" id="{9794CAD1-22D7-40AC-8A44-61513C2C6B83}"/>
                            </a:ext>
                          </a:extLst>
                        </p:cNvPr>
                        <p:cNvCxnSpPr>
                          <a:stCxn id="89" idx="3"/>
                          <a:endCxn id="91" idx="1"/>
                        </p:cNvCxnSpPr>
                        <p:nvPr/>
                      </p:nvCxnSpPr>
                      <p:spPr>
                        <a:xfrm flipV="1">
                          <a:off x="2052073" y="3886187"/>
                          <a:ext cx="395095" cy="81605"/>
                        </a:xfrm>
                        <a:prstGeom prst="line">
                          <a:avLst/>
                        </a:prstGeom>
                        <a:noFill/>
                        <a:ln w="12700" cap="flat" cmpd="sng" algn="ctr">
                          <a:solidFill>
                            <a:srgbClr val="1D1D1A"/>
                          </a:solidFill>
                          <a:prstDash val="solid"/>
                          <a:miter lim="800000"/>
                        </a:ln>
                        <a:effectLst/>
                      </p:spPr>
                    </p:cxnSp>
                    <p:cxnSp>
                      <p:nvCxnSpPr>
                        <p:cNvPr id="97" name="直接连接符 96">
                          <a:extLst>
                            <a:ext uri="{FF2B5EF4-FFF2-40B4-BE49-F238E27FC236}">
                              <a16:creationId xmlns:a16="http://schemas.microsoft.com/office/drawing/2014/main" id="{BACAC41F-97CC-4843-B98E-7B676B6AC524}"/>
                            </a:ext>
                          </a:extLst>
                        </p:cNvPr>
                        <p:cNvCxnSpPr>
                          <a:stCxn id="89" idx="3"/>
                          <a:endCxn id="93" idx="1"/>
                        </p:cNvCxnSpPr>
                        <p:nvPr/>
                      </p:nvCxnSpPr>
                      <p:spPr>
                        <a:xfrm>
                          <a:off x="2052073" y="3967792"/>
                          <a:ext cx="534579" cy="64652"/>
                        </a:xfrm>
                        <a:prstGeom prst="line">
                          <a:avLst/>
                        </a:prstGeom>
                        <a:noFill/>
                        <a:ln w="12700" cap="flat" cmpd="sng" algn="ctr">
                          <a:solidFill>
                            <a:srgbClr val="1D1D1A"/>
                          </a:solidFill>
                          <a:prstDash val="solid"/>
                          <a:miter lim="800000"/>
                        </a:ln>
                        <a:effectLst/>
                      </p:spPr>
                    </p:cxnSp>
                  </p:grpSp>
                </p:grpSp>
                <p:grpSp>
                  <p:nvGrpSpPr>
                    <p:cNvPr id="75" name="组合 74">
                      <a:extLst>
                        <a:ext uri="{FF2B5EF4-FFF2-40B4-BE49-F238E27FC236}">
                          <a16:creationId xmlns:a16="http://schemas.microsoft.com/office/drawing/2014/main" id="{6A64A38E-C127-4159-88C2-AC8BBCA814E1}"/>
                        </a:ext>
                      </a:extLst>
                    </p:cNvPr>
                    <p:cNvGrpSpPr/>
                    <p:nvPr/>
                  </p:nvGrpSpPr>
                  <p:grpSpPr>
                    <a:xfrm>
                      <a:off x="1163505" y="3629622"/>
                      <a:ext cx="2508250" cy="1174750"/>
                      <a:chOff x="927100" y="3378200"/>
                      <a:chExt cx="2508250" cy="1174750"/>
                    </a:xfrm>
                  </p:grpSpPr>
                  <p:sp>
                    <p:nvSpPr>
                      <p:cNvPr id="76" name="矩形 75">
                        <a:extLst>
                          <a:ext uri="{FF2B5EF4-FFF2-40B4-BE49-F238E27FC236}">
                            <a16:creationId xmlns:a16="http://schemas.microsoft.com/office/drawing/2014/main" id="{C363AFDB-F06B-4FB9-AFF6-4478007F492A}"/>
                          </a:ext>
                        </a:extLst>
                      </p:cNvPr>
                      <p:cNvSpPr/>
                      <p:nvPr/>
                    </p:nvSpPr>
                    <p:spPr>
                      <a:xfrm>
                        <a:off x="927100" y="3378200"/>
                        <a:ext cx="2508250" cy="1174750"/>
                      </a:xfrm>
                      <a:prstGeom prst="rect">
                        <a:avLst/>
                      </a:prstGeom>
                      <a:solidFill>
                        <a:srgbClr val="30B5C5">
                          <a:lumMod val="20000"/>
                          <a:lumOff val="80000"/>
                        </a:srgbClr>
                      </a:solidFill>
                      <a:ln w="1905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endParaRPr lang="zh-CN" altLang="en-US" sz="914" kern="0">
                          <a:latin typeface="Calibri" panose="020F0502020204030204"/>
                          <a:ea typeface="等线" panose="02010600030101010101" pitchFamily="2" charset="-122"/>
                        </a:endParaRPr>
                      </a:p>
                    </p:txBody>
                  </p:sp>
                  <p:grpSp>
                    <p:nvGrpSpPr>
                      <p:cNvPr id="77" name="组合 76">
                        <a:extLst>
                          <a:ext uri="{FF2B5EF4-FFF2-40B4-BE49-F238E27FC236}">
                            <a16:creationId xmlns:a16="http://schemas.microsoft.com/office/drawing/2014/main" id="{21D3B99B-8C65-43EA-8D05-70218A05720F}"/>
                          </a:ext>
                        </a:extLst>
                      </p:cNvPr>
                      <p:cNvGrpSpPr/>
                      <p:nvPr/>
                    </p:nvGrpSpPr>
                    <p:grpSpPr>
                      <a:xfrm>
                        <a:off x="1054545" y="3490186"/>
                        <a:ext cx="2277238" cy="882314"/>
                        <a:chOff x="1054545" y="3490186"/>
                        <a:chExt cx="2277238" cy="882314"/>
                      </a:xfrm>
                    </p:grpSpPr>
                    <p:sp>
                      <p:nvSpPr>
                        <p:cNvPr id="78" name="矩形 77">
                          <a:extLst>
                            <a:ext uri="{FF2B5EF4-FFF2-40B4-BE49-F238E27FC236}">
                              <a16:creationId xmlns:a16="http://schemas.microsoft.com/office/drawing/2014/main" id="{DC5D65D1-9B88-4811-AEC3-A8CE755316CD}"/>
                            </a:ext>
                          </a:extLst>
                        </p:cNvPr>
                        <p:cNvSpPr/>
                        <p:nvPr/>
                      </p:nvSpPr>
                      <p:spPr>
                        <a:xfrm>
                          <a:off x="1054545" y="3627736"/>
                          <a:ext cx="997528" cy="680112"/>
                        </a:xfrm>
                        <a:prstGeom prst="rect">
                          <a:avLst/>
                        </a:prstGeom>
                        <a:solidFill>
                          <a:srgbClr val="FFFFFF"/>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RISCV</a:t>
                          </a:r>
                        </a:p>
                        <a:p>
                          <a:pPr algn="ctr" defTabSz="696832">
                            <a:defRPr/>
                          </a:pPr>
                          <a:endParaRPr lang="en-US" altLang="zh-CN" sz="914" b="1" kern="0" dirty="0">
                            <a:latin typeface="Calibri" panose="020F0502020204030204"/>
                            <a:ea typeface="等线" panose="02010600030101010101" pitchFamily="2" charset="-122"/>
                          </a:endParaRPr>
                        </a:p>
                      </p:txBody>
                    </p:sp>
                    <p:sp>
                      <p:nvSpPr>
                        <p:cNvPr id="79" name="矩形 78">
                          <a:extLst>
                            <a:ext uri="{FF2B5EF4-FFF2-40B4-BE49-F238E27FC236}">
                              <a16:creationId xmlns:a16="http://schemas.microsoft.com/office/drawing/2014/main" id="{97DC0916-D790-4872-A469-D85352B539AD}"/>
                            </a:ext>
                          </a:extLst>
                        </p:cNvPr>
                        <p:cNvSpPr/>
                        <p:nvPr/>
                      </p:nvSpPr>
                      <p:spPr>
                        <a:xfrm>
                          <a:off x="2389206" y="3490186"/>
                          <a:ext cx="745131" cy="680112"/>
                        </a:xfrm>
                        <a:prstGeom prst="rect">
                          <a:avLst/>
                        </a:prstGeom>
                        <a:solidFill>
                          <a:srgbClr val="61B23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CCU</a:t>
                          </a:r>
                        </a:p>
                        <a:p>
                          <a:pPr algn="ctr" defTabSz="696832">
                            <a:defRPr/>
                          </a:pPr>
                          <a:r>
                            <a:rPr lang="en-US" altLang="zh-CN" sz="914" b="1" kern="0" dirty="0">
                              <a:latin typeface="Calibri" panose="020F0502020204030204"/>
                              <a:ea typeface="等线" panose="02010600030101010101" pitchFamily="2" charset="-122"/>
                            </a:rPr>
                            <a:t>PE</a:t>
                          </a:r>
                        </a:p>
                      </p:txBody>
                    </p:sp>
                    <p:sp>
                      <p:nvSpPr>
                        <p:cNvPr id="80" name="矩形 79">
                          <a:extLst>
                            <a:ext uri="{FF2B5EF4-FFF2-40B4-BE49-F238E27FC236}">
                              <a16:creationId xmlns:a16="http://schemas.microsoft.com/office/drawing/2014/main" id="{F9E0D9EF-EB81-4C93-9354-33526AE70C55}"/>
                            </a:ext>
                          </a:extLst>
                        </p:cNvPr>
                        <p:cNvSpPr/>
                        <p:nvPr/>
                      </p:nvSpPr>
                      <p:spPr>
                        <a:xfrm>
                          <a:off x="2447168" y="3546131"/>
                          <a:ext cx="745131" cy="680112"/>
                        </a:xfrm>
                        <a:prstGeom prst="rect">
                          <a:avLst/>
                        </a:prstGeom>
                        <a:solidFill>
                          <a:srgbClr val="61B23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CCU</a:t>
                          </a:r>
                        </a:p>
                        <a:p>
                          <a:pPr algn="ctr" defTabSz="696832">
                            <a:defRPr/>
                          </a:pPr>
                          <a:r>
                            <a:rPr lang="en-US" altLang="zh-CN" sz="914" b="1" kern="0" dirty="0">
                              <a:latin typeface="Calibri" panose="020F0502020204030204"/>
                              <a:ea typeface="等线" panose="02010600030101010101" pitchFamily="2" charset="-122"/>
                            </a:rPr>
                            <a:t>PE</a:t>
                          </a:r>
                        </a:p>
                      </p:txBody>
                    </p:sp>
                    <p:sp>
                      <p:nvSpPr>
                        <p:cNvPr id="81" name="矩形 80">
                          <a:extLst>
                            <a:ext uri="{FF2B5EF4-FFF2-40B4-BE49-F238E27FC236}">
                              <a16:creationId xmlns:a16="http://schemas.microsoft.com/office/drawing/2014/main" id="{5A16E9CC-FECE-47B3-BFA3-F4B3221FB012}"/>
                            </a:ext>
                          </a:extLst>
                        </p:cNvPr>
                        <p:cNvSpPr/>
                        <p:nvPr/>
                      </p:nvSpPr>
                      <p:spPr>
                        <a:xfrm>
                          <a:off x="2516910" y="3623931"/>
                          <a:ext cx="745131" cy="680112"/>
                        </a:xfrm>
                        <a:prstGeom prst="rect">
                          <a:avLst/>
                        </a:prstGeom>
                        <a:solidFill>
                          <a:srgbClr val="61B23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CCU</a:t>
                          </a:r>
                        </a:p>
                        <a:p>
                          <a:pPr algn="ctr" defTabSz="696832">
                            <a:defRPr/>
                          </a:pPr>
                          <a:r>
                            <a:rPr lang="en-US" altLang="zh-CN" sz="914" b="1" kern="0" dirty="0">
                              <a:latin typeface="Calibri" panose="020F0502020204030204"/>
                              <a:ea typeface="等线" panose="02010600030101010101" pitchFamily="2" charset="-122"/>
                            </a:rPr>
                            <a:t>PE</a:t>
                          </a:r>
                        </a:p>
                      </p:txBody>
                    </p:sp>
                    <p:sp>
                      <p:nvSpPr>
                        <p:cNvPr id="82" name="矩形 81">
                          <a:extLst>
                            <a:ext uri="{FF2B5EF4-FFF2-40B4-BE49-F238E27FC236}">
                              <a16:creationId xmlns:a16="http://schemas.microsoft.com/office/drawing/2014/main" id="{B544FF2B-3CCE-4971-873E-F154DE645BCC}"/>
                            </a:ext>
                          </a:extLst>
                        </p:cNvPr>
                        <p:cNvSpPr/>
                        <p:nvPr/>
                      </p:nvSpPr>
                      <p:spPr>
                        <a:xfrm>
                          <a:off x="2586652" y="3692388"/>
                          <a:ext cx="745131" cy="680112"/>
                        </a:xfrm>
                        <a:prstGeom prst="rect">
                          <a:avLst/>
                        </a:prstGeom>
                        <a:solidFill>
                          <a:srgbClr val="61B23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CCU</a:t>
                          </a:r>
                        </a:p>
                        <a:p>
                          <a:pPr algn="ctr" defTabSz="696832">
                            <a:defRPr/>
                          </a:pPr>
                          <a:r>
                            <a:rPr lang="en-US" altLang="zh-CN" sz="914" b="1" kern="0" dirty="0">
                              <a:latin typeface="Calibri" panose="020F0502020204030204"/>
                              <a:ea typeface="等线" panose="02010600030101010101" pitchFamily="2" charset="-122"/>
                            </a:rPr>
                            <a:t>PE</a:t>
                          </a:r>
                        </a:p>
                      </p:txBody>
                    </p:sp>
                    <p:cxnSp>
                      <p:nvCxnSpPr>
                        <p:cNvPr id="83" name="直接连接符 82">
                          <a:extLst>
                            <a:ext uri="{FF2B5EF4-FFF2-40B4-BE49-F238E27FC236}">
                              <a16:creationId xmlns:a16="http://schemas.microsoft.com/office/drawing/2014/main" id="{9DFA83B2-B76E-496B-8B3B-4AA7F336A915}"/>
                            </a:ext>
                          </a:extLst>
                        </p:cNvPr>
                        <p:cNvCxnSpPr>
                          <a:stCxn id="78" idx="3"/>
                          <a:endCxn id="79" idx="1"/>
                        </p:cNvCxnSpPr>
                        <p:nvPr/>
                      </p:nvCxnSpPr>
                      <p:spPr>
                        <a:xfrm flipV="1">
                          <a:off x="2052073" y="3830242"/>
                          <a:ext cx="337133" cy="137550"/>
                        </a:xfrm>
                        <a:prstGeom prst="line">
                          <a:avLst/>
                        </a:prstGeom>
                        <a:noFill/>
                        <a:ln w="12700" cap="flat" cmpd="sng" algn="ctr">
                          <a:solidFill>
                            <a:srgbClr val="1D1D1A"/>
                          </a:solidFill>
                          <a:prstDash val="solid"/>
                          <a:miter lim="800000"/>
                        </a:ln>
                        <a:effectLst/>
                      </p:spPr>
                    </p:cxnSp>
                    <p:cxnSp>
                      <p:nvCxnSpPr>
                        <p:cNvPr id="84" name="直接连接符 83">
                          <a:extLst>
                            <a:ext uri="{FF2B5EF4-FFF2-40B4-BE49-F238E27FC236}">
                              <a16:creationId xmlns:a16="http://schemas.microsoft.com/office/drawing/2014/main" id="{71848A21-8F0E-45FF-8CFB-2C46410E78A3}"/>
                            </a:ext>
                          </a:extLst>
                        </p:cNvPr>
                        <p:cNvCxnSpPr>
                          <a:stCxn id="78" idx="3"/>
                          <a:endCxn id="81" idx="1"/>
                        </p:cNvCxnSpPr>
                        <p:nvPr/>
                      </p:nvCxnSpPr>
                      <p:spPr>
                        <a:xfrm flipV="1">
                          <a:off x="2052073" y="3963987"/>
                          <a:ext cx="464837" cy="3805"/>
                        </a:xfrm>
                        <a:prstGeom prst="line">
                          <a:avLst/>
                        </a:prstGeom>
                        <a:noFill/>
                        <a:ln w="12700" cap="flat" cmpd="sng" algn="ctr">
                          <a:solidFill>
                            <a:srgbClr val="1D1D1A"/>
                          </a:solidFill>
                          <a:prstDash val="solid"/>
                          <a:miter lim="800000"/>
                        </a:ln>
                        <a:effectLst/>
                      </p:spPr>
                    </p:cxnSp>
                    <p:cxnSp>
                      <p:nvCxnSpPr>
                        <p:cNvPr id="85" name="直接连接符 84">
                          <a:extLst>
                            <a:ext uri="{FF2B5EF4-FFF2-40B4-BE49-F238E27FC236}">
                              <a16:creationId xmlns:a16="http://schemas.microsoft.com/office/drawing/2014/main" id="{2042027A-ED8D-4CB5-B24F-264FB6665F83}"/>
                            </a:ext>
                          </a:extLst>
                        </p:cNvPr>
                        <p:cNvCxnSpPr>
                          <a:stCxn id="78" idx="3"/>
                          <a:endCxn id="80" idx="1"/>
                        </p:cNvCxnSpPr>
                        <p:nvPr/>
                      </p:nvCxnSpPr>
                      <p:spPr>
                        <a:xfrm flipV="1">
                          <a:off x="2052073" y="3886187"/>
                          <a:ext cx="395095" cy="81605"/>
                        </a:xfrm>
                        <a:prstGeom prst="line">
                          <a:avLst/>
                        </a:prstGeom>
                        <a:noFill/>
                        <a:ln w="12700" cap="flat" cmpd="sng" algn="ctr">
                          <a:solidFill>
                            <a:srgbClr val="1D1D1A"/>
                          </a:solidFill>
                          <a:prstDash val="solid"/>
                          <a:miter lim="800000"/>
                        </a:ln>
                        <a:effectLst/>
                      </p:spPr>
                    </p:cxnSp>
                    <p:cxnSp>
                      <p:nvCxnSpPr>
                        <p:cNvPr id="86" name="直接连接符 85">
                          <a:extLst>
                            <a:ext uri="{FF2B5EF4-FFF2-40B4-BE49-F238E27FC236}">
                              <a16:creationId xmlns:a16="http://schemas.microsoft.com/office/drawing/2014/main" id="{3A26A2A1-A873-4FC4-91B2-AF33AE8CCE51}"/>
                            </a:ext>
                          </a:extLst>
                        </p:cNvPr>
                        <p:cNvCxnSpPr>
                          <a:stCxn id="78" idx="3"/>
                          <a:endCxn id="82" idx="1"/>
                        </p:cNvCxnSpPr>
                        <p:nvPr/>
                      </p:nvCxnSpPr>
                      <p:spPr>
                        <a:xfrm>
                          <a:off x="2052073" y="3967792"/>
                          <a:ext cx="534579" cy="64652"/>
                        </a:xfrm>
                        <a:prstGeom prst="line">
                          <a:avLst/>
                        </a:prstGeom>
                        <a:noFill/>
                        <a:ln w="12700" cap="flat" cmpd="sng" algn="ctr">
                          <a:solidFill>
                            <a:srgbClr val="1D1D1A"/>
                          </a:solidFill>
                          <a:prstDash val="solid"/>
                          <a:miter lim="800000"/>
                        </a:ln>
                        <a:effectLst/>
                      </p:spPr>
                    </p:cxnSp>
                  </p:grpSp>
                </p:grpSp>
              </p:grpSp>
              <p:sp>
                <p:nvSpPr>
                  <p:cNvPr id="63" name="矩形 62">
                    <a:extLst>
                      <a:ext uri="{FF2B5EF4-FFF2-40B4-BE49-F238E27FC236}">
                        <a16:creationId xmlns:a16="http://schemas.microsoft.com/office/drawing/2014/main" id="{D13DC674-957B-4FE8-8680-FD0ABCBCF015}"/>
                      </a:ext>
                    </a:extLst>
                  </p:cNvPr>
                  <p:cNvSpPr/>
                  <p:nvPr/>
                </p:nvSpPr>
                <p:spPr>
                  <a:xfrm>
                    <a:off x="1049621" y="3981962"/>
                    <a:ext cx="484589" cy="210330"/>
                  </a:xfrm>
                  <a:prstGeom prst="rect">
                    <a:avLst/>
                  </a:prstGeom>
                  <a:no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800" kern="0" dirty="0">
                        <a:latin typeface="Arial" panose="020B0604020202020204" pitchFamily="34" charset="0"/>
                        <a:ea typeface="等线" panose="02010600030101010101" pitchFamily="2" charset="-122"/>
                        <a:cs typeface="Arial" panose="020B0604020202020204" pitchFamily="34" charset="0"/>
                      </a:rPr>
                      <a:t>$</a:t>
                    </a:r>
                    <a:endParaRPr lang="zh-CN" altLang="en-US" sz="800" kern="0" dirty="0">
                      <a:latin typeface="Arial" panose="020B0604020202020204" pitchFamily="34" charset="0"/>
                      <a:ea typeface="等线" panose="02010600030101010101" pitchFamily="2" charset="-122"/>
                      <a:cs typeface="Arial" panose="020B0604020202020204" pitchFamily="34" charset="0"/>
                    </a:endParaRPr>
                  </a:p>
                </p:txBody>
              </p:sp>
              <p:sp>
                <p:nvSpPr>
                  <p:cNvPr id="64" name="矩形 63">
                    <a:extLst>
                      <a:ext uri="{FF2B5EF4-FFF2-40B4-BE49-F238E27FC236}">
                        <a16:creationId xmlns:a16="http://schemas.microsoft.com/office/drawing/2014/main" id="{9F58FC8B-8537-46EE-ABE5-2F4021671CF8}"/>
                      </a:ext>
                    </a:extLst>
                  </p:cNvPr>
                  <p:cNvSpPr/>
                  <p:nvPr/>
                </p:nvSpPr>
                <p:spPr>
                  <a:xfrm>
                    <a:off x="2776251" y="4656226"/>
                    <a:ext cx="1328451" cy="566526"/>
                  </a:xfrm>
                  <a:prstGeom prst="rect">
                    <a:avLst/>
                  </a:prstGeom>
                  <a:solidFill>
                    <a:srgbClr val="ED6D0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686" b="1" kern="0" dirty="0">
                        <a:latin typeface="Calibri" panose="020F0502020204030204"/>
                        <a:ea typeface="等线" panose="02010600030101010101" pitchFamily="2" charset="-122"/>
                      </a:rPr>
                      <a:t>            SRAM        </a:t>
                    </a:r>
                  </a:p>
                  <a:p>
                    <a:pPr algn="ctr" defTabSz="696832">
                      <a:defRPr/>
                    </a:pPr>
                    <a:r>
                      <a:rPr lang="en-US" altLang="zh-CN" sz="686" b="1" kern="0" dirty="0">
                        <a:latin typeface="Calibri" panose="020F0502020204030204"/>
                        <a:ea typeface="等线" panose="02010600030101010101" pitchFamily="2" charset="-122"/>
                      </a:rPr>
                      <a:t>           Buffer</a:t>
                    </a:r>
                  </a:p>
                </p:txBody>
              </p:sp>
              <p:sp>
                <p:nvSpPr>
                  <p:cNvPr id="65" name="箭头: 丁字 64">
                    <a:extLst>
                      <a:ext uri="{FF2B5EF4-FFF2-40B4-BE49-F238E27FC236}">
                        <a16:creationId xmlns:a16="http://schemas.microsoft.com/office/drawing/2014/main" id="{4CF2BA09-9D9E-401B-A664-E190ACC90B24}"/>
                      </a:ext>
                    </a:extLst>
                  </p:cNvPr>
                  <p:cNvSpPr/>
                  <p:nvPr/>
                </p:nvSpPr>
                <p:spPr>
                  <a:xfrm rot="10800000">
                    <a:off x="3099104" y="3889520"/>
                    <a:ext cx="1101420" cy="758257"/>
                  </a:xfrm>
                  <a:prstGeom prst="leftRightUpArrow">
                    <a:avLst>
                      <a:gd name="adj1" fmla="val 10387"/>
                      <a:gd name="adj2" fmla="val 10387"/>
                      <a:gd name="adj3" fmla="val 17694"/>
                    </a:avLst>
                  </a:prstGeom>
                  <a:solidFill>
                    <a:srgbClr val="E9002F">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endParaRPr lang="zh-CN" altLang="en-US" sz="914" kern="0">
                      <a:latin typeface="Calibri" panose="020F0502020204030204"/>
                      <a:ea typeface="等线" panose="02010600030101010101" pitchFamily="2" charset="-122"/>
                    </a:endParaRPr>
                  </a:p>
                </p:txBody>
              </p:sp>
              <p:sp>
                <p:nvSpPr>
                  <p:cNvPr id="66" name="矩形 65">
                    <a:extLst>
                      <a:ext uri="{FF2B5EF4-FFF2-40B4-BE49-F238E27FC236}">
                        <a16:creationId xmlns:a16="http://schemas.microsoft.com/office/drawing/2014/main" id="{58EA676B-BAD4-4F68-A761-4AC4412786D0}"/>
                      </a:ext>
                    </a:extLst>
                  </p:cNvPr>
                  <p:cNvSpPr/>
                  <p:nvPr/>
                </p:nvSpPr>
                <p:spPr>
                  <a:xfrm>
                    <a:off x="4211191" y="3125327"/>
                    <a:ext cx="807355" cy="2337262"/>
                  </a:xfrm>
                  <a:prstGeom prst="rect">
                    <a:avLst/>
                  </a:prstGeom>
                  <a:solidFill>
                    <a:srgbClr val="FCC80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Link</a:t>
                    </a:r>
                  </a:p>
                  <a:p>
                    <a:pPr algn="ctr" defTabSz="696832">
                      <a:defRPr/>
                    </a:pPr>
                    <a:r>
                      <a:rPr lang="en-US" altLang="zh-CN" sz="914" b="1" kern="0" dirty="0">
                        <a:latin typeface="Calibri" panose="020F0502020204030204"/>
                        <a:ea typeface="等线" panose="02010600030101010101" pitchFamily="2" charset="-122"/>
                      </a:rPr>
                      <a:t>Bridge</a:t>
                    </a:r>
                  </a:p>
                </p:txBody>
              </p:sp>
              <p:sp>
                <p:nvSpPr>
                  <p:cNvPr id="67" name="矩形 66">
                    <a:extLst>
                      <a:ext uri="{FF2B5EF4-FFF2-40B4-BE49-F238E27FC236}">
                        <a16:creationId xmlns:a16="http://schemas.microsoft.com/office/drawing/2014/main" id="{2E799EAD-52CD-42F1-BC51-8EDDDA18D0EB}"/>
                      </a:ext>
                    </a:extLst>
                  </p:cNvPr>
                  <p:cNvSpPr/>
                  <p:nvPr/>
                </p:nvSpPr>
                <p:spPr>
                  <a:xfrm>
                    <a:off x="2819208" y="4686641"/>
                    <a:ext cx="577580" cy="227237"/>
                  </a:xfrm>
                  <a:prstGeom prst="rect">
                    <a:avLst/>
                  </a:prstGeom>
                  <a:solidFill>
                    <a:srgbClr val="DDDDDD"/>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610" b="1" kern="0" dirty="0" err="1">
                        <a:latin typeface="Calibri" panose="020F0502020204030204"/>
                        <a:ea typeface="等线" panose="02010600030101010101" pitchFamily="2" charset="-122"/>
                      </a:rPr>
                      <a:t>DeSA</a:t>
                    </a:r>
                    <a:endParaRPr lang="en-US" altLang="zh-CN" sz="610" b="1" kern="0" dirty="0">
                      <a:latin typeface="Calibri" panose="020F0502020204030204"/>
                      <a:ea typeface="等线" panose="02010600030101010101" pitchFamily="2" charset="-122"/>
                    </a:endParaRPr>
                  </a:p>
                </p:txBody>
              </p:sp>
              <p:sp>
                <p:nvSpPr>
                  <p:cNvPr id="68" name="箭头: 左右 67">
                    <a:extLst>
                      <a:ext uri="{FF2B5EF4-FFF2-40B4-BE49-F238E27FC236}">
                        <a16:creationId xmlns:a16="http://schemas.microsoft.com/office/drawing/2014/main" id="{91218E5D-54A6-461B-94EA-752B512ABA04}"/>
                      </a:ext>
                    </a:extLst>
                  </p:cNvPr>
                  <p:cNvSpPr/>
                  <p:nvPr/>
                </p:nvSpPr>
                <p:spPr>
                  <a:xfrm rot="5400000">
                    <a:off x="2062640" y="4819958"/>
                    <a:ext cx="1234606" cy="171283"/>
                  </a:xfrm>
                  <a:prstGeom prst="leftRightArrow">
                    <a:avLst/>
                  </a:prstGeom>
                  <a:solidFill>
                    <a:srgbClr val="E9002F">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endParaRPr lang="zh-CN" altLang="en-US" sz="914" kern="0">
                      <a:latin typeface="Calibri" panose="020F0502020204030204"/>
                      <a:ea typeface="等线" panose="02010600030101010101" pitchFamily="2" charset="-122"/>
                    </a:endParaRPr>
                  </a:p>
                </p:txBody>
              </p:sp>
              <p:sp>
                <p:nvSpPr>
                  <p:cNvPr id="69" name="矩形 68">
                    <a:extLst>
                      <a:ext uri="{FF2B5EF4-FFF2-40B4-BE49-F238E27FC236}">
                        <a16:creationId xmlns:a16="http://schemas.microsoft.com/office/drawing/2014/main" id="{2FD0351E-839B-4F1A-88E6-00DFC9D0D12B}"/>
                      </a:ext>
                    </a:extLst>
                  </p:cNvPr>
                  <p:cNvSpPr/>
                  <p:nvPr/>
                </p:nvSpPr>
                <p:spPr>
                  <a:xfrm>
                    <a:off x="780472" y="5677808"/>
                    <a:ext cx="1256686" cy="426163"/>
                  </a:xfrm>
                  <a:prstGeom prst="rect">
                    <a:avLst/>
                  </a:prstGeom>
                  <a:solidFill>
                    <a:srgbClr val="FCC80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AXI Bridge</a:t>
                    </a:r>
                  </a:p>
                </p:txBody>
              </p:sp>
              <p:sp>
                <p:nvSpPr>
                  <p:cNvPr id="70" name="箭头: 上下 69">
                    <a:extLst>
                      <a:ext uri="{FF2B5EF4-FFF2-40B4-BE49-F238E27FC236}">
                        <a16:creationId xmlns:a16="http://schemas.microsoft.com/office/drawing/2014/main" id="{0463FFCF-6433-4BFC-9EF2-8A590533510B}"/>
                      </a:ext>
                    </a:extLst>
                  </p:cNvPr>
                  <p:cNvSpPr/>
                  <p:nvPr/>
                </p:nvSpPr>
                <p:spPr>
                  <a:xfrm>
                    <a:off x="1386549" y="5173716"/>
                    <a:ext cx="60902" cy="504092"/>
                  </a:xfrm>
                  <a:prstGeom prst="upDownArrow">
                    <a:avLst/>
                  </a:prstGeom>
                  <a:solidFill>
                    <a:srgbClr val="FFFFFF">
                      <a:lumMod val="95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endParaRPr lang="zh-CN" altLang="en-US" sz="914" kern="0">
                      <a:latin typeface="Calibri" panose="020F0502020204030204"/>
                      <a:ea typeface="等线" panose="02010600030101010101" pitchFamily="2" charset="-122"/>
                    </a:endParaRPr>
                  </a:p>
                </p:txBody>
              </p:sp>
              <p:sp>
                <p:nvSpPr>
                  <p:cNvPr id="71" name="矩形 70">
                    <a:extLst>
                      <a:ext uri="{FF2B5EF4-FFF2-40B4-BE49-F238E27FC236}">
                        <a16:creationId xmlns:a16="http://schemas.microsoft.com/office/drawing/2014/main" id="{25805F31-04E5-482C-990A-FC3B1E3EDA13}"/>
                      </a:ext>
                    </a:extLst>
                  </p:cNvPr>
                  <p:cNvSpPr/>
                  <p:nvPr/>
                </p:nvSpPr>
                <p:spPr>
                  <a:xfrm>
                    <a:off x="2312692" y="5529811"/>
                    <a:ext cx="705832" cy="570999"/>
                  </a:xfrm>
                  <a:prstGeom prst="rect">
                    <a:avLst/>
                  </a:prstGeom>
                  <a:solidFill>
                    <a:srgbClr val="FCC80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Wide AXI</a:t>
                    </a:r>
                  </a:p>
                </p:txBody>
              </p:sp>
            </p:grpSp>
            <p:sp>
              <p:nvSpPr>
                <p:cNvPr id="57" name="箭头: 左右 56">
                  <a:extLst>
                    <a:ext uri="{FF2B5EF4-FFF2-40B4-BE49-F238E27FC236}">
                      <a16:creationId xmlns:a16="http://schemas.microsoft.com/office/drawing/2014/main" id="{05CBFFDC-A2B5-4BEF-B8F1-D144E06A8838}"/>
                    </a:ext>
                  </a:extLst>
                </p:cNvPr>
                <p:cNvSpPr/>
                <p:nvPr/>
              </p:nvSpPr>
              <p:spPr>
                <a:xfrm rot="10800000">
                  <a:off x="3147696" y="5261945"/>
                  <a:ext cx="531335" cy="128274"/>
                </a:xfrm>
                <a:prstGeom prst="leftRightArrow">
                  <a:avLst/>
                </a:prstGeom>
                <a:solidFill>
                  <a:srgbClr val="E9002F">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endParaRPr lang="zh-CN" altLang="en-US" sz="914" kern="0">
                    <a:latin typeface="Calibri" panose="020F0502020204030204"/>
                    <a:ea typeface="等线" panose="02010600030101010101" pitchFamily="2" charset="-122"/>
                  </a:endParaRPr>
                </a:p>
              </p:txBody>
            </p:sp>
            <p:sp>
              <p:nvSpPr>
                <p:cNvPr id="58" name="文本框 57">
                  <a:extLst>
                    <a:ext uri="{FF2B5EF4-FFF2-40B4-BE49-F238E27FC236}">
                      <a16:creationId xmlns:a16="http://schemas.microsoft.com/office/drawing/2014/main" id="{37B57157-5DEB-40E4-922E-CEAAC729D93D}"/>
                    </a:ext>
                  </a:extLst>
                </p:cNvPr>
                <p:cNvSpPr txBox="1"/>
                <p:nvPr/>
              </p:nvSpPr>
              <p:spPr>
                <a:xfrm>
                  <a:off x="3757927" y="5233748"/>
                  <a:ext cx="902004" cy="217843"/>
                </a:xfrm>
                <a:prstGeom prst="rect">
                  <a:avLst/>
                </a:prstGeom>
                <a:noFill/>
              </p:spPr>
              <p:txBody>
                <a:bodyPr wrap="none" lIns="0" tIns="0" rIns="0" bIns="0" rtlCol="0">
                  <a:spAutoFit/>
                </a:bodyPr>
                <a:lstStyle/>
                <a:p>
                  <a:pPr defTabSz="696832">
                    <a:defRPr/>
                  </a:pPr>
                  <a:r>
                    <a:rPr kumimoji="1" lang="en-US" altLang="zh-CN" sz="800" b="1" kern="0" dirty="0">
                      <a:latin typeface="Microsoft YaHei" panose="020B0503020204020204" pitchFamily="34" charset="-122"/>
                      <a:ea typeface="Microsoft YaHei" panose="020B0503020204020204" pitchFamily="34" charset="-122"/>
                    </a:rPr>
                    <a:t>Data Path</a:t>
                  </a:r>
                  <a:endParaRPr kumimoji="1" lang="zh-CN" altLang="en-US" sz="800" b="1" kern="0" dirty="0">
                    <a:latin typeface="Microsoft YaHei" panose="020B0503020204020204" pitchFamily="34" charset="-122"/>
                    <a:ea typeface="Microsoft YaHei" panose="020B0503020204020204" pitchFamily="34" charset="-122"/>
                  </a:endParaRPr>
                </a:p>
              </p:txBody>
            </p:sp>
            <p:sp>
              <p:nvSpPr>
                <p:cNvPr id="59" name="箭头: 上下 58">
                  <a:extLst>
                    <a:ext uri="{FF2B5EF4-FFF2-40B4-BE49-F238E27FC236}">
                      <a16:creationId xmlns:a16="http://schemas.microsoft.com/office/drawing/2014/main" id="{8BA98BD7-AF49-4A02-AB9B-14DC6E6B3094}"/>
                    </a:ext>
                  </a:extLst>
                </p:cNvPr>
                <p:cNvSpPr/>
                <p:nvPr/>
              </p:nvSpPr>
              <p:spPr>
                <a:xfrm rot="5400000">
                  <a:off x="3395277" y="5330283"/>
                  <a:ext cx="60902" cy="531336"/>
                </a:xfrm>
                <a:prstGeom prst="upDownArrow">
                  <a:avLst/>
                </a:prstGeom>
                <a:solidFill>
                  <a:srgbClr val="FFFFFF">
                    <a:lumMod val="95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endParaRPr lang="zh-CN" altLang="en-US" sz="914" kern="0">
                    <a:latin typeface="Calibri" panose="020F0502020204030204"/>
                    <a:ea typeface="等线" panose="02010600030101010101" pitchFamily="2" charset="-122"/>
                  </a:endParaRPr>
                </a:p>
              </p:txBody>
            </p:sp>
            <p:sp>
              <p:nvSpPr>
                <p:cNvPr id="60" name="文本框 59">
                  <a:extLst>
                    <a:ext uri="{FF2B5EF4-FFF2-40B4-BE49-F238E27FC236}">
                      <a16:creationId xmlns:a16="http://schemas.microsoft.com/office/drawing/2014/main" id="{5E1AC7BC-9C07-4AB3-9397-2CFBE0A641FB}"/>
                    </a:ext>
                  </a:extLst>
                </p:cNvPr>
                <p:cNvSpPr txBox="1"/>
                <p:nvPr/>
              </p:nvSpPr>
              <p:spPr>
                <a:xfrm>
                  <a:off x="3757927" y="5503616"/>
                  <a:ext cx="1154453" cy="217843"/>
                </a:xfrm>
                <a:prstGeom prst="rect">
                  <a:avLst/>
                </a:prstGeom>
                <a:noFill/>
              </p:spPr>
              <p:txBody>
                <a:bodyPr wrap="none" lIns="0" tIns="0" rIns="0" bIns="0" rtlCol="0">
                  <a:spAutoFit/>
                </a:bodyPr>
                <a:lstStyle/>
                <a:p>
                  <a:pPr defTabSz="696832">
                    <a:defRPr/>
                  </a:pPr>
                  <a:r>
                    <a:rPr kumimoji="1" lang="en-US" altLang="zh-CN" sz="800" b="1" kern="0" dirty="0">
                      <a:latin typeface="Microsoft YaHei" panose="020B0503020204020204" pitchFamily="34" charset="-122"/>
                      <a:ea typeface="Microsoft YaHei" panose="020B0503020204020204" pitchFamily="34" charset="-122"/>
                    </a:rPr>
                    <a:t>Control Path</a:t>
                  </a:r>
                  <a:endParaRPr kumimoji="1" lang="zh-CN" altLang="en-US" sz="800" b="1" kern="0" dirty="0">
                    <a:latin typeface="Microsoft YaHei" panose="020B0503020204020204" pitchFamily="34" charset="-122"/>
                    <a:ea typeface="Microsoft YaHei" panose="020B0503020204020204" pitchFamily="34" charset="-122"/>
                  </a:endParaRPr>
                </a:p>
              </p:txBody>
            </p:sp>
          </p:grpSp>
          <p:sp>
            <p:nvSpPr>
              <p:cNvPr id="53" name="矩形 52">
                <a:extLst>
                  <a:ext uri="{FF2B5EF4-FFF2-40B4-BE49-F238E27FC236}">
                    <a16:creationId xmlns:a16="http://schemas.microsoft.com/office/drawing/2014/main" id="{A8477C06-0C1F-4CE5-8BF8-8AA8404CFC07}"/>
                  </a:ext>
                </a:extLst>
              </p:cNvPr>
              <p:cNvSpPr/>
              <p:nvPr/>
            </p:nvSpPr>
            <p:spPr>
              <a:xfrm>
                <a:off x="5213901" y="3870597"/>
                <a:ext cx="705832" cy="570999"/>
              </a:xfrm>
              <a:prstGeom prst="rect">
                <a:avLst/>
              </a:prstGeom>
              <a:solidFill>
                <a:srgbClr val="FCC800">
                  <a:lumMod val="20000"/>
                  <a:lumOff val="8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PHY</a:t>
                </a:r>
              </a:p>
            </p:txBody>
          </p:sp>
          <p:cxnSp>
            <p:nvCxnSpPr>
              <p:cNvPr id="54" name="直接箭头连接符 53">
                <a:extLst>
                  <a:ext uri="{FF2B5EF4-FFF2-40B4-BE49-F238E27FC236}">
                    <a16:creationId xmlns:a16="http://schemas.microsoft.com/office/drawing/2014/main" id="{0196E1C2-8604-4DF9-8B6C-CCEC8AF3B19E}"/>
                  </a:ext>
                </a:extLst>
              </p:cNvPr>
              <p:cNvCxnSpPr>
                <a:cxnSpLocks/>
                <a:stCxn id="66" idx="3"/>
                <a:endCxn id="53" idx="1"/>
              </p:cNvCxnSpPr>
              <p:nvPr/>
            </p:nvCxnSpPr>
            <p:spPr>
              <a:xfrm>
                <a:off x="5039462" y="4147724"/>
                <a:ext cx="174439" cy="8373"/>
              </a:xfrm>
              <a:prstGeom prst="straightConnector1">
                <a:avLst/>
              </a:prstGeom>
              <a:noFill/>
              <a:ln w="6350" cap="flat" cmpd="sng" algn="ctr">
                <a:solidFill>
                  <a:srgbClr val="00B050"/>
                </a:solidFill>
                <a:prstDash val="solid"/>
                <a:miter lim="800000"/>
                <a:headEnd type="triangle"/>
                <a:tailEnd type="triangle"/>
              </a:ln>
              <a:effectLst/>
            </p:spPr>
          </p:cxnSp>
          <p:sp>
            <p:nvSpPr>
              <p:cNvPr id="55" name="矩形 54">
                <a:extLst>
                  <a:ext uri="{FF2B5EF4-FFF2-40B4-BE49-F238E27FC236}">
                    <a16:creationId xmlns:a16="http://schemas.microsoft.com/office/drawing/2014/main" id="{EC005BDF-29D1-4CA9-89CE-56B97D262D69}"/>
                  </a:ext>
                </a:extLst>
              </p:cNvPr>
              <p:cNvSpPr/>
              <p:nvPr/>
            </p:nvSpPr>
            <p:spPr>
              <a:xfrm>
                <a:off x="488012" y="6037034"/>
                <a:ext cx="4551449" cy="426163"/>
              </a:xfrm>
              <a:prstGeom prst="rect">
                <a:avLst/>
              </a:prstGeom>
              <a:solidFill>
                <a:srgbClr val="ED6D00">
                  <a:lumMod val="60000"/>
                  <a:lumOff val="40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914" b="1" kern="0" dirty="0">
                    <a:latin typeface="Calibri" panose="020F0502020204030204"/>
                    <a:ea typeface="等线" panose="02010600030101010101" pitchFamily="2" charset="-122"/>
                  </a:rPr>
                  <a:t>Device 0 HBM</a:t>
                </a:r>
              </a:p>
            </p:txBody>
          </p:sp>
        </p:grpSp>
        <p:sp>
          <p:nvSpPr>
            <p:cNvPr id="50" name="矩形 49">
              <a:extLst>
                <a:ext uri="{FF2B5EF4-FFF2-40B4-BE49-F238E27FC236}">
                  <a16:creationId xmlns:a16="http://schemas.microsoft.com/office/drawing/2014/main" id="{BE69A10B-3955-427E-8C79-E15DFDF6FAF2}"/>
                </a:ext>
              </a:extLst>
            </p:cNvPr>
            <p:cNvSpPr/>
            <p:nvPr/>
          </p:nvSpPr>
          <p:spPr>
            <a:xfrm>
              <a:off x="3018772" y="3221380"/>
              <a:ext cx="577580" cy="207699"/>
            </a:xfrm>
            <a:prstGeom prst="rect">
              <a:avLst/>
            </a:prstGeom>
            <a:solidFill>
              <a:srgbClr val="DDDDDD"/>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r>
                <a:rPr lang="en-US" altLang="zh-CN" sz="610" b="1" kern="0" dirty="0" err="1">
                  <a:latin typeface="Calibri" panose="020F0502020204030204"/>
                  <a:ea typeface="等线" panose="02010600030101010101" pitchFamily="2" charset="-122"/>
                </a:rPr>
                <a:t>DaSA</a:t>
              </a:r>
              <a:endParaRPr lang="en-US" altLang="zh-CN" sz="610" b="1" kern="0" dirty="0">
                <a:latin typeface="Calibri" panose="020F0502020204030204"/>
                <a:ea typeface="等线" panose="02010600030101010101" pitchFamily="2" charset="-122"/>
              </a:endParaRPr>
            </a:p>
          </p:txBody>
        </p:sp>
        <p:sp>
          <p:nvSpPr>
            <p:cNvPr id="51" name="箭头: 上下 50">
              <a:extLst>
                <a:ext uri="{FF2B5EF4-FFF2-40B4-BE49-F238E27FC236}">
                  <a16:creationId xmlns:a16="http://schemas.microsoft.com/office/drawing/2014/main" id="{B654F63A-DCFF-4B85-8DAB-BA9F5661178D}"/>
                </a:ext>
              </a:extLst>
            </p:cNvPr>
            <p:cNvSpPr/>
            <p:nvPr/>
          </p:nvSpPr>
          <p:spPr>
            <a:xfrm flipH="1">
              <a:off x="1581910" y="2488747"/>
              <a:ext cx="45719" cy="569336"/>
            </a:xfrm>
            <a:prstGeom prst="upDownArrow">
              <a:avLst/>
            </a:prstGeom>
            <a:solidFill>
              <a:srgbClr val="FFFFFF">
                <a:lumMod val="95000"/>
              </a:srgbClr>
            </a:solidFill>
            <a:ln w="12700" cap="flat" cmpd="sng" algn="ctr">
              <a:solidFill>
                <a:srgbClr val="1D1D1A"/>
              </a:solidFill>
              <a:prstDash val="solid"/>
              <a:miter lim="800000"/>
            </a:ln>
            <a:effectLst/>
          </p:spPr>
          <p:txBody>
            <a:bodyPr rot="0" spcFirstLastPara="0" vertOverflow="overflow" horzOverflow="overflow" vert="horz" wrap="square" lIns="69681" tIns="34840" rIns="69681" bIns="34840" numCol="1" spcCol="0" rtlCol="0" fromWordArt="0" anchor="ctr" anchorCtr="0" forceAA="0" compatLnSpc="1">
              <a:prstTxWarp prst="textNoShape">
                <a:avLst/>
              </a:prstTxWarp>
              <a:noAutofit/>
            </a:bodyPr>
            <a:lstStyle/>
            <a:p>
              <a:pPr algn="ctr" defTabSz="696832">
                <a:defRPr/>
              </a:pPr>
              <a:endParaRPr lang="zh-CN" altLang="en-US" sz="914" kern="0">
                <a:latin typeface="Calibri" panose="020F0502020204030204"/>
                <a:ea typeface="等线" panose="02010600030101010101" pitchFamily="2" charset="-122"/>
              </a:endParaRPr>
            </a:p>
          </p:txBody>
        </p:sp>
      </p:grpSp>
      <p:sp>
        <p:nvSpPr>
          <p:cNvPr id="119" name="文本框 118">
            <a:extLst>
              <a:ext uri="{FF2B5EF4-FFF2-40B4-BE49-F238E27FC236}">
                <a16:creationId xmlns:a16="http://schemas.microsoft.com/office/drawing/2014/main" id="{486099EC-A7CE-4BD6-B0D7-6263C2A23C01}"/>
              </a:ext>
            </a:extLst>
          </p:cNvPr>
          <p:cNvSpPr txBox="1"/>
          <p:nvPr/>
        </p:nvSpPr>
        <p:spPr>
          <a:xfrm>
            <a:off x="632711" y="3749077"/>
            <a:ext cx="3466143" cy="2640403"/>
          </a:xfrm>
          <a:prstGeom prst="rect">
            <a:avLst/>
          </a:prstGeom>
          <a:noFill/>
          <a:ln>
            <a:noFill/>
          </a:ln>
        </p:spPr>
        <p:txBody>
          <a:bodyPr wrap="square" lIns="0" tIns="0" rIns="0" bIns="0" rtlCol="0">
            <a:spAutoFit/>
          </a:bodyPr>
          <a:lstStyle/>
          <a:p>
            <a:pPr marL="217742" indent="-217742" defTabSz="696832">
              <a:lnSpc>
                <a:spcPct val="120000"/>
              </a:lnSpc>
              <a:buFont typeface="Wingdings" panose="05000000000000000000" pitchFamily="2" charset="2"/>
              <a:buChar char="Ø"/>
            </a:pPr>
            <a:r>
              <a:rPr kumimoji="1" lang="en-US" altLang="en-US" sz="1200" b="1" dirty="0">
                <a:latin typeface="Microsoft YaHei" panose="020B0503020204020204" pitchFamily="34" charset="-122"/>
                <a:ea typeface="Microsoft YaHei" panose="020B0503020204020204" pitchFamily="34" charset="-122"/>
              </a:rPr>
              <a:t>Multi-core RISC-V Architecture: </a:t>
            </a:r>
            <a:r>
              <a:rPr kumimoji="1" lang="en-US" altLang="en-US" sz="1200" dirty="0">
                <a:latin typeface="Microsoft YaHei" panose="020B0503020204020204" pitchFamily="34" charset="-122"/>
                <a:ea typeface="Microsoft YaHei" panose="020B0503020204020204" pitchFamily="34" charset="-122"/>
              </a:rPr>
              <a:t>Based on RISC-V instruction set, parses collective communication instructions via parallel processing at the multi-core frontend.</a:t>
            </a:r>
            <a:endParaRPr kumimoji="1" lang="en-US" altLang="zh-CN" sz="1200" dirty="0">
              <a:latin typeface="Microsoft YaHei" panose="020B0503020204020204" pitchFamily="34" charset="-122"/>
              <a:ea typeface="Microsoft YaHei" panose="020B0503020204020204" pitchFamily="34" charset="-122"/>
            </a:endParaRPr>
          </a:p>
          <a:p>
            <a:pPr marL="217742" indent="-217742" defTabSz="696832">
              <a:lnSpc>
                <a:spcPct val="120000"/>
              </a:lnSpc>
              <a:buFont typeface="Wingdings" panose="05000000000000000000" pitchFamily="2" charset="2"/>
              <a:buChar char="Ø"/>
            </a:pPr>
            <a:r>
              <a:rPr kumimoji="1" lang="en-US" altLang="en-US" sz="1200" b="1" dirty="0">
                <a:latin typeface="Microsoft YaHei" panose="020B0503020204020204" pitchFamily="34" charset="-122"/>
                <a:ea typeface="Microsoft YaHei" panose="020B0503020204020204" pitchFamily="34" charset="-122"/>
              </a:rPr>
              <a:t>Collective Communication Extension Instructions: </a:t>
            </a:r>
            <a:r>
              <a:rPr kumimoji="1" lang="en-US" altLang="en-US" sz="1200" dirty="0">
                <a:latin typeface="Microsoft YaHei" panose="020B0503020204020204" pitchFamily="34" charset="-122"/>
                <a:ea typeface="Microsoft YaHei" panose="020B0503020204020204" pitchFamily="34" charset="-122"/>
              </a:rPr>
              <a:t>Extends collective instructions via the </a:t>
            </a:r>
            <a:r>
              <a:rPr kumimoji="1" lang="en-US" altLang="en-US" sz="1200" dirty="0" err="1">
                <a:latin typeface="Microsoft YaHei" panose="020B0503020204020204" pitchFamily="34" charset="-122"/>
                <a:ea typeface="Microsoft YaHei" panose="020B0503020204020204" pitchFamily="34" charset="-122"/>
              </a:rPr>
              <a:t>RoCC</a:t>
            </a:r>
            <a:r>
              <a:rPr kumimoji="1" lang="en-US" altLang="en-US" sz="1200" dirty="0">
                <a:latin typeface="Microsoft YaHei" panose="020B0503020204020204" pitchFamily="34" charset="-122"/>
                <a:ea typeface="Microsoft YaHei" panose="020B0503020204020204" pitchFamily="34" charset="-122"/>
              </a:rPr>
              <a:t> interface, supporting ops such as Reduce, LoadTensor, and StoreTensor.</a:t>
            </a:r>
            <a:endParaRPr kumimoji="1" lang="en-US" altLang="zh-CN" sz="1200" dirty="0">
              <a:latin typeface="Microsoft YaHei" panose="020B0503020204020204" pitchFamily="34" charset="-122"/>
              <a:ea typeface="Microsoft YaHei" panose="020B0503020204020204" pitchFamily="34" charset="-122"/>
            </a:endParaRPr>
          </a:p>
          <a:p>
            <a:pPr marL="217742" indent="-217742" defTabSz="696832">
              <a:lnSpc>
                <a:spcPct val="120000"/>
              </a:lnSpc>
              <a:buFont typeface="Wingdings" panose="05000000000000000000" pitchFamily="2" charset="2"/>
              <a:buChar char="Ø"/>
            </a:pPr>
            <a:r>
              <a:rPr kumimoji="1" lang="en-US" altLang="en-US" sz="1200" b="1" dirty="0">
                <a:latin typeface="Microsoft YaHei" panose="020B0503020204020204" pitchFamily="34" charset="-122"/>
                <a:ea typeface="Microsoft YaHei" panose="020B0503020204020204" pitchFamily="34" charset="-122"/>
              </a:rPr>
              <a:t>Automatic Architecture Design Optimization: </a:t>
            </a:r>
            <a:r>
              <a:rPr kumimoji="1" lang="en-US" altLang="en-US" sz="1200" dirty="0">
                <a:latin typeface="Microsoft YaHei" panose="020B0503020204020204" pitchFamily="34" charset="-122"/>
                <a:ea typeface="Microsoft YaHei" panose="020B0503020204020204" pitchFamily="34" charset="-122"/>
              </a:rPr>
              <a:t>Automatically optimizes parameters, identifying the optimal ratio of PEs to RV Cores.</a:t>
            </a:r>
            <a:endParaRPr kumimoji="1" lang="en-US" altLang="zh-CN" sz="1200" dirty="0">
              <a:latin typeface="Microsoft YaHei" panose="020B0503020204020204" pitchFamily="34" charset="-122"/>
              <a:ea typeface="Microsoft YaHei" panose="020B0503020204020204" pitchFamily="34" charset="-122"/>
            </a:endParaRPr>
          </a:p>
        </p:txBody>
      </p:sp>
      <p:pic>
        <p:nvPicPr>
          <p:cNvPr id="120" name="图片 119">
            <a:extLst>
              <a:ext uri="{FF2B5EF4-FFF2-40B4-BE49-F238E27FC236}">
                <a16:creationId xmlns:a16="http://schemas.microsoft.com/office/drawing/2014/main" id="{25C33F8F-75A3-4AA4-BEE6-590F2499445D}"/>
              </a:ext>
            </a:extLst>
          </p:cNvPr>
          <p:cNvPicPr>
            <a:picLocks noChangeAspect="1"/>
          </p:cNvPicPr>
          <p:nvPr/>
        </p:nvPicPr>
        <p:blipFill rotWithShape="1">
          <a:blip r:embed="rId3"/>
          <a:srcRect t="4405" r="39635" b="9701"/>
          <a:stretch/>
        </p:blipFill>
        <p:spPr>
          <a:xfrm>
            <a:off x="4437799" y="1755357"/>
            <a:ext cx="3353142" cy="1929660"/>
          </a:xfrm>
          <a:prstGeom prst="rect">
            <a:avLst/>
          </a:prstGeom>
        </p:spPr>
      </p:pic>
      <p:sp>
        <p:nvSpPr>
          <p:cNvPr id="121" name="文本框 120">
            <a:extLst>
              <a:ext uri="{FF2B5EF4-FFF2-40B4-BE49-F238E27FC236}">
                <a16:creationId xmlns:a16="http://schemas.microsoft.com/office/drawing/2014/main" id="{CC33E2AE-5726-47DA-BB5A-1291056FDF5C}"/>
              </a:ext>
            </a:extLst>
          </p:cNvPr>
          <p:cNvSpPr txBox="1"/>
          <p:nvPr/>
        </p:nvSpPr>
        <p:spPr>
          <a:xfrm>
            <a:off x="4334207" y="3998923"/>
            <a:ext cx="3560326" cy="1961755"/>
          </a:xfrm>
          <a:prstGeom prst="rect">
            <a:avLst/>
          </a:prstGeom>
          <a:noFill/>
          <a:ln>
            <a:noFill/>
          </a:ln>
        </p:spPr>
        <p:txBody>
          <a:bodyPr wrap="square" lIns="0" tIns="0" rIns="0" bIns="0" rtlCol="0">
            <a:spAutoFit/>
          </a:bodyPr>
          <a:lstStyle/>
          <a:p>
            <a:pPr marL="217742" indent="-217742" defTabSz="696832">
              <a:lnSpc>
                <a:spcPct val="120000"/>
              </a:lnSpc>
              <a:buFont typeface="Wingdings" panose="05000000000000000000" pitchFamily="2" charset="2"/>
              <a:buChar char="Ø"/>
            </a:pPr>
            <a:r>
              <a:rPr kumimoji="1" lang="en-US" altLang="en-US" sz="1200" b="1" dirty="0">
                <a:latin typeface="Microsoft YaHei" panose="020B0503020204020204" pitchFamily="34" charset="-122"/>
                <a:ea typeface="Microsoft YaHei" panose="020B0503020204020204" pitchFamily="34" charset="-122"/>
              </a:rPr>
              <a:t>Compound Memory Semantics Support: </a:t>
            </a:r>
            <a:r>
              <a:rPr kumimoji="1" lang="en-US" altLang="en-US" sz="1200" dirty="0">
                <a:latin typeface="Microsoft YaHei" panose="020B0503020204020204" pitchFamily="34" charset="-122"/>
                <a:ea typeface="Microsoft YaHei" panose="020B0503020204020204" pitchFamily="34" charset="-122"/>
              </a:rPr>
              <a:t>Trigger multiple transactions (bulk transfer, sync, conditional ops) via a single </a:t>
            </a:r>
            <a:r>
              <a:rPr kumimoji="1" lang="en-US" altLang="en-US" sz="1200" dirty="0" err="1">
                <a:latin typeface="Microsoft YaHei" panose="020B0503020204020204" pitchFamily="34" charset="-122"/>
                <a:ea typeface="Microsoft YaHei" panose="020B0503020204020204" pitchFamily="34" charset="-122"/>
              </a:rPr>
              <a:t>Ld</a:t>
            </a:r>
            <a:r>
              <a:rPr kumimoji="1" lang="en-US" altLang="en-US" sz="1200" dirty="0">
                <a:latin typeface="Microsoft YaHei" panose="020B0503020204020204" pitchFamily="34" charset="-122"/>
                <a:ea typeface="Microsoft YaHei" panose="020B0503020204020204" pitchFamily="34" charset="-122"/>
              </a:rPr>
              <a:t>/St request.</a:t>
            </a:r>
            <a:endParaRPr kumimoji="1" lang="en-US" altLang="zh-CN" sz="1200" dirty="0">
              <a:latin typeface="Microsoft YaHei" panose="020B0503020204020204" pitchFamily="34" charset="-122"/>
              <a:ea typeface="Microsoft YaHei" panose="020B0503020204020204" pitchFamily="34" charset="-122"/>
            </a:endParaRPr>
          </a:p>
          <a:p>
            <a:pPr marL="217742" indent="-217742" defTabSz="696832">
              <a:lnSpc>
                <a:spcPct val="150000"/>
              </a:lnSpc>
              <a:buFont typeface="Wingdings" panose="05000000000000000000" pitchFamily="2" charset="2"/>
              <a:buChar char="Ø"/>
            </a:pPr>
            <a:r>
              <a:rPr kumimoji="1" lang="en-US" altLang="en-US" sz="1200" b="1" dirty="0">
                <a:latin typeface="Microsoft YaHei" panose="020B0503020204020204" pitchFamily="34" charset="-122"/>
                <a:ea typeface="Microsoft YaHei" panose="020B0503020204020204" pitchFamily="34" charset="-122"/>
              </a:rPr>
              <a:t>On-path measurement: </a:t>
            </a:r>
            <a:r>
              <a:rPr kumimoji="1" lang="en-US" altLang="en-US" sz="1200" dirty="0">
                <a:latin typeface="Microsoft YaHei" panose="020B0503020204020204" pitchFamily="34" charset="-122"/>
                <a:ea typeface="Microsoft YaHei" panose="020B0503020204020204" pitchFamily="34" charset="-122"/>
              </a:rPr>
              <a:t>Measures remote memory traffic and identifies hot pages/conflicts, enabling SW/HW co-optimization for hierarchical memory.</a:t>
            </a:r>
            <a:endParaRPr kumimoji="1" lang="en-US" altLang="zh-CN" sz="1200" dirty="0">
              <a:latin typeface="Microsoft YaHei" panose="020B0503020204020204" pitchFamily="34" charset="-122"/>
              <a:ea typeface="Microsoft YaHei" panose="020B0503020204020204" pitchFamily="34" charset="-122"/>
            </a:endParaRPr>
          </a:p>
        </p:txBody>
      </p:sp>
      <p:sp>
        <p:nvSpPr>
          <p:cNvPr id="122" name="文本框 121">
            <a:extLst>
              <a:ext uri="{FF2B5EF4-FFF2-40B4-BE49-F238E27FC236}">
                <a16:creationId xmlns:a16="http://schemas.microsoft.com/office/drawing/2014/main" id="{91332220-E894-4D8C-8080-C21354589E59}"/>
              </a:ext>
            </a:extLst>
          </p:cNvPr>
          <p:cNvSpPr txBox="1"/>
          <p:nvPr/>
        </p:nvSpPr>
        <p:spPr>
          <a:xfrm>
            <a:off x="8052848" y="3851361"/>
            <a:ext cx="3488967" cy="2640403"/>
          </a:xfrm>
          <a:prstGeom prst="rect">
            <a:avLst/>
          </a:prstGeom>
          <a:noFill/>
          <a:ln>
            <a:noFill/>
          </a:ln>
        </p:spPr>
        <p:txBody>
          <a:bodyPr wrap="square" lIns="0" tIns="0" rIns="0" bIns="0" rtlCol="0">
            <a:spAutoFit/>
          </a:bodyPr>
          <a:lstStyle/>
          <a:p>
            <a:pPr marL="217742" indent="-217742" defTabSz="696832">
              <a:lnSpc>
                <a:spcPct val="120000"/>
              </a:lnSpc>
              <a:buFont typeface="Wingdings" panose="05000000000000000000" pitchFamily="2" charset="2"/>
              <a:buChar char="Ø"/>
            </a:pPr>
            <a:r>
              <a:rPr kumimoji="1" lang="en-US" altLang="zh-CN" sz="1200" b="1" dirty="0">
                <a:latin typeface="Microsoft YaHei" panose="020B0503020204020204" pitchFamily="34" charset="-122"/>
                <a:ea typeface="Microsoft YaHei" panose="020B0503020204020204" pitchFamily="34" charset="-122"/>
              </a:rPr>
              <a:t>FPGA exposes host memory semantics: </a:t>
            </a:r>
            <a:r>
              <a:rPr kumimoji="1" lang="en-US" altLang="zh-CN" sz="1200" dirty="0">
                <a:latin typeface="Microsoft YaHei" panose="020B0503020204020204" pitchFamily="34" charset="-122"/>
                <a:ea typeface="Microsoft YaHei" panose="020B0503020204020204" pitchFamily="34" charset="-122"/>
              </a:rPr>
              <a:t>Manages FPGA memory as SSD cache, supporting host semantic access.</a:t>
            </a:r>
          </a:p>
          <a:p>
            <a:pPr marL="217742" indent="-217742" defTabSz="696832">
              <a:lnSpc>
                <a:spcPct val="120000"/>
              </a:lnSpc>
              <a:buFont typeface="Wingdings" panose="05000000000000000000" pitchFamily="2" charset="2"/>
              <a:buChar char="Ø"/>
            </a:pPr>
            <a:r>
              <a:rPr kumimoji="1" lang="en-US" altLang="en-US" sz="1200" b="1" dirty="0">
                <a:latin typeface="Microsoft YaHei" panose="020B0503020204020204" pitchFamily="34" charset="-122"/>
                <a:ea typeface="Microsoft YaHei" panose="020B0503020204020204" pitchFamily="34" charset="-122"/>
              </a:rPr>
              <a:t>Near-storage computing: </a:t>
            </a:r>
            <a:r>
              <a:rPr kumimoji="1" lang="fr-FR" altLang="en-US" sz="1200" dirty="0">
                <a:latin typeface="Microsoft YaHei" panose="020B0503020204020204" pitchFamily="34" charset="-122"/>
                <a:ea typeface="Microsoft YaHei" panose="020B0503020204020204" pitchFamily="34" charset="-122"/>
              </a:rPr>
              <a:t>Handles compression/decompression, encryption/decryption, and matrix computation.</a:t>
            </a:r>
          </a:p>
          <a:p>
            <a:pPr marL="217742" indent="-217742" defTabSz="696832">
              <a:lnSpc>
                <a:spcPct val="120000"/>
              </a:lnSpc>
              <a:buFont typeface="Wingdings" panose="05000000000000000000" pitchFamily="2" charset="2"/>
              <a:buChar char="Ø"/>
            </a:pPr>
            <a:r>
              <a:rPr kumimoji="1" lang="en-US" altLang="zh-CN" sz="1200" b="1" dirty="0">
                <a:latin typeface="Microsoft YaHei" panose="020B0503020204020204" pitchFamily="34" charset="-122"/>
                <a:ea typeface="Microsoft YaHei" panose="020B0503020204020204" pitchFamily="34" charset="-122"/>
              </a:rPr>
              <a:t>GPU passthrough: </a:t>
            </a:r>
            <a:r>
              <a:rPr kumimoji="1" lang="en-US" altLang="en-US" sz="1200" dirty="0">
                <a:latin typeface="Microsoft YaHei" panose="020B0503020204020204" pitchFamily="34" charset="-122"/>
                <a:ea typeface="Microsoft YaHei" panose="020B0503020204020204" pitchFamily="34" charset="-122"/>
              </a:rPr>
              <a:t>Enables GPU/NPU passthrough to directly initiate SSD access.</a:t>
            </a:r>
            <a:endParaRPr kumimoji="1" lang="en-US" altLang="zh-CN" sz="1200" dirty="0">
              <a:latin typeface="Microsoft YaHei" panose="020B0503020204020204" pitchFamily="34" charset="-122"/>
              <a:ea typeface="Microsoft YaHei" panose="020B0503020204020204" pitchFamily="34" charset="-122"/>
            </a:endParaRPr>
          </a:p>
          <a:p>
            <a:pPr marL="217742" indent="-217742" defTabSz="696832">
              <a:lnSpc>
                <a:spcPct val="120000"/>
              </a:lnSpc>
              <a:buFont typeface="Wingdings" panose="05000000000000000000" pitchFamily="2" charset="2"/>
              <a:buChar char="Ø"/>
            </a:pPr>
            <a:r>
              <a:rPr kumimoji="1" lang="en-US" altLang="zh-CN" sz="1200" b="1" dirty="0" err="1">
                <a:latin typeface="Microsoft YaHei" panose="020B0503020204020204" pitchFamily="34" charset="-122"/>
                <a:ea typeface="Microsoft YaHei" panose="020B0503020204020204" pitchFamily="34" charset="-122"/>
              </a:rPr>
              <a:t>NVMe-oF</a:t>
            </a:r>
            <a:r>
              <a:rPr kumimoji="1" lang="en-US" altLang="zh-CN" sz="1200" b="1" dirty="0">
                <a:latin typeface="Microsoft YaHei" panose="020B0503020204020204" pitchFamily="34" charset="-122"/>
                <a:ea typeface="Microsoft YaHei" panose="020B0503020204020204" pitchFamily="34" charset="-122"/>
              </a:rPr>
              <a:t> Target offloading: </a:t>
            </a:r>
            <a:r>
              <a:rPr kumimoji="1" lang="en-US" altLang="zh-CN" sz="1200" dirty="0">
                <a:latin typeface="Microsoft YaHei" panose="020B0503020204020204" pitchFamily="34" charset="-122"/>
                <a:ea typeface="Microsoft YaHei" panose="020B0503020204020204" pitchFamily="34" charset="-122"/>
              </a:rPr>
              <a:t>SSDs act as target nodes for network access.</a:t>
            </a:r>
            <a:endParaRPr kumimoji="1" lang="en-US" altLang="zh-CN" sz="1200" b="1" dirty="0">
              <a:latin typeface="Microsoft YaHei" panose="020B0503020204020204" pitchFamily="34" charset="-122"/>
              <a:ea typeface="Microsoft YaHei" panose="020B0503020204020204" pitchFamily="34" charset="-122"/>
            </a:endParaRPr>
          </a:p>
          <a:p>
            <a:pPr defTabSz="696832">
              <a:lnSpc>
                <a:spcPct val="120000"/>
              </a:lnSpc>
            </a:pPr>
            <a:endParaRPr kumimoji="1" lang="en-US" altLang="zh-CN" sz="1200" dirty="0">
              <a:latin typeface="Microsoft YaHei" panose="020B0503020204020204" pitchFamily="34" charset="-122"/>
              <a:ea typeface="Microsoft YaHei" panose="020B0503020204020204" pitchFamily="34" charset="-122"/>
            </a:endParaRPr>
          </a:p>
        </p:txBody>
      </p:sp>
      <p:sp>
        <p:nvSpPr>
          <p:cNvPr id="123" name="矩形: 圆角 122">
            <a:extLst>
              <a:ext uri="{FF2B5EF4-FFF2-40B4-BE49-F238E27FC236}">
                <a16:creationId xmlns:a16="http://schemas.microsoft.com/office/drawing/2014/main" id="{EE61F299-C181-42DC-884A-D8C15509FC16}"/>
              </a:ext>
            </a:extLst>
          </p:cNvPr>
          <p:cNvSpPr/>
          <p:nvPr/>
        </p:nvSpPr>
        <p:spPr>
          <a:xfrm>
            <a:off x="597530" y="1346401"/>
            <a:ext cx="3623559" cy="5069498"/>
          </a:xfrm>
          <a:prstGeom prst="roundRect">
            <a:avLst>
              <a:gd name="adj" fmla="val 2641"/>
            </a:avLst>
          </a:prstGeom>
          <a:noFill/>
          <a:ln w="25400" cap="flat" cmpd="sng" algn="ctr">
            <a:solidFill>
              <a:schemeClr val="tx1"/>
            </a:solidFill>
            <a:prstDash val="solid"/>
            <a:round/>
            <a:headEnd type="none" w="med" len="med"/>
            <a:tailEnd type="none" w="med" len="med"/>
          </a:ln>
          <a:effectLst/>
        </p:spPr>
        <p:txBody>
          <a:bodyPr rot="0" spcFirstLastPara="0" vertOverflow="overflow" horzOverflow="overflow" vert="horz" wrap="none" lIns="69681" tIns="109734" rIns="69681" bIns="34840" numCol="1" spcCol="0" rtlCol="0" fromWordArt="0" anchor="t" anchorCtr="0" forceAA="0" compatLnSpc="1">
            <a:prstTxWarp prst="textNoShape">
              <a:avLst/>
            </a:prstTxWarp>
            <a:noAutofit/>
          </a:bodyPr>
          <a:lstStyle/>
          <a:p>
            <a:pPr algn="ctr" defTabSz="696832"/>
            <a:endParaRPr kumimoji="1" lang="zh-CN" altLang="en-US" sz="1067" b="1" kern="0" dirty="0">
              <a:latin typeface="微软雅黑" panose="020B0503020204020204" pitchFamily="34" charset="-122"/>
              <a:ea typeface="微软雅黑" panose="020B0503020204020204" pitchFamily="34" charset="-122"/>
            </a:endParaRPr>
          </a:p>
        </p:txBody>
      </p:sp>
      <p:sp>
        <p:nvSpPr>
          <p:cNvPr id="124" name="矩形 123">
            <a:extLst>
              <a:ext uri="{FF2B5EF4-FFF2-40B4-BE49-F238E27FC236}">
                <a16:creationId xmlns:a16="http://schemas.microsoft.com/office/drawing/2014/main" id="{EA912235-FEBC-4B4C-A829-6259C210EC8D}"/>
              </a:ext>
            </a:extLst>
          </p:cNvPr>
          <p:cNvSpPr/>
          <p:nvPr/>
        </p:nvSpPr>
        <p:spPr>
          <a:xfrm>
            <a:off x="1020305" y="1141215"/>
            <a:ext cx="2880148" cy="430887"/>
          </a:xfrm>
          <a:prstGeom prst="rect">
            <a:avLst/>
          </a:prstGeom>
          <a:solidFill>
            <a:schemeClr val="bg1"/>
          </a:solidFill>
          <a:ln>
            <a:noFill/>
          </a:ln>
        </p:spPr>
        <p:txBody>
          <a:bodyPr wrap="square" lIns="0" tIns="0" rIns="0" bIns="0" rtlCol="0">
            <a:spAutoFit/>
          </a:bodyPr>
          <a:lstStyle/>
          <a:p>
            <a:pPr algn="ctr" defTabSz="696553"/>
            <a:r>
              <a:rPr kumimoji="1" lang="en-US" altLang="zh-CN" sz="1400" b="1" dirty="0" err="1">
                <a:latin typeface="Microsoft YaHei" panose="020B0503020204020204" pitchFamily="34" charset="-122"/>
                <a:ea typeface="Microsoft YaHei" panose="020B0503020204020204" pitchFamily="34" charset="-122"/>
              </a:rPr>
              <a:t>OpenCCU Collective Communication Accelerator</a:t>
            </a:r>
          </a:p>
        </p:txBody>
      </p:sp>
      <p:sp>
        <p:nvSpPr>
          <p:cNvPr id="125" name="矩形: 圆角 124">
            <a:extLst>
              <a:ext uri="{FF2B5EF4-FFF2-40B4-BE49-F238E27FC236}">
                <a16:creationId xmlns:a16="http://schemas.microsoft.com/office/drawing/2014/main" id="{B9DA65E9-69E9-4013-AC85-58945A943542}"/>
              </a:ext>
            </a:extLst>
          </p:cNvPr>
          <p:cNvSpPr/>
          <p:nvPr/>
        </p:nvSpPr>
        <p:spPr>
          <a:xfrm>
            <a:off x="4280755" y="1346401"/>
            <a:ext cx="3623559" cy="5069498"/>
          </a:xfrm>
          <a:prstGeom prst="roundRect">
            <a:avLst>
              <a:gd name="adj" fmla="val 2641"/>
            </a:avLst>
          </a:prstGeom>
          <a:noFill/>
          <a:ln w="25400" cap="flat" cmpd="sng" algn="ctr">
            <a:solidFill>
              <a:schemeClr val="tx1"/>
            </a:solidFill>
            <a:prstDash val="solid"/>
            <a:round/>
            <a:headEnd type="none" w="med" len="med"/>
            <a:tailEnd type="none" w="med" len="med"/>
          </a:ln>
          <a:effectLst/>
        </p:spPr>
        <p:txBody>
          <a:bodyPr rot="0" spcFirstLastPara="0" vertOverflow="overflow" horzOverflow="overflow" vert="horz" wrap="none" lIns="69681" tIns="109734" rIns="69681" bIns="34840" numCol="1" spcCol="0" rtlCol="0" fromWordArt="0" anchor="t" anchorCtr="0" forceAA="0" compatLnSpc="1">
            <a:prstTxWarp prst="textNoShape">
              <a:avLst/>
            </a:prstTxWarp>
            <a:noAutofit/>
          </a:bodyPr>
          <a:lstStyle/>
          <a:p>
            <a:pPr algn="ctr" defTabSz="696832"/>
            <a:endParaRPr kumimoji="1" lang="zh-CN" altLang="en-US" sz="1067" b="1" kern="0" dirty="0">
              <a:latin typeface="微软雅黑" panose="020B0503020204020204" pitchFamily="34" charset="-122"/>
              <a:ea typeface="微软雅黑" panose="020B0503020204020204" pitchFamily="34" charset="-122"/>
            </a:endParaRPr>
          </a:p>
        </p:txBody>
      </p:sp>
      <p:sp>
        <p:nvSpPr>
          <p:cNvPr id="126" name="矩形 125">
            <a:extLst>
              <a:ext uri="{FF2B5EF4-FFF2-40B4-BE49-F238E27FC236}">
                <a16:creationId xmlns:a16="http://schemas.microsoft.com/office/drawing/2014/main" id="{5488A5C4-A5D7-4B09-946A-83D65F159342}"/>
              </a:ext>
            </a:extLst>
          </p:cNvPr>
          <p:cNvSpPr/>
          <p:nvPr/>
        </p:nvSpPr>
        <p:spPr>
          <a:xfrm>
            <a:off x="4615660" y="1094968"/>
            <a:ext cx="3042032" cy="430887"/>
          </a:xfrm>
          <a:prstGeom prst="rect">
            <a:avLst/>
          </a:prstGeom>
          <a:solidFill>
            <a:schemeClr val="bg1"/>
          </a:solidFill>
          <a:ln>
            <a:noFill/>
          </a:ln>
        </p:spPr>
        <p:txBody>
          <a:bodyPr wrap="square" lIns="0" tIns="0" rIns="0" bIns="0" rtlCol="0">
            <a:spAutoFit/>
          </a:bodyPr>
          <a:lstStyle/>
          <a:p>
            <a:pPr algn="ctr" defTabSz="696553"/>
            <a:r>
              <a:rPr kumimoji="1" lang="en-US" altLang="en-US" sz="1400" b="1" dirty="0">
                <a:latin typeface="Microsoft YaHei" panose="020B0503020204020204" pitchFamily="34" charset="-122"/>
                <a:ea typeface="Microsoft YaHei" panose="020B0503020204020204" pitchFamily="34" charset="-122"/>
              </a:rPr>
              <a:t>Compound Memory Semantics Microarchitecture</a:t>
            </a:r>
          </a:p>
        </p:txBody>
      </p:sp>
      <p:sp>
        <p:nvSpPr>
          <p:cNvPr id="127" name="矩形: 圆角 126">
            <a:extLst>
              <a:ext uri="{FF2B5EF4-FFF2-40B4-BE49-F238E27FC236}">
                <a16:creationId xmlns:a16="http://schemas.microsoft.com/office/drawing/2014/main" id="{F489F3D1-8CD6-4038-AABD-8CA3EC9A4820}"/>
              </a:ext>
            </a:extLst>
          </p:cNvPr>
          <p:cNvSpPr/>
          <p:nvPr/>
        </p:nvSpPr>
        <p:spPr>
          <a:xfrm>
            <a:off x="7975673" y="1346401"/>
            <a:ext cx="3623559" cy="5069498"/>
          </a:xfrm>
          <a:prstGeom prst="roundRect">
            <a:avLst>
              <a:gd name="adj" fmla="val 2641"/>
            </a:avLst>
          </a:prstGeom>
          <a:noFill/>
          <a:ln w="25400" cap="flat" cmpd="sng" algn="ctr">
            <a:solidFill>
              <a:schemeClr val="tx1"/>
            </a:solidFill>
            <a:prstDash val="solid"/>
            <a:round/>
            <a:headEnd type="none" w="med" len="med"/>
            <a:tailEnd type="none" w="med" len="med"/>
          </a:ln>
          <a:effectLst/>
        </p:spPr>
        <p:txBody>
          <a:bodyPr rot="0" spcFirstLastPara="0" vertOverflow="overflow" horzOverflow="overflow" vert="horz" wrap="none" lIns="69681" tIns="109734" rIns="69681" bIns="34840" numCol="1" spcCol="0" rtlCol="0" fromWordArt="0" anchor="t" anchorCtr="0" forceAA="0" compatLnSpc="1">
            <a:prstTxWarp prst="textNoShape">
              <a:avLst/>
            </a:prstTxWarp>
            <a:noAutofit/>
          </a:bodyPr>
          <a:lstStyle/>
          <a:p>
            <a:pPr algn="ctr" defTabSz="696832"/>
            <a:endParaRPr kumimoji="1" lang="zh-CN" altLang="en-US" sz="1067" b="1" kern="0" dirty="0">
              <a:latin typeface="微软雅黑" panose="020B0503020204020204" pitchFamily="34" charset="-122"/>
              <a:ea typeface="微软雅黑" panose="020B0503020204020204" pitchFamily="34" charset="-122"/>
            </a:endParaRPr>
          </a:p>
        </p:txBody>
      </p:sp>
      <p:sp>
        <p:nvSpPr>
          <p:cNvPr id="128" name="矩形 127">
            <a:extLst>
              <a:ext uri="{FF2B5EF4-FFF2-40B4-BE49-F238E27FC236}">
                <a16:creationId xmlns:a16="http://schemas.microsoft.com/office/drawing/2014/main" id="{AEF35DCD-30A5-48DD-B5E8-DA15D269ABBD}"/>
              </a:ext>
            </a:extLst>
          </p:cNvPr>
          <p:cNvSpPr/>
          <p:nvPr/>
        </p:nvSpPr>
        <p:spPr>
          <a:xfrm>
            <a:off x="8457017" y="1221199"/>
            <a:ext cx="2719441" cy="215444"/>
          </a:xfrm>
          <a:prstGeom prst="rect">
            <a:avLst/>
          </a:prstGeom>
          <a:solidFill>
            <a:schemeClr val="bg1"/>
          </a:solidFill>
          <a:ln>
            <a:noFill/>
          </a:ln>
        </p:spPr>
        <p:txBody>
          <a:bodyPr wrap="square" lIns="0" tIns="0" rIns="0" bIns="0" rtlCol="0">
            <a:spAutoFit/>
          </a:bodyPr>
          <a:lstStyle/>
          <a:p>
            <a:pPr algn="ctr" defTabSz="696553"/>
            <a:r>
              <a:rPr kumimoji="1" lang="en-US" altLang="en-US" sz="1400" b="1" dirty="0">
                <a:latin typeface="Microsoft YaHei" panose="020B0503020204020204" pitchFamily="34" charset="-122"/>
                <a:ea typeface="Microsoft YaHei" panose="020B0503020204020204" pitchFamily="34" charset="-122"/>
              </a:rPr>
              <a:t>Memory Semantics UB SSD</a:t>
            </a:r>
            <a:endParaRPr kumimoji="1" lang="zh-CN" altLang="en-US" sz="1400" b="1" dirty="0">
              <a:latin typeface="Microsoft YaHei" panose="020B0503020204020204" pitchFamily="34" charset="-122"/>
              <a:ea typeface="Microsoft YaHei" panose="020B0503020204020204" pitchFamily="34" charset="-122"/>
            </a:endParaRPr>
          </a:p>
        </p:txBody>
      </p:sp>
      <p:pic>
        <p:nvPicPr>
          <p:cNvPr id="129" name="图片 128">
            <a:extLst>
              <a:ext uri="{FF2B5EF4-FFF2-40B4-BE49-F238E27FC236}">
                <a16:creationId xmlns:a16="http://schemas.microsoft.com/office/drawing/2014/main" id="{381BB524-ACBD-4433-A6E5-D9A551CB20CE}"/>
              </a:ext>
            </a:extLst>
          </p:cNvPr>
          <p:cNvPicPr>
            <a:picLocks noChangeAspect="1"/>
          </p:cNvPicPr>
          <p:nvPr/>
        </p:nvPicPr>
        <p:blipFill>
          <a:blip r:embed="rId4">
            <a:alphaModFix/>
          </a:blip>
          <a:stretch>
            <a:fillRect/>
          </a:stretch>
        </p:blipFill>
        <p:spPr>
          <a:xfrm>
            <a:off x="8124204" y="1781825"/>
            <a:ext cx="3326494" cy="1683829"/>
          </a:xfrm>
          <a:prstGeom prst="rect">
            <a:avLst/>
          </a:prstGeom>
          <a:noFill/>
        </p:spPr>
      </p:pic>
    </p:spTree>
    <p:extLst>
      <p:ext uri="{BB962C8B-B14F-4D97-AF65-F5344CB8AC3E}">
        <p14:creationId xmlns:p14="http://schemas.microsoft.com/office/powerpoint/2010/main" val="3397336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1">
            <a:extLst>
              <a:ext uri="{FF2B5EF4-FFF2-40B4-BE49-F238E27FC236}">
                <a16:creationId xmlns:a16="http://schemas.microsoft.com/office/drawing/2014/main" id="{F4C15B31-12EA-4FC3-8A9F-EAFFA27645FF}"/>
              </a:ext>
            </a:extLst>
          </p:cNvPr>
          <p:cNvSpPr txBox="1">
            <a:spLocks/>
          </p:cNvSpPr>
          <p:nvPr/>
        </p:nvSpPr>
        <p:spPr>
          <a:xfrm>
            <a:off x="406399" y="223809"/>
            <a:ext cx="11230429" cy="527424"/>
          </a:xfrm>
          <a:prstGeom prst="rect">
            <a:avLst/>
          </a:prstGeom>
        </p:spPr>
        <p:txBody>
          <a:bodyPr anchor="ctr">
            <a:noAutofit/>
          </a:bodyPr>
          <a:lstStyle>
            <a:lvl1pPr marL="296593" indent="-296593" algn="l" defTabSz="1186373" rtl="0" eaLnBrk="1" latinLnBrk="0" hangingPunct="1">
              <a:lnSpc>
                <a:spcPct val="90000"/>
              </a:lnSpc>
              <a:spcBef>
                <a:spcPts val="1296"/>
              </a:spcBef>
              <a:buFont typeface="Arial" panose="020B0604020202020204" pitchFamily="34" charset="0"/>
              <a:buChar char="•"/>
              <a:defRPr sz="3633" kern="1200">
                <a:solidFill>
                  <a:schemeClr val="tx1"/>
                </a:solidFill>
                <a:latin typeface="+mn-lt"/>
                <a:ea typeface="+mn-ea"/>
                <a:cs typeface="+mn-cs"/>
              </a:defRPr>
            </a:lvl1pPr>
            <a:lvl2pPr marL="889781" indent="-296593" algn="l" defTabSz="1186373" rtl="0" eaLnBrk="1" latinLnBrk="0" hangingPunct="1">
              <a:lnSpc>
                <a:spcPct val="90000"/>
              </a:lnSpc>
              <a:spcBef>
                <a:spcPts val="650"/>
              </a:spcBef>
              <a:buFont typeface="Arial" panose="020B0604020202020204" pitchFamily="34" charset="0"/>
              <a:buChar char="•"/>
              <a:defRPr sz="3115" kern="1200">
                <a:solidFill>
                  <a:schemeClr val="tx1"/>
                </a:solidFill>
                <a:latin typeface="+mn-lt"/>
                <a:ea typeface="+mn-ea"/>
                <a:cs typeface="+mn-cs"/>
              </a:defRPr>
            </a:lvl2pPr>
            <a:lvl3pPr marL="1482967" indent="-296593" algn="l" defTabSz="1186373" rtl="0" eaLnBrk="1" latinLnBrk="0" hangingPunct="1">
              <a:lnSpc>
                <a:spcPct val="90000"/>
              </a:lnSpc>
              <a:spcBef>
                <a:spcPts val="650"/>
              </a:spcBef>
              <a:buFont typeface="Arial" panose="020B0604020202020204" pitchFamily="34" charset="0"/>
              <a:buChar char="•"/>
              <a:defRPr sz="2595" kern="1200">
                <a:solidFill>
                  <a:schemeClr val="tx1"/>
                </a:solidFill>
                <a:latin typeface="+mn-lt"/>
                <a:ea typeface="+mn-ea"/>
                <a:cs typeface="+mn-cs"/>
              </a:defRPr>
            </a:lvl3pPr>
            <a:lvl4pPr marL="2076155" indent="-296593" algn="l" defTabSz="1186373"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4pPr>
            <a:lvl5pPr marL="2669341" indent="-296593" algn="l" defTabSz="1186373"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5pPr>
            <a:lvl6pPr marL="3262528" indent="-296593" algn="l" defTabSz="1186373"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6pPr>
            <a:lvl7pPr marL="3855715" indent="-296593" algn="l" defTabSz="1186373"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7pPr>
            <a:lvl8pPr marL="4448902" indent="-296593" algn="l" defTabSz="1186373"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8pPr>
            <a:lvl9pPr marL="5042089" indent="-296593" algn="l" defTabSz="1186373"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9pPr>
          </a:lstStyle>
          <a:p>
            <a:pPr marL="0" lvl="0" indent="0" defTabSz="913303">
              <a:spcBef>
                <a:spcPct val="0"/>
              </a:spcBef>
              <a:buNone/>
              <a:defRPr/>
            </a:pPr>
            <a:r>
              <a:rPr lang="en-US" altLang="zh-CN" sz="2400" b="1" kern="0" dirty="0">
                <a:solidFill>
                  <a:srgbClr val="C00000"/>
                </a:solidFill>
                <a:latin typeface="微软雅黑" panose="020B0503020204020204" pitchFamily="34" charset="-122"/>
                <a:ea typeface="微软雅黑"/>
              </a:rPr>
              <a:t>Scale-Out Prototype Platform</a:t>
            </a:r>
            <a:r>
              <a:rPr lang="zh-CN" altLang="en-US" sz="2400" b="1" kern="0" dirty="0">
                <a:solidFill>
                  <a:srgbClr val="C00000"/>
                </a:solidFill>
                <a:latin typeface="微软雅黑" panose="020B0503020204020204" pitchFamily="34" charset="-122"/>
                <a:ea typeface="微软雅黑"/>
              </a:rPr>
              <a:t>：</a:t>
            </a:r>
            <a:r>
              <a:rPr lang="en-US" altLang="zh-CN" sz="2400" b="1" kern="0" dirty="0">
                <a:solidFill>
                  <a:srgbClr val="C00000"/>
                </a:solidFill>
                <a:latin typeface="微软雅黑" panose="020B0503020204020204" pitchFamily="34" charset="-122"/>
                <a:ea typeface="微软雅黑"/>
              </a:rPr>
              <a:t>Supporting Innovation in Protocols and Algorithms for Scale-Out Networks</a:t>
            </a:r>
          </a:p>
        </p:txBody>
      </p:sp>
      <p:sp>
        <p:nvSpPr>
          <p:cNvPr id="64" name="矩形 63">
            <a:extLst>
              <a:ext uri="{FF2B5EF4-FFF2-40B4-BE49-F238E27FC236}">
                <a16:creationId xmlns:a16="http://schemas.microsoft.com/office/drawing/2014/main" id="{331D3FCC-94B9-466E-AE44-DAF930A9F9A8}"/>
              </a:ext>
            </a:extLst>
          </p:cNvPr>
          <p:cNvSpPr/>
          <p:nvPr/>
        </p:nvSpPr>
        <p:spPr>
          <a:xfrm>
            <a:off x="471715" y="3926306"/>
            <a:ext cx="11230429" cy="2772246"/>
          </a:xfrm>
          <a:prstGeom prst="rect">
            <a:avLst/>
          </a:prstGeom>
          <a:solidFill>
            <a:srgbClr val="FFFFFF"/>
          </a:solidFill>
          <a:ln>
            <a:solidFill>
              <a:schemeClr val="tx1">
                <a:lumMod val="10000"/>
                <a:lumOff val="9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微软雅黑" panose="020B0503020204020204" pitchFamily="34" charset="-122"/>
              <a:ea typeface="微软雅黑" panose="020B0503020204020204" pitchFamily="34" charset="-122"/>
              <a:cs typeface="+mn-cs"/>
            </a:endParaRPr>
          </a:p>
        </p:txBody>
      </p:sp>
      <p:grpSp>
        <p:nvGrpSpPr>
          <p:cNvPr id="47" name="组合 46">
            <a:extLst>
              <a:ext uri="{FF2B5EF4-FFF2-40B4-BE49-F238E27FC236}">
                <a16:creationId xmlns:a16="http://schemas.microsoft.com/office/drawing/2014/main" id="{3BB76792-8E28-463E-9B2B-56DC75689CED}"/>
              </a:ext>
            </a:extLst>
          </p:cNvPr>
          <p:cNvGrpSpPr/>
          <p:nvPr/>
        </p:nvGrpSpPr>
        <p:grpSpPr>
          <a:xfrm>
            <a:off x="4361543" y="4017542"/>
            <a:ext cx="6996834" cy="2608133"/>
            <a:chOff x="1589610" y="1061481"/>
            <a:chExt cx="9219289" cy="4313516"/>
          </a:xfrm>
        </p:grpSpPr>
        <p:sp>
          <p:nvSpPr>
            <p:cNvPr id="48" name="箭头: 左右 47">
              <a:extLst>
                <a:ext uri="{FF2B5EF4-FFF2-40B4-BE49-F238E27FC236}">
                  <a16:creationId xmlns:a16="http://schemas.microsoft.com/office/drawing/2014/main" id="{FB3C11D2-536B-4EDF-A417-D9685DF95D07}"/>
                </a:ext>
              </a:extLst>
            </p:cNvPr>
            <p:cNvSpPr/>
            <p:nvPr/>
          </p:nvSpPr>
          <p:spPr>
            <a:xfrm>
              <a:off x="8828275" y="1166483"/>
              <a:ext cx="1980624" cy="262626"/>
            </a:xfrm>
            <a:prstGeom prst="leftRightArrow">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49" name="直接连接符 48">
              <a:extLst>
                <a:ext uri="{FF2B5EF4-FFF2-40B4-BE49-F238E27FC236}">
                  <a16:creationId xmlns:a16="http://schemas.microsoft.com/office/drawing/2014/main" id="{9E8C9CE1-6C71-47E0-9FB8-D136B041FFAC}"/>
                </a:ext>
              </a:extLst>
            </p:cNvPr>
            <p:cNvCxnSpPr>
              <a:cxnSpLocks/>
            </p:cNvCxnSpPr>
            <p:nvPr/>
          </p:nvCxnSpPr>
          <p:spPr>
            <a:xfrm flipH="1">
              <a:off x="8733535" y="1429109"/>
              <a:ext cx="3298" cy="3945888"/>
            </a:xfrm>
            <a:prstGeom prst="line">
              <a:avLst/>
            </a:prstGeom>
            <a:noFill/>
            <a:ln w="76200" cap="flat" cmpd="sng" algn="ctr">
              <a:solidFill>
                <a:srgbClr val="FF0000"/>
              </a:solidFill>
              <a:prstDash val="solid"/>
              <a:miter lim="800000"/>
            </a:ln>
            <a:effectLst/>
          </p:spPr>
        </p:cxnSp>
        <p:sp>
          <p:nvSpPr>
            <p:cNvPr id="50" name="文本框 49">
              <a:extLst>
                <a:ext uri="{FF2B5EF4-FFF2-40B4-BE49-F238E27FC236}">
                  <a16:creationId xmlns:a16="http://schemas.microsoft.com/office/drawing/2014/main" id="{3E4FDF79-7F41-4844-B7F9-90CAE205FA6E}"/>
                </a:ext>
              </a:extLst>
            </p:cNvPr>
            <p:cNvSpPr txBox="1"/>
            <p:nvPr/>
          </p:nvSpPr>
          <p:spPr>
            <a:xfrm>
              <a:off x="9365648" y="1061481"/>
              <a:ext cx="834745" cy="438512"/>
            </a:xfrm>
            <a:prstGeom prst="rect">
              <a:avLst/>
            </a:prstGeom>
            <a:solidFill>
              <a:sysClr val="window" lastClr="FFFFFF"/>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Host</a:t>
              </a:r>
            </a:p>
          </p:txBody>
        </p:sp>
        <p:sp>
          <p:nvSpPr>
            <p:cNvPr id="51" name="箭头: 左右 50">
              <a:extLst>
                <a:ext uri="{FF2B5EF4-FFF2-40B4-BE49-F238E27FC236}">
                  <a16:creationId xmlns:a16="http://schemas.microsoft.com/office/drawing/2014/main" id="{0C2D9099-29C0-4A4E-9E09-2E7BF79CC804}"/>
                </a:ext>
              </a:extLst>
            </p:cNvPr>
            <p:cNvSpPr/>
            <p:nvPr/>
          </p:nvSpPr>
          <p:spPr>
            <a:xfrm>
              <a:off x="3158612" y="1166483"/>
              <a:ext cx="5502310" cy="262626"/>
            </a:xfrm>
            <a:prstGeom prst="leftRightArrow">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2" name="文本框 51">
              <a:extLst>
                <a:ext uri="{FF2B5EF4-FFF2-40B4-BE49-F238E27FC236}">
                  <a16:creationId xmlns:a16="http://schemas.microsoft.com/office/drawing/2014/main" id="{A49334E1-D04E-472B-860F-4270B62B42C5}"/>
                </a:ext>
              </a:extLst>
            </p:cNvPr>
            <p:cNvSpPr txBox="1"/>
            <p:nvPr/>
          </p:nvSpPr>
          <p:spPr>
            <a:xfrm>
              <a:off x="5270748" y="1070888"/>
              <a:ext cx="1405619" cy="438512"/>
            </a:xfrm>
            <a:prstGeom prst="rect">
              <a:avLst/>
            </a:prstGeom>
            <a:solidFill>
              <a:sysClr val="window" lastClr="FFFFFF"/>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NIC/</a:t>
              </a:r>
              <a:r>
                <a:rPr kumimoji="0" lang="zh-CN" altLang="en-US"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DPU</a:t>
              </a:r>
            </a:p>
          </p:txBody>
        </p:sp>
        <p:sp>
          <p:nvSpPr>
            <p:cNvPr id="53" name="矩形 52">
              <a:extLst>
                <a:ext uri="{FF2B5EF4-FFF2-40B4-BE49-F238E27FC236}">
                  <a16:creationId xmlns:a16="http://schemas.microsoft.com/office/drawing/2014/main" id="{D8147EC9-A730-4B8F-856F-03BD079D395F}"/>
                </a:ext>
              </a:extLst>
            </p:cNvPr>
            <p:cNvSpPr/>
            <p:nvPr/>
          </p:nvSpPr>
          <p:spPr>
            <a:xfrm>
              <a:off x="3158611" y="1613141"/>
              <a:ext cx="3864634" cy="1268082"/>
            </a:xfrm>
            <a:prstGeom prst="rect">
              <a:avLst/>
            </a:prstGeom>
            <a:solidFill>
              <a:srgbClr val="70AD47">
                <a:lumMod val="20000"/>
                <a:lumOff val="80000"/>
              </a:srgbClr>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Load Balancing</a:t>
              </a:r>
              <a:endParaRPr kumimoji="0" lang="en-US" altLang="zh-CN"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4" name="矩形 53">
              <a:extLst>
                <a:ext uri="{FF2B5EF4-FFF2-40B4-BE49-F238E27FC236}">
                  <a16:creationId xmlns:a16="http://schemas.microsoft.com/office/drawing/2014/main" id="{835FB448-D941-46C5-A888-BE42467ADF15}"/>
                </a:ext>
              </a:extLst>
            </p:cNvPr>
            <p:cNvSpPr/>
            <p:nvPr/>
          </p:nvSpPr>
          <p:spPr>
            <a:xfrm>
              <a:off x="3158611" y="3019248"/>
              <a:ext cx="3864634" cy="1173190"/>
            </a:xfrm>
            <a:prstGeom prst="rect">
              <a:avLst/>
            </a:prstGeom>
            <a:solidFill>
              <a:srgbClr val="70AD47">
                <a:lumMod val="20000"/>
                <a:lumOff val="80000"/>
              </a:srgbClr>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Congestion Control</a:t>
              </a:r>
              <a:endParaRPr kumimoji="0" lang="en-US" altLang="zh-CN"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5" name="矩形 54">
              <a:extLst>
                <a:ext uri="{FF2B5EF4-FFF2-40B4-BE49-F238E27FC236}">
                  <a16:creationId xmlns:a16="http://schemas.microsoft.com/office/drawing/2014/main" id="{CC8F8963-4F00-4351-A76B-B444B442D32F}"/>
                </a:ext>
              </a:extLst>
            </p:cNvPr>
            <p:cNvSpPr/>
            <p:nvPr/>
          </p:nvSpPr>
          <p:spPr>
            <a:xfrm>
              <a:off x="7220310" y="1613141"/>
              <a:ext cx="1017917" cy="3071003"/>
            </a:xfrm>
            <a:prstGeom prst="rect">
              <a:avLst/>
            </a:prstGeom>
            <a:solidFill>
              <a:srgbClr val="70AD47">
                <a:lumMod val="20000"/>
                <a:lumOff val="80000"/>
              </a:srgbClr>
            </a:solidFill>
            <a:ln w="12700" cap="flat" cmpd="sng" algn="ctr">
              <a:solidFill>
                <a:sysClr val="windowText" lastClr="000000"/>
              </a:solidFill>
              <a:prstDash val="solid"/>
              <a:miter lim="800000"/>
            </a:ln>
            <a:effectLst/>
          </p:spPr>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Reliability/Fault Tolerant Transmission</a:t>
              </a:r>
              <a:endPar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6" name="矩形 55">
              <a:extLst>
                <a:ext uri="{FF2B5EF4-FFF2-40B4-BE49-F238E27FC236}">
                  <a16:creationId xmlns:a16="http://schemas.microsoft.com/office/drawing/2014/main" id="{729A3510-6527-4F46-A09E-9204AD14AE94}"/>
                </a:ext>
              </a:extLst>
            </p:cNvPr>
            <p:cNvSpPr/>
            <p:nvPr/>
          </p:nvSpPr>
          <p:spPr>
            <a:xfrm>
              <a:off x="3158611" y="4304583"/>
              <a:ext cx="3864634" cy="379561"/>
            </a:xfrm>
            <a:prstGeom prst="rect">
              <a:avLst/>
            </a:prstGeom>
            <a:solidFill>
              <a:srgbClr val="70AD47">
                <a:lumMod val="20000"/>
                <a:lumOff val="80000"/>
              </a:srgbClr>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Out-of-Order Reception</a:t>
              </a:r>
              <a:endParaRPr kumimoji="0" lang="en-US" altLang="zh-CN"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7" name="矩形 56">
              <a:extLst>
                <a:ext uri="{FF2B5EF4-FFF2-40B4-BE49-F238E27FC236}">
                  <a16:creationId xmlns:a16="http://schemas.microsoft.com/office/drawing/2014/main" id="{E971B720-7B99-4038-92AA-007F6E0F5F7B}"/>
                </a:ext>
              </a:extLst>
            </p:cNvPr>
            <p:cNvSpPr/>
            <p:nvPr/>
          </p:nvSpPr>
          <p:spPr>
            <a:xfrm>
              <a:off x="3158611" y="4891179"/>
              <a:ext cx="5079616" cy="379561"/>
            </a:xfrm>
            <a:prstGeom prst="rect">
              <a:avLst/>
            </a:prstGeom>
            <a:solidFill>
              <a:srgbClr val="70AD47">
                <a:lumMod val="20000"/>
                <a:lumOff val="80000"/>
              </a:srgbClr>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Flow control</a:t>
              </a:r>
              <a:endParaRPr kumimoji="0" lang="en-US" altLang="zh-CN"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8" name="矩形 57">
              <a:extLst>
                <a:ext uri="{FF2B5EF4-FFF2-40B4-BE49-F238E27FC236}">
                  <a16:creationId xmlns:a16="http://schemas.microsoft.com/office/drawing/2014/main" id="{180A94EB-AA76-47C0-B780-27FF9892238B}"/>
                </a:ext>
              </a:extLst>
            </p:cNvPr>
            <p:cNvSpPr/>
            <p:nvPr/>
          </p:nvSpPr>
          <p:spPr>
            <a:xfrm>
              <a:off x="8347403" y="1630395"/>
              <a:ext cx="2405522" cy="767748"/>
            </a:xfrm>
            <a:prstGeom prst="rect">
              <a:avLst/>
            </a:prstGeom>
            <a:solidFill>
              <a:srgbClr val="FFC000">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Host Network</a:t>
              </a:r>
              <a:endParaRPr kumimoji="0" lang="zh-CN" altLang="en-US"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9" name="矩形 58">
              <a:extLst>
                <a:ext uri="{FF2B5EF4-FFF2-40B4-BE49-F238E27FC236}">
                  <a16:creationId xmlns:a16="http://schemas.microsoft.com/office/drawing/2014/main" id="{DEB2A542-6509-4277-9A06-FCBEECD5F54D}"/>
                </a:ext>
              </a:extLst>
            </p:cNvPr>
            <p:cNvSpPr/>
            <p:nvPr/>
          </p:nvSpPr>
          <p:spPr>
            <a:xfrm>
              <a:off x="8347403" y="2592657"/>
              <a:ext cx="2405522" cy="745765"/>
            </a:xfrm>
            <a:prstGeom prst="rect">
              <a:avLst/>
            </a:prstGeom>
            <a:solidFill>
              <a:srgbClr val="FFC000">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Resource Management</a:t>
              </a:r>
            </a:p>
          </p:txBody>
        </p:sp>
        <p:sp>
          <p:nvSpPr>
            <p:cNvPr id="60" name="矩形 59">
              <a:extLst>
                <a:ext uri="{FF2B5EF4-FFF2-40B4-BE49-F238E27FC236}">
                  <a16:creationId xmlns:a16="http://schemas.microsoft.com/office/drawing/2014/main" id="{FC17BE2C-A7CD-4D6D-86C1-F9A46A6CB633}"/>
                </a:ext>
              </a:extLst>
            </p:cNvPr>
            <p:cNvSpPr/>
            <p:nvPr/>
          </p:nvSpPr>
          <p:spPr>
            <a:xfrm>
              <a:off x="8347403" y="3551034"/>
              <a:ext cx="2405522" cy="753549"/>
            </a:xfrm>
            <a:prstGeom prst="rect">
              <a:avLst/>
            </a:prstGeom>
            <a:solidFill>
              <a:srgbClr val="FFC000">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Virtualization</a:t>
              </a:r>
            </a:p>
          </p:txBody>
        </p:sp>
        <p:sp>
          <p:nvSpPr>
            <p:cNvPr id="61" name="矩形 60">
              <a:extLst>
                <a:ext uri="{FF2B5EF4-FFF2-40B4-BE49-F238E27FC236}">
                  <a16:creationId xmlns:a16="http://schemas.microsoft.com/office/drawing/2014/main" id="{D4E9DCBF-E9DC-4380-9B99-7494BA509AE2}"/>
                </a:ext>
              </a:extLst>
            </p:cNvPr>
            <p:cNvSpPr/>
            <p:nvPr/>
          </p:nvSpPr>
          <p:spPr>
            <a:xfrm>
              <a:off x="8347403" y="4468483"/>
              <a:ext cx="2405522" cy="792791"/>
            </a:xfrm>
            <a:prstGeom prst="rect">
              <a:avLst/>
            </a:prstGeom>
            <a:solidFill>
              <a:srgbClr val="FFC000">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fault detection</a:t>
              </a:r>
            </a:p>
          </p:txBody>
        </p:sp>
        <p:sp>
          <p:nvSpPr>
            <p:cNvPr id="63" name="矩形 62">
              <a:extLst>
                <a:ext uri="{FF2B5EF4-FFF2-40B4-BE49-F238E27FC236}">
                  <a16:creationId xmlns:a16="http://schemas.microsoft.com/office/drawing/2014/main" id="{33DC84EA-BFAA-4CD1-A6DB-0573A7E91688}"/>
                </a:ext>
              </a:extLst>
            </p:cNvPr>
            <p:cNvSpPr/>
            <p:nvPr/>
          </p:nvSpPr>
          <p:spPr>
            <a:xfrm>
              <a:off x="1589610" y="1613142"/>
              <a:ext cx="1449503" cy="3657599"/>
            </a:xfrm>
            <a:prstGeom prst="rect">
              <a:avLst/>
            </a:prstGeom>
            <a:solidFill>
              <a:srgbClr val="70AD47">
                <a:lumMod val="20000"/>
                <a:lumOff val="80000"/>
              </a:srgbClr>
            </a:solidFill>
            <a:ln w="12700" cap="flat" cmpd="sng" algn="ctr">
              <a:solidFill>
                <a:sysClr val="windowText" lastClr="000000"/>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5" name="箭头: 左右 64">
              <a:extLst>
                <a:ext uri="{FF2B5EF4-FFF2-40B4-BE49-F238E27FC236}">
                  <a16:creationId xmlns:a16="http://schemas.microsoft.com/office/drawing/2014/main" id="{208576F6-BCD0-4686-8929-DF5A1CC72FB9}"/>
                </a:ext>
              </a:extLst>
            </p:cNvPr>
            <p:cNvSpPr/>
            <p:nvPr/>
          </p:nvSpPr>
          <p:spPr>
            <a:xfrm>
              <a:off x="1644069" y="1190315"/>
              <a:ext cx="1395045" cy="262627"/>
            </a:xfrm>
            <a:prstGeom prst="leftRightArrow">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6" name="文本框 65">
              <a:extLst>
                <a:ext uri="{FF2B5EF4-FFF2-40B4-BE49-F238E27FC236}">
                  <a16:creationId xmlns:a16="http://schemas.microsoft.com/office/drawing/2014/main" id="{1E7CF25B-F45A-4718-8648-E3D36007F734}"/>
                </a:ext>
              </a:extLst>
            </p:cNvPr>
            <p:cNvSpPr txBox="1"/>
            <p:nvPr/>
          </p:nvSpPr>
          <p:spPr>
            <a:xfrm>
              <a:off x="1815315" y="1121331"/>
              <a:ext cx="1036320" cy="438512"/>
            </a:xfrm>
            <a:prstGeom prst="rect">
              <a:avLst/>
            </a:prstGeom>
            <a:solidFill>
              <a:sysClr val="window" lastClr="FFFFFF"/>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Switch</a:t>
              </a:r>
              <a:endParaRPr kumimoji="0" lang="zh-CN" altLang="en-US" sz="1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7" name="矩形 6">
            <a:extLst>
              <a:ext uri="{FF2B5EF4-FFF2-40B4-BE49-F238E27FC236}">
                <a16:creationId xmlns:a16="http://schemas.microsoft.com/office/drawing/2014/main" id="{220B382C-CD28-4E8F-B34F-754803CFE46A}"/>
              </a:ext>
            </a:extLst>
          </p:cNvPr>
          <p:cNvSpPr/>
          <p:nvPr/>
        </p:nvSpPr>
        <p:spPr>
          <a:xfrm>
            <a:off x="3945809" y="3707756"/>
            <a:ext cx="4719199" cy="3221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defRPr/>
            </a:pPr>
            <a:r>
              <a:rPr lang="en-US" altLang="en-US" sz="1600" b="1" dirty="0">
                <a:solidFill>
                  <a:srgbClr val="C00000"/>
                </a:solidFill>
                <a:latin typeface="微软雅黑" panose="020B0503020204020204" pitchFamily="34" charset="-122"/>
                <a:ea typeface="微软雅黑" panose="020B0503020204020204" pitchFamily="34" charset="-122"/>
              </a:rPr>
              <a:t>Platform-Enabled Innovation Capabilities</a:t>
            </a:r>
            <a:endParaRPr kumimoji="0" lang="en-US"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62" name="矩形 61">
            <a:extLst>
              <a:ext uri="{FF2B5EF4-FFF2-40B4-BE49-F238E27FC236}">
                <a16:creationId xmlns:a16="http://schemas.microsoft.com/office/drawing/2014/main" id="{A8A47953-27CC-4458-933D-9BF6C3F80586}"/>
              </a:ext>
            </a:extLst>
          </p:cNvPr>
          <p:cNvSpPr/>
          <p:nvPr/>
        </p:nvSpPr>
        <p:spPr>
          <a:xfrm>
            <a:off x="4218246" y="5123015"/>
            <a:ext cx="1306512" cy="461665"/>
          </a:xfrm>
          <a:prstGeom prst="rect">
            <a:avLst/>
          </a:prstGeom>
          <a:noFill/>
        </p:spPr>
        <p:txBody>
          <a:bodyPr wrap="square">
            <a:spAutoFit/>
          </a:bodyPr>
          <a:lstStyle/>
          <a:p>
            <a:pPr marL="270967" marR="0" lvl="0" algn="l" defTabSz="913957" rtl="0" eaLnBrk="1" fontAlgn="auto" latinLnBrk="0" hangingPunct="1">
              <a:lnSpc>
                <a:spcPct val="100000"/>
              </a:lnSpc>
              <a:spcBef>
                <a:spcPts val="0"/>
              </a:spcBef>
              <a:spcAft>
                <a:spcPts val="0"/>
              </a:spcAft>
              <a:buClrTx/>
              <a:buSzTx/>
              <a:tabLst/>
              <a:defRPr/>
            </a:pPr>
            <a:r>
              <a:rPr lang="en-US" altLang="zh-CN" sz="1200" b="1" kern="0" dirty="0">
                <a:solidFill>
                  <a:srgbClr val="1D1D1A"/>
                </a:solidFill>
                <a:latin typeface="微软雅黑" panose="020B0503020204020204" pitchFamily="34" charset="-122"/>
                <a:ea typeface="微软雅黑" panose="020B0503020204020204" pitchFamily="34" charset="-122"/>
              </a:rPr>
              <a:t>P</a:t>
            </a:r>
            <a:r>
              <a:rPr kumimoji="0" lang="en-US" altLang="zh-CN" sz="1200" b="1" i="0" u="none" strike="noStrike" kern="0" cap="none" spc="0" normalizeH="0" baseline="0" noProof="0" dirty="0" err="1">
                <a:ln>
                  <a:noFill/>
                </a:ln>
                <a:solidFill>
                  <a:srgbClr val="1D1D1A"/>
                </a:solidFill>
                <a:effectLst/>
                <a:uLnTx/>
                <a:uFillTx/>
                <a:latin typeface="微软雅黑" panose="020B0503020204020204" pitchFamily="34" charset="-122"/>
                <a:ea typeface="微软雅黑" panose="020B0503020204020204" pitchFamily="34" charset="-122"/>
                <a:cs typeface="+mn-cs"/>
              </a:rPr>
              <a:t>rogrammabilities</a:t>
            </a:r>
            <a:endParaRPr kumimoji="0" lang="en-US" altLang="zh-CN"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46" name="文本框 45">
            <a:extLst>
              <a:ext uri="{FF2B5EF4-FFF2-40B4-BE49-F238E27FC236}">
                <a16:creationId xmlns:a16="http://schemas.microsoft.com/office/drawing/2014/main" id="{31B35D01-763F-44C9-9B05-344210AE4ECC}"/>
              </a:ext>
            </a:extLst>
          </p:cNvPr>
          <p:cNvSpPr txBox="1"/>
          <p:nvPr/>
        </p:nvSpPr>
        <p:spPr>
          <a:xfrm>
            <a:off x="391858" y="4279408"/>
            <a:ext cx="3450482" cy="2419144"/>
          </a:xfrm>
          <a:prstGeom prst="rect">
            <a:avLst/>
          </a:prstGeom>
          <a:noFill/>
        </p:spPr>
        <p:txBody>
          <a:bodyPr wrap="square">
            <a:noAutofit/>
          </a:bodyPr>
          <a:lstStyle>
            <a:defPPr>
              <a:defRPr lang="en-US"/>
            </a:defPPr>
            <a:lvl1pPr marL="217742" indent="-217742" defTabSz="696494">
              <a:lnSpc>
                <a:spcPct val="130000"/>
              </a:lnSpc>
              <a:spcAft>
                <a:spcPts val="457"/>
              </a:spcAft>
              <a:buFont typeface="Wingdings" panose="05000000000000000000" pitchFamily="2" charset="2"/>
              <a:buChar char="n"/>
              <a:defRPr sz="1400" b="1" kern="0">
                <a:latin typeface="微软雅黑" panose="020B0503020204020204" pitchFamily="34" charset="-122"/>
                <a:ea typeface="微软雅黑" panose="020B0503020204020204" pitchFamily="34" charset="-122"/>
              </a:defRPr>
            </a:lvl1pPr>
          </a:lstStyle>
          <a:p>
            <a:pPr marL="503492" marR="0" lvl="0" indent="-285750" algn="l" defTabSz="696494" rtl="0" eaLnBrk="1" fontAlgn="auto" latinLnBrk="0" hangingPunct="1">
              <a:lnSpc>
                <a:spcPct val="100000"/>
              </a:lnSpc>
              <a:spcBef>
                <a:spcPts val="0"/>
              </a:spcBef>
              <a:spcAft>
                <a:spcPts val="457"/>
              </a:spcAft>
              <a:buClrTx/>
              <a:buSzTx/>
              <a:buFont typeface="Wingdings" panose="05000000000000000000" pitchFamily="2" charset="2"/>
              <a:buChar char="n"/>
              <a:tabLst/>
              <a:defRPr/>
            </a:pPr>
            <a:r>
              <a:rPr kumimoji="0" lang="en-US" altLang="en-US" sz="14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Focuses on protocol and algorithm innovation</a:t>
            </a:r>
          </a:p>
          <a:p>
            <a:pPr marL="628690" marR="0" lvl="1" indent="-171450" algn="l" defTabSz="91447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Per-packet load balancing</a:t>
            </a:r>
          </a:p>
          <a:p>
            <a:pPr marL="628690" marR="0" lvl="1" indent="-171450" algn="l" defTabSz="91447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multi-path transmission</a:t>
            </a:r>
            <a:endParaRPr kumimoji="0" lang="en-US" altLang="zh-CN"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628690" marR="0" lvl="1" indent="-171450" algn="l" defTabSz="91447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Congestion control</a:t>
            </a:r>
            <a:endParaRPr kumimoji="0" lang="en-US" altLang="zh-CN"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628690" marR="0" lvl="1" indent="-171450" algn="l" defTabSz="91447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Packet trimming</a:t>
            </a:r>
            <a:endParaRPr kumimoji="0" lang="en-US" altLang="zh-CN"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628690" marR="0" lvl="1" indent="-171450" algn="l" defTabSz="91447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Flow Control</a:t>
            </a:r>
            <a:endParaRPr kumimoji="0" lang="en-US" altLang="zh-CN"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628690" marR="0" lvl="1" indent="-171450" algn="l" defTabSz="91447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Virtualization, etc.</a:t>
            </a:r>
          </a:p>
          <a:p>
            <a:pPr marL="503492" marR="0" lvl="1" indent="-285750" algn="l" defTabSz="696494" rtl="0" eaLnBrk="1" fontAlgn="auto" latinLnBrk="0" hangingPunct="1">
              <a:lnSpc>
                <a:spcPct val="100000"/>
              </a:lnSpc>
              <a:spcBef>
                <a:spcPts val="0"/>
              </a:spcBef>
              <a:spcAft>
                <a:spcPts val="457"/>
              </a:spcAft>
              <a:buClrTx/>
              <a:buSzTx/>
              <a:buFont typeface="Wingdings" panose="05000000000000000000" pitchFamily="2" charset="2"/>
              <a:buChar char="n"/>
              <a:tabLst/>
              <a:defRPr/>
            </a:pPr>
            <a:r>
              <a:rPr kumimoji="0" lang="en-US" altLang="zh-CN" sz="14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New features coming soon, including NIC architecture, compute system</a:t>
            </a:r>
          </a:p>
        </p:txBody>
      </p:sp>
      <p:sp>
        <p:nvSpPr>
          <p:cNvPr id="67" name="矩形 66">
            <a:extLst>
              <a:ext uri="{FF2B5EF4-FFF2-40B4-BE49-F238E27FC236}">
                <a16:creationId xmlns:a16="http://schemas.microsoft.com/office/drawing/2014/main" id="{C374E105-8D63-4F06-8349-28C28EDF8A93}"/>
              </a:ext>
            </a:extLst>
          </p:cNvPr>
          <p:cNvSpPr/>
          <p:nvPr/>
        </p:nvSpPr>
        <p:spPr>
          <a:xfrm>
            <a:off x="6119991" y="1057436"/>
            <a:ext cx="5542621" cy="2613432"/>
          </a:xfrm>
          <a:prstGeom prst="rect">
            <a:avLst/>
          </a:prstGeom>
          <a:solidFill>
            <a:srgbClr val="FFFFFF"/>
          </a:solidFill>
          <a:ln>
            <a:solidFill>
              <a:schemeClr val="tx1">
                <a:lumMod val="10000"/>
                <a:lumOff val="9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Calibri" panose="020F0502020204030204"/>
              <a:ea typeface="等线" panose="02010600030101010101" pitchFamily="2" charset="-122"/>
              <a:cs typeface="+mn-cs"/>
            </a:endParaRPr>
          </a:p>
        </p:txBody>
      </p:sp>
      <p:sp>
        <p:nvSpPr>
          <p:cNvPr id="70" name="矩形 69">
            <a:extLst>
              <a:ext uri="{FF2B5EF4-FFF2-40B4-BE49-F238E27FC236}">
                <a16:creationId xmlns:a16="http://schemas.microsoft.com/office/drawing/2014/main" id="{B9731A82-A5B2-4ED9-8A1C-AA6EF8FCBFF5}"/>
              </a:ext>
            </a:extLst>
          </p:cNvPr>
          <p:cNvSpPr/>
          <p:nvPr/>
        </p:nvSpPr>
        <p:spPr>
          <a:xfrm>
            <a:off x="471716" y="1057436"/>
            <a:ext cx="5399656" cy="2608919"/>
          </a:xfrm>
          <a:prstGeom prst="rect">
            <a:avLst/>
          </a:prstGeom>
          <a:solidFill>
            <a:srgbClr val="FFFFFF"/>
          </a:solidFill>
          <a:ln>
            <a:solidFill>
              <a:schemeClr val="tx1">
                <a:lumMod val="10000"/>
                <a:lumOff val="9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Calibri" panose="020F0502020204030204"/>
              <a:ea typeface="等线" panose="02010600030101010101" pitchFamily="2" charset="-122"/>
              <a:cs typeface="+mn-cs"/>
            </a:endParaRPr>
          </a:p>
        </p:txBody>
      </p:sp>
      <p:sp>
        <p:nvSpPr>
          <p:cNvPr id="71" name="矩形 70">
            <a:extLst>
              <a:ext uri="{FF2B5EF4-FFF2-40B4-BE49-F238E27FC236}">
                <a16:creationId xmlns:a16="http://schemas.microsoft.com/office/drawing/2014/main" id="{0731BA16-0ECB-4F99-8674-44F8231B316E}"/>
              </a:ext>
            </a:extLst>
          </p:cNvPr>
          <p:cNvSpPr/>
          <p:nvPr/>
        </p:nvSpPr>
        <p:spPr>
          <a:xfrm>
            <a:off x="471716" y="1186712"/>
            <a:ext cx="5399656" cy="2497992"/>
          </a:xfrm>
          <a:prstGeom prst="rect">
            <a:avLst/>
          </a:prstGeom>
          <a:noFill/>
        </p:spPr>
        <p:txBody>
          <a:bodyPr wrap="square">
            <a:spAutoFit/>
          </a:bodyPr>
          <a:lstStyle/>
          <a:p>
            <a:pPr marL="217742" lvl="0" indent="-217742" defTabSz="696494">
              <a:lnSpc>
                <a:spcPct val="130000"/>
              </a:lnSpc>
              <a:spcAft>
                <a:spcPts val="457"/>
              </a:spcAft>
              <a:buFont typeface="Wingdings" panose="05000000000000000000" pitchFamily="2" charset="2"/>
              <a:buChar char="n"/>
              <a:defRPr/>
            </a:pPr>
            <a:r>
              <a:rPr kumimoji="0" lang="en-US" altLang="en-US" sz="14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Basic components: </a:t>
            </a:r>
            <a:r>
              <a:rPr lang="en-US" altLang="zh-CN" sz="1400" kern="0" dirty="0">
                <a:solidFill>
                  <a:srgbClr val="1D1D1A"/>
                </a:solidFill>
                <a:latin typeface="微软雅黑" panose="020B0503020204020204" pitchFamily="34" charset="-122"/>
                <a:ea typeface="微软雅黑" panose="020B0503020204020204" pitchFamily="34" charset="-122"/>
              </a:rPr>
              <a:t>10+ NICs, 10+ switches. 2-layer Clos architecture; supports other common topologies.</a:t>
            </a:r>
            <a:endParaRPr kumimoji="0" lang="en-US" altLang="zh-CN" sz="14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217742" lvl="0" indent="-217742" defTabSz="696494">
              <a:lnSpc>
                <a:spcPct val="130000"/>
              </a:lnSpc>
              <a:spcAft>
                <a:spcPts val="457"/>
              </a:spcAft>
              <a:buFont typeface="Wingdings" panose="05000000000000000000" pitchFamily="2" charset="2"/>
              <a:buChar char="n"/>
              <a:defRPr/>
            </a:pPr>
            <a:r>
              <a:rPr kumimoji="1" lang="en-US" altLang="en-US"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Programmability: </a:t>
            </a:r>
            <a:r>
              <a:rPr kumimoji="1" lang="en-US" altLang="en-US" sz="1400" dirty="0">
                <a:solidFill>
                  <a:srgbClr val="1D1D1A"/>
                </a:solidFill>
                <a:latin typeface="微软雅黑" panose="020B0503020204020204" pitchFamily="34" charset="-122"/>
                <a:ea typeface="微软雅黑" panose="020B0503020204020204" pitchFamily="34" charset="-122"/>
              </a:rPr>
              <a:t>Programmable NICs and switches.</a:t>
            </a:r>
            <a:endParaRPr kumimoji="1"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217742" lvl="0" indent="-217742" defTabSz="696494">
              <a:lnSpc>
                <a:spcPct val="130000"/>
              </a:lnSpc>
              <a:spcAft>
                <a:spcPts val="457"/>
              </a:spcAft>
              <a:buFont typeface="Wingdings" panose="05000000000000000000" pitchFamily="2" charset="2"/>
              <a:buChar char="n"/>
              <a:defRPr/>
            </a:pPr>
            <a:r>
              <a:rPr kumimoji="0" lang="en-US" altLang="en-US" sz="14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Protocol Capabilities: </a:t>
            </a:r>
            <a:r>
              <a:rPr lang="en-US" altLang="en-US" sz="1400" kern="0" dirty="0" err="1">
                <a:solidFill>
                  <a:srgbClr val="1D1D1A"/>
                </a:solidFill>
                <a:latin typeface="微软雅黑" panose="020B0503020204020204" pitchFamily="34" charset="-122"/>
                <a:ea typeface="微软雅黑" panose="020B0503020204020204" pitchFamily="34" charset="-122"/>
              </a:rPr>
              <a:t>UBoE</a:t>
            </a:r>
            <a:r>
              <a:rPr lang="en-US" altLang="en-US" sz="1400" kern="0" dirty="0">
                <a:solidFill>
                  <a:srgbClr val="1D1D1A"/>
                </a:solidFill>
                <a:latin typeface="微软雅黑" panose="020B0503020204020204" pitchFamily="34" charset="-122"/>
                <a:ea typeface="微软雅黑" panose="020B0503020204020204" pitchFamily="34" charset="-122"/>
              </a:rPr>
              <a:t> and standard </a:t>
            </a:r>
            <a:r>
              <a:rPr lang="en-US" altLang="en-US" sz="1400" kern="0" dirty="0" err="1">
                <a:solidFill>
                  <a:srgbClr val="1D1D1A"/>
                </a:solidFill>
                <a:latin typeface="微软雅黑" panose="020B0503020204020204" pitchFamily="34" charset="-122"/>
                <a:ea typeface="微软雅黑" panose="020B0503020204020204" pitchFamily="34" charset="-122"/>
              </a:rPr>
              <a:t>RoCE</a:t>
            </a:r>
            <a:r>
              <a:rPr lang="en-US" altLang="en-US" sz="1400" kern="0" dirty="0">
                <a:solidFill>
                  <a:srgbClr val="1D1D1A"/>
                </a:solidFill>
                <a:latin typeface="微软雅黑" panose="020B0503020204020204" pitchFamily="34" charset="-122"/>
                <a:ea typeface="微软雅黑" panose="020B0503020204020204" pitchFamily="34" charset="-122"/>
              </a:rPr>
              <a:t>. Supports UB TP/TPG, multipath, packet spraying, out-of-order reception, congestion control, and lossless/lossy modes.</a:t>
            </a:r>
            <a:endParaRPr kumimoji="0" lang="en-US" altLang="zh-CN" sz="14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217742" marR="0" lvl="0" indent="-217742" algn="l" defTabSz="696494" rtl="0" eaLnBrk="1" fontAlgn="auto" latinLnBrk="0" hangingPunct="1">
              <a:lnSpc>
                <a:spcPct val="130000"/>
              </a:lnSpc>
              <a:spcBef>
                <a:spcPts val="0"/>
              </a:spcBef>
              <a:spcAft>
                <a:spcPts val="457"/>
              </a:spcAft>
              <a:buClrTx/>
              <a:buSzTx/>
              <a:buFont typeface="Wingdings" panose="05000000000000000000" pitchFamily="2" charset="2"/>
              <a:buChar char="n"/>
              <a:tabLst/>
              <a:defRPr/>
            </a:pPr>
            <a:r>
              <a:rPr kumimoji="1" lang="en-US" altLang="en-US" sz="14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Access: </a:t>
            </a:r>
            <a:r>
              <a:rPr kumimoji="1" lang="en-US" altLang="en-US" sz="1400" kern="0" dirty="0">
                <a:solidFill>
                  <a:srgbClr val="1D1D1A"/>
                </a:solidFill>
                <a:latin typeface="微软雅黑" panose="020B0503020204020204" pitchFamily="34" charset="-122"/>
                <a:ea typeface="微软雅黑" panose="020B0503020204020204" pitchFamily="34" charset="-122"/>
              </a:rPr>
              <a:t>Remote access provided via the Huang </a:t>
            </a:r>
            <a:r>
              <a:rPr kumimoji="1" lang="en-US" altLang="en-US" sz="1400" kern="0" dirty="0" err="1">
                <a:solidFill>
                  <a:srgbClr val="1D1D1A"/>
                </a:solidFill>
                <a:latin typeface="微软雅黑" panose="020B0503020204020204" pitchFamily="34" charset="-122"/>
                <a:ea typeface="微软雅黑" panose="020B0503020204020204" pitchFamily="34" charset="-122"/>
              </a:rPr>
              <a:t>Danian</a:t>
            </a:r>
            <a:r>
              <a:rPr kumimoji="1" lang="en-US" altLang="en-US" sz="1400" kern="0" dirty="0">
                <a:solidFill>
                  <a:srgbClr val="1D1D1A"/>
                </a:solidFill>
                <a:latin typeface="微软雅黑" panose="020B0503020204020204" pitchFamily="34" charset="-122"/>
                <a:ea typeface="微软雅黑" panose="020B0503020204020204" pitchFamily="34" charset="-122"/>
              </a:rPr>
              <a:t> platform and the laboratory.</a:t>
            </a:r>
            <a:endParaRPr kumimoji="1"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a:extLst>
              <a:ext uri="{FF2B5EF4-FFF2-40B4-BE49-F238E27FC236}">
                <a16:creationId xmlns:a16="http://schemas.microsoft.com/office/drawing/2014/main" id="{B911C8CF-B593-42BC-8A73-4E61B3B9941B}"/>
              </a:ext>
            </a:extLst>
          </p:cNvPr>
          <p:cNvSpPr txBox="1"/>
          <p:nvPr/>
        </p:nvSpPr>
        <p:spPr>
          <a:xfrm>
            <a:off x="7717146" y="842720"/>
            <a:ext cx="2390861" cy="418191"/>
          </a:xfrm>
          <a:prstGeom prst="rect">
            <a:avLst/>
          </a:prstGeom>
          <a:solidFill>
            <a:schemeClr val="tx2"/>
          </a:solidFill>
        </p:spPr>
        <p:txBody>
          <a:bodyPr wrap="square">
            <a:spAutoFit/>
          </a:bodyPr>
          <a:lstStyle>
            <a:defPPr>
              <a:defRPr lang="en-US"/>
            </a:defPPr>
            <a:lvl1pPr marR="0" lvl="0" algn="ctr" defTabSz="914034" fontAlgn="auto">
              <a:lnSpc>
                <a:spcPct val="150000"/>
              </a:lnSpc>
              <a:spcBef>
                <a:spcPts val="0"/>
              </a:spcBef>
              <a:spcAft>
                <a:spcPts val="0"/>
              </a:spcAft>
              <a:buClrTx/>
              <a:buSzTx/>
              <a:tabLst/>
              <a:defRPr kumimoji="1" sz="1600" b="1" i="0" u="none" strike="noStrike" cap="none" spc="0" normalizeH="0" baseline="0">
                <a:ln>
                  <a:noFill/>
                </a:ln>
                <a:solidFill>
                  <a:srgbClr val="C00000"/>
                </a:solidFill>
                <a:effectLst/>
                <a:uLnTx/>
                <a:uFillTx/>
                <a:latin typeface="Microsoft YaHei" panose="020B0503020204020204" pitchFamily="34" charset="-122"/>
                <a:ea typeface="Microsoft YaHei" panose="020B0503020204020204" pitchFamily="34" charset="-122"/>
              </a:defRPr>
            </a:lvl1pPr>
          </a:lstStyle>
          <a:p>
            <a:pPr>
              <a:defRPr/>
            </a:pPr>
            <a:r>
              <a:rPr lang="en-US" altLang="en-US" dirty="0"/>
              <a:t>Platform overview</a:t>
            </a:r>
          </a:p>
        </p:txBody>
      </p:sp>
      <p:cxnSp>
        <p:nvCxnSpPr>
          <p:cNvPr id="105" name="直接连接符 104">
            <a:extLst>
              <a:ext uri="{FF2B5EF4-FFF2-40B4-BE49-F238E27FC236}">
                <a16:creationId xmlns:a16="http://schemas.microsoft.com/office/drawing/2014/main" id="{23A908A7-0C41-48CE-89F2-4F5F16284A8D}"/>
              </a:ext>
            </a:extLst>
          </p:cNvPr>
          <p:cNvCxnSpPr>
            <a:cxnSpLocks/>
            <a:stCxn id="120" idx="2"/>
            <a:endCxn id="135" idx="0"/>
          </p:cNvCxnSpPr>
          <p:nvPr/>
        </p:nvCxnSpPr>
        <p:spPr>
          <a:xfrm flipH="1">
            <a:off x="6864478" y="2432376"/>
            <a:ext cx="383549" cy="500503"/>
          </a:xfrm>
          <a:prstGeom prst="line">
            <a:avLst/>
          </a:prstGeom>
          <a:noFill/>
          <a:ln w="6350" cap="flat" cmpd="sng" algn="ctr">
            <a:solidFill>
              <a:srgbClr val="282828"/>
            </a:solidFill>
            <a:prstDash val="solid"/>
            <a:miter lim="800000"/>
          </a:ln>
          <a:effectLst/>
        </p:spPr>
      </p:cxnSp>
      <p:cxnSp>
        <p:nvCxnSpPr>
          <p:cNvPr id="106" name="直接连接符 105">
            <a:extLst>
              <a:ext uri="{FF2B5EF4-FFF2-40B4-BE49-F238E27FC236}">
                <a16:creationId xmlns:a16="http://schemas.microsoft.com/office/drawing/2014/main" id="{1F4C919B-2856-438C-977D-F6ED93ED1F23}"/>
              </a:ext>
            </a:extLst>
          </p:cNvPr>
          <p:cNvCxnSpPr>
            <a:cxnSpLocks/>
            <a:stCxn id="120" idx="2"/>
            <a:endCxn id="133" idx="0"/>
          </p:cNvCxnSpPr>
          <p:nvPr/>
        </p:nvCxnSpPr>
        <p:spPr>
          <a:xfrm>
            <a:off x="7248027" y="2432376"/>
            <a:ext cx="800458" cy="496422"/>
          </a:xfrm>
          <a:prstGeom prst="line">
            <a:avLst/>
          </a:prstGeom>
          <a:noFill/>
          <a:ln w="6350" cap="flat" cmpd="sng" algn="ctr">
            <a:solidFill>
              <a:srgbClr val="282828"/>
            </a:solidFill>
            <a:prstDash val="solid"/>
            <a:miter lim="800000"/>
          </a:ln>
          <a:effectLst/>
        </p:spPr>
      </p:cxnSp>
      <p:cxnSp>
        <p:nvCxnSpPr>
          <p:cNvPr id="107" name="直接连接符 106">
            <a:extLst>
              <a:ext uri="{FF2B5EF4-FFF2-40B4-BE49-F238E27FC236}">
                <a16:creationId xmlns:a16="http://schemas.microsoft.com/office/drawing/2014/main" id="{4E6435F7-0931-4919-A489-CE4DC0089397}"/>
              </a:ext>
            </a:extLst>
          </p:cNvPr>
          <p:cNvCxnSpPr>
            <a:cxnSpLocks/>
            <a:stCxn id="122" idx="2"/>
            <a:endCxn id="131" idx="0"/>
          </p:cNvCxnSpPr>
          <p:nvPr/>
        </p:nvCxnSpPr>
        <p:spPr>
          <a:xfrm>
            <a:off x="10046354" y="2438669"/>
            <a:ext cx="319404" cy="490129"/>
          </a:xfrm>
          <a:prstGeom prst="line">
            <a:avLst/>
          </a:prstGeom>
          <a:noFill/>
          <a:ln w="6350" cap="flat" cmpd="sng" algn="ctr">
            <a:solidFill>
              <a:srgbClr val="282828"/>
            </a:solidFill>
            <a:prstDash val="solid"/>
            <a:miter lim="800000"/>
          </a:ln>
          <a:effectLst/>
        </p:spPr>
      </p:cxnSp>
      <p:sp>
        <p:nvSpPr>
          <p:cNvPr id="134" name="矩形 133">
            <a:extLst>
              <a:ext uri="{FF2B5EF4-FFF2-40B4-BE49-F238E27FC236}">
                <a16:creationId xmlns:a16="http://schemas.microsoft.com/office/drawing/2014/main" id="{CE5EE656-842B-49A2-B676-AE0F749C3936}"/>
              </a:ext>
            </a:extLst>
          </p:cNvPr>
          <p:cNvSpPr/>
          <p:nvPr/>
        </p:nvSpPr>
        <p:spPr>
          <a:xfrm>
            <a:off x="6490604" y="2959408"/>
            <a:ext cx="757423" cy="221643"/>
          </a:xfrm>
          <a:prstGeom prst="rect">
            <a:avLst/>
          </a:prstGeom>
          <a:noFill/>
          <a:ln w="12700" cap="flat" cmpd="sng" algn="ctr">
            <a:solidFill>
              <a:srgbClr val="282828"/>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rgbClr val="282828"/>
              </a:solidFill>
              <a:effectLst/>
              <a:uLnTx/>
              <a:uFillTx/>
              <a:latin typeface="Arial"/>
              <a:ea typeface="微软雅黑"/>
              <a:cs typeface="+mn-cs"/>
            </a:endParaRPr>
          </a:p>
        </p:txBody>
      </p:sp>
      <p:sp>
        <p:nvSpPr>
          <p:cNvPr id="135" name="矩形 134">
            <a:extLst>
              <a:ext uri="{FF2B5EF4-FFF2-40B4-BE49-F238E27FC236}">
                <a16:creationId xmlns:a16="http://schemas.microsoft.com/office/drawing/2014/main" id="{90A3354B-4BBB-4874-BC49-535861723715}"/>
              </a:ext>
            </a:extLst>
          </p:cNvPr>
          <p:cNvSpPr/>
          <p:nvPr/>
        </p:nvSpPr>
        <p:spPr>
          <a:xfrm>
            <a:off x="6614352" y="2932879"/>
            <a:ext cx="500251" cy="151241"/>
          </a:xfrm>
          <a:prstGeom prst="rect">
            <a:avLst/>
          </a:prstGeom>
          <a:solidFill>
            <a:schemeClr val="accent3">
              <a:lumMod val="20000"/>
              <a:lumOff val="80000"/>
            </a:schemeClr>
          </a:solidFill>
          <a:ln w="12700" cap="flat" cmpd="sng" algn="ctr">
            <a:solidFill>
              <a:srgbClr val="282828"/>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282828"/>
                </a:solidFill>
                <a:effectLst/>
                <a:uLnTx/>
                <a:uFillTx/>
                <a:latin typeface="Arial"/>
                <a:ea typeface="微软雅黑"/>
                <a:cs typeface="+mn-cs"/>
              </a:rPr>
              <a:t>NIC</a:t>
            </a:r>
            <a:endParaRPr kumimoji="0" lang="zh-CN" altLang="en-US" sz="1200" b="0" i="0" u="none" strike="noStrike" kern="0" cap="none" spc="0" normalizeH="0" baseline="0" noProof="0" dirty="0">
              <a:ln>
                <a:noFill/>
              </a:ln>
              <a:solidFill>
                <a:srgbClr val="282828"/>
              </a:solidFill>
              <a:effectLst/>
              <a:uLnTx/>
              <a:uFillTx/>
              <a:latin typeface="Arial"/>
              <a:ea typeface="微软雅黑"/>
              <a:cs typeface="+mn-cs"/>
            </a:endParaRPr>
          </a:p>
        </p:txBody>
      </p:sp>
      <p:sp>
        <p:nvSpPr>
          <p:cNvPr id="132" name="矩形 131">
            <a:extLst>
              <a:ext uri="{FF2B5EF4-FFF2-40B4-BE49-F238E27FC236}">
                <a16:creationId xmlns:a16="http://schemas.microsoft.com/office/drawing/2014/main" id="{3D141986-6015-4190-8395-E4AEAD7F8EAD}"/>
              </a:ext>
            </a:extLst>
          </p:cNvPr>
          <p:cNvSpPr/>
          <p:nvPr/>
        </p:nvSpPr>
        <p:spPr>
          <a:xfrm>
            <a:off x="7647550" y="2959408"/>
            <a:ext cx="757423" cy="221643"/>
          </a:xfrm>
          <a:prstGeom prst="rect">
            <a:avLst/>
          </a:prstGeom>
          <a:noFill/>
          <a:ln w="12700" cap="flat" cmpd="sng" algn="ctr">
            <a:solidFill>
              <a:srgbClr val="282828"/>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rgbClr val="282828"/>
              </a:solidFill>
              <a:effectLst/>
              <a:uLnTx/>
              <a:uFillTx/>
              <a:latin typeface="Arial"/>
              <a:ea typeface="微软雅黑"/>
              <a:cs typeface="+mn-cs"/>
            </a:endParaRPr>
          </a:p>
        </p:txBody>
      </p:sp>
      <p:sp>
        <p:nvSpPr>
          <p:cNvPr id="133" name="矩形 132">
            <a:extLst>
              <a:ext uri="{FF2B5EF4-FFF2-40B4-BE49-F238E27FC236}">
                <a16:creationId xmlns:a16="http://schemas.microsoft.com/office/drawing/2014/main" id="{41FD890A-8A6F-439E-9A10-2EAD968DFF5E}"/>
              </a:ext>
            </a:extLst>
          </p:cNvPr>
          <p:cNvSpPr/>
          <p:nvPr/>
        </p:nvSpPr>
        <p:spPr>
          <a:xfrm>
            <a:off x="7788480" y="2928798"/>
            <a:ext cx="520009" cy="151241"/>
          </a:xfrm>
          <a:prstGeom prst="rect">
            <a:avLst/>
          </a:prstGeom>
          <a:solidFill>
            <a:schemeClr val="accent3">
              <a:lumMod val="20000"/>
              <a:lumOff val="80000"/>
            </a:schemeClr>
          </a:solidFill>
          <a:ln w="12700" cap="flat" cmpd="sng" algn="ctr">
            <a:solidFill>
              <a:srgbClr val="282828"/>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282828"/>
                </a:solidFill>
                <a:effectLst/>
                <a:uLnTx/>
                <a:uFillTx/>
                <a:latin typeface="Arial"/>
                <a:ea typeface="微软雅黑"/>
                <a:cs typeface="+mn-cs"/>
              </a:rPr>
              <a:t>NIC</a:t>
            </a:r>
            <a:endParaRPr kumimoji="0" lang="zh-CN" altLang="en-US" sz="1200" b="0" i="0" u="none" strike="noStrike" kern="0" cap="none" spc="0" normalizeH="0" baseline="0" noProof="0" dirty="0">
              <a:ln>
                <a:noFill/>
              </a:ln>
              <a:solidFill>
                <a:srgbClr val="282828"/>
              </a:solidFill>
              <a:effectLst/>
              <a:uLnTx/>
              <a:uFillTx/>
              <a:latin typeface="Arial"/>
              <a:ea typeface="微软雅黑"/>
              <a:cs typeface="+mn-cs"/>
            </a:endParaRPr>
          </a:p>
        </p:txBody>
      </p:sp>
      <p:sp>
        <p:nvSpPr>
          <p:cNvPr id="130" name="矩形 129">
            <a:extLst>
              <a:ext uri="{FF2B5EF4-FFF2-40B4-BE49-F238E27FC236}">
                <a16:creationId xmlns:a16="http://schemas.microsoft.com/office/drawing/2014/main" id="{B304D9EF-F67D-4B88-8081-E7130DD4B2FD}"/>
              </a:ext>
            </a:extLst>
          </p:cNvPr>
          <p:cNvSpPr/>
          <p:nvPr/>
        </p:nvSpPr>
        <p:spPr>
          <a:xfrm>
            <a:off x="9970312" y="2959408"/>
            <a:ext cx="757423" cy="221643"/>
          </a:xfrm>
          <a:prstGeom prst="rect">
            <a:avLst/>
          </a:prstGeom>
          <a:noFill/>
          <a:ln w="12700" cap="flat" cmpd="sng" algn="ctr">
            <a:solidFill>
              <a:srgbClr val="282828"/>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rgbClr val="282828"/>
              </a:solidFill>
              <a:effectLst/>
              <a:uLnTx/>
              <a:uFillTx/>
              <a:latin typeface="Arial"/>
              <a:ea typeface="微软雅黑"/>
              <a:cs typeface="+mn-cs"/>
            </a:endParaRPr>
          </a:p>
        </p:txBody>
      </p:sp>
      <p:sp>
        <p:nvSpPr>
          <p:cNvPr id="131" name="矩形 130">
            <a:extLst>
              <a:ext uri="{FF2B5EF4-FFF2-40B4-BE49-F238E27FC236}">
                <a16:creationId xmlns:a16="http://schemas.microsoft.com/office/drawing/2014/main" id="{F5F64939-3337-40AD-BA2E-4EBF0C81F2CD}"/>
              </a:ext>
            </a:extLst>
          </p:cNvPr>
          <p:cNvSpPr/>
          <p:nvPr/>
        </p:nvSpPr>
        <p:spPr>
          <a:xfrm>
            <a:off x="10111241" y="2928798"/>
            <a:ext cx="509034" cy="151241"/>
          </a:xfrm>
          <a:prstGeom prst="rect">
            <a:avLst/>
          </a:prstGeom>
          <a:solidFill>
            <a:schemeClr val="accent3">
              <a:lumMod val="20000"/>
              <a:lumOff val="80000"/>
            </a:schemeClr>
          </a:solidFill>
          <a:ln w="12700" cap="flat" cmpd="sng" algn="ctr">
            <a:solidFill>
              <a:srgbClr val="282828"/>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282828"/>
                </a:solidFill>
                <a:effectLst/>
                <a:uLnTx/>
                <a:uFillTx/>
                <a:latin typeface="Arial"/>
                <a:ea typeface="微软雅黑"/>
                <a:cs typeface="+mn-cs"/>
              </a:rPr>
              <a:t>NIC</a:t>
            </a:r>
            <a:endParaRPr kumimoji="0" lang="zh-CN" altLang="en-US" sz="1200" b="0" i="0" u="none" strike="noStrike" kern="0" cap="none" spc="0" normalizeH="0" baseline="0" noProof="0" dirty="0">
              <a:ln>
                <a:noFill/>
              </a:ln>
              <a:solidFill>
                <a:srgbClr val="282828"/>
              </a:solidFill>
              <a:effectLst/>
              <a:uLnTx/>
              <a:uFillTx/>
              <a:latin typeface="Arial"/>
              <a:ea typeface="微软雅黑"/>
              <a:cs typeface="+mn-cs"/>
            </a:endParaRPr>
          </a:p>
        </p:txBody>
      </p:sp>
      <p:sp>
        <p:nvSpPr>
          <p:cNvPr id="128" name="矩形 127">
            <a:extLst>
              <a:ext uri="{FF2B5EF4-FFF2-40B4-BE49-F238E27FC236}">
                <a16:creationId xmlns:a16="http://schemas.microsoft.com/office/drawing/2014/main" id="{2A2000AD-8FFD-486D-85D0-E80D83EC5946}"/>
              </a:ext>
            </a:extLst>
          </p:cNvPr>
          <p:cNvSpPr/>
          <p:nvPr/>
        </p:nvSpPr>
        <p:spPr>
          <a:xfrm>
            <a:off x="8691317" y="2959408"/>
            <a:ext cx="757423" cy="221643"/>
          </a:xfrm>
          <a:prstGeom prst="rect">
            <a:avLst/>
          </a:prstGeom>
          <a:noFill/>
          <a:ln w="12700" cap="flat" cmpd="sng" algn="ctr">
            <a:solidFill>
              <a:srgbClr val="282828"/>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rgbClr val="282828"/>
              </a:solidFill>
              <a:effectLst/>
              <a:uLnTx/>
              <a:uFillTx/>
              <a:latin typeface="Arial"/>
              <a:ea typeface="微软雅黑"/>
              <a:cs typeface="+mn-cs"/>
            </a:endParaRPr>
          </a:p>
        </p:txBody>
      </p:sp>
      <p:sp>
        <p:nvSpPr>
          <p:cNvPr id="129" name="矩形 128">
            <a:extLst>
              <a:ext uri="{FF2B5EF4-FFF2-40B4-BE49-F238E27FC236}">
                <a16:creationId xmlns:a16="http://schemas.microsoft.com/office/drawing/2014/main" id="{8CFD9C6A-01C5-44F5-BD45-CAAC250C6910}"/>
              </a:ext>
            </a:extLst>
          </p:cNvPr>
          <p:cNvSpPr/>
          <p:nvPr/>
        </p:nvSpPr>
        <p:spPr>
          <a:xfrm>
            <a:off x="8832247" y="2928798"/>
            <a:ext cx="506245" cy="151241"/>
          </a:xfrm>
          <a:prstGeom prst="rect">
            <a:avLst/>
          </a:prstGeom>
          <a:solidFill>
            <a:schemeClr val="accent3">
              <a:lumMod val="20000"/>
              <a:lumOff val="80000"/>
            </a:schemeClr>
          </a:solidFill>
          <a:ln w="12700" cap="flat" cmpd="sng" algn="ctr">
            <a:solidFill>
              <a:srgbClr val="282828"/>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282828"/>
                </a:solidFill>
                <a:effectLst/>
                <a:uLnTx/>
                <a:uFillTx/>
                <a:latin typeface="Arial"/>
                <a:ea typeface="微软雅黑"/>
                <a:cs typeface="+mn-cs"/>
              </a:rPr>
              <a:t>NIC</a:t>
            </a:r>
            <a:endParaRPr kumimoji="0" lang="zh-CN" altLang="en-US" sz="1200" b="0" i="0" u="none" strike="noStrike" kern="0" cap="none" spc="0" normalizeH="0" baseline="0" noProof="0" dirty="0">
              <a:ln>
                <a:noFill/>
              </a:ln>
              <a:solidFill>
                <a:srgbClr val="282828"/>
              </a:solidFill>
              <a:effectLst/>
              <a:uLnTx/>
              <a:uFillTx/>
              <a:latin typeface="Arial"/>
              <a:ea typeface="微软雅黑"/>
              <a:cs typeface="+mn-cs"/>
            </a:endParaRPr>
          </a:p>
        </p:txBody>
      </p:sp>
      <p:cxnSp>
        <p:nvCxnSpPr>
          <p:cNvPr id="109" name="直接连接符 108">
            <a:extLst>
              <a:ext uri="{FF2B5EF4-FFF2-40B4-BE49-F238E27FC236}">
                <a16:creationId xmlns:a16="http://schemas.microsoft.com/office/drawing/2014/main" id="{F0AE079A-0453-46F0-86D3-DEDD728BF1F3}"/>
              </a:ext>
            </a:extLst>
          </p:cNvPr>
          <p:cNvCxnSpPr>
            <a:cxnSpLocks/>
            <a:stCxn id="121" idx="2"/>
            <a:endCxn id="129" idx="0"/>
          </p:cNvCxnSpPr>
          <p:nvPr/>
        </p:nvCxnSpPr>
        <p:spPr>
          <a:xfrm>
            <a:off x="8665009" y="2432376"/>
            <a:ext cx="420361" cy="496422"/>
          </a:xfrm>
          <a:prstGeom prst="line">
            <a:avLst/>
          </a:prstGeom>
          <a:noFill/>
          <a:ln w="6350" cap="flat" cmpd="sng" algn="ctr">
            <a:solidFill>
              <a:srgbClr val="282828"/>
            </a:solidFill>
            <a:prstDash val="solid"/>
            <a:miter lim="800000"/>
          </a:ln>
          <a:effectLst/>
        </p:spPr>
      </p:cxnSp>
      <p:sp>
        <p:nvSpPr>
          <p:cNvPr id="110" name="矩形 109">
            <a:extLst>
              <a:ext uri="{FF2B5EF4-FFF2-40B4-BE49-F238E27FC236}">
                <a16:creationId xmlns:a16="http://schemas.microsoft.com/office/drawing/2014/main" id="{79A3872D-6A07-4F53-834B-301C6DFF9105}"/>
              </a:ext>
            </a:extLst>
          </p:cNvPr>
          <p:cNvSpPr/>
          <p:nvPr/>
        </p:nvSpPr>
        <p:spPr>
          <a:xfrm>
            <a:off x="10519259" y="2224745"/>
            <a:ext cx="622511" cy="239664"/>
          </a:xfrm>
          <a:prstGeom prst="rect">
            <a:avLst/>
          </a:prstGeom>
          <a:solidFill>
            <a:srgbClr val="FFFFFF"/>
          </a:solidFill>
          <a:ln w="12700" cap="flat" cmpd="sng" algn="ctr">
            <a:solidFill>
              <a:srgbClr val="282828"/>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0" cap="none" spc="0" normalizeH="0" baseline="0" noProof="0" dirty="0">
                <a:ln>
                  <a:noFill/>
                </a:ln>
                <a:solidFill>
                  <a:srgbClr val="282828"/>
                </a:solidFill>
                <a:effectLst/>
                <a:uLnTx/>
                <a:uFillTx/>
                <a:latin typeface="Arial"/>
                <a:ea typeface="微软雅黑"/>
                <a:cs typeface="+mn-cs"/>
              </a:rPr>
              <a:t>Tester</a:t>
            </a:r>
          </a:p>
        </p:txBody>
      </p:sp>
      <p:grpSp>
        <p:nvGrpSpPr>
          <p:cNvPr id="111" name="组合 110">
            <a:extLst>
              <a:ext uri="{FF2B5EF4-FFF2-40B4-BE49-F238E27FC236}">
                <a16:creationId xmlns:a16="http://schemas.microsoft.com/office/drawing/2014/main" id="{16002D8C-D605-432D-9C40-E78B2808F354}"/>
              </a:ext>
            </a:extLst>
          </p:cNvPr>
          <p:cNvGrpSpPr/>
          <p:nvPr/>
        </p:nvGrpSpPr>
        <p:grpSpPr>
          <a:xfrm>
            <a:off x="6985559" y="1524655"/>
            <a:ext cx="3533700" cy="914014"/>
            <a:chOff x="7205308" y="2221587"/>
            <a:chExt cx="4055188" cy="1103645"/>
          </a:xfrm>
        </p:grpSpPr>
        <p:pic>
          <p:nvPicPr>
            <p:cNvPr id="112" name="图片 111">
              <a:extLst>
                <a:ext uri="{FF2B5EF4-FFF2-40B4-BE49-F238E27FC236}">
                  <a16:creationId xmlns:a16="http://schemas.microsoft.com/office/drawing/2014/main" id="{81F9DE86-ED68-4ABD-97EF-133A08D0E8B3}"/>
                </a:ext>
              </a:extLst>
            </p:cNvPr>
            <p:cNvPicPr>
              <a:picLocks noChangeAspect="1"/>
            </p:cNvPicPr>
            <p:nvPr/>
          </p:nvPicPr>
          <p:blipFill rotWithShape="1">
            <a:blip r:embed="rId3"/>
            <a:srcRect l="11667" t="36307" r="11362" b="36929"/>
            <a:stretch/>
          </p:blipFill>
          <p:spPr>
            <a:xfrm>
              <a:off x="8036647" y="2239327"/>
              <a:ext cx="602403" cy="227229"/>
            </a:xfrm>
            <a:prstGeom prst="rect">
              <a:avLst/>
            </a:prstGeom>
            <a:solidFill>
              <a:schemeClr val="accent6">
                <a:lumMod val="20000"/>
                <a:lumOff val="80000"/>
              </a:schemeClr>
            </a:solidFill>
          </p:spPr>
        </p:pic>
        <p:pic>
          <p:nvPicPr>
            <p:cNvPr id="113" name="图片 112">
              <a:extLst>
                <a:ext uri="{FF2B5EF4-FFF2-40B4-BE49-F238E27FC236}">
                  <a16:creationId xmlns:a16="http://schemas.microsoft.com/office/drawing/2014/main" id="{8DE309D7-A492-41CD-A479-6F02832B1A63}"/>
                </a:ext>
              </a:extLst>
            </p:cNvPr>
            <p:cNvPicPr>
              <a:picLocks noChangeAspect="1"/>
            </p:cNvPicPr>
            <p:nvPr/>
          </p:nvPicPr>
          <p:blipFill rotWithShape="1">
            <a:blip r:embed="rId3"/>
            <a:srcRect l="11667" t="36307" r="11362" b="36929"/>
            <a:stretch/>
          </p:blipFill>
          <p:spPr>
            <a:xfrm>
              <a:off x="9604274" y="2221587"/>
              <a:ext cx="602403" cy="227229"/>
            </a:xfrm>
            <a:prstGeom prst="rect">
              <a:avLst/>
            </a:prstGeom>
            <a:solidFill>
              <a:schemeClr val="accent6">
                <a:lumMod val="20000"/>
                <a:lumOff val="80000"/>
              </a:schemeClr>
            </a:solidFill>
          </p:spPr>
        </p:pic>
        <p:cxnSp>
          <p:nvCxnSpPr>
            <p:cNvPr id="114" name="直接连接符 113">
              <a:extLst>
                <a:ext uri="{FF2B5EF4-FFF2-40B4-BE49-F238E27FC236}">
                  <a16:creationId xmlns:a16="http://schemas.microsoft.com/office/drawing/2014/main" id="{42A01821-0296-44D2-BDD8-2D0AB0790ED0}"/>
                </a:ext>
              </a:extLst>
            </p:cNvPr>
            <p:cNvCxnSpPr>
              <a:cxnSpLocks/>
              <a:stCxn id="120" idx="0"/>
              <a:endCxn id="112" idx="2"/>
            </p:cNvCxnSpPr>
            <p:nvPr/>
          </p:nvCxnSpPr>
          <p:spPr>
            <a:xfrm flipV="1">
              <a:off x="7506510" y="2466557"/>
              <a:ext cx="831339" cy="623848"/>
            </a:xfrm>
            <a:prstGeom prst="line">
              <a:avLst/>
            </a:prstGeom>
            <a:noFill/>
            <a:ln w="6350" cap="flat" cmpd="sng" algn="ctr">
              <a:solidFill>
                <a:srgbClr val="282828"/>
              </a:solidFill>
              <a:prstDash val="solid"/>
              <a:miter lim="800000"/>
            </a:ln>
            <a:effectLst/>
          </p:spPr>
        </p:cxnSp>
        <p:cxnSp>
          <p:nvCxnSpPr>
            <p:cNvPr id="115" name="直接连接符 114">
              <a:extLst>
                <a:ext uri="{FF2B5EF4-FFF2-40B4-BE49-F238E27FC236}">
                  <a16:creationId xmlns:a16="http://schemas.microsoft.com/office/drawing/2014/main" id="{8D161150-4D67-4758-BC2C-8BCA01CC8734}"/>
                </a:ext>
              </a:extLst>
            </p:cNvPr>
            <p:cNvCxnSpPr>
              <a:cxnSpLocks/>
              <a:stCxn id="120" idx="0"/>
              <a:endCxn id="113" idx="2"/>
            </p:cNvCxnSpPr>
            <p:nvPr/>
          </p:nvCxnSpPr>
          <p:spPr>
            <a:xfrm flipV="1">
              <a:off x="7506510" y="2448816"/>
              <a:ext cx="2398966" cy="641588"/>
            </a:xfrm>
            <a:prstGeom prst="line">
              <a:avLst/>
            </a:prstGeom>
            <a:noFill/>
            <a:ln w="6350" cap="flat" cmpd="sng" algn="ctr">
              <a:solidFill>
                <a:srgbClr val="282828"/>
              </a:solidFill>
              <a:prstDash val="solid"/>
              <a:miter lim="800000"/>
            </a:ln>
            <a:effectLst/>
          </p:spPr>
        </p:cxnSp>
        <p:cxnSp>
          <p:nvCxnSpPr>
            <p:cNvPr id="116" name="直接连接符 115">
              <a:extLst>
                <a:ext uri="{FF2B5EF4-FFF2-40B4-BE49-F238E27FC236}">
                  <a16:creationId xmlns:a16="http://schemas.microsoft.com/office/drawing/2014/main" id="{51F0E849-730F-40DE-944B-2FE203387AFA}"/>
                </a:ext>
              </a:extLst>
            </p:cNvPr>
            <p:cNvCxnSpPr>
              <a:cxnSpLocks/>
              <a:stCxn id="122" idx="0"/>
              <a:endCxn id="113" idx="2"/>
            </p:cNvCxnSpPr>
            <p:nvPr/>
          </p:nvCxnSpPr>
          <p:spPr>
            <a:xfrm flipH="1" flipV="1">
              <a:off x="9905476" y="2448816"/>
              <a:ext cx="812326" cy="649186"/>
            </a:xfrm>
            <a:prstGeom prst="line">
              <a:avLst/>
            </a:prstGeom>
            <a:noFill/>
            <a:ln w="6350" cap="flat" cmpd="sng" algn="ctr">
              <a:solidFill>
                <a:srgbClr val="282828"/>
              </a:solidFill>
              <a:prstDash val="solid"/>
              <a:miter lim="800000"/>
            </a:ln>
            <a:effectLst/>
          </p:spPr>
        </p:cxnSp>
        <p:cxnSp>
          <p:nvCxnSpPr>
            <p:cNvPr id="117" name="直接连接符 116">
              <a:extLst>
                <a:ext uri="{FF2B5EF4-FFF2-40B4-BE49-F238E27FC236}">
                  <a16:creationId xmlns:a16="http://schemas.microsoft.com/office/drawing/2014/main" id="{A5D984DB-4CB4-430B-A2CB-4F0EEDB99A29}"/>
                </a:ext>
              </a:extLst>
            </p:cNvPr>
            <p:cNvCxnSpPr>
              <a:cxnSpLocks/>
              <a:stCxn id="121" idx="0"/>
              <a:endCxn id="112" idx="2"/>
            </p:cNvCxnSpPr>
            <p:nvPr/>
          </p:nvCxnSpPr>
          <p:spPr>
            <a:xfrm flipH="1" flipV="1">
              <a:off x="8337849" y="2466557"/>
              <a:ext cx="794755" cy="623848"/>
            </a:xfrm>
            <a:prstGeom prst="line">
              <a:avLst/>
            </a:prstGeom>
            <a:noFill/>
            <a:ln w="6350" cap="flat" cmpd="sng" algn="ctr">
              <a:solidFill>
                <a:srgbClr val="282828"/>
              </a:solidFill>
              <a:prstDash val="solid"/>
              <a:miter lim="800000"/>
            </a:ln>
            <a:effectLst/>
          </p:spPr>
        </p:cxnSp>
        <p:cxnSp>
          <p:nvCxnSpPr>
            <p:cNvPr id="118" name="直接连接符 117">
              <a:extLst>
                <a:ext uri="{FF2B5EF4-FFF2-40B4-BE49-F238E27FC236}">
                  <a16:creationId xmlns:a16="http://schemas.microsoft.com/office/drawing/2014/main" id="{407EFF74-2FBE-4B9F-B92E-B81315E34CDA}"/>
                </a:ext>
              </a:extLst>
            </p:cNvPr>
            <p:cNvCxnSpPr>
              <a:cxnSpLocks/>
              <a:stCxn id="122" idx="0"/>
              <a:endCxn id="112" idx="2"/>
            </p:cNvCxnSpPr>
            <p:nvPr/>
          </p:nvCxnSpPr>
          <p:spPr>
            <a:xfrm flipH="1" flipV="1">
              <a:off x="8337849" y="2466557"/>
              <a:ext cx="2379953" cy="631446"/>
            </a:xfrm>
            <a:prstGeom prst="line">
              <a:avLst/>
            </a:prstGeom>
            <a:noFill/>
            <a:ln w="6350" cap="flat" cmpd="sng" algn="ctr">
              <a:solidFill>
                <a:srgbClr val="282828"/>
              </a:solidFill>
              <a:prstDash val="solid"/>
              <a:miter lim="800000"/>
            </a:ln>
            <a:effectLst/>
          </p:spPr>
        </p:cxnSp>
        <p:cxnSp>
          <p:nvCxnSpPr>
            <p:cNvPr id="119" name="直接连接符 118">
              <a:extLst>
                <a:ext uri="{FF2B5EF4-FFF2-40B4-BE49-F238E27FC236}">
                  <a16:creationId xmlns:a16="http://schemas.microsoft.com/office/drawing/2014/main" id="{29EC3EBE-2CF5-406C-ACBE-35C1CF9C805E}"/>
                </a:ext>
              </a:extLst>
            </p:cNvPr>
            <p:cNvCxnSpPr>
              <a:cxnSpLocks/>
              <a:stCxn id="121" idx="0"/>
              <a:endCxn id="113" idx="2"/>
            </p:cNvCxnSpPr>
            <p:nvPr/>
          </p:nvCxnSpPr>
          <p:spPr>
            <a:xfrm flipV="1">
              <a:off x="9132604" y="2448816"/>
              <a:ext cx="772872" cy="641588"/>
            </a:xfrm>
            <a:prstGeom prst="line">
              <a:avLst/>
            </a:prstGeom>
            <a:noFill/>
            <a:ln w="6350" cap="flat" cmpd="sng" algn="ctr">
              <a:solidFill>
                <a:srgbClr val="282828"/>
              </a:solidFill>
              <a:prstDash val="solid"/>
              <a:miter lim="800000"/>
            </a:ln>
            <a:effectLst/>
          </p:spPr>
        </p:cxnSp>
        <p:pic>
          <p:nvPicPr>
            <p:cNvPr id="120" name="图片 119">
              <a:extLst>
                <a:ext uri="{FF2B5EF4-FFF2-40B4-BE49-F238E27FC236}">
                  <a16:creationId xmlns:a16="http://schemas.microsoft.com/office/drawing/2014/main" id="{EDF78241-DD13-444C-9804-C942C4CC0A5B}"/>
                </a:ext>
              </a:extLst>
            </p:cNvPr>
            <p:cNvPicPr>
              <a:picLocks noChangeAspect="1"/>
            </p:cNvPicPr>
            <p:nvPr/>
          </p:nvPicPr>
          <p:blipFill rotWithShape="1">
            <a:blip r:embed="rId3"/>
            <a:srcRect l="11667" t="36307" r="11362" b="36929"/>
            <a:stretch/>
          </p:blipFill>
          <p:spPr>
            <a:xfrm>
              <a:off x="7205308" y="3090404"/>
              <a:ext cx="602403" cy="227229"/>
            </a:xfrm>
            <a:prstGeom prst="rect">
              <a:avLst/>
            </a:prstGeom>
            <a:solidFill>
              <a:schemeClr val="accent6">
                <a:lumMod val="20000"/>
                <a:lumOff val="80000"/>
              </a:schemeClr>
            </a:solidFill>
          </p:spPr>
        </p:pic>
        <p:pic>
          <p:nvPicPr>
            <p:cNvPr id="121" name="图片 120">
              <a:extLst>
                <a:ext uri="{FF2B5EF4-FFF2-40B4-BE49-F238E27FC236}">
                  <a16:creationId xmlns:a16="http://schemas.microsoft.com/office/drawing/2014/main" id="{E1CC237D-8CA7-41F2-B1D2-56A9BFA11C87}"/>
                </a:ext>
              </a:extLst>
            </p:cNvPr>
            <p:cNvPicPr>
              <a:picLocks noChangeAspect="1"/>
            </p:cNvPicPr>
            <p:nvPr/>
          </p:nvPicPr>
          <p:blipFill rotWithShape="1">
            <a:blip r:embed="rId3"/>
            <a:srcRect l="11667" t="36307" r="11362" b="36929"/>
            <a:stretch/>
          </p:blipFill>
          <p:spPr>
            <a:xfrm>
              <a:off x="8831402" y="3090404"/>
              <a:ext cx="602403" cy="227229"/>
            </a:xfrm>
            <a:prstGeom prst="rect">
              <a:avLst/>
            </a:prstGeom>
            <a:solidFill>
              <a:schemeClr val="accent6">
                <a:lumMod val="20000"/>
                <a:lumOff val="80000"/>
              </a:schemeClr>
            </a:solidFill>
          </p:spPr>
        </p:pic>
        <p:pic>
          <p:nvPicPr>
            <p:cNvPr id="122" name="图片 121">
              <a:extLst>
                <a:ext uri="{FF2B5EF4-FFF2-40B4-BE49-F238E27FC236}">
                  <a16:creationId xmlns:a16="http://schemas.microsoft.com/office/drawing/2014/main" id="{A8403188-1FA8-464B-96C6-139DF82776C5}"/>
                </a:ext>
              </a:extLst>
            </p:cNvPr>
            <p:cNvPicPr>
              <a:picLocks noChangeAspect="1"/>
            </p:cNvPicPr>
            <p:nvPr/>
          </p:nvPicPr>
          <p:blipFill rotWithShape="1">
            <a:blip r:embed="rId3"/>
            <a:srcRect l="11667" t="36307" r="11362" b="36929"/>
            <a:stretch/>
          </p:blipFill>
          <p:spPr>
            <a:xfrm>
              <a:off x="10416600" y="3098003"/>
              <a:ext cx="602403" cy="227229"/>
            </a:xfrm>
            <a:prstGeom prst="rect">
              <a:avLst/>
            </a:prstGeom>
            <a:solidFill>
              <a:schemeClr val="accent6">
                <a:lumMod val="20000"/>
                <a:lumOff val="80000"/>
              </a:schemeClr>
            </a:solidFill>
          </p:spPr>
        </p:pic>
        <p:cxnSp>
          <p:nvCxnSpPr>
            <p:cNvPr id="123" name="直接连接符 122">
              <a:extLst>
                <a:ext uri="{FF2B5EF4-FFF2-40B4-BE49-F238E27FC236}">
                  <a16:creationId xmlns:a16="http://schemas.microsoft.com/office/drawing/2014/main" id="{F9D0AF5D-CE6A-4BE8-80B7-FE63B470BA05}"/>
                </a:ext>
              </a:extLst>
            </p:cNvPr>
            <p:cNvCxnSpPr>
              <a:cxnSpLocks/>
              <a:stCxn id="122" idx="3"/>
              <a:endCxn id="110" idx="1"/>
            </p:cNvCxnSpPr>
            <p:nvPr/>
          </p:nvCxnSpPr>
          <p:spPr>
            <a:xfrm>
              <a:off x="11019002" y="3211617"/>
              <a:ext cx="241494" cy="8695"/>
            </a:xfrm>
            <a:prstGeom prst="line">
              <a:avLst/>
            </a:prstGeom>
            <a:noFill/>
            <a:ln w="6350" cap="flat" cmpd="sng" algn="ctr">
              <a:solidFill>
                <a:srgbClr val="282828"/>
              </a:solidFill>
              <a:prstDash val="solid"/>
              <a:miter lim="800000"/>
            </a:ln>
            <a:effectLst/>
          </p:spPr>
        </p:cxnSp>
      </p:grpSp>
      <p:sp>
        <p:nvSpPr>
          <p:cNvPr id="81" name="文本框 80">
            <a:extLst>
              <a:ext uri="{FF2B5EF4-FFF2-40B4-BE49-F238E27FC236}">
                <a16:creationId xmlns:a16="http://schemas.microsoft.com/office/drawing/2014/main" id="{C092ADE8-65D6-48A8-9C48-70E3A21D10E3}"/>
              </a:ext>
            </a:extLst>
          </p:cNvPr>
          <p:cNvSpPr txBox="1"/>
          <p:nvPr/>
        </p:nvSpPr>
        <p:spPr>
          <a:xfrm>
            <a:off x="7275000" y="2934849"/>
            <a:ext cx="513479" cy="250598"/>
          </a:xfrm>
          <a:prstGeom prst="rect">
            <a:avLst/>
          </a:prstGeom>
          <a:noFill/>
        </p:spPr>
        <p:txBody>
          <a:bodyPr wrap="square" lIns="0" tIns="0" rIns="0" bIns="0"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t>
            </a:r>
            <a:endParaRPr kumimoji="1"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82" name="文本框 81">
            <a:extLst>
              <a:ext uri="{FF2B5EF4-FFF2-40B4-BE49-F238E27FC236}">
                <a16:creationId xmlns:a16="http://schemas.microsoft.com/office/drawing/2014/main" id="{E28E5F42-F0FF-4BF6-A684-1FA49CA07F4D}"/>
              </a:ext>
            </a:extLst>
          </p:cNvPr>
          <p:cNvSpPr txBox="1"/>
          <p:nvPr/>
        </p:nvSpPr>
        <p:spPr>
          <a:xfrm>
            <a:off x="9507664" y="2942380"/>
            <a:ext cx="513479" cy="250598"/>
          </a:xfrm>
          <a:prstGeom prst="rect">
            <a:avLst/>
          </a:prstGeom>
          <a:noFill/>
        </p:spPr>
        <p:txBody>
          <a:bodyPr wrap="square" lIns="0" tIns="0" rIns="0" bIns="0"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t>
            </a:r>
            <a:endParaRPr kumimoji="1"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97" name="文本框 96">
            <a:extLst>
              <a:ext uri="{FF2B5EF4-FFF2-40B4-BE49-F238E27FC236}">
                <a16:creationId xmlns:a16="http://schemas.microsoft.com/office/drawing/2014/main" id="{9F459C35-224F-4332-A31F-38B4735ADB4B}"/>
              </a:ext>
            </a:extLst>
          </p:cNvPr>
          <p:cNvSpPr txBox="1"/>
          <p:nvPr/>
        </p:nvSpPr>
        <p:spPr>
          <a:xfrm>
            <a:off x="10830515" y="2959407"/>
            <a:ext cx="513479" cy="171161"/>
          </a:xfrm>
          <a:prstGeom prst="rect">
            <a:avLst/>
          </a:prstGeom>
          <a:noFill/>
        </p:spPr>
        <p:txBody>
          <a:bodyPr wrap="square" lIns="0" tIns="0" rIns="0" bIns="0"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t>
            </a:r>
            <a:endParaRPr kumimoji="1"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99" name="文本框 98">
            <a:extLst>
              <a:ext uri="{FF2B5EF4-FFF2-40B4-BE49-F238E27FC236}">
                <a16:creationId xmlns:a16="http://schemas.microsoft.com/office/drawing/2014/main" id="{AD692B44-8BB6-4058-81D8-75794CE3A5B2}"/>
              </a:ext>
            </a:extLst>
          </p:cNvPr>
          <p:cNvSpPr txBox="1"/>
          <p:nvPr/>
        </p:nvSpPr>
        <p:spPr>
          <a:xfrm>
            <a:off x="8531053" y="1486515"/>
            <a:ext cx="513479" cy="171161"/>
          </a:xfrm>
          <a:prstGeom prst="rect">
            <a:avLst/>
          </a:prstGeom>
          <a:noFill/>
        </p:spPr>
        <p:txBody>
          <a:bodyPr wrap="square" lIns="0" tIns="0" rIns="0" bIns="0"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t>
            </a:r>
            <a:endParaRPr kumimoji="1"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101" name="文本框 100">
            <a:extLst>
              <a:ext uri="{FF2B5EF4-FFF2-40B4-BE49-F238E27FC236}">
                <a16:creationId xmlns:a16="http://schemas.microsoft.com/office/drawing/2014/main" id="{5AF0FBEE-4E79-403F-AF47-9580430CB7B4}"/>
              </a:ext>
            </a:extLst>
          </p:cNvPr>
          <p:cNvSpPr txBox="1"/>
          <p:nvPr/>
        </p:nvSpPr>
        <p:spPr>
          <a:xfrm>
            <a:off x="7788479" y="2230497"/>
            <a:ext cx="513479" cy="171161"/>
          </a:xfrm>
          <a:prstGeom prst="rect">
            <a:avLst/>
          </a:prstGeom>
          <a:noFill/>
        </p:spPr>
        <p:txBody>
          <a:bodyPr wrap="square" lIns="0" tIns="0" rIns="0" bIns="0"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t>
            </a:r>
            <a:endParaRPr kumimoji="1"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104" name="文本框 103">
            <a:extLst>
              <a:ext uri="{FF2B5EF4-FFF2-40B4-BE49-F238E27FC236}">
                <a16:creationId xmlns:a16="http://schemas.microsoft.com/office/drawing/2014/main" id="{BA457F30-C6F9-4DC4-8706-4961192B88AF}"/>
              </a:ext>
            </a:extLst>
          </p:cNvPr>
          <p:cNvSpPr txBox="1"/>
          <p:nvPr/>
        </p:nvSpPr>
        <p:spPr>
          <a:xfrm>
            <a:off x="9192001" y="2238842"/>
            <a:ext cx="513479" cy="171161"/>
          </a:xfrm>
          <a:prstGeom prst="rect">
            <a:avLst/>
          </a:prstGeom>
          <a:noFill/>
        </p:spPr>
        <p:txBody>
          <a:bodyPr wrap="square" lIns="0" tIns="0" rIns="0" bIns="0"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t>
            </a:r>
            <a:endParaRPr kumimoji="1"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136" name="矩形 135">
            <a:extLst>
              <a:ext uri="{FF2B5EF4-FFF2-40B4-BE49-F238E27FC236}">
                <a16:creationId xmlns:a16="http://schemas.microsoft.com/office/drawing/2014/main" id="{0BB12AAF-16C4-4F0F-97A5-0844CE9601EC}"/>
              </a:ext>
            </a:extLst>
          </p:cNvPr>
          <p:cNvSpPr/>
          <p:nvPr/>
        </p:nvSpPr>
        <p:spPr>
          <a:xfrm>
            <a:off x="1461247" y="824006"/>
            <a:ext cx="3152824" cy="258405"/>
          </a:xfrm>
          <a:prstGeom prst="rect">
            <a:avLst/>
          </a:prstGeom>
          <a:solidFill>
            <a:schemeClr val="tx2"/>
          </a:solidFill>
        </p:spPr>
        <p:txBody>
          <a:bodyPr wrap="square">
            <a:spAutoFit/>
          </a:bodyPr>
          <a:lstStyle/>
          <a:p>
            <a:pPr marL="0" marR="0" lvl="0" indent="0" algn="ctr" defTabSz="914034" rtl="0" eaLnBrk="1" fontAlgn="auto" latinLnBrk="0" hangingPunct="1">
              <a:lnSpc>
                <a:spcPct val="150000"/>
              </a:lnSpc>
              <a:spcBef>
                <a:spcPts val="0"/>
              </a:spcBef>
              <a:spcAft>
                <a:spcPts val="0"/>
              </a:spcAft>
              <a:buClrTx/>
              <a:buSzTx/>
              <a:buFontTx/>
              <a:buNone/>
              <a:tabLst/>
              <a:defRPr/>
            </a:pPr>
            <a:r>
              <a:rPr kumimoji="1" lang="en-US" altLang="en-US" sz="16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Fundamental  Capabilities</a:t>
            </a:r>
            <a:endParaRPr kumimoji="1" lang="zh-CN" altLang="en-US" sz="1600"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endParaRPr>
          </a:p>
        </p:txBody>
      </p:sp>
      <p:sp>
        <p:nvSpPr>
          <p:cNvPr id="137" name="文本框 136">
            <a:extLst>
              <a:ext uri="{FF2B5EF4-FFF2-40B4-BE49-F238E27FC236}">
                <a16:creationId xmlns:a16="http://schemas.microsoft.com/office/drawing/2014/main" id="{C45BF00F-AC13-4130-890D-7D0F2CA0613C}"/>
              </a:ext>
            </a:extLst>
          </p:cNvPr>
          <p:cNvSpPr txBox="1"/>
          <p:nvPr/>
        </p:nvSpPr>
        <p:spPr>
          <a:xfrm>
            <a:off x="10085850" y="1590950"/>
            <a:ext cx="813779" cy="215444"/>
          </a:xfrm>
          <a:prstGeom prst="rect">
            <a:avLst/>
          </a:prstGeom>
          <a:noFill/>
        </p:spPr>
        <p:txBody>
          <a:bodyPr wrap="square" lIns="0" tIns="0" rIns="0" bIns="0"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switches</a:t>
            </a:r>
            <a:endParaRPr kumimoji="1" lang="zh-CN" altLang="en-US" sz="1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15656999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a:extLst>
              <a:ext uri="{FF2B5EF4-FFF2-40B4-BE49-F238E27FC236}">
                <a16:creationId xmlns:a16="http://schemas.microsoft.com/office/drawing/2014/main" id="{C98622FC-F76F-4B46-8E61-A4299AF176F8}"/>
              </a:ext>
            </a:extLst>
          </p:cNvPr>
          <p:cNvSpPr txBox="1"/>
          <p:nvPr/>
        </p:nvSpPr>
        <p:spPr>
          <a:xfrm>
            <a:off x="603670" y="925147"/>
            <a:ext cx="11293126" cy="2641013"/>
          </a:xfrm>
          <a:prstGeom prst="rect">
            <a:avLst/>
          </a:prstGeom>
          <a:noFill/>
          <a:ln>
            <a:noFill/>
          </a:ln>
        </p:spPr>
        <p:txBody>
          <a:bodyPr wrap="square">
            <a:noAutofit/>
          </a:bodyPr>
          <a:lstStyle/>
          <a:p>
            <a:pPr marL="285750" indent="-285750" algn="just" defTabSz="914400">
              <a:lnSpc>
                <a:spcPct val="130000"/>
              </a:lnSpc>
              <a:spcAft>
                <a:spcPts val="300"/>
              </a:spcAft>
              <a:buFont typeface="Wingdings" panose="05000000000000000000" pitchFamily="2" charset="2"/>
              <a:buChar char="Ø"/>
            </a:pPr>
            <a:r>
              <a:rPr lang="en-US" altLang="zh-CN" sz="1400" b="1" dirty="0">
                <a:solidFill>
                  <a:srgbClr val="1F1F1F"/>
                </a:solidFill>
                <a:latin typeface="+mn-ea"/>
                <a:cs typeface="Times New Roman" panose="02020603050405020304" pitchFamily="18" charset="0"/>
              </a:rPr>
              <a:t>CompuNet</a:t>
            </a:r>
            <a:r>
              <a:rPr lang="en-US" altLang="zh-CN" sz="1400" dirty="0">
                <a:solidFill>
                  <a:srgbClr val="1F1F1F"/>
                </a:solidFill>
                <a:latin typeface="+mn-ea"/>
                <a:cs typeface="Times New Roman" panose="02020603050405020304" pitchFamily="18" charset="0"/>
              </a:rPr>
              <a:t> aims to build an open platform for exchange and innovation, fostering technological breakthroughs and industrial progress in computing networks while contributing to academic development and talent cultivation.</a:t>
            </a:r>
          </a:p>
          <a:p>
            <a:pPr marL="285750" indent="-285750" algn="just" defTabSz="914400">
              <a:lnSpc>
                <a:spcPct val="130000"/>
              </a:lnSpc>
              <a:spcAft>
                <a:spcPts val="300"/>
              </a:spcAft>
              <a:buFont typeface="Wingdings" panose="05000000000000000000" pitchFamily="2" charset="2"/>
              <a:buChar char="Ø"/>
            </a:pPr>
            <a:r>
              <a:rPr lang="en-US" altLang="zh-CN" sz="1600" b="1" dirty="0">
                <a:latin typeface="+mn-ea"/>
              </a:rPr>
              <a:t>The 2nd CompuNet Summit </a:t>
            </a:r>
            <a:r>
              <a:rPr lang="en-US" altLang="zh-CN" sz="1600" dirty="0">
                <a:latin typeface="+mn-ea"/>
              </a:rPr>
              <a:t>was successfully held by Huawei and academic partners on Oct. 15, 2025. </a:t>
            </a:r>
          </a:p>
          <a:p>
            <a:pPr marL="742990" lvl="1" indent="-285750" algn="just" defTabSz="914400">
              <a:lnSpc>
                <a:spcPct val="130000"/>
              </a:lnSpc>
              <a:spcAft>
                <a:spcPts val="300"/>
              </a:spcAft>
              <a:buFont typeface="Arial" panose="020B0604020202020204" pitchFamily="34" charset="0"/>
              <a:buChar char="•"/>
            </a:pPr>
            <a:r>
              <a:rPr lang="en-US" altLang="zh-CN" sz="1400" dirty="0">
                <a:solidFill>
                  <a:srgbClr val="282828"/>
                </a:solidFill>
                <a:latin typeface="+mn-ea"/>
                <a:cs typeface="Times New Roman" panose="02020603050405020304" pitchFamily="18" charset="0"/>
              </a:rPr>
              <a:t>The CompuNet Scale-Up Network Innovation Platform was officially released as </a:t>
            </a:r>
            <a:r>
              <a:rPr lang="en-US" altLang="zh-CN" sz="1400" b="1" dirty="0">
                <a:solidFill>
                  <a:srgbClr val="282828"/>
                </a:solidFill>
                <a:latin typeface="+mn-ea"/>
                <a:cs typeface="Times New Roman" panose="02020603050405020304" pitchFamily="18" charset="0"/>
              </a:rPr>
              <a:t>the industry's first open innovation platform </a:t>
            </a:r>
            <a:r>
              <a:rPr lang="en-US" altLang="zh-CN" sz="1400" dirty="0">
                <a:solidFill>
                  <a:srgbClr val="282828"/>
                </a:solidFill>
                <a:latin typeface="+mn-ea"/>
                <a:cs typeface="Times New Roman" panose="02020603050405020304" pitchFamily="18" charset="0"/>
              </a:rPr>
              <a:t>dedicated to Scale-Up networks.</a:t>
            </a:r>
          </a:p>
          <a:p>
            <a:pPr marL="742990" lvl="1" indent="-285750" algn="just" defTabSz="914400">
              <a:lnSpc>
                <a:spcPct val="130000"/>
              </a:lnSpc>
              <a:spcAft>
                <a:spcPts val="300"/>
              </a:spcAft>
              <a:buFont typeface="Arial" panose="020B0604020202020204" pitchFamily="34" charset="0"/>
              <a:buChar char="•"/>
            </a:pPr>
            <a:r>
              <a:rPr lang="en-US" altLang="zh-CN" sz="1400" dirty="0">
                <a:solidFill>
                  <a:srgbClr val="282828"/>
                </a:solidFill>
                <a:latin typeface="+mn-ea"/>
                <a:cs typeface="Times New Roman" panose="02020603050405020304" pitchFamily="18" charset="0"/>
              </a:rPr>
              <a:t>A strategic collaboration was launched between </a:t>
            </a:r>
            <a:r>
              <a:rPr lang="en-US" altLang="zh-CN" sz="1400" b="1" dirty="0">
                <a:solidFill>
                  <a:srgbClr val="282828"/>
                </a:solidFill>
                <a:latin typeface="+mn-ea"/>
                <a:cs typeface="Times New Roman" panose="02020603050405020304" pitchFamily="18" charset="0"/>
              </a:rPr>
              <a:t>CompuNet</a:t>
            </a:r>
            <a:r>
              <a:rPr lang="en-US" altLang="zh-CN" sz="1400" dirty="0">
                <a:solidFill>
                  <a:srgbClr val="282828"/>
                </a:solidFill>
                <a:latin typeface="+mn-ea"/>
                <a:cs typeface="Times New Roman" panose="02020603050405020304" pitchFamily="18" charset="0"/>
              </a:rPr>
              <a:t> and the </a:t>
            </a:r>
            <a:r>
              <a:rPr lang="en-US" altLang="zh-CN" sz="1400" b="1" dirty="0">
                <a:solidFill>
                  <a:srgbClr val="282828"/>
                </a:solidFill>
                <a:latin typeface="+mn-ea"/>
                <a:cs typeface="Times New Roman" panose="02020603050405020304" pitchFamily="18" charset="0"/>
              </a:rPr>
              <a:t>CCF</a:t>
            </a:r>
            <a:r>
              <a:rPr lang="en-US" altLang="zh-CN" sz="1400" dirty="0">
                <a:solidFill>
                  <a:srgbClr val="282828"/>
                </a:solidFill>
                <a:latin typeface="+mn-ea"/>
                <a:cs typeface="Times New Roman" panose="02020603050405020304" pitchFamily="18" charset="0"/>
              </a:rPr>
              <a:t> (TCDCS, TCHPC, &amp; TCI) to deepen industry-academia-research synergy. This initiative will explore cooperation through seminars, competitions, and </a:t>
            </a:r>
            <a:r>
              <a:rPr lang="en-US" altLang="zh-CN" sz="1400" dirty="0">
                <a:latin typeface="+mn-ea"/>
              </a:rPr>
              <a:t>academic courses</a:t>
            </a:r>
            <a:r>
              <a:rPr lang="en-US" altLang="zh-CN" sz="1400" dirty="0">
                <a:solidFill>
                  <a:srgbClr val="282828"/>
                </a:solidFill>
                <a:latin typeface="+mn-ea"/>
                <a:cs typeface="Times New Roman" panose="02020603050405020304" pitchFamily="18" charset="0"/>
              </a:rPr>
              <a:t>, promoting cross-disciplinary innovation in Scale-Up networks across multiple computer science subfields.</a:t>
            </a:r>
            <a:endParaRPr lang="zh-CN" altLang="zh-CN" sz="1400" dirty="0">
              <a:solidFill>
                <a:srgbClr val="282828"/>
              </a:solidFill>
              <a:latin typeface="+mn-ea"/>
              <a:cs typeface="Times New Roman" panose="02020603050405020304" pitchFamily="18" charset="0"/>
            </a:endParaRPr>
          </a:p>
        </p:txBody>
      </p:sp>
      <p:sp>
        <p:nvSpPr>
          <p:cNvPr id="18" name="标题 1">
            <a:extLst>
              <a:ext uri="{FF2B5EF4-FFF2-40B4-BE49-F238E27FC236}">
                <a16:creationId xmlns:a16="http://schemas.microsoft.com/office/drawing/2014/main" id="{BBA1922D-EC9D-4E7D-92C8-4E413AE57DF0}"/>
              </a:ext>
            </a:extLst>
          </p:cNvPr>
          <p:cNvSpPr>
            <a:spLocks noGrp="1"/>
          </p:cNvSpPr>
          <p:nvPr>
            <p:ph type="title"/>
          </p:nvPr>
        </p:nvSpPr>
        <p:spPr>
          <a:xfrm>
            <a:off x="736672" y="281896"/>
            <a:ext cx="11160124" cy="539749"/>
          </a:xfrm>
        </p:spPr>
        <p:txBody>
          <a:bodyPr/>
          <a:lstStyle/>
          <a:p>
            <a:r>
              <a:rPr lang="en-US" altLang="zh-CN" dirty="0"/>
              <a:t>CompuNet: A Summit Focused on Computing Networks</a:t>
            </a:r>
            <a:endParaRPr lang="zh-CN" altLang="en-US" sz="3200" dirty="0"/>
          </a:p>
        </p:txBody>
      </p:sp>
      <p:pic>
        <p:nvPicPr>
          <p:cNvPr id="6" name="图片 5">
            <a:extLst>
              <a:ext uri="{FF2B5EF4-FFF2-40B4-BE49-F238E27FC236}">
                <a16:creationId xmlns:a16="http://schemas.microsoft.com/office/drawing/2014/main" id="{1238FC9F-52BA-45A4-9D07-D5E7A47BB645}"/>
              </a:ext>
            </a:extLst>
          </p:cNvPr>
          <p:cNvPicPr>
            <a:picLocks noChangeAspect="1"/>
          </p:cNvPicPr>
          <p:nvPr/>
        </p:nvPicPr>
        <p:blipFill>
          <a:blip r:embed="rId3"/>
          <a:stretch>
            <a:fillRect/>
          </a:stretch>
        </p:blipFill>
        <p:spPr>
          <a:xfrm>
            <a:off x="7383834" y="3791802"/>
            <a:ext cx="4366096" cy="2249769"/>
          </a:xfrm>
          <a:prstGeom prst="rect">
            <a:avLst/>
          </a:prstGeom>
          <a:effectLst>
            <a:softEdge rad="25400"/>
          </a:effectLst>
        </p:spPr>
      </p:pic>
      <p:sp>
        <p:nvSpPr>
          <p:cNvPr id="8" name="文本框 7">
            <a:extLst>
              <a:ext uri="{FF2B5EF4-FFF2-40B4-BE49-F238E27FC236}">
                <a16:creationId xmlns:a16="http://schemas.microsoft.com/office/drawing/2014/main" id="{DCEE9A70-068A-4B6C-8A63-80C090EFF342}"/>
              </a:ext>
            </a:extLst>
          </p:cNvPr>
          <p:cNvSpPr txBox="1"/>
          <p:nvPr/>
        </p:nvSpPr>
        <p:spPr>
          <a:xfrm>
            <a:off x="1186235" y="3685380"/>
            <a:ext cx="1359668" cy="307777"/>
          </a:xfrm>
          <a:prstGeom prst="rect">
            <a:avLst/>
          </a:prstGeom>
          <a:noFill/>
        </p:spPr>
        <p:txBody>
          <a:bodyPr wrap="none">
            <a:spAutoFit/>
          </a:bodyPr>
          <a:lstStyle/>
          <a:p>
            <a:pPr algn="ctr" defTabSz="348386">
              <a:defRPr/>
            </a:pPr>
            <a:r>
              <a:rPr lang="en-US" altLang="zh-CN" sz="1400" b="1" kern="0" dirty="0">
                <a:solidFill>
                  <a:srgbClr val="282828"/>
                </a:solidFill>
                <a:latin typeface="微软雅黑" panose="020B0503020204020204" pitchFamily="34" charset="-122"/>
                <a:ea typeface="微软雅黑"/>
              </a:rPr>
              <a:t>Organization</a:t>
            </a:r>
          </a:p>
        </p:txBody>
      </p:sp>
      <p:grpSp>
        <p:nvGrpSpPr>
          <p:cNvPr id="2" name="组合 1">
            <a:extLst>
              <a:ext uri="{FF2B5EF4-FFF2-40B4-BE49-F238E27FC236}">
                <a16:creationId xmlns:a16="http://schemas.microsoft.com/office/drawing/2014/main" id="{E2FCFE5D-80E9-433D-BF09-E4124DCF9112}"/>
              </a:ext>
            </a:extLst>
          </p:cNvPr>
          <p:cNvGrpSpPr/>
          <p:nvPr/>
        </p:nvGrpSpPr>
        <p:grpSpPr>
          <a:xfrm>
            <a:off x="736681" y="4071627"/>
            <a:ext cx="6606236" cy="2094570"/>
            <a:chOff x="603670" y="4071627"/>
            <a:chExt cx="6380346" cy="1786263"/>
          </a:xfrm>
        </p:grpSpPr>
        <p:graphicFrame>
          <p:nvGraphicFramePr>
            <p:cNvPr id="9" name="图示 8">
              <a:extLst>
                <a:ext uri="{FF2B5EF4-FFF2-40B4-BE49-F238E27FC236}">
                  <a16:creationId xmlns:a16="http://schemas.microsoft.com/office/drawing/2014/main" id="{DE9B522D-E02F-428C-BDEB-83ABFD544C9D}"/>
                </a:ext>
              </a:extLst>
            </p:cNvPr>
            <p:cNvGraphicFramePr/>
            <p:nvPr>
              <p:extLst>
                <p:ext uri="{D42A27DB-BD31-4B8C-83A1-F6EECF244321}">
                  <p14:modId xmlns:p14="http://schemas.microsoft.com/office/powerpoint/2010/main" val="4146312894"/>
                </p:ext>
              </p:extLst>
            </p:nvPr>
          </p:nvGraphicFramePr>
          <p:xfrm>
            <a:off x="603670" y="4071627"/>
            <a:ext cx="2200039" cy="178626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0" name="图示 9">
              <a:extLst>
                <a:ext uri="{FF2B5EF4-FFF2-40B4-BE49-F238E27FC236}">
                  <a16:creationId xmlns:a16="http://schemas.microsoft.com/office/drawing/2014/main" id="{2C0D328D-A34A-4687-B018-676F1AD88531}"/>
                </a:ext>
              </a:extLst>
            </p:cNvPr>
            <p:cNvGraphicFramePr/>
            <p:nvPr>
              <p:extLst>
                <p:ext uri="{D42A27DB-BD31-4B8C-83A1-F6EECF244321}">
                  <p14:modId xmlns:p14="http://schemas.microsoft.com/office/powerpoint/2010/main" val="2819058336"/>
                </p:ext>
              </p:extLst>
            </p:nvPr>
          </p:nvGraphicFramePr>
          <p:xfrm>
            <a:off x="4885648" y="4112901"/>
            <a:ext cx="2098368" cy="1703714"/>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aphicFrame>
          <p:nvGraphicFramePr>
            <p:cNvPr id="11" name="图示 10">
              <a:extLst>
                <a:ext uri="{FF2B5EF4-FFF2-40B4-BE49-F238E27FC236}">
                  <a16:creationId xmlns:a16="http://schemas.microsoft.com/office/drawing/2014/main" id="{DF235EE2-B0CD-437F-BF67-2002F5085F4C}"/>
                </a:ext>
              </a:extLst>
            </p:cNvPr>
            <p:cNvGraphicFramePr/>
            <p:nvPr>
              <p:extLst>
                <p:ext uri="{D42A27DB-BD31-4B8C-83A1-F6EECF244321}">
                  <p14:modId xmlns:p14="http://schemas.microsoft.com/office/powerpoint/2010/main" val="1023568045"/>
                </p:ext>
              </p:extLst>
            </p:nvPr>
          </p:nvGraphicFramePr>
          <p:xfrm>
            <a:off x="2870241" y="4111744"/>
            <a:ext cx="1957584" cy="1706028"/>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grpSp>
      <p:sp>
        <p:nvSpPr>
          <p:cNvPr id="12" name="文本框 11">
            <a:extLst>
              <a:ext uri="{FF2B5EF4-FFF2-40B4-BE49-F238E27FC236}">
                <a16:creationId xmlns:a16="http://schemas.microsoft.com/office/drawing/2014/main" id="{5EC1A2AA-770B-46D5-9C33-4DDF2C54E789}"/>
              </a:ext>
            </a:extLst>
          </p:cNvPr>
          <p:cNvSpPr txBox="1"/>
          <p:nvPr/>
        </p:nvSpPr>
        <p:spPr>
          <a:xfrm>
            <a:off x="3514428" y="3685380"/>
            <a:ext cx="976549" cy="307777"/>
          </a:xfrm>
          <a:prstGeom prst="rect">
            <a:avLst/>
          </a:prstGeom>
          <a:noFill/>
        </p:spPr>
        <p:txBody>
          <a:bodyPr wrap="none">
            <a:spAutoFit/>
          </a:bodyPr>
          <a:lstStyle/>
          <a:p>
            <a:pPr algn="ctr" defTabSz="348386">
              <a:defRPr/>
            </a:pPr>
            <a:r>
              <a:rPr lang="en-US" altLang="zh-CN" sz="1400" b="1" kern="0" dirty="0">
                <a:solidFill>
                  <a:srgbClr val="282828"/>
                </a:solidFill>
                <a:latin typeface="微软雅黑" panose="020B0503020204020204" pitchFamily="34" charset="-122"/>
                <a:ea typeface="微软雅黑"/>
              </a:rPr>
              <a:t>Platform</a:t>
            </a:r>
          </a:p>
        </p:txBody>
      </p:sp>
      <p:sp>
        <p:nvSpPr>
          <p:cNvPr id="13" name="文本框 12">
            <a:extLst>
              <a:ext uri="{FF2B5EF4-FFF2-40B4-BE49-F238E27FC236}">
                <a16:creationId xmlns:a16="http://schemas.microsoft.com/office/drawing/2014/main" id="{2B55B502-B444-4284-BB3D-6A2C1F8F0A09}"/>
              </a:ext>
            </a:extLst>
          </p:cNvPr>
          <p:cNvSpPr txBox="1"/>
          <p:nvPr/>
        </p:nvSpPr>
        <p:spPr>
          <a:xfrm>
            <a:off x="5531374" y="3685380"/>
            <a:ext cx="1452642" cy="307777"/>
          </a:xfrm>
          <a:prstGeom prst="rect">
            <a:avLst/>
          </a:prstGeom>
          <a:noFill/>
        </p:spPr>
        <p:txBody>
          <a:bodyPr wrap="none">
            <a:spAutoFit/>
          </a:bodyPr>
          <a:lstStyle/>
          <a:p>
            <a:pPr algn="ctr" defTabSz="348386">
              <a:defRPr/>
            </a:pPr>
            <a:r>
              <a:rPr lang="en-US" altLang="zh-CN" sz="1400" b="1" kern="0" dirty="0">
                <a:solidFill>
                  <a:srgbClr val="282828"/>
                </a:solidFill>
                <a:latin typeface="微软雅黑" panose="020B0503020204020204" pitchFamily="34" charset="-122"/>
                <a:ea typeface="微软雅黑"/>
              </a:rPr>
              <a:t>Achievements</a:t>
            </a:r>
          </a:p>
        </p:txBody>
      </p:sp>
      <p:cxnSp>
        <p:nvCxnSpPr>
          <p:cNvPr id="14" name="直接箭头连接符 13">
            <a:extLst>
              <a:ext uri="{FF2B5EF4-FFF2-40B4-BE49-F238E27FC236}">
                <a16:creationId xmlns:a16="http://schemas.microsoft.com/office/drawing/2014/main" id="{69F29E30-B142-4837-BFEE-D9B6FA654B03}"/>
              </a:ext>
            </a:extLst>
          </p:cNvPr>
          <p:cNvCxnSpPr>
            <a:cxnSpLocks/>
          </p:cNvCxnSpPr>
          <p:nvPr/>
        </p:nvCxnSpPr>
        <p:spPr>
          <a:xfrm>
            <a:off x="2713976" y="3791802"/>
            <a:ext cx="380213" cy="0"/>
          </a:xfrm>
          <a:prstGeom prst="straightConnector1">
            <a:avLst/>
          </a:prstGeom>
          <a:noFill/>
          <a:ln w="19050" cap="flat" cmpd="sng" algn="ctr">
            <a:solidFill>
              <a:schemeClr val="bg1">
                <a:lumMod val="65000"/>
              </a:schemeClr>
            </a:solidFill>
            <a:prstDash val="solid"/>
            <a:miter lim="800000"/>
            <a:tailEnd type="triangle"/>
          </a:ln>
          <a:effectLst/>
        </p:spPr>
      </p:cxnSp>
      <p:cxnSp>
        <p:nvCxnSpPr>
          <p:cNvPr id="15" name="直接箭头连接符 14">
            <a:extLst>
              <a:ext uri="{FF2B5EF4-FFF2-40B4-BE49-F238E27FC236}">
                <a16:creationId xmlns:a16="http://schemas.microsoft.com/office/drawing/2014/main" id="{692E04D5-3860-4FC7-875B-632E5DA6D6AC}"/>
              </a:ext>
            </a:extLst>
          </p:cNvPr>
          <p:cNvCxnSpPr>
            <a:cxnSpLocks/>
          </p:cNvCxnSpPr>
          <p:nvPr/>
        </p:nvCxnSpPr>
        <p:spPr>
          <a:xfrm>
            <a:off x="4751343" y="3791802"/>
            <a:ext cx="380213" cy="0"/>
          </a:xfrm>
          <a:prstGeom prst="straightConnector1">
            <a:avLst/>
          </a:prstGeom>
          <a:noFill/>
          <a:ln w="19050" cap="flat" cmpd="sng" algn="ctr">
            <a:solidFill>
              <a:schemeClr val="bg1">
                <a:lumMod val="65000"/>
              </a:schemeClr>
            </a:solidFill>
            <a:prstDash val="solid"/>
            <a:miter lim="800000"/>
            <a:tailEnd type="triangle"/>
          </a:ln>
          <a:effectLst/>
        </p:spPr>
      </p:cxnSp>
    </p:spTree>
    <p:extLst>
      <p:ext uri="{BB962C8B-B14F-4D97-AF65-F5344CB8AC3E}">
        <p14:creationId xmlns:p14="http://schemas.microsoft.com/office/powerpoint/2010/main" val="4055695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20223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封面页_图片版 ">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sz="3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4E5724B-7154-473D-A508-2B054E8EE854}"/>
    </a:ext>
  </a:extLst>
</a:theme>
</file>

<file path=ppt/theme/theme2.xml><?xml version="1.0" encoding="utf-8"?>
<a:theme xmlns:a="http://schemas.openxmlformats.org/drawingml/2006/main" name="目录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sz="2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91E8AC51-71E2-47EB-A98B-31EFD4425DE1}"/>
    </a:ext>
  </a:extLst>
</a:theme>
</file>

<file path=ppt/theme/theme3.xml><?xml version="1.0" encoding="utf-8"?>
<a:theme xmlns:a="http://schemas.openxmlformats.org/drawingml/2006/main" name="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C34AD67-7538-4717-9A73-50191031DBF3}"/>
    </a:ext>
  </a:extLst>
</a:theme>
</file>

<file path=ppt/theme/theme4.xml><?xml version="1.0" encoding="utf-8"?>
<a:theme xmlns:a="http://schemas.openxmlformats.org/drawingml/2006/main" name="结束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3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CE9DE895-046C-40AC-AD8E-ED7DD660489B}"/>
    </a:ext>
  </a:extLst>
</a:theme>
</file>

<file path=ppt/theme/theme5.xml><?xml version="1.0" encoding="utf-8"?>
<a:theme xmlns:a="http://schemas.openxmlformats.org/drawingml/2006/main" name="3_Office 主题">
  <a:themeElements>
    <a:clrScheme name="华为">
      <a:dk1>
        <a:srgbClr val="282828"/>
      </a:dk1>
      <a:lt1>
        <a:srgbClr val="FFFFFF"/>
      </a:lt1>
      <a:dk2>
        <a:srgbClr val="C7000B"/>
      </a:dk2>
      <a:lt2>
        <a:srgbClr val="777777"/>
      </a:lt2>
      <a:accent1>
        <a:srgbClr val="F66F6A"/>
      </a:accent1>
      <a:accent2>
        <a:srgbClr val="F7A655"/>
      </a:accent2>
      <a:accent3>
        <a:srgbClr val="FFDF4F"/>
      </a:accent3>
      <a:accent4>
        <a:srgbClr val="59C8D5"/>
      </a:accent4>
      <a:accent5>
        <a:srgbClr val="84D0A2"/>
      </a:accent5>
      <a:accent6>
        <a:srgbClr val="15B0E8"/>
      </a:accent6>
      <a:hlink>
        <a:srgbClr val="F7A655"/>
      </a:hlink>
      <a:folHlink>
        <a:srgbClr val="F66F6A"/>
      </a:folHlink>
    </a:clrScheme>
    <a:fontScheme name="华为">
      <a:majorFont>
        <a:latin typeface="Arial"/>
        <a:ea typeface="黑体"/>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1400" dirty="0" smtClean="0">
            <a:latin typeface="+mn-ea"/>
          </a:defRPr>
        </a:defPPr>
      </a:lstStyle>
    </a:txDef>
  </a:objectDefaults>
  <a:extraClrSchemeLst/>
  <a:extLst>
    <a:ext uri="{05A4C25C-085E-4340-85A3-A5531E510DB2}">
      <thm15:themeFamily xmlns:thm15="http://schemas.microsoft.com/office/thememl/2012/main" name="PPT模板修改 20190115" id="{05B20D54-46F9-49A6-B477-CD8EADE0081D}" vid="{305F4032-F507-416F-AEE9-B4A60C12A78C}"/>
    </a:ext>
  </a:extLst>
</a:theme>
</file>

<file path=ppt/theme/theme6.xml><?xml version="1.0" encoding="utf-8"?>
<a:theme xmlns:a="http://schemas.openxmlformats.org/drawingml/2006/main" name="激流勇进">
  <a:themeElements>
    <a:clrScheme name="华为橙">
      <a:dk1>
        <a:srgbClr val="000000"/>
      </a:dk1>
      <a:lt1>
        <a:srgbClr val="FFFFFF"/>
      </a:lt1>
      <a:dk2>
        <a:srgbClr val="B30000"/>
      </a:dk2>
      <a:lt2>
        <a:srgbClr val="777777"/>
      </a:lt2>
      <a:accent1>
        <a:srgbClr val="FFCC99"/>
      </a:accent1>
      <a:accent2>
        <a:srgbClr val="FFCC66"/>
      </a:accent2>
      <a:accent3>
        <a:srgbClr val="FF3300"/>
      </a:accent3>
      <a:accent4>
        <a:srgbClr val="7030A0"/>
      </a:accent4>
      <a:accent5>
        <a:srgbClr val="92D050"/>
      </a:accent5>
      <a:accent6>
        <a:srgbClr val="0070C0"/>
      </a:accent6>
      <a:hlink>
        <a:srgbClr val="FF9900"/>
      </a:hlink>
      <a:folHlink>
        <a:srgbClr val="996600"/>
      </a:folHlink>
    </a:clrScheme>
    <a:fontScheme name="微软雅黑 + Arial">
      <a:majorFont>
        <a:latin typeface="Arial"/>
        <a:ea typeface="黑体"/>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801688"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Trebuchet MS" pitchFamily="34" charset="0"/>
            <a:ea typeface="华文细黑"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801688"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Trebuchet MS" pitchFamily="34" charset="0"/>
            <a:ea typeface="华文细黑" pitchFamily="2" charset="-122"/>
          </a:defRPr>
        </a:defPPr>
      </a:lstStyle>
    </a:ln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C34AD67-7538-4717-9A73-50191031DBF3}"/>
    </a:ext>
  </a:extLst>
</a:theme>
</file>

<file path=ppt/theme/theme8.xml><?xml version="1.0" encoding="utf-8"?>
<a:theme xmlns:a="http://schemas.openxmlformats.org/drawingml/2006/main" name="6_Office 主题">
  <a:themeElements>
    <a:clrScheme name="华为">
      <a:dk1>
        <a:srgbClr val="282828"/>
      </a:dk1>
      <a:lt1>
        <a:srgbClr val="FFFFFF"/>
      </a:lt1>
      <a:dk2>
        <a:srgbClr val="C7000B"/>
      </a:dk2>
      <a:lt2>
        <a:srgbClr val="777777"/>
      </a:lt2>
      <a:accent1>
        <a:srgbClr val="F66F6A"/>
      </a:accent1>
      <a:accent2>
        <a:srgbClr val="F7A655"/>
      </a:accent2>
      <a:accent3>
        <a:srgbClr val="FFDF4F"/>
      </a:accent3>
      <a:accent4>
        <a:srgbClr val="59C8D5"/>
      </a:accent4>
      <a:accent5>
        <a:srgbClr val="84D0A2"/>
      </a:accent5>
      <a:accent6>
        <a:srgbClr val="15B0E8"/>
      </a:accent6>
      <a:hlink>
        <a:srgbClr val="F7A655"/>
      </a:hlink>
      <a:folHlink>
        <a:srgbClr val="F66F6A"/>
      </a:folHlink>
    </a:clrScheme>
    <a:fontScheme name="华为">
      <a:majorFont>
        <a:latin typeface="Arial"/>
        <a:ea typeface="黑体"/>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1400" dirty="0" smtClean="0">
            <a:latin typeface="+mn-ea"/>
          </a:defRPr>
        </a:defPPr>
      </a:lstStyle>
    </a:txDef>
  </a:objectDefaults>
  <a:extraClrSchemeLst/>
  <a:extLst>
    <a:ext uri="{05A4C25C-085E-4340-85A3-A5531E510DB2}">
      <thm15:themeFamily xmlns:thm15="http://schemas.microsoft.com/office/thememl/2012/main" name="blank.potx" id="{1CA68490-C1EF-4924-94CA-E4E558EDFE16}" vid="{7F4679E7-B6B5-4265-8C81-29EFA4041205}"/>
    </a:ext>
  </a:extLst>
</a:theme>
</file>

<file path=ppt/theme/theme9.xml><?xml version="1.0" encoding="utf-8"?>
<a:theme xmlns:a="http://schemas.openxmlformats.org/drawingml/2006/main" name="5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C34AD67-7538-4717-9A73-50191031DBF3}"/>
    </a:ext>
  </a:extLst>
</a:theme>
</file>

<file path=ppt/theme/theme10.xml><?xml version="1.0" encoding="utf-8"?>
<a:theme xmlns:a="http://schemas.openxmlformats.org/drawingml/2006/main" name="1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C34AD67-7538-4717-9A73-50191031DBF3}"/>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11568</TotalTime>
  <Words>5205</Words>
  <Application>Microsoft Office PowerPoint</Application>
  <PresentationFormat>自定义</PresentationFormat>
  <Paragraphs>749</Paragraphs>
  <Slides>16</Slides>
  <Notes>16</Notes>
  <HiddenSlides>0</HiddenSlides>
  <MMClips>0</MMClips>
  <ScaleCrop>false</ScaleCrop>
  <HeadingPairs>
    <vt:vector size="8" baseType="variant">
      <vt:variant>
        <vt:lpstr>已用的字体</vt:lpstr>
      </vt:variant>
      <vt:variant>
        <vt:i4>13</vt:i4>
      </vt:variant>
      <vt:variant>
        <vt:lpstr>主题</vt:lpstr>
      </vt:variant>
      <vt:variant>
        <vt:i4>10</vt:i4>
      </vt:variant>
      <vt:variant>
        <vt:lpstr>嵌入 OLE 服务器</vt:lpstr>
      </vt:variant>
      <vt:variant>
        <vt:i4>1</vt:i4>
      </vt:variant>
      <vt:variant>
        <vt:lpstr>幻灯片标题</vt:lpstr>
      </vt:variant>
      <vt:variant>
        <vt:i4>16</vt:i4>
      </vt:variant>
    </vt:vector>
  </HeadingPairs>
  <TitlesOfParts>
    <vt:vector size="40" baseType="lpstr">
      <vt:lpstr>-apple-system</vt:lpstr>
      <vt:lpstr>Aptos</vt:lpstr>
      <vt:lpstr>FrutigerNext LT Regular</vt:lpstr>
      <vt:lpstr>FZLanTingHeiS-R-GB</vt:lpstr>
      <vt:lpstr>Huawei Sans</vt:lpstr>
      <vt:lpstr>Arial</vt:lpstr>
      <vt:lpstr>Calibri</vt:lpstr>
      <vt:lpstr>Times New Roman</vt:lpstr>
      <vt:lpstr>Trebuchet MS</vt:lpstr>
      <vt:lpstr>Wingdings</vt:lpstr>
      <vt:lpstr>Wingdings 2</vt:lpstr>
      <vt:lpstr>微软雅黑</vt:lpstr>
      <vt:lpstr>微软雅黑</vt:lpstr>
      <vt:lpstr>封面页_图片版 </vt:lpstr>
      <vt:lpstr>目录页</vt:lpstr>
      <vt:lpstr>章节页</vt:lpstr>
      <vt:lpstr>结束页</vt:lpstr>
      <vt:lpstr>3_Office 主题</vt:lpstr>
      <vt:lpstr>激流勇进</vt:lpstr>
      <vt:lpstr>3_章节页</vt:lpstr>
      <vt:lpstr>6_Office 主题</vt:lpstr>
      <vt:lpstr>5_章节页</vt:lpstr>
      <vt:lpstr>1_章节页</vt:lpstr>
      <vt:lpstr>think-cell 幻灯片</vt:lpstr>
      <vt:lpstr>Debriefing the Open Innovation Platform for UnifiedBus</vt:lpstr>
      <vt:lpstr>UnifiedBus: An Interconnect Protocol for SuperPoD</vt:lpstr>
      <vt:lpstr>We Build Innovation Platforms Together with the Academic Community</vt:lpstr>
      <vt:lpstr>UB Simulation Platform:  A UnifiedBus Specification Compliant Network Simulator</vt:lpstr>
      <vt:lpstr>Supporting Research Areas:  Architecture Exploration, Protocol Innovation, and Algorithm Design</vt:lpstr>
      <vt:lpstr>Case 1: Memory Semantic Innovation</vt:lpstr>
      <vt:lpstr>Case 2: Network Architecture &amp; Algorithm Innovation</vt:lpstr>
      <vt:lpstr>UB protocol Verification Platform:  The Verifier for UnifiedBus Protocol Designing</vt:lpstr>
      <vt:lpstr>Supporting Research Areas:  Protocol Design and Control Plane Algorithm Design</vt:lpstr>
      <vt:lpstr>SuperPod Networking Innovation Platform: Support innovative UB topology construction and verification of topology designs.</vt:lpstr>
      <vt:lpstr>Innovations in UB SuperPod Topology Architecture, Routing, and Communication Algorithms</vt:lpstr>
      <vt:lpstr>Scale-Up Prototype Platform: Open HW/SW Co-Design Capabilities to Support Innovation in UnifiedBus Interconnect Architecture</vt:lpstr>
      <vt:lpstr>Exploration of Hardware-Software Co-Design Innovation Based on Scale-Up Prototype Platform</vt:lpstr>
      <vt:lpstr>PowerPoint 演示文稿</vt:lpstr>
      <vt:lpstr>CompuNet: A Summit Focused on Computing Networks</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shizhaochen</dc:creator>
  <cp:lastModifiedBy>weiwenjia</cp:lastModifiedBy>
  <cp:revision>265</cp:revision>
  <cp:lastPrinted>2025-11-30T02:17:54Z</cp:lastPrinted>
  <dcterms:created xsi:type="dcterms:W3CDTF">2020-08-28T08:44:19Z</dcterms:created>
  <dcterms:modified xsi:type="dcterms:W3CDTF">2025-11-30T16:12:32Z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(3)jYYNeYqg9URZpIMFTCIdCeNVquPuEel+nDIRQAPIrqxIM5/g5oBljBFaM7g0G3UnNz5I+Lxl
3XzinOb8XrntK+5cii2s/5KHPjVzf2+eT3mkXei0qIqPydT3E9AVL+q4EyN8GFi16B7wafrk
4kKM5b+QlkGvEvrZjPSJu+gnMw7e5TCMMA4EFmF63Ml0dr3+nOPNvAa9KZcwTzlYVuij6jfG
g8y1IjQWMDwHw00j5e</vt:lpwstr>
  </property>
  <property fmtid="{D5CDD505-2E9C-101B-9397-08002B2CF9AE}" pid="3" name="_2015_ms_pID_7253431">
    <vt:lpwstr>H7ij+MfWkrtIywe4S+a0D9BcavELomSG2Ib18xpyvB9q0hdvxoTFcA
gBSOtSnelc6axUseSTlTOvrYN0dRtpTwq9jai4mvc90zFnFZ95NvYO9xJufYr9daOcrVzTqA
GLaIfnqxEKsMJa+WZsbxcLXVnwjEyMOlQVTIeSsuPg293uwzAsm52yuhwds5TG3iH8g9FsCF
fj4i37YlF4KE29z1CbP/AqQpgHM7wlZTKoEN</vt:lpwstr>
  </property>
  <property fmtid="{D5CDD505-2E9C-101B-9397-08002B2CF9AE}" pid="4" name="_2015_ms_pID_7253432">
    <vt:lpwstr>9g==</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1759971329</vt:lpwstr>
  </property>
</Properties>
</file>